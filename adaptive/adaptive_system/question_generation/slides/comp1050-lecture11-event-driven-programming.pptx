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48" r:id="rId2"/>
  </p:sldMasterIdLst>
  <p:notesMasterIdLst>
    <p:notesMasterId r:id="rId25"/>
  </p:notesMasterIdLst>
  <p:handoutMasterIdLst>
    <p:handoutMasterId r:id="rId26"/>
  </p:handoutMasterIdLst>
  <p:sldIdLst>
    <p:sldId id="258" r:id="rId3"/>
    <p:sldId id="395" r:id="rId4"/>
    <p:sldId id="298" r:id="rId5"/>
    <p:sldId id="397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50" r:id="rId22"/>
    <p:sldId id="398" r:id="rId23"/>
    <p:sldId id="324" r:id="rId24"/>
  </p:sldIdLst>
  <p:sldSz cx="10080625" cy="7559675"/>
  <p:notesSz cx="7772400" cy="10058400"/>
  <p:defaultTextStyle>
    <a:defPPr>
      <a:defRPr lang="en-US"/>
    </a:defPPr>
    <a:lvl1pPr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1pPr>
    <a:lvl2pPr marL="742950" indent="-28575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2pPr>
    <a:lvl3pPr marL="11430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3pPr>
    <a:lvl4pPr marL="16002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4pPr>
    <a:lvl5pPr marL="20574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0000"/>
    <a:srgbClr val="640000"/>
    <a:srgbClr val="928F00"/>
    <a:srgbClr val="E3DE00"/>
    <a:srgbClr val="C9C4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F3DA3-4654-42F2-889E-500AE260683C}" v="11" dt="2025-11-20T14:22:09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0" autoAdjust="0"/>
    <p:restoredTop sz="93811" autoAdjust="0"/>
  </p:normalViewPr>
  <p:slideViewPr>
    <p:cSldViewPr>
      <p:cViewPr>
        <p:scale>
          <a:sx n="104" d="100"/>
          <a:sy n="104" d="100"/>
        </p:scale>
        <p:origin x="192" y="-609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7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lajimi, Yetunde" userId="3a54126c-7470-4734-afae-d4449bb90691" providerId="ADAL" clId="{B04F2003-1E15-46BD-99F6-158090A910A9}"/>
    <pc:docChg chg="custSel addSld modSld sldOrd">
      <pc:chgData name="Folajimi, Yetunde" userId="3a54126c-7470-4734-afae-d4449bb90691" providerId="ADAL" clId="{B04F2003-1E15-46BD-99F6-158090A910A9}" dt="2025-11-20T16:29:08.526" v="17" actId="478"/>
      <pc:docMkLst>
        <pc:docMk/>
      </pc:docMkLst>
      <pc:sldChg chg="addSp delSp modSp new mod ord">
        <pc:chgData name="Folajimi, Yetunde" userId="3a54126c-7470-4734-afae-d4449bb90691" providerId="ADAL" clId="{B04F2003-1E15-46BD-99F6-158090A910A9}" dt="2025-11-20T16:29:08.526" v="17" actId="478"/>
        <pc:sldMkLst>
          <pc:docMk/>
          <pc:sldMk cId="4093037598" sldId="398"/>
        </pc:sldMkLst>
        <pc:spChg chg="add del mod">
          <ac:chgData name="Folajimi, Yetunde" userId="3a54126c-7470-4734-afae-d4449bb90691" providerId="ADAL" clId="{B04F2003-1E15-46BD-99F6-158090A910A9}" dt="2025-11-20T16:29:03.631" v="16"/>
          <ac:spMkLst>
            <pc:docMk/>
            <pc:sldMk cId="4093037598" sldId="398"/>
            <ac:spMk id="2" creationId="{BF37886A-489D-FBB8-09F7-419F62C00BD5}"/>
          </ac:spMkLst>
        </pc:spChg>
        <pc:spChg chg="add del">
          <ac:chgData name="Folajimi, Yetunde" userId="3a54126c-7470-4734-afae-d4449bb90691" providerId="ADAL" clId="{B04F2003-1E15-46BD-99F6-158090A910A9}" dt="2025-11-20T14:07:12.696" v="3" actId="478"/>
          <ac:spMkLst>
            <pc:docMk/>
            <pc:sldMk cId="4093037598" sldId="398"/>
            <ac:spMk id="3" creationId="{E08323FC-3BA8-D462-AB45-50699F69092B}"/>
          </ac:spMkLst>
        </pc:spChg>
        <pc:spChg chg="del">
          <ac:chgData name="Folajimi, Yetunde" userId="3a54126c-7470-4734-afae-d4449bb90691" providerId="ADAL" clId="{B04F2003-1E15-46BD-99F6-158090A910A9}" dt="2025-11-20T14:07:16.132" v="4" actId="478"/>
          <ac:spMkLst>
            <pc:docMk/>
            <pc:sldMk cId="4093037598" sldId="398"/>
            <ac:spMk id="4" creationId="{495BBD9D-A975-6674-D723-68B9535DD835}"/>
          </ac:spMkLst>
        </pc:spChg>
        <pc:graphicFrameChg chg="add del mod modGraphic">
          <ac:chgData name="Folajimi, Yetunde" userId="3a54126c-7470-4734-afae-d4449bb90691" providerId="ADAL" clId="{B04F2003-1E15-46BD-99F6-158090A910A9}" dt="2025-11-20T16:29:08.526" v="17" actId="478"/>
          <ac:graphicFrameMkLst>
            <pc:docMk/>
            <pc:sldMk cId="4093037598" sldId="398"/>
            <ac:graphicFrameMk id="6" creationId="{DBE990C5-145C-493C-CACA-D6AEB0A9D8A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999001-6FB9-451D-BC92-54FE6D24A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E11D-4A75-4AFA-8F8F-D59A698F96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8E5-2024-41CF-BD11-EC857590B0F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4C8F7-AE85-43CA-A356-0B72EE4FD3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EBF5-74BE-48DD-9EBA-AEC71887E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22A9C-E20E-479E-B913-3AB3798D3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6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7500" y="1006475"/>
            <a:ext cx="459422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 dirty="0"/>
              <a:t>WIT COMP1050 Computer Science II Course Material by Wentworth</a:t>
            </a:r>
            <a:r>
              <a:rPr lang="en-US" baseline="0" dirty="0"/>
              <a:t> Institute of Technology</a:t>
            </a:r>
            <a:r>
              <a:rPr lang="en-US" dirty="0"/>
              <a:t> (http://www.wit.edu/computer-science) is licensed under a Creative Commons Attribution-</a:t>
            </a:r>
            <a:r>
              <a:rPr lang="en-US" dirty="0" err="1"/>
              <a:t>NonCommercial</a:t>
            </a:r>
            <a:r>
              <a:rPr lang="en-US" dirty="0"/>
              <a:t> 4.0 International License (http://creativecommons.org/licenses/by-nc/4.0/).</a:t>
            </a:r>
            <a:r>
              <a:rPr lang="en-US" sz="1200" b="0" i="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0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Object-oriented programming (OOP) is a computer programming model that organizes software design around data, or objects, rather than functions and logic. An object can be defined as a data field that has unique attributes and behavior.</a:t>
            </a:r>
          </a:p>
          <a:p>
            <a:endParaRPr lang="en-US" dirty="0"/>
          </a:p>
          <a:p>
            <a:r>
              <a:rPr lang="en-US" dirty="0"/>
              <a:t>OOP focuses on the objects that developers want to manipulate rather than the logic required to manipulate them. This approach to programming is well-suited for programs that are large, complex and actively updated or maintained.</a:t>
            </a:r>
          </a:p>
          <a:p>
            <a:endParaRPr lang="en-US" dirty="0"/>
          </a:p>
          <a:p>
            <a:r>
              <a:rPr lang="en-US" dirty="0"/>
              <a:t>The organization of an object-oriented program also makes the method beneficial to collaborative development, where projects are divided into groups.</a:t>
            </a:r>
          </a:p>
          <a:p>
            <a:endParaRPr lang="en-US" dirty="0"/>
          </a:p>
          <a:p>
            <a:r>
              <a:rPr lang="en-US" dirty="0"/>
              <a:t>Additional benefits of OOP include code reusability, scalability and efficiency. Even when using microservices, developers should continue to apply the principles of OOP.</a:t>
            </a:r>
          </a:p>
          <a:p>
            <a:endParaRPr lang="en-US" dirty="0"/>
          </a:p>
          <a:p>
            <a:r>
              <a:rPr lang="en-US" dirty="0"/>
              <a:t>The first step in OOP is to collect all of the objects a programmer wants to manipulate and identify how they relate to each other -- an exercise often known as data modeling.</a:t>
            </a:r>
          </a:p>
          <a:p>
            <a:endParaRPr lang="en-US" dirty="0"/>
          </a:p>
          <a:p>
            <a:r>
              <a:rPr lang="en-US" dirty="0"/>
              <a:t>Examples of an object can range from physical entities, such as a human being who is described by properties like name and address, down to small computer programs, such as widgets.</a:t>
            </a:r>
          </a:p>
          <a:p>
            <a:endParaRPr lang="en-US" dirty="0"/>
          </a:p>
          <a:p>
            <a:r>
              <a:rPr lang="en-US" dirty="0"/>
              <a:t>Once an object is known, it is labeled with a class of objects that defines the kind of data it contains and any logic sequences that can manipulate it. Each distinct logic sequence is known as a method. Objects can communicate with well-defined interfaces called messages.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--module-path "\path\to\javafx-sdk-12.0.1\lib" --add-modules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javafx.controls,javafx.fxml</a:t>
            </a:r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 fontAlgn="base"/>
            <a:endParaRPr lang="en-US" b="0" i="0" dirty="0">
              <a:solidFill>
                <a:srgbClr val="242729"/>
              </a:solidFill>
              <a:effectLst/>
              <a:latin typeface="Arial" panose="020B0604020202020204" pitchFamily="34" charset="0"/>
            </a:endParaRPr>
          </a:p>
          <a:p>
            <a:pPr algn="l" fontAlgn="base"/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--module-path "C:\Program Files\Java\jdk-15.0.1\lib" --add-modules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javafx.controls,javafx.fxml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888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--module-path "\path\to\javafx-sdk-12.0.1\lib" --add-modules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javafx.controls,javafx.fxml</a:t>
            </a:r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 fontAlgn="base"/>
            <a:endParaRPr lang="en-US" b="0" i="0" dirty="0">
              <a:solidFill>
                <a:srgbClr val="242729"/>
              </a:solidFill>
              <a:effectLst/>
              <a:latin typeface="Arial" panose="020B0604020202020204" pitchFamily="34" charset="0"/>
            </a:endParaRPr>
          </a:p>
          <a:p>
            <a:pPr algn="l" fontAlgn="base"/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--module-path "C:\Program Files\Java\jdk-15.0.1\lib" --add-modules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javafx.controls,javafx.fxml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1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--module-path "\path\to\javafx-sdk-12.0.1\lib" --add-modules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javafx.controls,javafx.fxml</a:t>
            </a:r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 fontAlgn="base"/>
            <a:endParaRPr lang="en-US" b="0" i="0" dirty="0">
              <a:solidFill>
                <a:srgbClr val="242729"/>
              </a:solidFill>
              <a:effectLst/>
              <a:latin typeface="Arial" panose="020B0604020202020204" pitchFamily="34" charset="0"/>
            </a:endParaRPr>
          </a:p>
          <a:p>
            <a:pPr algn="l" fontAlgn="base"/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--module-path "C:\Program Files\Java\jdk-15.0.1\lib" --add-modules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javafx.controls,javafx.fxml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842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1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49" y="1951038"/>
            <a:ext cx="8569325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21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3398837"/>
            <a:ext cx="9069387" cy="35052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itchFamily="2" charset="2"/>
              <a:buChar char="§"/>
              <a:defRPr/>
            </a:lvl1pPr>
            <a:lvl2pPr marL="914400" indent="-457200">
              <a:buFont typeface="Arial" pitchFamily="34" charset="0"/>
              <a:buChar char="•"/>
              <a:defRPr/>
            </a:lvl2pPr>
            <a:lvl3pPr marL="1257300" indent="-342900">
              <a:buFont typeface="Wingdings" pitchFamily="2" charset="2"/>
              <a:buChar char="§"/>
              <a:defRPr/>
            </a:lvl3pPr>
            <a:lvl4pPr marL="1714500" indent="-342900">
              <a:buFont typeface="Arial" pitchFamily="34" charset="0"/>
              <a:buChar char="•"/>
              <a:defRPr/>
            </a:lvl4pPr>
            <a:lvl5pPr marL="2171700" indent="-34290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6512" y="1722437"/>
            <a:ext cx="7772401" cy="1260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3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0312" y="655638"/>
            <a:ext cx="7772401" cy="7294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7167" y="1417637"/>
            <a:ext cx="9143999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17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31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4031" y="7307290"/>
            <a:ext cx="2525762" cy="252385"/>
          </a:xfrm>
          <a:prstGeom prst="rect">
            <a:avLst/>
          </a:prstGeom>
        </p:spPr>
        <p:txBody>
          <a:bodyPr/>
          <a:lstStyle/>
          <a:p>
            <a:fld id="{8EF583E3-C04C-E649-9FC4-BBB7F8DFC670}" type="datetime4">
              <a:rPr lang="en-US" smtClean="0"/>
              <a:t>November 19,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95598" y="6915653"/>
            <a:ext cx="8680996" cy="334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Event-Driven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72722" y="7309524"/>
            <a:ext cx="1203872" cy="250151"/>
          </a:xfrm>
          <a:prstGeom prst="rect">
            <a:avLst/>
          </a:prstGeom>
        </p:spPr>
        <p:txBody>
          <a:bodyPr/>
          <a:lstStyle/>
          <a:p>
            <a:fld id="{A85782A5-310D-064D-97B2-7CD9DCF5F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B9D9CB32-BDF9-4D6D-A87C-6E08D947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6652" y="1580614"/>
            <a:ext cx="7772401" cy="10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92413C1-E145-46D9-BDF4-3C6BB05E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158" y="2722405"/>
            <a:ext cx="9069387" cy="313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D5F2CC-61BF-4B4F-B5C8-F6D945C623B4}"/>
              </a:ext>
            </a:extLst>
          </p:cNvPr>
          <p:cNvSpPr/>
          <p:nvPr userDrawn="1"/>
        </p:nvSpPr>
        <p:spPr bwMode="auto">
          <a:xfrm>
            <a:off x="-1" y="0"/>
            <a:ext cx="10080625" cy="1112837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CCFFC-7B96-446B-B5EC-DBCBBD32FD97}"/>
              </a:ext>
            </a:extLst>
          </p:cNvPr>
          <p:cNvSpPr/>
          <p:nvPr userDrawn="1"/>
        </p:nvSpPr>
        <p:spPr bwMode="auto">
          <a:xfrm>
            <a:off x="-1" y="1112837"/>
            <a:ext cx="10080624" cy="366523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16" name="Picture 2" descr="Branding Guidelines | Wentworth">
            <a:extLst>
              <a:ext uri="{FF2B5EF4-FFF2-40B4-BE49-F238E27FC236}">
                <a16:creationId xmlns:a16="http://schemas.microsoft.com/office/drawing/2014/main" id="{C559D3AF-BD20-44DC-8C1F-98AC6BFBDD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1866078" y="122237"/>
            <a:ext cx="6705600" cy="88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22CA55-62BF-4C94-A272-3FD56DEED2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12" y="220079"/>
            <a:ext cx="588602" cy="705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B7479-6EEF-4822-B748-A3A59F1C80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60" y="198437"/>
            <a:ext cx="588602" cy="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413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138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85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575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288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Line 1"/>
          <p:cNvSpPr>
            <a:spLocks noChangeShapeType="1"/>
          </p:cNvSpPr>
          <p:nvPr/>
        </p:nvSpPr>
        <p:spPr bwMode="auto">
          <a:xfrm>
            <a:off x="134447" y="71326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06485" y="7227691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COMP1050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011093" y="7227692"/>
            <a:ext cx="763047" cy="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/>
          <a:p>
            <a:pPr algn="r">
              <a:lnSpc>
                <a:spcPct val="93000"/>
              </a:lnSpc>
            </a:pPr>
            <a:fld id="{0CBF143C-F1D4-4CC7-8AA6-A94FC5CAAAF3}" type="slidenum">
              <a:rPr lang="de-DE" sz="1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 algn="r">
                <a:lnSpc>
                  <a:spcPct val="93000"/>
                </a:lnSpc>
              </a:pPr>
              <a:t>‹#›</a:t>
            </a:fld>
            <a:endParaRPr lang="de-DE" sz="1800" dirty="0">
              <a:solidFill>
                <a:srgbClr val="0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230312" y="612007"/>
            <a:ext cx="7772401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436490"/>
            <a:ext cx="9069387" cy="54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2" name="Line 1"/>
          <p:cNvSpPr>
            <a:spLocks noChangeShapeType="1"/>
          </p:cNvSpPr>
          <p:nvPr/>
        </p:nvSpPr>
        <p:spPr bwMode="auto">
          <a:xfrm>
            <a:off x="134447" y="13414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BA48C-005A-4F3D-9E31-7F5B1C34DC6C}"/>
              </a:ext>
            </a:extLst>
          </p:cNvPr>
          <p:cNvSpPr/>
          <p:nvPr userDrawn="1"/>
        </p:nvSpPr>
        <p:spPr bwMode="auto">
          <a:xfrm>
            <a:off x="-1" y="1"/>
            <a:ext cx="5040313" cy="516951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5D1D9-A90D-453D-B673-4D5D6A8BF398}"/>
              </a:ext>
            </a:extLst>
          </p:cNvPr>
          <p:cNvSpPr/>
          <p:nvPr userDrawn="1"/>
        </p:nvSpPr>
        <p:spPr bwMode="auto">
          <a:xfrm>
            <a:off x="5025319" y="-4402"/>
            <a:ext cx="5055306" cy="516946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9" name="Picture 2" descr="Branding Guidelines | Wentworth">
            <a:extLst>
              <a:ext uri="{FF2B5EF4-FFF2-40B4-BE49-F238E27FC236}">
                <a16:creationId xmlns:a16="http://schemas.microsoft.com/office/drawing/2014/main" id="{4B19A1CF-F143-4ABF-BCB6-08957CD557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696912" y="26696"/>
            <a:ext cx="3848343" cy="4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F5E07-EF57-4226-AD34-FCA0873283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5" y="16114"/>
            <a:ext cx="414188" cy="49643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A7BE0A97-ADA4-48F9-B3CB-C4967068DF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58789" y="7243128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Professor Folajimi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gluonhq.com/products/scene-builder/" TargetMode="External"/><Relationship Id="rId2" Type="http://schemas.openxmlformats.org/officeDocument/2006/relationships/hyperlink" Target="http://www.oracle.com/technetwork/java/javase/downloads/javafxscenebuilder-info-2157684.html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D7764C4-7BC2-4796-A488-1742950E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4588" y="6446837"/>
            <a:ext cx="3947160" cy="260969"/>
          </a:xfrm>
        </p:spPr>
        <p:txBody>
          <a:bodyPr/>
          <a:lstStyle/>
          <a:p>
            <a:r>
              <a:rPr lang="en-US" dirty="0"/>
              <a:t>Professor Folajimi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00647-C4D0-4B41-A54B-E2C2E9C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65" y="5408121"/>
            <a:ext cx="5887631" cy="1620837"/>
          </a:xfrm>
        </p:spPr>
        <p:txBody>
          <a:bodyPr/>
          <a:lstStyle/>
          <a:p>
            <a:pPr algn="l"/>
            <a:r>
              <a:rPr lang="en-US" dirty="0"/>
              <a:t>Welcome to COMP1050!</a:t>
            </a:r>
          </a:p>
        </p:txBody>
      </p:sp>
      <p:pic>
        <p:nvPicPr>
          <p:cNvPr id="1026" name="Picture 2" descr="Rob Ashton's AMAZING Homepage">
            <a:extLst>
              <a:ext uri="{FF2B5EF4-FFF2-40B4-BE49-F238E27FC236}">
                <a16:creationId xmlns:a16="http://schemas.microsoft.com/office/drawing/2014/main" id="{1D70C0A3-A220-475B-883C-A0B3B03DB3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559306"/>
            <a:ext cx="284748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5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FX - Wikipedia">
            <a:extLst>
              <a:ext uri="{FF2B5EF4-FFF2-40B4-BE49-F238E27FC236}">
                <a16:creationId xmlns:a16="http://schemas.microsoft.com/office/drawing/2014/main" id="{CC0BE8D3-09EB-4A80-A419-47D51B770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48"/>
          <a:stretch/>
        </p:blipFill>
        <p:spPr bwMode="auto">
          <a:xfrm>
            <a:off x="2284225" y="2463799"/>
            <a:ext cx="5512174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F65D56D-080D-4609-B001-2B7B64204E68}"/>
              </a:ext>
            </a:extLst>
          </p:cNvPr>
          <p:cNvSpPr txBox="1">
            <a:spLocks/>
          </p:cNvSpPr>
          <p:nvPr/>
        </p:nvSpPr>
        <p:spPr bwMode="auto">
          <a:xfrm>
            <a:off x="4278312" y="1833562"/>
            <a:ext cx="37338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3600">
                <a:solidFill>
                  <a:srgbClr val="82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2pPr>
            <a:lvl3pPr marL="11430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3pPr>
            <a:lvl4pPr marL="16002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4pPr>
            <a:lvl5pPr marL="20574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5pPr>
            <a:lvl6pPr marL="25146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6pPr>
            <a:lvl7pPr marL="29718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7pPr>
            <a:lvl8pPr marL="34290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8pPr>
            <a:lvl9pPr marL="38862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9pPr>
          </a:lstStyle>
          <a:p>
            <a:r>
              <a:rPr lang="en-US" sz="4400" kern="0" dirty="0"/>
              <a:t>Event-Driven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4463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Recall: JavaFX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So far we’ve learned about some of the basic GUI classes (e.g. shapes, buttons) and how to arrange them in window(s)</a:t>
            </a:r>
          </a:p>
        </p:txBody>
      </p:sp>
    </p:spTree>
    <p:extLst>
      <p:ext uri="{BB962C8B-B14F-4D97-AF65-F5344CB8AC3E}">
        <p14:creationId xmlns:p14="http://schemas.microsoft.com/office/powerpoint/2010/main" val="163793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big missing piece: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To have a GUI interact with a user, we have elements respond to user actions, or </a:t>
            </a:r>
            <a:r>
              <a:rPr lang="en-US" b="1" dirty="0"/>
              <a:t>event-driven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5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When GUI elements want to implement event-driven programming, they will offer ways to "handle" an event via a class that implements an interface</a:t>
            </a:r>
          </a:p>
          <a:p>
            <a:r>
              <a:rPr lang="en-US" dirty="0"/>
              <a:t>Typical sequence:</a:t>
            </a:r>
          </a:p>
          <a:p>
            <a:pPr marL="1070940" lvl="1" indent="-566968">
              <a:buFont typeface="+mj-lt"/>
              <a:buAutoNum type="arabicPeriod"/>
            </a:pPr>
            <a:r>
              <a:rPr lang="en-US" dirty="0"/>
              <a:t>Create GUI</a:t>
            </a:r>
          </a:p>
          <a:p>
            <a:pPr marL="1070940" lvl="1" indent="-566968">
              <a:buFont typeface="+mj-lt"/>
              <a:buAutoNum type="arabicPeriod"/>
            </a:pPr>
            <a:r>
              <a:rPr lang="en-US" dirty="0"/>
              <a:t>"Register" a class to handle event(s), sometimes referred to as a "listener"</a:t>
            </a:r>
          </a:p>
          <a:p>
            <a:pPr marL="1070940" lvl="1" indent="-566968">
              <a:buFont typeface="+mj-lt"/>
              <a:buAutoNum type="arabicPeriod"/>
            </a:pPr>
            <a:r>
              <a:rPr lang="en-US" dirty="0"/>
              <a:t>Implement handling code in the listener</a:t>
            </a:r>
          </a:p>
        </p:txBody>
      </p:sp>
    </p:spTree>
    <p:extLst>
      <p:ext uri="{BB962C8B-B14F-4D97-AF65-F5344CB8AC3E}">
        <p14:creationId xmlns:p14="http://schemas.microsoft.com/office/powerpoint/2010/main" val="173077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Example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036" y="1387632"/>
            <a:ext cx="4452276" cy="5353063"/>
          </a:xfrm>
        </p:spPr>
        <p:txBody>
          <a:bodyPr>
            <a:normAutofit/>
          </a:bodyPr>
          <a:lstStyle/>
          <a:p>
            <a:pPr marL="566968" indent="-566968">
              <a:buFont typeface="+mj-lt"/>
              <a:buAutoNum type="arabicPeriod"/>
            </a:pPr>
            <a:r>
              <a:rPr lang="en-US" dirty="0"/>
              <a:t>Make a new JavaFX project</a:t>
            </a:r>
          </a:p>
          <a:p>
            <a:pPr marL="566968" indent="-566968">
              <a:buFont typeface="+mj-lt"/>
              <a:buAutoNum type="arabicPeriod"/>
            </a:pPr>
            <a:r>
              <a:rPr lang="en-US" dirty="0"/>
              <a:t>Create a GUI with three buttons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306640" y="4064163"/>
            <a:ext cx="7180659" cy="53530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final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HBox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 pane = new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HBox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(100);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pane.setAlignment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Pos.CENTER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final Button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btnP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 = new Button("Papa");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final Button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btnM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 = new Button("Mama");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final Button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btnB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 = new Button("Baby");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pane.getChildren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().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addAll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btnP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btnM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btnB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primaryStage.setTitle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("Goldilocks and the Three Buttons");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primaryStage.setScene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(new Scene(pane));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primaryStage.show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757" y="2033640"/>
            <a:ext cx="5823750" cy="15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1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957" y="5913437"/>
            <a:ext cx="5954376" cy="11852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Example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507" y="1399897"/>
            <a:ext cx="4619801" cy="5353063"/>
          </a:xfrm>
        </p:spPr>
        <p:txBody>
          <a:bodyPr>
            <a:noAutofit/>
          </a:bodyPr>
          <a:lstStyle/>
          <a:p>
            <a:pPr marL="566968" indent="-566968">
              <a:lnSpc>
                <a:spcPct val="120000"/>
              </a:lnSpc>
              <a:spcAft>
                <a:spcPts val="0"/>
              </a:spcAft>
              <a:buFont typeface="+mj-lt"/>
              <a:buAutoNum type="arabicPeriod" startAt="3"/>
            </a:pPr>
            <a:r>
              <a:rPr lang="en-US" sz="2400" dirty="0"/>
              <a:t>Handle event: Any class that implements the appropriate interface can be used, including anonymous inner classes and Lambda’s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08" y="1399895"/>
            <a:ext cx="4604210" cy="443734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private static class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JustRight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implements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&gt;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void handle(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event)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("Just right :)%n");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btnP.setOnAction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(new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&gt;()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void handle(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event)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("Too Hot!%n");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btnM.setOnAction(e-&gt;{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("Too Cold!%n");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btnB.setOnAction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(new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JustRight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12136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Create a JavaFX application that allows you to grow/shrink a circle via buttons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387" y="3140336"/>
            <a:ext cx="3499850" cy="310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0707" y="1417637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Circle c = new Circle(50);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c.setStroke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Color.BLACK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c.setFill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Color.</a:t>
            </a:r>
            <a:r>
              <a:rPr lang="en-US" sz="1050" b="1" dirty="0" err="1">
                <a:solidFill>
                  <a:schemeClr val="tx1"/>
                </a:solidFill>
                <a:highlight>
                  <a:srgbClr val="D4D4D4"/>
                </a:highlight>
                <a:latin typeface="Consolas" charset="0"/>
                <a:ea typeface="Consolas" charset="0"/>
                <a:cs typeface="Consolas" charset="0"/>
              </a:rPr>
              <a:t>WHITE</a:t>
            </a:r>
            <a:r>
              <a:rPr lang="en-US" sz="1050" b="1" dirty="0">
                <a:solidFill>
                  <a:schemeClr val="tx1"/>
                </a:solidFill>
                <a:highlight>
                  <a:srgbClr val="D4D4D4"/>
                </a:highlight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Button grow = new Button("Grow");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grow.setOnAction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(new 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&gt;()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@Override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public void handle(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 event)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c.setRadius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c.getRadius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()+3);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}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});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Button shrink = new Button("Shrink");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shrink.setOnAction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(new 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&gt;()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@Override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public void handle(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 event)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c.setRadius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c.getRadius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()-3);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	}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});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050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HBox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 = new 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HBox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hb.getChildren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().add(grow);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hb.getChildren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().add(shrink);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hb.setSpacing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(10);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hb.setPadding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(new Insets(10));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hb.setAlignment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Pos.CENTER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VBox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 = new 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VBox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vb.getChildren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().add(c);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vb.getChildren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().add(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hb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vb.setAlignment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Pos.CENTER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050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primaryStage.setTitle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("Circle");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primaryStage.setScene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(new Scene(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vb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, 200, 200));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050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primaryStage.show</a:t>
            </a:r>
            <a:r>
              <a:rPr lang="en-US" sz="105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08572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Events</a:t>
            </a:r>
          </a:p>
        </p:txBody>
      </p:sp>
      <p:pic>
        <p:nvPicPr>
          <p:cNvPr id="9" name="Picture 6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2415271"/>
            <a:ext cx="9071610" cy="3331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99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An event object contains whatever properties are related to the event</a:t>
            </a:r>
          </a:p>
          <a:p>
            <a:r>
              <a:rPr lang="en-US" dirty="0"/>
              <a:t>You can identify the source object of the event using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getSource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/>
              <a:t> instance method in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EventObject</a:t>
            </a:r>
            <a:r>
              <a:rPr lang="en-US" dirty="0"/>
              <a:t> class</a:t>
            </a:r>
          </a:p>
          <a:p>
            <a:r>
              <a:rPr lang="en-US" dirty="0"/>
              <a:t>The subclasses of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EventObject</a:t>
            </a:r>
            <a:r>
              <a:rPr lang="en-US" dirty="0"/>
              <a:t> deal with special types of events, such as button actions, window events, component events, mouse movements, and keystrokes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User Actions &amp; Handlers</a:t>
            </a:r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" y="1931698"/>
            <a:ext cx="9529351" cy="4515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0696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MouseEvent</a:t>
            </a:r>
            <a:endParaRPr lang="en-US" dirty="0"/>
          </a:p>
        </p:txBody>
      </p:sp>
      <p:pic>
        <p:nvPicPr>
          <p:cNvPr id="7" name="Picture 1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2149512"/>
            <a:ext cx="9071610" cy="3862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68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KeyEvent</a:t>
            </a:r>
            <a:endParaRPr lang="en-US" dirty="0"/>
          </a:p>
        </p:txBody>
      </p:sp>
      <p:pic>
        <p:nvPicPr>
          <p:cNvPr id="7" name="Picture 11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2711863"/>
            <a:ext cx="9071610" cy="273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99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KeyCode</a:t>
            </a:r>
            <a:r>
              <a:rPr lang="en-US" dirty="0"/>
              <a:t> Constants</a:t>
            </a:r>
          </a:p>
        </p:txBody>
      </p:sp>
      <p:pic>
        <p:nvPicPr>
          <p:cNvPr id="7" name="Picture 7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2135364"/>
            <a:ext cx="9071610" cy="3890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361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3"/>
            <a:ext cx="9071610" cy="1996380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dirty="0"/>
              <a:t>Write a JavaFX program that allows the user to control the position of the text "Waldo" via Left/Down/Up/Right arrow keys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33" y="3778678"/>
            <a:ext cx="2387662" cy="26503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237" y="3778119"/>
            <a:ext cx="2388670" cy="2651423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4444702" y="4808809"/>
            <a:ext cx="1191221" cy="590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</p:spTree>
    <p:extLst>
      <p:ext uri="{BB962C8B-B14F-4D97-AF65-F5344CB8AC3E}">
        <p14:creationId xmlns:p14="http://schemas.microsoft.com/office/powerpoint/2010/main" val="1263194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Pane p = new Pane();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Text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new Text("Waldo");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waldo.setX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(100);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waldo.setY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(100);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waldo.setOnKeyPressed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KeyEvent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&gt;()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handle(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KeyEvent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event)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if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event.getCode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==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KeyCode.UP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waldo.setY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waldo.getY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()-2);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} else if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event.getCode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==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KeyCode.DOWN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waldo.setY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waldo.getY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()+2);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} else if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event.getCode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==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KeyCode.LEFT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waldo.setX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waldo.getX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()-2);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} else if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event.getCode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==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KeyCode.RIGHT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waldo.setX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waldo.getX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()+2);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} 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p.getChildren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().add(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primaryStage.setTitle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("Where's Waldo?");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primaryStage.setScene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(new Scene(p, 200, 200));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primaryStage.show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18288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waldo.requestFocus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9435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JavaFX provides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Animation</a:t>
            </a:r>
            <a:r>
              <a:rPr lang="en-US" dirty="0"/>
              <a:t> class with the core functionality for all animations</a:t>
            </a:r>
          </a:p>
          <a:p>
            <a:r>
              <a:rPr lang="en-US" dirty="0"/>
              <a:t>Look to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PathTransition</a:t>
            </a:r>
            <a:r>
              <a:rPr lang="en-US" dirty="0"/>
              <a:t> for movement along a path</a:t>
            </a:r>
          </a:p>
          <a:p>
            <a:r>
              <a:rPr lang="en-US" dirty="0"/>
              <a:t>Look to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FadeTransition</a:t>
            </a:r>
            <a:r>
              <a:rPr lang="en-US" dirty="0"/>
              <a:t> for opacity change over a given time</a:t>
            </a:r>
          </a:p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Timeline</a:t>
            </a:r>
            <a:r>
              <a:rPr lang="en-US" dirty="0"/>
              <a:t> class supports general animation across specified time intervals</a:t>
            </a:r>
          </a:p>
        </p:txBody>
      </p:sp>
    </p:spTree>
    <p:extLst>
      <p:ext uri="{BB962C8B-B14F-4D97-AF65-F5344CB8AC3E}">
        <p14:creationId xmlns:p14="http://schemas.microsoft.com/office/powerpoint/2010/main" val="68709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1"/>
            <a:ext cx="9071610" cy="57995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BorderPane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pane = 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BorderPane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Text text = new Text(50, 50, "");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pane.setCenter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(text);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Scene scene = new Scene(pane, 200, 200);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primaryStage.setTitle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("Digital Clock");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primaryStage.setScene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(scene);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primaryStage.show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&gt;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eH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EventHandler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&gt;()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handle(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ActionEvent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event)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final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LocalDateTime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LocalDateTime.now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text.setText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("%d:%02d:%02d 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sM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dt.getHour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()%12,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dt.getMinute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dt.getSecond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dt.getHour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()&gt;=12?"P":"A"));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Timeline a = new Timeline(new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KeyFrame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Duration.millis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(1000),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eH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a.setCycleCount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Timeline.INDEFINITE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a.play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</p:txBody>
      </p:sp>
      <p:pic>
        <p:nvPicPr>
          <p:cNvPr id="7" name="clock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53648" y="1531991"/>
            <a:ext cx="1974870" cy="217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9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SceneBuilder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 Visual Layout Tool for JavaFX Applications</a:t>
            </a:r>
          </a:p>
          <a:p>
            <a:endParaRPr lang="en-US" dirty="0"/>
          </a:p>
          <a:p>
            <a:r>
              <a:rPr lang="en-US" dirty="0"/>
              <a:t>Quickly design JavaFX GUI via drag-and-drop components that write an FXML file</a:t>
            </a:r>
          </a:p>
          <a:p>
            <a:endParaRPr lang="en-US" dirty="0"/>
          </a:p>
          <a:p>
            <a:r>
              <a:rPr lang="en-US" dirty="0"/>
              <a:t>FXML file can be combined with a Java project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3"/>
              </a:rPr>
              <a:t>http://gluonhq.com/products/scene-builder/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124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886A-489D-FBB8-09F7-419F62C0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512" y="1341437"/>
            <a:ext cx="7772401" cy="729430"/>
          </a:xfrm>
        </p:spPr>
        <p:txBody>
          <a:bodyPr/>
          <a:lstStyle/>
          <a:p>
            <a:r>
              <a:rPr lang="en-US" sz="4800" dirty="0"/>
              <a:t>http://10.220.96.93:8501/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27A6C-4ACF-5E1C-0F17-306080F3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83E3-C04C-E649-9FC4-BBB7F8DFC670}" type="datetime4">
              <a:rPr lang="en-US" smtClean="0"/>
              <a:t>November 20,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7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Home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Event-driven programming is a way of delegating responsibility for handling an event to a class</a:t>
            </a:r>
          </a:p>
          <a:p>
            <a:r>
              <a:rPr lang="en-US" dirty="0"/>
              <a:t>JavaFX makes heavy use of this model via the </a:t>
            </a:r>
            <a:r>
              <a:rPr lang="en-US" dirty="0" err="1"/>
              <a:t>EventHandler</a:t>
            </a:r>
            <a:r>
              <a:rPr lang="en-US"/>
              <a:t> interface</a:t>
            </a:r>
            <a:endParaRPr lang="en-US" dirty="0"/>
          </a:p>
          <a:p>
            <a:r>
              <a:rPr lang="en-US" dirty="0"/>
              <a:t>You now have the basics to create interactive GUIs via code and/or </a:t>
            </a:r>
            <a:r>
              <a:rPr lang="en-US" dirty="0" err="1"/>
              <a:t>SceneBuilder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82515"/>
      </p:ext>
    </p:extLst>
  </p:cSld>
  <p:clrMapOvr>
    <a:masterClrMapping/>
  </p:clrMapOvr>
</p:sld>
</file>

<file path=ppt/theme/theme1.xml><?xml version="1.0" encoding="utf-8"?>
<a:theme xmlns:a="http://schemas.openxmlformats.org/drawingml/2006/main" name="comp1000 titl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F4BC01AD-2D5C-4646-84B3-8A39092DAA06}"/>
    </a:ext>
  </a:extLst>
</a:theme>
</file>

<file path=ppt/theme/theme2.xml><?xml version="1.0" encoding="utf-8"?>
<a:theme xmlns:a="http://schemas.openxmlformats.org/drawingml/2006/main" name="comp100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58E7F4CB-296A-CC41-895D-204CB6F6FDE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comp1050</Template>
  <TotalTime>4665</TotalTime>
  <Words>1673</Words>
  <Application>Microsoft Office PowerPoint</Application>
  <PresentationFormat>Custom</PresentationFormat>
  <Paragraphs>187</Paragraphs>
  <Slides>22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Bitstream Vera Serif</vt:lpstr>
      <vt:lpstr>Comic Sans MS</vt:lpstr>
      <vt:lpstr>Consolas</vt:lpstr>
      <vt:lpstr>Georgia</vt:lpstr>
      <vt:lpstr>Tahoma</vt:lpstr>
      <vt:lpstr>Times New Roman</vt:lpstr>
      <vt:lpstr>Verdana</vt:lpstr>
      <vt:lpstr>Wingdings</vt:lpstr>
      <vt:lpstr>comp1000 title</vt:lpstr>
      <vt:lpstr>comp1000</vt:lpstr>
      <vt:lpstr>Welcome to COMP1050!</vt:lpstr>
      <vt:lpstr>PowerPoint Presentation</vt:lpstr>
      <vt:lpstr>Recall: JavaFX Basics</vt:lpstr>
      <vt:lpstr>A big missing piece: interaction</vt:lpstr>
      <vt:lpstr>Big Picture</vt:lpstr>
      <vt:lpstr>A Simple Example (1)</vt:lpstr>
      <vt:lpstr>A Simple Example (2)</vt:lpstr>
      <vt:lpstr>Exercise</vt:lpstr>
      <vt:lpstr>Solution</vt:lpstr>
      <vt:lpstr>JavaFX Events</vt:lpstr>
      <vt:lpstr>Event Information</vt:lpstr>
      <vt:lpstr>Example User Actions &amp; Handlers</vt:lpstr>
      <vt:lpstr>MouseEvent</vt:lpstr>
      <vt:lpstr>KeyEvent</vt:lpstr>
      <vt:lpstr>KeyCode Constants</vt:lpstr>
      <vt:lpstr>Exercise</vt:lpstr>
      <vt:lpstr>Solution</vt:lpstr>
      <vt:lpstr>JavaFX Animations</vt:lpstr>
      <vt:lpstr>Example</vt:lpstr>
      <vt:lpstr>SceneBuilder</vt:lpstr>
      <vt:lpstr>http://10.220.96.93:8501/</vt:lpstr>
      <vt:lpstr>Take 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 COMP1050</dc:title>
  <dc:creator>Wiseman, Charles</dc:creator>
  <cp:lastModifiedBy>Folajimi, Yetunde</cp:lastModifiedBy>
  <cp:revision>19</cp:revision>
  <cp:lastPrinted>1601-01-01T00:00:00Z</cp:lastPrinted>
  <dcterms:created xsi:type="dcterms:W3CDTF">2017-09-08T01:15:12Z</dcterms:created>
  <dcterms:modified xsi:type="dcterms:W3CDTF">2025-11-20T16:29:14Z</dcterms:modified>
</cp:coreProperties>
</file>