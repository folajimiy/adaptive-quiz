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22"/>
  </p:notesMasterIdLst>
  <p:handoutMasterIdLst>
    <p:handoutMasterId r:id="rId23"/>
  </p:handoutMasterIdLst>
  <p:sldIdLst>
    <p:sldId id="258" r:id="rId3"/>
    <p:sldId id="395" r:id="rId4"/>
    <p:sldId id="396" r:id="rId5"/>
    <p:sldId id="301" r:id="rId6"/>
    <p:sldId id="398" r:id="rId7"/>
    <p:sldId id="399" r:id="rId8"/>
    <p:sldId id="309" r:id="rId9"/>
    <p:sldId id="310" r:id="rId10"/>
    <p:sldId id="313" r:id="rId11"/>
    <p:sldId id="403" r:id="rId12"/>
    <p:sldId id="260" r:id="rId13"/>
    <p:sldId id="261" r:id="rId14"/>
    <p:sldId id="404" r:id="rId15"/>
    <p:sldId id="262" r:id="rId16"/>
    <p:sldId id="405" r:id="rId17"/>
    <p:sldId id="263" r:id="rId18"/>
    <p:sldId id="264" r:id="rId19"/>
    <p:sldId id="265" r:id="rId20"/>
    <p:sldId id="331" r:id="rId21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B8351-7900-4033-B06B-63AB8642B980}" v="1" dt="2025-11-13T10:46:16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0" autoAdjust="0"/>
    <p:restoredTop sz="76678" autoAdjust="0"/>
  </p:normalViewPr>
  <p:slideViewPr>
    <p:cSldViewPr>
      <p:cViewPr>
        <p:scale>
          <a:sx n="54" d="100"/>
          <a:sy n="54" d="100"/>
        </p:scale>
        <p:origin x="1101" y="25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7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B04F2003-1E15-46BD-99F6-158090A910A9}"/>
    <pc:docChg chg="undo custSel addSld delSld modSld">
      <pc:chgData name="Folajimi, Yetunde" userId="3a54126c-7470-4734-afae-d4449bb90691" providerId="ADAL" clId="{B04F2003-1E15-46BD-99F6-158090A910A9}" dt="2025-11-13T10:46:16.737" v="7" actId="478"/>
      <pc:docMkLst>
        <pc:docMk/>
      </pc:docMkLst>
      <pc:sldChg chg="modSp add del mod">
        <pc:chgData name="Folajimi, Yetunde" userId="3a54126c-7470-4734-afae-d4449bb90691" providerId="ADAL" clId="{B04F2003-1E15-46BD-99F6-158090A910A9}" dt="2025-11-13T10:44:29.523" v="3" actId="20577"/>
        <pc:sldMkLst>
          <pc:docMk/>
          <pc:sldMk cId="2125391283" sldId="301"/>
        </pc:sldMkLst>
        <pc:spChg chg="mod">
          <ac:chgData name="Folajimi, Yetunde" userId="3a54126c-7470-4734-afae-d4449bb90691" providerId="ADAL" clId="{B04F2003-1E15-46BD-99F6-158090A910A9}" dt="2025-11-13T10:44:29.523" v="3" actId="20577"/>
          <ac:spMkLst>
            <pc:docMk/>
            <pc:sldMk cId="2125391283" sldId="301"/>
            <ac:spMk id="11" creationId="{00000000-0000-0000-0000-000000000000}"/>
          </ac:spMkLst>
        </pc:spChg>
      </pc:sldChg>
      <pc:sldChg chg="del">
        <pc:chgData name="Folajimi, Yetunde" userId="3a54126c-7470-4734-afae-d4449bb90691" providerId="ADAL" clId="{B04F2003-1E15-46BD-99F6-158090A910A9}" dt="2025-11-13T10:44:34.816" v="4" actId="47"/>
        <pc:sldMkLst>
          <pc:docMk/>
          <pc:sldMk cId="208309183" sldId="302"/>
        </pc:sldMkLst>
      </pc:sldChg>
      <pc:sldChg chg="modSp mod">
        <pc:chgData name="Folajimi, Yetunde" userId="3a54126c-7470-4734-afae-d4449bb90691" providerId="ADAL" clId="{B04F2003-1E15-46BD-99F6-158090A910A9}" dt="2025-11-13T10:44:05.857" v="0" actId="20577"/>
        <pc:sldMkLst>
          <pc:docMk/>
          <pc:sldMk cId="2099479008" sldId="396"/>
        </pc:sldMkLst>
        <pc:spChg chg="mod">
          <ac:chgData name="Folajimi, Yetunde" userId="3a54126c-7470-4734-afae-d4449bb90691" providerId="ADAL" clId="{B04F2003-1E15-46BD-99F6-158090A910A9}" dt="2025-11-13T10:44:05.857" v="0" actId="20577"/>
          <ac:spMkLst>
            <pc:docMk/>
            <pc:sldMk cId="2099479008" sldId="396"/>
            <ac:spMk id="11" creationId="{00000000-0000-0000-0000-000000000000}"/>
          </ac:spMkLst>
        </pc:spChg>
      </pc:sldChg>
      <pc:sldChg chg="delSp modSp mod">
        <pc:chgData name="Folajimi, Yetunde" userId="3a54126c-7470-4734-afae-d4449bb90691" providerId="ADAL" clId="{B04F2003-1E15-46BD-99F6-158090A910A9}" dt="2025-11-13T10:46:16.737" v="7" actId="478"/>
        <pc:sldMkLst>
          <pc:docMk/>
          <pc:sldMk cId="2116361781" sldId="404"/>
        </pc:sldMkLst>
        <pc:spChg chg="del">
          <ac:chgData name="Folajimi, Yetunde" userId="3a54126c-7470-4734-afae-d4449bb90691" providerId="ADAL" clId="{B04F2003-1E15-46BD-99F6-158090A910A9}" dt="2025-11-13T10:46:16.737" v="7" actId="478"/>
          <ac:spMkLst>
            <pc:docMk/>
            <pc:sldMk cId="2116361781" sldId="404"/>
            <ac:spMk id="3" creationId="{096B0A36-6789-AA6F-CF66-0006B24AD159}"/>
          </ac:spMkLst>
        </pc:spChg>
        <pc:spChg chg="mod">
          <ac:chgData name="Folajimi, Yetunde" userId="3a54126c-7470-4734-afae-d4449bb90691" providerId="ADAL" clId="{B04F2003-1E15-46BD-99F6-158090A910A9}" dt="2025-11-13T10:46:10.646" v="6" actId="1076"/>
          <ac:spMkLst>
            <pc:docMk/>
            <pc:sldMk cId="2116361781" sldId="404"/>
            <ac:spMk id="6" creationId="{2DBB0258-E111-3F9F-5981-C9854D8F4AA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dirty="0"/>
              <a:t>WIT COMP1050 Computer Science II Course Material by Wentworth</a:t>
            </a:r>
            <a:r>
              <a:rPr lang="en-US" baseline="0" dirty="0"/>
              <a:t> Institute of Technology</a:t>
            </a:r>
            <a:r>
              <a:rPr lang="en-US" dirty="0"/>
              <a:t> (http://www.wit.edu/computer-science) is licensed under a Creative Commons Attribution-</a:t>
            </a:r>
            <a:r>
              <a:rPr lang="en-US" dirty="0" err="1"/>
              <a:t>NonCommercial</a:t>
            </a:r>
            <a:r>
              <a:rPr lang="en-US" dirty="0"/>
              <a:t> 4.0 International License (http://creativecommons.org/licenses/by-nc/4.0/).</a:t>
            </a:r>
            <a:r>
              <a:rPr lang="en-US" sz="1200" b="0" i="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Object-oriented programming (OOP) is a computer programming model that organizes software design around data, or objects, rather than functions and logic. An object can be defined as a data field that has unique attributes and behavior.</a:t>
            </a:r>
          </a:p>
          <a:p>
            <a:endParaRPr lang="en-US" dirty="0"/>
          </a:p>
          <a:p>
            <a:r>
              <a:rPr lang="en-US" dirty="0"/>
              <a:t>OOP focuses on the objects that developers want to manipulate rather than the logic required to manipulate them. This approach to programming is well-suited for programs that are large, complex and actively updated or maintained.</a:t>
            </a:r>
          </a:p>
          <a:p>
            <a:endParaRPr lang="en-US" dirty="0"/>
          </a:p>
          <a:p>
            <a:r>
              <a:rPr lang="en-US" dirty="0"/>
              <a:t>The organization of an object-oriented program also makes the method beneficial to collaborative development, where projects are divided into groups.</a:t>
            </a:r>
          </a:p>
          <a:p>
            <a:endParaRPr lang="en-US" dirty="0"/>
          </a:p>
          <a:p>
            <a:r>
              <a:rPr lang="en-US" dirty="0"/>
              <a:t>Additional benefits of OOP include code reusability, scalability and efficiency. Even when using microservices, developers should continue to apply the principles of OOP.</a:t>
            </a:r>
          </a:p>
          <a:p>
            <a:endParaRPr lang="en-US" dirty="0"/>
          </a:p>
          <a:p>
            <a:r>
              <a:rPr lang="en-US" dirty="0"/>
              <a:t>The first step in OOP is to collect all of the objects a programmer wants to manipulate and identify how they relate to each other -- an exercise often known as data modeling.</a:t>
            </a:r>
          </a:p>
          <a:p>
            <a:endParaRPr lang="en-US" dirty="0"/>
          </a:p>
          <a:p>
            <a:r>
              <a:rPr lang="en-US" dirty="0"/>
              <a:t>Examples of an object can range from physical entities, such as a human being who is described by properties like name and address, down to small computer programs, such as widgets.</a:t>
            </a:r>
          </a:p>
          <a:p>
            <a:endParaRPr lang="en-US" dirty="0"/>
          </a:p>
          <a:p>
            <a:r>
              <a:rPr lang="en-US" dirty="0"/>
              <a:t>Once an object is known, it is labeled with a class of objects that defines the kind of data it contains and any logic sequences that can manipulate it. Each distinct logic sequence is known as a method. Objects can communicate with well-defined interfaces called messages.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class Box&lt;T&gt; {</a:t>
            </a:r>
          </a:p>
          <a:p>
            <a:r>
              <a:rPr lang="en-US" dirty="0"/>
              <a:t>    private T item;</a:t>
            </a:r>
          </a:p>
          <a:p>
            <a:r>
              <a:rPr lang="en-US" dirty="0"/>
              <a:t>    public void </a:t>
            </a:r>
            <a:r>
              <a:rPr lang="en-US" dirty="0" err="1"/>
              <a:t>setItem</a:t>
            </a:r>
            <a:r>
              <a:rPr lang="en-US" dirty="0"/>
              <a:t>(T item) { </a:t>
            </a:r>
            <a:r>
              <a:rPr lang="en-US" dirty="0" err="1"/>
              <a:t>this.item</a:t>
            </a:r>
            <a:r>
              <a:rPr lang="en-US" dirty="0"/>
              <a:t> = item; }</a:t>
            </a:r>
          </a:p>
          <a:p>
            <a:r>
              <a:rPr lang="en-US" dirty="0"/>
              <a:t>    public T </a:t>
            </a:r>
            <a:r>
              <a:rPr lang="en-US" dirty="0" err="1"/>
              <a:t>getItem</a:t>
            </a:r>
            <a:r>
              <a:rPr lang="en-US" dirty="0"/>
              <a:t>() { return item;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Generic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generic class allows defining a class with a type parameter.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Syntax</a:t>
            </a:r>
            <a:r>
              <a:rPr lang="en-US" dirty="0"/>
              <a:t>: class </a:t>
            </a:r>
            <a:r>
              <a:rPr lang="en-US" dirty="0" err="1"/>
              <a:t>ClassName</a:t>
            </a:r>
            <a:r>
              <a:rPr lang="en-US" dirty="0"/>
              <a:t>&lt;T&gt; { /* class body */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Creating a Box class that can hold any type of </a:t>
            </a:r>
            <a:r>
              <a:rPr lang="en-US" dirty="0" err="1"/>
              <a:t>item:java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Copy code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Box&lt;Integer&gt; </a:t>
            </a:r>
            <a:r>
              <a:rPr lang="en-US" dirty="0" err="1"/>
              <a:t>integerBox</a:t>
            </a:r>
            <a:r>
              <a:rPr lang="en-US" dirty="0"/>
              <a:t> = new Box&lt;&gt;(); </a:t>
            </a:r>
            <a:r>
              <a:rPr lang="en-US" dirty="0" err="1"/>
              <a:t>integerBox.setItem</a:t>
            </a:r>
            <a:r>
              <a:rPr lang="en-US" dirty="0"/>
              <a:t>(123); Integer item = </a:t>
            </a:r>
            <a:r>
              <a:rPr lang="en-US" dirty="0" err="1"/>
              <a:t>integerBox.getItem</a:t>
            </a:r>
            <a:r>
              <a:rPr lang="en-US" dirty="0"/>
              <a:t>(); // No need to cast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Explanation</a:t>
            </a:r>
            <a:r>
              <a:rPr lang="en-US" dirty="0"/>
              <a:t>: Here, Box&lt;Integer&gt; is specified as holding an Integer.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7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1116-EFF4-2CA0-DBED-5724BBE3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418F-4886-2A32-8CFB-8FDD2249D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02BFC-5D53-8B1F-7656-D90147D8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029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safety</a:t>
            </a:r>
          </a:p>
        </p:txBody>
      </p:sp>
    </p:spTree>
    <p:extLst>
      <p:ext uri="{BB962C8B-B14F-4D97-AF65-F5344CB8AC3E}">
        <p14:creationId xmlns:p14="http://schemas.microsoft.com/office/powerpoint/2010/main" val="602577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619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54C3-1766-F97C-AC75-B093393A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B51A-9241-3615-3C5B-98428E12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84840-380B-89D0-DFE7-EA102EDCF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751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04031" y="7307290"/>
            <a:ext cx="2525762" cy="252385"/>
          </a:xfrm>
          <a:prstGeom prst="rect">
            <a:avLst/>
          </a:prstGeom>
        </p:spPr>
        <p:txBody>
          <a:bodyPr/>
          <a:lstStyle/>
          <a:p>
            <a:fld id="{08908EE8-B58D-D04B-B12E-84381D5C12DC}" type="datetime4">
              <a:rPr lang="en-US" smtClean="0"/>
              <a:t>November 13,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95598" y="6915653"/>
            <a:ext cx="8680996" cy="334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Interfaces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72722" y="7309524"/>
            <a:ext cx="1203872" cy="250151"/>
          </a:xfrm>
          <a:prstGeom prst="rect">
            <a:avLst/>
          </a:prstGeom>
        </p:spPr>
        <p:txBody>
          <a:bodyPr/>
          <a:lstStyle/>
          <a:p>
            <a:fld id="{A85782A5-310D-064D-97B2-7CD9DCF5F4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04031" y="1410327"/>
            <a:ext cx="4454027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410327"/>
            <a:ext cx="4455776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095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7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 dirty="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 dirty="0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 dirty="0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88134C-ACE1-4C81-AC85-A71E9FE5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312" y="1833562"/>
            <a:ext cx="3733800" cy="1260475"/>
          </a:xfrm>
        </p:spPr>
        <p:txBody>
          <a:bodyPr/>
          <a:lstStyle/>
          <a:p>
            <a:r>
              <a:rPr lang="en-US" sz="6000" dirty="0"/>
              <a:t>Generics</a:t>
            </a:r>
          </a:p>
        </p:txBody>
      </p:sp>
      <p:pic>
        <p:nvPicPr>
          <p:cNvPr id="1026" name="Picture 2" descr="JavaFX - Wikipedia">
            <a:extLst>
              <a:ext uri="{FF2B5EF4-FFF2-40B4-BE49-F238E27FC236}">
                <a16:creationId xmlns:a16="http://schemas.microsoft.com/office/drawing/2014/main" id="{CC0BE8D3-09EB-4A80-A419-47D51B770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48"/>
          <a:stretch/>
        </p:blipFill>
        <p:spPr bwMode="auto">
          <a:xfrm>
            <a:off x="2284225" y="2463799"/>
            <a:ext cx="551217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6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"generics"?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In Java, generics enable types (classes and interfaces) to be parameters when defining classes, interfaces, and methods</a:t>
            </a:r>
          </a:p>
          <a:p>
            <a:r>
              <a:rPr lang="en-US" dirty="0"/>
              <a:t>The goal: allow code re-use while still allowing for strong error-detection at </a:t>
            </a:r>
            <a:r>
              <a:rPr lang="en-US" i="1" dirty="0"/>
              <a:t>compile-time</a:t>
            </a:r>
            <a:r>
              <a:rPr lang="en-US" dirty="0"/>
              <a:t> (i.e. as early as possible)</a:t>
            </a:r>
          </a:p>
        </p:txBody>
      </p:sp>
    </p:spTree>
    <p:extLst>
      <p:ext uri="{BB962C8B-B14F-4D97-AF65-F5344CB8AC3E}">
        <p14:creationId xmlns:p14="http://schemas.microsoft.com/office/powerpoint/2010/main" val="209947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What is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&lt;T&gt;</a:t>
            </a:r>
            <a:r>
              <a:rPr lang="en-US" dirty="0"/>
              <a:t>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author of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Comparable</a:t>
            </a:r>
            <a:r>
              <a:rPr lang="en-US" dirty="0"/>
              <a:t> interface has allowed other software developers to explicitly specialize the interface for one or more "types" (i.e. classes/interfaces)</a:t>
            </a:r>
          </a:p>
        </p:txBody>
      </p:sp>
    </p:spTree>
    <p:extLst>
      <p:ext uri="{BB962C8B-B14F-4D97-AF65-F5344CB8AC3E}">
        <p14:creationId xmlns:p14="http://schemas.microsoft.com/office/powerpoint/2010/main" val="212539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29FD-C2AE-093D-5134-CD14E432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12" y="612007"/>
            <a:ext cx="8229599" cy="729430"/>
          </a:xfrm>
        </p:spPr>
        <p:txBody>
          <a:bodyPr/>
          <a:lstStyle/>
          <a:p>
            <a:r>
              <a:rPr lang="en-US" dirty="0"/>
              <a:t>Basic Syntax of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D5E34-963D-559A-C576-81F601819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0" y="1646237"/>
            <a:ext cx="8955881" cy="5106724"/>
          </a:xfrm>
        </p:spPr>
        <p:txBody>
          <a:bodyPr/>
          <a:lstStyle/>
          <a:p>
            <a:r>
              <a:rPr lang="en-US" dirty="0"/>
              <a:t>Using Angle Brackets (&lt; &gt;): Types are specified within angle brackets.</a:t>
            </a:r>
          </a:p>
          <a:p>
            <a:r>
              <a:rPr lang="en-US" dirty="0"/>
              <a:t>Generic Type Parameter:</a:t>
            </a:r>
          </a:p>
          <a:p>
            <a:r>
              <a:rPr lang="en-US" dirty="0"/>
              <a:t>&lt;T&gt;: Commonly used as a placeholder for any type.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6675D-EA5B-5E70-1925-67AF039FD51A}"/>
              </a:ext>
            </a:extLst>
          </p:cNvPr>
          <p:cNvSpPr txBox="1"/>
          <p:nvPr/>
        </p:nvSpPr>
        <p:spPr>
          <a:xfrm>
            <a:off x="1916112" y="3475037"/>
            <a:ext cx="6248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public class Box&lt;T&gt; {</a:t>
            </a:r>
          </a:p>
          <a:p>
            <a:r>
              <a:rPr lang="en-US" sz="2000" dirty="0"/>
              <a:t>    private T item;</a:t>
            </a:r>
          </a:p>
          <a:p>
            <a:r>
              <a:rPr lang="en-US" sz="2000" dirty="0"/>
              <a:t>    public void </a:t>
            </a:r>
            <a:r>
              <a:rPr lang="en-US" sz="2000" dirty="0" err="1"/>
              <a:t>setItem</a:t>
            </a:r>
            <a:r>
              <a:rPr lang="en-US" sz="2000" dirty="0"/>
              <a:t>(T item) {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this.item</a:t>
            </a:r>
            <a:r>
              <a:rPr lang="en-US" sz="2000" dirty="0"/>
              <a:t> = item; 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  public T </a:t>
            </a:r>
            <a:r>
              <a:rPr lang="en-US" sz="2000" dirty="0" err="1"/>
              <a:t>getItem</a:t>
            </a:r>
            <a:r>
              <a:rPr lang="en-US" sz="2000" dirty="0"/>
              <a:t>() { </a:t>
            </a:r>
          </a:p>
          <a:p>
            <a:r>
              <a:rPr lang="en-US" sz="2000" dirty="0"/>
              <a:t> 	return item; 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460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440B-25DA-21D0-00E3-AEC8E95E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AFA8-5D36-95BC-D5E5-D1A381A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12" y="612007"/>
            <a:ext cx="8229599" cy="729430"/>
          </a:xfrm>
        </p:spPr>
        <p:txBody>
          <a:bodyPr/>
          <a:lstStyle/>
          <a:p>
            <a:r>
              <a:rPr lang="en-US" dirty="0"/>
              <a:t>Generic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4D771-221B-0DD3-15BC-CF8F9D1E1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0" y="1646237"/>
            <a:ext cx="8955881" cy="5106724"/>
          </a:xfrm>
        </p:spPr>
        <p:txBody>
          <a:bodyPr/>
          <a:lstStyle/>
          <a:p>
            <a:r>
              <a:rPr lang="en-US" dirty="0"/>
              <a:t>A generic class allows defining a class with a type parameter.</a:t>
            </a:r>
          </a:p>
          <a:p>
            <a:r>
              <a:rPr lang="en-US" dirty="0"/>
              <a:t>Syntax: </a:t>
            </a:r>
          </a:p>
          <a:p>
            <a:pPr lvl="1"/>
            <a:r>
              <a:rPr lang="en-US" dirty="0"/>
              <a:t>class </a:t>
            </a:r>
            <a:r>
              <a:rPr lang="en-US" dirty="0" err="1"/>
              <a:t>ClassName</a:t>
            </a:r>
            <a:r>
              <a:rPr lang="en-US" dirty="0"/>
              <a:t>&lt;T&gt; { /* class body */ }</a:t>
            </a:r>
          </a:p>
          <a:p>
            <a:r>
              <a:rPr lang="en-US" dirty="0"/>
              <a:t>Example: Creating a Box class that can hold any type of item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Box&lt;Integer&gt; is specified as holding an Integer.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A9EDF0-E896-D552-8CE3-F115DACA5412}"/>
              </a:ext>
            </a:extLst>
          </p:cNvPr>
          <p:cNvSpPr txBox="1"/>
          <p:nvPr/>
        </p:nvSpPr>
        <p:spPr>
          <a:xfrm>
            <a:off x="1763712" y="4694237"/>
            <a:ext cx="6248400" cy="99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Box&lt;Integer&gt; </a:t>
            </a:r>
            <a:r>
              <a:rPr lang="en-US" sz="2000" dirty="0" err="1"/>
              <a:t>integerBox</a:t>
            </a:r>
            <a:r>
              <a:rPr lang="en-US" sz="2000" dirty="0"/>
              <a:t> = new Box&lt;&gt;(); </a:t>
            </a:r>
            <a:r>
              <a:rPr lang="en-US" sz="2000" dirty="0" err="1"/>
              <a:t>integerBox.setItem</a:t>
            </a:r>
            <a:r>
              <a:rPr lang="en-US" sz="2000" dirty="0"/>
              <a:t>(123);</a:t>
            </a:r>
          </a:p>
          <a:p>
            <a:r>
              <a:rPr lang="en-US" sz="2000" dirty="0"/>
              <a:t>Integer item = </a:t>
            </a:r>
            <a:r>
              <a:rPr lang="en-US" sz="2000" dirty="0" err="1"/>
              <a:t>integerBox.getItem</a:t>
            </a:r>
            <a:r>
              <a:rPr lang="en-US" sz="2000" dirty="0"/>
              <a:t>(); // No need to cast </a:t>
            </a:r>
          </a:p>
        </p:txBody>
      </p:sp>
    </p:spTree>
    <p:extLst>
      <p:ext uri="{BB962C8B-B14F-4D97-AF65-F5344CB8AC3E}">
        <p14:creationId xmlns:p14="http://schemas.microsoft.com/office/powerpoint/2010/main" val="710475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Small, but Useful,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Consider a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dirty="0"/>
              <a:t> with the following simple methods</a:t>
            </a:r>
          </a:p>
          <a:p>
            <a:pPr lvl="1"/>
            <a:r>
              <a:rPr lang="en-US" dirty="0"/>
              <a:t>Constructors (no-</a:t>
            </a:r>
            <a:r>
              <a:rPr lang="en-US" dirty="0" err="1"/>
              <a:t>arg</a:t>
            </a:r>
            <a:r>
              <a:rPr lang="en-US" dirty="0"/>
              <a:t>=null, or value)</a:t>
            </a:r>
          </a:p>
          <a:p>
            <a:pPr lvl="1"/>
            <a:r>
              <a:rPr lang="en-US" dirty="0" err="1"/>
              <a:t>toString</a:t>
            </a:r>
            <a:r>
              <a:rPr lang="en-US" dirty="0"/>
              <a:t> (override)</a:t>
            </a:r>
          </a:p>
          <a:p>
            <a:pPr lvl="1"/>
            <a:r>
              <a:rPr lang="en-US" dirty="0"/>
              <a:t>Get (current value)</a:t>
            </a:r>
          </a:p>
          <a:p>
            <a:pPr lvl="1"/>
            <a:r>
              <a:rPr lang="en-US" dirty="0"/>
              <a:t>Set (to new value)</a:t>
            </a:r>
          </a:p>
        </p:txBody>
      </p:sp>
    </p:spTree>
    <p:extLst>
      <p:ext uri="{BB962C8B-B14F-4D97-AF65-F5344CB8AC3E}">
        <p14:creationId xmlns:p14="http://schemas.microsoft.com/office/powerpoint/2010/main" val="122017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87777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class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&lt;T&gt;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private T value;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(T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initValue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value =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initValue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this(null);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value==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null?null:value.toString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T get()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value;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void set(T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newValue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value =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newValue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979531" y="2184436"/>
            <a:ext cx="5101094" cy="487777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&lt;String&gt; s = 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s); // null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s.set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("hi");	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s); // hi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s.set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("bye");	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s); // bye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&lt;Integer&gt; x = 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MutableObject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&lt;&gt;(5);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x); // 5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x.set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(10);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x); // 10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MutableObject.java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Foo.java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31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08" y="309562"/>
            <a:ext cx="9336404" cy="1260475"/>
          </a:xfrm>
        </p:spPr>
        <p:txBody>
          <a:bodyPr>
            <a:noAutofit/>
          </a:bodyPr>
          <a:lstStyle/>
          <a:p>
            <a:r>
              <a:rPr lang="en-US" sz="4189" dirty="0"/>
              <a:t>Type Parameter Naming Conventions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4294967295"/>
          </p:nvPr>
        </p:nvGraphicFramePr>
        <p:xfrm>
          <a:off x="504507" y="2137563"/>
          <a:ext cx="9071612" cy="2861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2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Parameter Name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Meaning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Element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K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Key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N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Number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Type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V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Value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/>
                          </a:solidFill>
                          <a:latin typeface="Consolas" charset="0"/>
                          <a:ea typeface="Consolas" charset="0"/>
                          <a:cs typeface="Consolas" charset="0"/>
                        </a:rPr>
                        <a:t>S, U, V, etc.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2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nd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, 3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, 4</a:t>
                      </a:r>
                      <a:r>
                        <a:rPr lang="en-US" sz="2000" baseline="30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th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, </a:t>
                      </a:r>
                      <a:r>
                        <a:rPr lang="mr-IN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…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 types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25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0B54-F7F4-475F-F522-17E75A4A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3C5D-9B9F-25DC-CCDE-6F525315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12" y="612007"/>
            <a:ext cx="8229599" cy="729430"/>
          </a:xfrm>
        </p:spPr>
        <p:txBody>
          <a:bodyPr/>
          <a:lstStyle/>
          <a:p>
            <a:r>
              <a:rPr lang="en-US" dirty="0"/>
              <a:t>Multiple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AE14-1EBF-17A8-4D61-5E384BCA0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0" y="1646237"/>
            <a:ext cx="8955881" cy="5106724"/>
          </a:xfrm>
        </p:spPr>
        <p:txBody>
          <a:bodyPr/>
          <a:lstStyle/>
          <a:p>
            <a:r>
              <a:rPr lang="en-US" dirty="0"/>
              <a:t>Generics can support multiple types simultaneously, using comma-separated parameters.</a:t>
            </a:r>
          </a:p>
          <a:p>
            <a:r>
              <a:rPr lang="en-US" dirty="0"/>
              <a:t>Syntax: class </a:t>
            </a:r>
            <a:r>
              <a:rPr lang="en-US" dirty="0" err="1"/>
              <a:t>ClassName</a:t>
            </a:r>
            <a:r>
              <a:rPr lang="en-US" dirty="0"/>
              <a:t>&lt;T, U&gt; { /* class body */ }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Usage: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76FC3-479D-2174-43E2-DF1E8862F592}"/>
              </a:ext>
            </a:extLst>
          </p:cNvPr>
          <p:cNvSpPr txBox="1"/>
          <p:nvPr/>
        </p:nvSpPr>
        <p:spPr>
          <a:xfrm>
            <a:off x="2982912" y="3004030"/>
            <a:ext cx="5867400" cy="250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public class Pair&lt;K, V&gt; {</a:t>
            </a:r>
          </a:p>
          <a:p>
            <a:r>
              <a:rPr lang="en-US" sz="1600" dirty="0"/>
              <a:t>    private K key;</a:t>
            </a:r>
          </a:p>
          <a:p>
            <a:r>
              <a:rPr lang="en-US" sz="1600" dirty="0"/>
              <a:t>    private V value;</a:t>
            </a:r>
          </a:p>
          <a:p>
            <a:r>
              <a:rPr lang="en-US" sz="1600" dirty="0"/>
              <a:t>    public Pair(K key, V value) {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this.key</a:t>
            </a:r>
            <a:r>
              <a:rPr lang="en-US" sz="1600" dirty="0"/>
              <a:t> = key;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this.value</a:t>
            </a:r>
            <a:r>
              <a:rPr lang="en-US" sz="1600" dirty="0"/>
              <a:t> = value;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  public K </a:t>
            </a:r>
            <a:r>
              <a:rPr lang="en-US" sz="1600" dirty="0" err="1"/>
              <a:t>getKey</a:t>
            </a:r>
            <a:r>
              <a:rPr lang="en-US" sz="1600" dirty="0"/>
              <a:t>() { return key; }</a:t>
            </a:r>
          </a:p>
          <a:p>
            <a:r>
              <a:rPr lang="en-US" sz="1600" dirty="0"/>
              <a:t>    public V </a:t>
            </a:r>
            <a:r>
              <a:rPr lang="en-US" sz="1600" dirty="0" err="1"/>
              <a:t>getValue</a:t>
            </a:r>
            <a:r>
              <a:rPr lang="en-US" sz="1600" dirty="0"/>
              <a:t>() { return value; }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6C661-1A7E-38BF-6C4A-CF62DAF9FB9C}"/>
              </a:ext>
            </a:extLst>
          </p:cNvPr>
          <p:cNvSpPr txBox="1"/>
          <p:nvPr/>
        </p:nvSpPr>
        <p:spPr>
          <a:xfrm>
            <a:off x="1037428" y="6065837"/>
            <a:ext cx="842248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Pair&lt;String, Integer&gt; student = new Pair&lt;&gt;("Alice", 90);</a:t>
            </a:r>
          </a:p>
        </p:txBody>
      </p:sp>
    </p:spTree>
    <p:extLst>
      <p:ext uri="{BB962C8B-B14F-4D97-AF65-F5344CB8AC3E}">
        <p14:creationId xmlns:p14="http://schemas.microsoft.com/office/powerpoint/2010/main" val="344907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400" dirty="0"/>
          </a:p>
          <a:p>
            <a:r>
              <a:rPr sz="2400" dirty="0"/>
              <a:t>Generic methods allow a method to operate on different types without specifying them upfront in a class definition. The type parameter is defined before the return type.</a:t>
            </a:r>
            <a:endParaRPr lang="en-US" sz="2400" dirty="0"/>
          </a:p>
          <a:p>
            <a:endParaRPr sz="2400" dirty="0"/>
          </a:p>
          <a:p>
            <a:br>
              <a:rPr sz="2400" dirty="0"/>
            </a:br>
            <a:r>
              <a:rPr sz="2400" dirty="0"/>
              <a:t>public &lt;T&gt; void </a:t>
            </a:r>
            <a:r>
              <a:rPr sz="2400" dirty="0" err="1"/>
              <a:t>printArray</a:t>
            </a:r>
            <a:r>
              <a:rPr sz="2400" dirty="0"/>
              <a:t>(T[] array) {</a:t>
            </a:r>
            <a:br>
              <a:rPr sz="2400" dirty="0"/>
            </a:br>
            <a:r>
              <a:rPr sz="2400" dirty="0"/>
              <a:t>    for (T element : array) {</a:t>
            </a:r>
            <a:br>
              <a:rPr sz="2400" dirty="0"/>
            </a:br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(element);</a:t>
            </a:r>
            <a:br>
              <a:rPr sz="2400" dirty="0"/>
            </a:br>
            <a:r>
              <a:rPr sz="2400" dirty="0"/>
              <a:t>    }</a:t>
            </a:r>
            <a:br>
              <a:rPr sz="2400" dirty="0"/>
            </a:b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Type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400" dirty="0"/>
          </a:p>
          <a:p>
            <a:r>
              <a:rPr sz="2400" dirty="0"/>
              <a:t>You can restrict the types that can be used as type arguments using bounds. Bounded types allow access to methods defined in the bound type.</a:t>
            </a:r>
          </a:p>
          <a:p>
            <a:pPr>
              <a:defRPr b="1"/>
            </a:pPr>
            <a:endParaRPr lang="en-US" sz="2400" dirty="0"/>
          </a:p>
          <a:p>
            <a:pPr>
              <a:defRPr b="1"/>
            </a:pPr>
            <a:endParaRPr sz="2400" dirty="0"/>
          </a:p>
          <a:p>
            <a:br>
              <a:rPr sz="2400" dirty="0"/>
            </a:br>
            <a:r>
              <a:rPr sz="2400" dirty="0"/>
              <a:t>public &lt;T extends Number&gt; double add(T a, T b) {</a:t>
            </a:r>
            <a:br>
              <a:rPr sz="2400" dirty="0"/>
            </a:br>
            <a:r>
              <a:rPr sz="2400" dirty="0"/>
              <a:t>    return </a:t>
            </a:r>
            <a:r>
              <a:rPr sz="2400" dirty="0" err="1"/>
              <a:t>a.doubleValue</a:t>
            </a:r>
            <a:r>
              <a:rPr sz="2400" dirty="0"/>
              <a:t>() + </a:t>
            </a:r>
            <a:r>
              <a:rPr sz="2400" dirty="0" err="1"/>
              <a:t>b.doubleValue</a:t>
            </a:r>
            <a:r>
              <a:rPr sz="2400" dirty="0"/>
              <a:t>();</a:t>
            </a:r>
            <a:br>
              <a:rPr sz="2400" dirty="0"/>
            </a:b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1AA3-0A61-69CF-1083-483E8C9F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Type Example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24D1D-207C-F387-D640-C15D3E05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AECC-4DD5-40B6-B203-40A4539FF0F2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B0258-E111-3F9F-5981-C9854D8F4AA7}"/>
              </a:ext>
            </a:extLst>
          </p:cNvPr>
          <p:cNvSpPr txBox="1"/>
          <p:nvPr/>
        </p:nvSpPr>
        <p:spPr>
          <a:xfrm>
            <a:off x="696912" y="2179637"/>
            <a:ext cx="8534400" cy="416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public class </a:t>
            </a:r>
            <a:r>
              <a:rPr lang="en-US" sz="1800" dirty="0" err="1"/>
              <a:t>BoundedType</a:t>
            </a:r>
            <a:r>
              <a:rPr lang="en-US" sz="1800" dirty="0"/>
              <a:t> {</a:t>
            </a:r>
          </a:p>
          <a:p>
            <a:endParaRPr lang="en-US" sz="1800" dirty="0"/>
          </a:p>
          <a:p>
            <a:r>
              <a:rPr lang="en-US" sz="1800" dirty="0"/>
              <a:t>    // Generic method with bounded type</a:t>
            </a:r>
          </a:p>
          <a:p>
            <a:r>
              <a:rPr lang="en-US" sz="1800" dirty="0"/>
              <a:t>    public static &lt;T extends Number&gt; double add(T a, T b) {</a:t>
            </a:r>
          </a:p>
          <a:p>
            <a:r>
              <a:rPr lang="en-US" sz="1800" dirty="0"/>
              <a:t>        return </a:t>
            </a:r>
            <a:r>
              <a:rPr lang="en-US" sz="1800" dirty="0" err="1"/>
              <a:t>a.doubleValue</a:t>
            </a:r>
            <a:r>
              <a:rPr lang="en-US" sz="1800" dirty="0"/>
              <a:t>() + </a:t>
            </a:r>
            <a:r>
              <a:rPr lang="en-US" sz="1800" dirty="0" err="1"/>
              <a:t>b.doubleValue</a:t>
            </a:r>
            <a:r>
              <a:rPr lang="en-US" sz="1800" dirty="0"/>
              <a:t>();</a:t>
            </a:r>
          </a:p>
          <a:p>
            <a:r>
              <a:rPr lang="en-US" sz="1800" dirty="0"/>
              <a:t>    }</a:t>
            </a:r>
          </a:p>
          <a:p>
            <a:endParaRPr lang="en-US" sz="1800" dirty="0"/>
          </a:p>
          <a:p>
            <a:r>
              <a:rPr lang="en-US" sz="1800" dirty="0"/>
              <a:t>    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("Sum of integers: " + add(10, 20));           // Integer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("Sum of doubles: " + add(5.5, 3.3));         // Double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System.out.println</a:t>
            </a:r>
            <a:r>
              <a:rPr lang="en-US" sz="1800" dirty="0"/>
              <a:t>("Sum of floats: " + add(2.2f, 3.3f));        // Float</a:t>
            </a:r>
          </a:p>
          <a:p>
            <a:r>
              <a:rPr lang="en-US" sz="1800" dirty="0"/>
              <a:t>        // add("hello", "world");  //  Compile-time error: String is not a subtype of Number</a:t>
            </a:r>
          </a:p>
          <a:p>
            <a:r>
              <a:rPr lang="en-US" sz="1800" dirty="0"/>
              <a:t>    }</a:t>
            </a:r>
          </a:p>
          <a:p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6361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Wildcards in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800" dirty="0"/>
          </a:p>
          <a:p>
            <a:r>
              <a:rPr sz="2800" dirty="0"/>
              <a:t>Wildcards represent unknown types. Useful when writing methods that can accept multiple generic types. You can use bounded wildcards to restrict the type hierarchy.</a:t>
            </a:r>
          </a:p>
          <a:p>
            <a:endParaRPr lang="en-US" sz="2800" dirty="0"/>
          </a:p>
          <a:p>
            <a:br>
              <a:rPr lang="en-US" sz="2800" dirty="0"/>
            </a:br>
            <a:r>
              <a:rPr lang="en-US" sz="2800" dirty="0"/>
              <a:t>public void </a:t>
            </a:r>
            <a:r>
              <a:rPr lang="en-US" sz="2800" dirty="0" err="1"/>
              <a:t>printList</a:t>
            </a:r>
            <a:r>
              <a:rPr lang="en-US" sz="2800" dirty="0"/>
              <a:t>(List&lt;?&gt; list) {</a:t>
            </a:r>
            <a:br>
              <a:rPr lang="en-US" sz="2800" dirty="0"/>
            </a:br>
            <a:r>
              <a:rPr lang="en-US" sz="2800" dirty="0"/>
              <a:t>    for (Object obj : list) {</a:t>
            </a:r>
            <a:br>
              <a:rPr lang="en-US" sz="2800" dirty="0"/>
            </a:br>
            <a:r>
              <a:rPr lang="en-US" sz="2800" dirty="0"/>
              <a:t>        </a:t>
            </a:r>
            <a:r>
              <a:rPr lang="en-US" sz="2800" dirty="0" err="1"/>
              <a:t>System.out.println</a:t>
            </a:r>
            <a:r>
              <a:rPr lang="en-US" sz="2800" dirty="0"/>
              <a:t>(obj);</a:t>
            </a:r>
            <a:br>
              <a:rPr lang="en-US" sz="2800" dirty="0"/>
            </a:br>
            <a:r>
              <a:rPr lang="en-US" sz="2800" dirty="0"/>
              <a:t>    }</a:t>
            </a:r>
            <a:br>
              <a:rPr lang="en-US" sz="2800" dirty="0"/>
            </a:br>
            <a:r>
              <a:rPr lang="en-US" sz="28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30A1-1BC8-A83E-26DF-62A42ED8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D884F-72A9-74D9-5A8E-9981D247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4B99-291E-41E3-B0E3-88F1C3A52B7C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D8DD2-AD3C-79ED-8BE9-4D1274A12FC5}"/>
              </a:ext>
            </a:extLst>
          </p:cNvPr>
          <p:cNvSpPr txBox="1"/>
          <p:nvPr/>
        </p:nvSpPr>
        <p:spPr>
          <a:xfrm>
            <a:off x="544512" y="2103437"/>
            <a:ext cx="3654800" cy="410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    // Unbounded wildcard</a:t>
            </a:r>
          </a:p>
          <a:p>
            <a:r>
              <a:rPr lang="en-US" sz="1400" dirty="0"/>
              <a:t>    public static void </a:t>
            </a:r>
            <a:r>
              <a:rPr lang="en-US" sz="1400" dirty="0" err="1"/>
              <a:t>printAnyList</a:t>
            </a:r>
            <a:r>
              <a:rPr lang="en-US" sz="1400" dirty="0"/>
              <a:t>(List&lt;?&gt; list) {</a:t>
            </a:r>
          </a:p>
          <a:p>
            <a:r>
              <a:rPr lang="en-US" sz="1400" dirty="0"/>
              <a:t>        for (Object item : list)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(item);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// Upper bounded wildcard</a:t>
            </a:r>
          </a:p>
          <a:p>
            <a:r>
              <a:rPr lang="en-US" sz="1400" dirty="0"/>
              <a:t>    public static double </a:t>
            </a:r>
            <a:r>
              <a:rPr lang="en-US" sz="1400" dirty="0" err="1"/>
              <a:t>sumNumbers</a:t>
            </a:r>
            <a:r>
              <a:rPr lang="en-US" sz="1400" dirty="0"/>
              <a:t>(List&lt;? extends Number&gt; list) {</a:t>
            </a:r>
          </a:p>
          <a:p>
            <a:r>
              <a:rPr lang="en-US" sz="1400" dirty="0"/>
              <a:t>        double sum = 0;</a:t>
            </a:r>
          </a:p>
          <a:p>
            <a:r>
              <a:rPr lang="en-US" sz="1400" dirty="0"/>
              <a:t>        for (Number num : list) {</a:t>
            </a:r>
          </a:p>
          <a:p>
            <a:r>
              <a:rPr lang="en-US" sz="1400" dirty="0"/>
              <a:t>            sum += </a:t>
            </a:r>
            <a:r>
              <a:rPr lang="en-US" sz="1400" dirty="0" err="1"/>
              <a:t>num.doubleValue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  return sum;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71CA7-9C20-63A6-4D75-564308D346B5}"/>
              </a:ext>
            </a:extLst>
          </p:cNvPr>
          <p:cNvSpPr txBox="1"/>
          <p:nvPr/>
        </p:nvSpPr>
        <p:spPr>
          <a:xfrm>
            <a:off x="5116512" y="2636837"/>
            <a:ext cx="4341018" cy="220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    public static void main(String[] </a:t>
            </a:r>
            <a:r>
              <a:rPr lang="en-US" sz="1400" dirty="0" err="1"/>
              <a:t>args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List&lt;String&gt; names = </a:t>
            </a:r>
            <a:r>
              <a:rPr lang="en-US" sz="1400" dirty="0" err="1"/>
              <a:t>Arrays.asList</a:t>
            </a:r>
            <a:r>
              <a:rPr lang="en-US" sz="1400" dirty="0"/>
              <a:t>("Alice", "Bob");</a:t>
            </a:r>
          </a:p>
          <a:p>
            <a:r>
              <a:rPr lang="en-US" sz="1400" dirty="0"/>
              <a:t>        List&lt;Integer&gt; numbers = </a:t>
            </a:r>
            <a:r>
              <a:rPr lang="en-US" sz="1400" dirty="0" err="1"/>
              <a:t>Arrays.asList</a:t>
            </a:r>
            <a:r>
              <a:rPr lang="en-US" sz="1400" dirty="0"/>
              <a:t>(10, 20, 30);</a:t>
            </a:r>
          </a:p>
          <a:p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printAnyList</a:t>
            </a:r>
            <a:r>
              <a:rPr lang="en-US" sz="1400" dirty="0"/>
              <a:t>(names);             // OK with unbounded wildcard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</a:t>
            </a:r>
            <a:r>
              <a:rPr lang="en-US" sz="1400" dirty="0" err="1"/>
              <a:t>sumNumbers</a:t>
            </a:r>
            <a:r>
              <a:rPr lang="en-US" sz="1400" dirty="0"/>
              <a:t>(numbers));  // OK with upper bounded wildcard</a:t>
            </a:r>
          </a:p>
          <a:p>
            <a:r>
              <a:rPr lang="en-US" sz="1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93405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Erasure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2800" dirty="0"/>
          </a:p>
          <a:p>
            <a:r>
              <a:rPr sz="2800" dirty="0"/>
              <a:t>During compilation, generic type information is removed (erased), and replaced with raw types. This is known as type erasure. It affects how generics work at runtime.</a:t>
            </a:r>
          </a:p>
          <a:p>
            <a:pPr>
              <a:defRPr b="1"/>
            </a:pPr>
            <a:endParaRPr lang="en-US" sz="2800" dirty="0"/>
          </a:p>
          <a:p>
            <a:br>
              <a:rPr sz="2800" dirty="0"/>
            </a:br>
            <a:r>
              <a:rPr sz="2800" dirty="0"/>
              <a:t>List&lt;String&gt; list = new ArrayList&lt;&gt;();</a:t>
            </a:r>
            <a:br>
              <a:rPr sz="2800" dirty="0"/>
            </a:br>
            <a:r>
              <a:rPr sz="2800" dirty="0"/>
              <a:t>List&lt;Integer&gt; list2 = new ArrayList&lt;&gt;();</a:t>
            </a:r>
            <a:br>
              <a:rPr sz="2800" dirty="0"/>
            </a:br>
            <a:r>
              <a:rPr sz="2800" dirty="0" err="1"/>
              <a:t>System.out.println</a:t>
            </a:r>
            <a:r>
              <a:rPr sz="2800" dirty="0"/>
              <a:t>(</a:t>
            </a:r>
            <a:r>
              <a:rPr sz="2800" dirty="0" err="1"/>
              <a:t>list.getClass</a:t>
            </a:r>
            <a:r>
              <a:rPr sz="2800" dirty="0"/>
              <a:t>() == list2.getClass()); // true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Generics</a:t>
            </a:r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Imitations due to</a:t>
            </a:r>
            <a:r>
              <a:rPr dirty="0"/>
              <a:t> type erasure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Inability </a:t>
            </a:r>
            <a:r>
              <a:rPr dirty="0"/>
              <a:t>to create generic arrays, use primitive types directly, or instantiate type parameters.</a:t>
            </a:r>
          </a:p>
          <a:p>
            <a:pPr>
              <a:defRPr b="1"/>
            </a:pPr>
            <a:endParaRPr lang="en-US" dirty="0"/>
          </a:p>
          <a:p>
            <a:pPr>
              <a:defRPr b="1"/>
            </a:pPr>
            <a:r>
              <a:rPr sz="2800" dirty="0"/>
              <a:t>Example:</a:t>
            </a:r>
            <a:endParaRPr lang="en-US" sz="2800" dirty="0"/>
          </a:p>
          <a:p>
            <a:pPr>
              <a:defRPr b="1"/>
            </a:pPr>
            <a:endParaRPr sz="2800" dirty="0"/>
          </a:p>
          <a:p>
            <a:r>
              <a:rPr sz="2400" dirty="0"/>
              <a:t>Invalid:</a:t>
            </a:r>
            <a:br>
              <a:rPr sz="2400" dirty="0"/>
            </a:br>
            <a:r>
              <a:rPr sz="2400" dirty="0"/>
              <a:t>T[] array = new T[10]; // Error</a:t>
            </a:r>
            <a:br>
              <a:rPr sz="2400" dirty="0"/>
            </a:br>
            <a:r>
              <a:rPr sz="2400" dirty="0"/>
              <a:t>T obj = new T(); // Error</a:t>
            </a:r>
            <a:br>
              <a:rPr sz="2400" dirty="0"/>
            </a:br>
            <a:br>
              <a:rPr sz="2400" dirty="0"/>
            </a:br>
            <a:r>
              <a:rPr sz="2400" dirty="0"/>
              <a:t>Valid workaround:</a:t>
            </a:r>
            <a:br>
              <a:rPr sz="2400" dirty="0"/>
            </a:br>
            <a:r>
              <a:rPr sz="2400" dirty="0"/>
              <a:t>@SuppressWarnings("unchecked")</a:t>
            </a:r>
            <a:br>
              <a:rPr sz="2400" dirty="0"/>
            </a:br>
            <a:r>
              <a:rPr sz="2400" dirty="0"/>
              <a:t>T[] array = (T[]) new Object[10];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dirty="0"/>
              <a:t>idely used in Java Collections, utility classes, and frameworks </a:t>
            </a:r>
            <a:endParaRPr lang="en-US" dirty="0"/>
          </a:p>
          <a:p>
            <a:r>
              <a:rPr lang="en-US" dirty="0"/>
              <a:t>H</a:t>
            </a:r>
            <a:r>
              <a:rPr dirty="0"/>
              <a:t>andle</a:t>
            </a:r>
            <a:r>
              <a:rPr lang="en-US" dirty="0"/>
              <a:t>s</a:t>
            </a:r>
            <a:r>
              <a:rPr dirty="0"/>
              <a:t> different types with the same code structure.</a:t>
            </a:r>
          </a:p>
          <a:p>
            <a:pPr>
              <a:defRPr b="1"/>
            </a:pPr>
            <a:endParaRPr dirty="0"/>
          </a:p>
          <a:p>
            <a:br>
              <a:rPr sz="2400" dirty="0"/>
            </a:br>
            <a:r>
              <a:rPr sz="2400" dirty="0"/>
              <a:t>List&lt;Integer&gt; </a:t>
            </a:r>
            <a:r>
              <a:rPr sz="2400" dirty="0" err="1"/>
              <a:t>intList</a:t>
            </a:r>
            <a:r>
              <a:rPr sz="2400" dirty="0"/>
              <a:t> = new ArrayList&lt;&gt;();</a:t>
            </a:r>
            <a:br>
              <a:rPr sz="2400" dirty="0"/>
            </a:br>
            <a:r>
              <a:rPr sz="2400" dirty="0"/>
              <a:t>Map&lt;String, Integer&gt; map = new HashMap&lt;&gt;();</a:t>
            </a:r>
            <a:br>
              <a:rPr sz="2400" dirty="0"/>
            </a:br>
            <a:r>
              <a:rPr sz="2400" dirty="0"/>
              <a:t>Comparator&lt;String&gt; </a:t>
            </a:r>
            <a:r>
              <a:rPr sz="2400" dirty="0" err="1"/>
              <a:t>cmp</a:t>
            </a:r>
            <a:r>
              <a:rPr sz="2400" dirty="0"/>
              <a:t> = (a, b) -&gt; </a:t>
            </a:r>
            <a:r>
              <a:rPr sz="2400" dirty="0" err="1"/>
              <a:t>a.compareTo</a:t>
            </a:r>
            <a:r>
              <a:rPr sz="2400" dirty="0"/>
              <a:t>(b);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Generics enable types (classes and interfaces) to be parameters when defining classes, interfaces, and methods</a:t>
            </a:r>
          </a:p>
          <a:p>
            <a:pPr lvl="1"/>
            <a:r>
              <a:rPr lang="en-US" dirty="0"/>
              <a:t>By explicitly typing, errors from general code can be caught at compile time!</a:t>
            </a:r>
          </a:p>
          <a:p>
            <a:r>
              <a:rPr lang="en-US" dirty="0"/>
              <a:t>Wildcards allow methods to express hierarchical generic types</a:t>
            </a:r>
          </a:p>
          <a:p>
            <a:r>
              <a:rPr lang="en-US" dirty="0"/>
              <a:t>After compiling, all generics are removed for backwards compatibility</a:t>
            </a:r>
          </a:p>
          <a:p>
            <a:pPr lvl="1"/>
            <a:r>
              <a:rPr lang="en-US" dirty="0"/>
              <a:t>Due to this type erasure, there are some unintuitive restrictions to using generics</a:t>
            </a:r>
          </a:p>
        </p:txBody>
      </p:sp>
    </p:spTree>
    <p:extLst>
      <p:ext uri="{BB962C8B-B14F-4D97-AF65-F5344CB8AC3E}">
        <p14:creationId xmlns:p14="http://schemas.microsoft.com/office/powerpoint/2010/main" val="1838332272"/>
      </p:ext>
    </p:extLst>
  </p:cSld>
  <p:clrMapOvr>
    <a:masterClrMapping/>
  </p:clrMapOvr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3358</TotalTime>
  <Words>1858</Words>
  <Application>Microsoft Office PowerPoint</Application>
  <PresentationFormat>Custom</PresentationFormat>
  <Paragraphs>226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Bitstream Vera Serif</vt:lpstr>
      <vt:lpstr>Comic Sans MS</vt:lpstr>
      <vt:lpstr>Consolas</vt:lpstr>
      <vt:lpstr>Georgia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Generics</vt:lpstr>
      <vt:lpstr>What are "generics"?</vt:lpstr>
      <vt:lpstr>So What is &lt;T&gt;?</vt:lpstr>
      <vt:lpstr>Basic Syntax of Generics</vt:lpstr>
      <vt:lpstr>Generic Classes</vt:lpstr>
      <vt:lpstr>A Small, but Useful, Example</vt:lpstr>
      <vt:lpstr>Solution</vt:lpstr>
      <vt:lpstr>Type Parameter Naming Conventions</vt:lpstr>
      <vt:lpstr>Multiple Type Parameters</vt:lpstr>
      <vt:lpstr>Generic Methods</vt:lpstr>
      <vt:lpstr>Bounded Type Parameters</vt:lpstr>
      <vt:lpstr>Bounded Type Example </vt:lpstr>
      <vt:lpstr>Wildcards in Generics</vt:lpstr>
      <vt:lpstr>Example</vt:lpstr>
      <vt:lpstr>Type Erasure</vt:lpstr>
      <vt:lpstr>Limitations of Generics</vt:lpstr>
      <vt:lpstr>Common Use Cases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18</cp:revision>
  <cp:lastPrinted>1601-01-01T00:00:00Z</cp:lastPrinted>
  <dcterms:created xsi:type="dcterms:W3CDTF">2017-09-08T01:15:12Z</dcterms:created>
  <dcterms:modified xsi:type="dcterms:W3CDTF">2025-11-13T10:46:18Z</dcterms:modified>
</cp:coreProperties>
</file>