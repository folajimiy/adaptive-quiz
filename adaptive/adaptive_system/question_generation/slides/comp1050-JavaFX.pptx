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 id="2147483648" r:id="rId2"/>
  </p:sldMasterIdLst>
  <p:notesMasterIdLst>
    <p:notesMasterId r:id="rId38"/>
  </p:notesMasterIdLst>
  <p:handoutMasterIdLst>
    <p:handoutMasterId r:id="rId39"/>
  </p:handoutMasterIdLst>
  <p:sldIdLst>
    <p:sldId id="258" r:id="rId3"/>
    <p:sldId id="395" r:id="rId4"/>
    <p:sldId id="298" r:id="rId5"/>
    <p:sldId id="403" r:id="rId6"/>
    <p:sldId id="404" r:id="rId7"/>
    <p:sldId id="405" r:id="rId8"/>
    <p:sldId id="406" r:id="rId9"/>
    <p:sldId id="407" r:id="rId10"/>
    <p:sldId id="276" r:id="rId11"/>
    <p:sldId id="277" r:id="rId12"/>
    <p:sldId id="425" r:id="rId13"/>
    <p:sldId id="278" r:id="rId14"/>
    <p:sldId id="397" r:id="rId15"/>
    <p:sldId id="279" r:id="rId16"/>
    <p:sldId id="281" r:id="rId17"/>
    <p:sldId id="282" r:id="rId18"/>
    <p:sldId id="424" r:id="rId19"/>
    <p:sldId id="399" r:id="rId20"/>
    <p:sldId id="423" r:id="rId21"/>
    <p:sldId id="284" r:id="rId22"/>
    <p:sldId id="421" r:id="rId23"/>
    <p:sldId id="299" r:id="rId24"/>
    <p:sldId id="300" r:id="rId25"/>
    <p:sldId id="301" r:id="rId26"/>
    <p:sldId id="302" r:id="rId27"/>
    <p:sldId id="303" r:id="rId28"/>
    <p:sldId id="304" r:id="rId29"/>
    <p:sldId id="305" r:id="rId30"/>
    <p:sldId id="306" r:id="rId31"/>
    <p:sldId id="307" r:id="rId32"/>
    <p:sldId id="308" r:id="rId33"/>
    <p:sldId id="309" r:id="rId34"/>
    <p:sldId id="310" r:id="rId35"/>
    <p:sldId id="311" r:id="rId36"/>
    <p:sldId id="426" r:id="rId37"/>
  </p:sldIdLst>
  <p:sldSz cx="10080625" cy="7559675"/>
  <p:notesSz cx="7772400" cy="10058400"/>
  <p:defaultTextStyle>
    <a:defPPr>
      <a:defRPr lang="en-US"/>
    </a:defPPr>
    <a:lvl1pPr algn="l" defTabSz="449263" rtl="0" fontAlgn="base" hangingPunct="0">
      <a:lnSpc>
        <a:spcPct val="98000"/>
      </a:lnSpc>
      <a:spcBef>
        <a:spcPct val="0"/>
      </a:spcBef>
      <a:spcAft>
        <a:spcPct val="0"/>
      </a:spcAft>
      <a:buClr>
        <a:srgbClr val="000000"/>
      </a:buClr>
      <a:buSzPct val="100000"/>
      <a:buFont typeface="Times New Roman" pitchFamily="16" charset="0"/>
      <a:defRPr sz="2400" kern="1200">
        <a:solidFill>
          <a:schemeClr val="tx1"/>
        </a:solidFill>
        <a:latin typeface="Bitstream Vera Serif" pitchFamily="16" charset="0"/>
        <a:ea typeface="+mn-ea"/>
        <a:cs typeface="+mn-cs"/>
      </a:defRPr>
    </a:lvl1pPr>
    <a:lvl2pPr marL="742950" indent="-285750" algn="l" defTabSz="449263" rtl="0" fontAlgn="base" hangingPunct="0">
      <a:lnSpc>
        <a:spcPct val="98000"/>
      </a:lnSpc>
      <a:spcBef>
        <a:spcPct val="0"/>
      </a:spcBef>
      <a:spcAft>
        <a:spcPct val="0"/>
      </a:spcAft>
      <a:buClr>
        <a:srgbClr val="000000"/>
      </a:buClr>
      <a:buSzPct val="100000"/>
      <a:buFont typeface="Times New Roman" pitchFamily="16" charset="0"/>
      <a:defRPr sz="2400" kern="1200">
        <a:solidFill>
          <a:schemeClr val="tx1"/>
        </a:solidFill>
        <a:latin typeface="Bitstream Vera Serif" pitchFamily="16" charset="0"/>
        <a:ea typeface="+mn-ea"/>
        <a:cs typeface="+mn-cs"/>
      </a:defRPr>
    </a:lvl2pPr>
    <a:lvl3pPr marL="1143000" indent="-228600" algn="l" defTabSz="449263" rtl="0" fontAlgn="base" hangingPunct="0">
      <a:lnSpc>
        <a:spcPct val="98000"/>
      </a:lnSpc>
      <a:spcBef>
        <a:spcPct val="0"/>
      </a:spcBef>
      <a:spcAft>
        <a:spcPct val="0"/>
      </a:spcAft>
      <a:buClr>
        <a:srgbClr val="000000"/>
      </a:buClr>
      <a:buSzPct val="100000"/>
      <a:buFont typeface="Times New Roman" pitchFamily="16" charset="0"/>
      <a:defRPr sz="2400" kern="1200">
        <a:solidFill>
          <a:schemeClr val="tx1"/>
        </a:solidFill>
        <a:latin typeface="Bitstream Vera Serif" pitchFamily="16" charset="0"/>
        <a:ea typeface="+mn-ea"/>
        <a:cs typeface="+mn-cs"/>
      </a:defRPr>
    </a:lvl3pPr>
    <a:lvl4pPr marL="1600200" indent="-228600" algn="l" defTabSz="449263" rtl="0" fontAlgn="base" hangingPunct="0">
      <a:lnSpc>
        <a:spcPct val="98000"/>
      </a:lnSpc>
      <a:spcBef>
        <a:spcPct val="0"/>
      </a:spcBef>
      <a:spcAft>
        <a:spcPct val="0"/>
      </a:spcAft>
      <a:buClr>
        <a:srgbClr val="000000"/>
      </a:buClr>
      <a:buSzPct val="100000"/>
      <a:buFont typeface="Times New Roman" pitchFamily="16" charset="0"/>
      <a:defRPr sz="2400" kern="1200">
        <a:solidFill>
          <a:schemeClr val="tx1"/>
        </a:solidFill>
        <a:latin typeface="Bitstream Vera Serif" pitchFamily="16" charset="0"/>
        <a:ea typeface="+mn-ea"/>
        <a:cs typeface="+mn-cs"/>
      </a:defRPr>
    </a:lvl4pPr>
    <a:lvl5pPr marL="2057400" indent="-228600" algn="l" defTabSz="449263" rtl="0" fontAlgn="base" hangingPunct="0">
      <a:lnSpc>
        <a:spcPct val="98000"/>
      </a:lnSpc>
      <a:spcBef>
        <a:spcPct val="0"/>
      </a:spcBef>
      <a:spcAft>
        <a:spcPct val="0"/>
      </a:spcAft>
      <a:buClr>
        <a:srgbClr val="000000"/>
      </a:buClr>
      <a:buSzPct val="100000"/>
      <a:buFont typeface="Times New Roman" pitchFamily="16" charset="0"/>
      <a:defRPr sz="2400" kern="1200">
        <a:solidFill>
          <a:schemeClr val="tx1"/>
        </a:solidFill>
        <a:latin typeface="Bitstream Vera Serif" pitchFamily="16" charset="0"/>
        <a:ea typeface="+mn-ea"/>
        <a:cs typeface="+mn-cs"/>
      </a:defRPr>
    </a:lvl5pPr>
    <a:lvl6pPr marL="2286000" algn="l" defTabSz="914400" rtl="0" eaLnBrk="1" latinLnBrk="0" hangingPunct="1">
      <a:defRPr sz="2400" kern="1200">
        <a:solidFill>
          <a:schemeClr val="tx1"/>
        </a:solidFill>
        <a:latin typeface="Bitstream Vera Serif" pitchFamily="16" charset="0"/>
        <a:ea typeface="+mn-ea"/>
        <a:cs typeface="+mn-cs"/>
      </a:defRPr>
    </a:lvl6pPr>
    <a:lvl7pPr marL="2743200" algn="l" defTabSz="914400" rtl="0" eaLnBrk="1" latinLnBrk="0" hangingPunct="1">
      <a:defRPr sz="2400" kern="1200">
        <a:solidFill>
          <a:schemeClr val="tx1"/>
        </a:solidFill>
        <a:latin typeface="Bitstream Vera Serif" pitchFamily="16" charset="0"/>
        <a:ea typeface="+mn-ea"/>
        <a:cs typeface="+mn-cs"/>
      </a:defRPr>
    </a:lvl7pPr>
    <a:lvl8pPr marL="3200400" algn="l" defTabSz="914400" rtl="0" eaLnBrk="1" latinLnBrk="0" hangingPunct="1">
      <a:defRPr sz="2400" kern="1200">
        <a:solidFill>
          <a:schemeClr val="tx1"/>
        </a:solidFill>
        <a:latin typeface="Bitstream Vera Serif" pitchFamily="16" charset="0"/>
        <a:ea typeface="+mn-ea"/>
        <a:cs typeface="+mn-cs"/>
      </a:defRPr>
    </a:lvl8pPr>
    <a:lvl9pPr marL="3657600" algn="l" defTabSz="914400" rtl="0" eaLnBrk="1" latinLnBrk="0" hangingPunct="1">
      <a:defRPr sz="2400" kern="1200">
        <a:solidFill>
          <a:schemeClr val="tx1"/>
        </a:solidFill>
        <a:latin typeface="Bitstream Vera Serif" pitchFamily="1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20000"/>
    <a:srgbClr val="640000"/>
    <a:srgbClr val="928F00"/>
    <a:srgbClr val="E3DE00"/>
    <a:srgbClr val="C9C400"/>
    <a:srgbClr val="FFFF66"/>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4" autoAdjust="0"/>
    <p:restoredTop sz="79951" autoAdjust="0"/>
  </p:normalViewPr>
  <p:slideViewPr>
    <p:cSldViewPr snapToGrid="0">
      <p:cViewPr varScale="1">
        <p:scale>
          <a:sx n="80" d="100"/>
          <a:sy n="80" d="100"/>
        </p:scale>
        <p:origin x="1748" y="40"/>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lajimi, Yetunde" userId="3a54126c-7470-4734-afae-d4449bb90691" providerId="ADAL" clId="{A0037543-A20B-4033-AC28-D667F8BBAA15}"/>
    <pc:docChg chg="undo custSel addSld delSld modSld sldOrd">
      <pc:chgData name="Folajimi, Yetunde" userId="3a54126c-7470-4734-afae-d4449bb90691" providerId="ADAL" clId="{A0037543-A20B-4033-AC28-D667F8BBAA15}" dt="2024-11-22T15:57:37.176" v="1115" actId="20577"/>
      <pc:docMkLst>
        <pc:docMk/>
      </pc:docMkLst>
      <pc:sldChg chg="addSp modSp add mod">
        <pc:chgData name="Folajimi, Yetunde" userId="3a54126c-7470-4734-afae-d4449bb90691" providerId="ADAL" clId="{A0037543-A20B-4033-AC28-D667F8BBAA15}" dt="2024-11-20T09:11:53.615" v="739" actId="403"/>
        <pc:sldMkLst>
          <pc:docMk/>
          <pc:sldMk cId="0" sldId="276"/>
        </pc:sldMkLst>
      </pc:sldChg>
      <pc:sldChg chg="add ord">
        <pc:chgData name="Folajimi, Yetunde" userId="3a54126c-7470-4734-afae-d4449bb90691" providerId="ADAL" clId="{A0037543-A20B-4033-AC28-D667F8BBAA15}" dt="2024-11-19T22:59:25.295" v="662"/>
        <pc:sldMkLst>
          <pc:docMk/>
          <pc:sldMk cId="0" sldId="277"/>
        </pc:sldMkLst>
      </pc:sldChg>
      <pc:sldChg chg="add">
        <pc:chgData name="Folajimi, Yetunde" userId="3a54126c-7470-4734-afae-d4449bb90691" providerId="ADAL" clId="{A0037543-A20B-4033-AC28-D667F8BBAA15}" dt="2024-11-20T14:57:13.518" v="1061"/>
        <pc:sldMkLst>
          <pc:docMk/>
          <pc:sldMk cId="0" sldId="278"/>
        </pc:sldMkLst>
      </pc:sldChg>
      <pc:sldChg chg="modSp add mod">
        <pc:chgData name="Folajimi, Yetunde" userId="3a54126c-7470-4734-afae-d4449bb90691" providerId="ADAL" clId="{A0037543-A20B-4033-AC28-D667F8BBAA15}" dt="2024-11-20T15:00:55.098" v="1068" actId="20577"/>
        <pc:sldMkLst>
          <pc:docMk/>
          <pc:sldMk cId="0" sldId="279"/>
        </pc:sldMkLst>
      </pc:sldChg>
      <pc:sldChg chg="add del ord">
        <pc:chgData name="Folajimi, Yetunde" userId="3a54126c-7470-4734-afae-d4449bb90691" providerId="ADAL" clId="{A0037543-A20B-4033-AC28-D667F8BBAA15}" dt="2024-11-20T14:52:24.689" v="1055"/>
        <pc:sldMkLst>
          <pc:docMk/>
          <pc:sldMk cId="3777480675" sldId="281"/>
        </pc:sldMkLst>
      </pc:sldChg>
      <pc:sldChg chg="add del">
        <pc:chgData name="Folajimi, Yetunde" userId="3a54126c-7470-4734-afae-d4449bb90691" providerId="ADAL" clId="{A0037543-A20B-4033-AC28-D667F8BBAA15}" dt="2024-11-20T09:07:30.679" v="669"/>
        <pc:sldMkLst>
          <pc:docMk/>
          <pc:sldMk cId="0" sldId="282"/>
        </pc:sldMkLst>
      </pc:sldChg>
      <pc:sldChg chg="del">
        <pc:chgData name="Folajimi, Yetunde" userId="3a54126c-7470-4734-afae-d4449bb90691" providerId="ADAL" clId="{A0037543-A20B-4033-AC28-D667F8BBAA15}" dt="2024-11-19T14:49:40.064" v="0" actId="47"/>
        <pc:sldMkLst>
          <pc:docMk/>
          <pc:sldMk cId="470848069" sldId="283"/>
        </pc:sldMkLst>
      </pc:sldChg>
      <pc:sldChg chg="add del">
        <pc:chgData name="Folajimi, Yetunde" userId="3a54126c-7470-4734-afae-d4449bb90691" providerId="ADAL" clId="{A0037543-A20B-4033-AC28-D667F8BBAA15}" dt="2024-11-20T09:07:30.679" v="669"/>
        <pc:sldMkLst>
          <pc:docMk/>
          <pc:sldMk cId="0" sldId="284"/>
        </pc:sldMkLst>
      </pc:sldChg>
      <pc:sldChg chg="add del">
        <pc:chgData name="Folajimi, Yetunde" userId="3a54126c-7470-4734-afae-d4449bb90691" providerId="ADAL" clId="{A0037543-A20B-4033-AC28-D667F8BBAA15}" dt="2024-11-20T10:37:38.179" v="965" actId="47"/>
        <pc:sldMkLst>
          <pc:docMk/>
          <pc:sldMk cId="0" sldId="285"/>
        </pc:sldMkLst>
      </pc:sldChg>
      <pc:sldChg chg="add del">
        <pc:chgData name="Folajimi, Yetunde" userId="3a54126c-7470-4734-afae-d4449bb90691" providerId="ADAL" clId="{A0037543-A20B-4033-AC28-D667F8BBAA15}" dt="2024-11-20T15:01:28.638" v="1069" actId="47"/>
        <pc:sldMkLst>
          <pc:docMk/>
          <pc:sldMk cId="0" sldId="286"/>
        </pc:sldMkLst>
      </pc:sldChg>
      <pc:sldChg chg="del">
        <pc:chgData name="Folajimi, Yetunde" userId="3a54126c-7470-4734-afae-d4449bb90691" providerId="ADAL" clId="{A0037543-A20B-4033-AC28-D667F8BBAA15}" dt="2024-11-19T14:49:40.064" v="0" actId="47"/>
        <pc:sldMkLst>
          <pc:docMk/>
          <pc:sldMk cId="2906496331" sldId="295"/>
        </pc:sldMkLst>
      </pc:sldChg>
      <pc:sldChg chg="del">
        <pc:chgData name="Folajimi, Yetunde" userId="3a54126c-7470-4734-afae-d4449bb90691" providerId="ADAL" clId="{A0037543-A20B-4033-AC28-D667F8BBAA15}" dt="2024-11-19T14:49:40.064" v="0" actId="47"/>
        <pc:sldMkLst>
          <pc:docMk/>
          <pc:sldMk cId="1766779889" sldId="297"/>
        </pc:sldMkLst>
      </pc:sldChg>
      <pc:sldChg chg="modSp mod modNotesTx">
        <pc:chgData name="Folajimi, Yetunde" userId="3a54126c-7470-4734-afae-d4449bb90691" providerId="ADAL" clId="{A0037543-A20B-4033-AC28-D667F8BBAA15}" dt="2024-11-19T15:10:15.430" v="205" actId="27636"/>
        <pc:sldMkLst>
          <pc:docMk/>
          <pc:sldMk cId="974700857" sldId="298"/>
        </pc:sldMkLst>
      </pc:sldChg>
      <pc:sldChg chg="add">
        <pc:chgData name="Folajimi, Yetunde" userId="3a54126c-7470-4734-afae-d4449bb90691" providerId="ADAL" clId="{A0037543-A20B-4033-AC28-D667F8BBAA15}" dt="2024-11-19T20:49:28.873" v="625"/>
        <pc:sldMkLst>
          <pc:docMk/>
          <pc:sldMk cId="173077343" sldId="299"/>
        </pc:sldMkLst>
      </pc:sldChg>
      <pc:sldChg chg="del">
        <pc:chgData name="Folajimi, Yetunde" userId="3a54126c-7470-4734-afae-d4449bb90691" providerId="ADAL" clId="{A0037543-A20B-4033-AC28-D667F8BBAA15}" dt="2024-11-19T14:49:40.064" v="0" actId="47"/>
        <pc:sldMkLst>
          <pc:docMk/>
          <pc:sldMk cId="1784620275" sldId="300"/>
        </pc:sldMkLst>
      </pc:sldChg>
      <pc:sldChg chg="add">
        <pc:chgData name="Folajimi, Yetunde" userId="3a54126c-7470-4734-afae-d4449bb90691" providerId="ADAL" clId="{A0037543-A20B-4033-AC28-D667F8BBAA15}" dt="2024-11-19T20:49:28.873" v="625"/>
        <pc:sldMkLst>
          <pc:docMk/>
          <pc:sldMk cId="1881015537" sldId="300"/>
        </pc:sldMkLst>
      </pc:sldChg>
      <pc:sldChg chg="del">
        <pc:chgData name="Folajimi, Yetunde" userId="3a54126c-7470-4734-afae-d4449bb90691" providerId="ADAL" clId="{A0037543-A20B-4033-AC28-D667F8BBAA15}" dt="2024-11-19T14:49:40.064" v="0" actId="47"/>
        <pc:sldMkLst>
          <pc:docMk/>
          <pc:sldMk cId="208864276" sldId="301"/>
        </pc:sldMkLst>
      </pc:sldChg>
      <pc:sldChg chg="modSp add mod">
        <pc:chgData name="Folajimi, Yetunde" userId="3a54126c-7470-4734-afae-d4449bb90691" providerId="ADAL" clId="{A0037543-A20B-4033-AC28-D667F8BBAA15}" dt="2024-11-21T15:24:41.062" v="1078" actId="1076"/>
        <pc:sldMkLst>
          <pc:docMk/>
          <pc:sldMk cId="1121362872" sldId="301"/>
        </pc:sldMkLst>
      </pc:sldChg>
      <pc:sldChg chg="add">
        <pc:chgData name="Folajimi, Yetunde" userId="3a54126c-7470-4734-afae-d4449bb90691" providerId="ADAL" clId="{A0037543-A20B-4033-AC28-D667F8BBAA15}" dt="2024-11-19T20:49:28.873" v="625"/>
        <pc:sldMkLst>
          <pc:docMk/>
          <pc:sldMk cId="429303632" sldId="302"/>
        </pc:sldMkLst>
      </pc:sldChg>
      <pc:sldChg chg="del">
        <pc:chgData name="Folajimi, Yetunde" userId="3a54126c-7470-4734-afae-d4449bb90691" providerId="ADAL" clId="{A0037543-A20B-4033-AC28-D667F8BBAA15}" dt="2024-11-19T14:49:40.064" v="0" actId="47"/>
        <pc:sldMkLst>
          <pc:docMk/>
          <pc:sldMk cId="1058479759" sldId="303"/>
        </pc:sldMkLst>
      </pc:sldChg>
      <pc:sldChg chg="add">
        <pc:chgData name="Folajimi, Yetunde" userId="3a54126c-7470-4734-afae-d4449bb90691" providerId="ADAL" clId="{A0037543-A20B-4033-AC28-D667F8BBAA15}" dt="2024-11-19T20:49:28.873" v="625"/>
        <pc:sldMkLst>
          <pc:docMk/>
          <pc:sldMk cId="1908572751" sldId="303"/>
        </pc:sldMkLst>
      </pc:sldChg>
      <pc:sldChg chg="add">
        <pc:chgData name="Folajimi, Yetunde" userId="3a54126c-7470-4734-afae-d4449bb90691" providerId="ADAL" clId="{A0037543-A20B-4033-AC28-D667F8BBAA15}" dt="2024-11-19T20:49:28.873" v="625"/>
        <pc:sldMkLst>
          <pc:docMk/>
          <pc:sldMk cId="418990818" sldId="304"/>
        </pc:sldMkLst>
      </pc:sldChg>
      <pc:sldChg chg="add">
        <pc:chgData name="Folajimi, Yetunde" userId="3a54126c-7470-4734-afae-d4449bb90691" providerId="ADAL" clId="{A0037543-A20B-4033-AC28-D667F8BBAA15}" dt="2024-11-19T20:49:28.873" v="625"/>
        <pc:sldMkLst>
          <pc:docMk/>
          <pc:sldMk cId="379799613" sldId="305"/>
        </pc:sldMkLst>
      </pc:sldChg>
      <pc:sldChg chg="del">
        <pc:chgData name="Folajimi, Yetunde" userId="3a54126c-7470-4734-afae-d4449bb90691" providerId="ADAL" clId="{A0037543-A20B-4033-AC28-D667F8BBAA15}" dt="2024-11-19T14:49:43.796" v="1" actId="47"/>
        <pc:sldMkLst>
          <pc:docMk/>
          <pc:sldMk cId="2664428234" sldId="305"/>
        </pc:sldMkLst>
      </pc:sldChg>
      <pc:sldChg chg="add">
        <pc:chgData name="Folajimi, Yetunde" userId="3a54126c-7470-4734-afae-d4449bb90691" providerId="ADAL" clId="{A0037543-A20B-4033-AC28-D667F8BBAA15}" dt="2024-11-19T20:49:28.873" v="625"/>
        <pc:sldMkLst>
          <pc:docMk/>
          <pc:sldMk cId="970696807" sldId="306"/>
        </pc:sldMkLst>
      </pc:sldChg>
      <pc:sldChg chg="del">
        <pc:chgData name="Folajimi, Yetunde" userId="3a54126c-7470-4734-afae-d4449bb90691" providerId="ADAL" clId="{A0037543-A20B-4033-AC28-D667F8BBAA15}" dt="2024-11-19T14:49:43.796" v="1" actId="47"/>
        <pc:sldMkLst>
          <pc:docMk/>
          <pc:sldMk cId="1463474612" sldId="306"/>
        </pc:sldMkLst>
      </pc:sldChg>
      <pc:sldChg chg="add">
        <pc:chgData name="Folajimi, Yetunde" userId="3a54126c-7470-4734-afae-d4449bb90691" providerId="ADAL" clId="{A0037543-A20B-4033-AC28-D667F8BBAA15}" dt="2024-11-19T20:49:28.873" v="625"/>
        <pc:sldMkLst>
          <pc:docMk/>
          <pc:sldMk cId="67968990" sldId="307"/>
        </pc:sldMkLst>
      </pc:sldChg>
      <pc:sldChg chg="del">
        <pc:chgData name="Folajimi, Yetunde" userId="3a54126c-7470-4734-afae-d4449bb90691" providerId="ADAL" clId="{A0037543-A20B-4033-AC28-D667F8BBAA15}" dt="2024-11-19T14:49:40.064" v="0" actId="47"/>
        <pc:sldMkLst>
          <pc:docMk/>
          <pc:sldMk cId="86192195" sldId="307"/>
        </pc:sldMkLst>
      </pc:sldChg>
      <pc:sldChg chg="add">
        <pc:chgData name="Folajimi, Yetunde" userId="3a54126c-7470-4734-afae-d4449bb90691" providerId="ADAL" clId="{A0037543-A20B-4033-AC28-D667F8BBAA15}" dt="2024-11-19T20:49:28.873" v="625"/>
        <pc:sldMkLst>
          <pc:docMk/>
          <pc:sldMk cId="2040998373" sldId="308"/>
        </pc:sldMkLst>
      </pc:sldChg>
      <pc:sldChg chg="del">
        <pc:chgData name="Folajimi, Yetunde" userId="3a54126c-7470-4734-afae-d4449bb90691" providerId="ADAL" clId="{A0037543-A20B-4033-AC28-D667F8BBAA15}" dt="2024-11-19T14:49:40.064" v="0" actId="47"/>
        <pc:sldMkLst>
          <pc:docMk/>
          <pc:sldMk cId="2079646217" sldId="308"/>
        </pc:sldMkLst>
      </pc:sldChg>
      <pc:sldChg chg="add">
        <pc:chgData name="Folajimi, Yetunde" userId="3a54126c-7470-4734-afae-d4449bb90691" providerId="ADAL" clId="{A0037543-A20B-4033-AC28-D667F8BBAA15}" dt="2024-11-19T20:49:28.873" v="625"/>
        <pc:sldMkLst>
          <pc:docMk/>
          <pc:sldMk cId="1303361480" sldId="309"/>
        </pc:sldMkLst>
      </pc:sldChg>
      <pc:sldChg chg="del">
        <pc:chgData name="Folajimi, Yetunde" userId="3a54126c-7470-4734-afae-d4449bb90691" providerId="ADAL" clId="{A0037543-A20B-4033-AC28-D667F8BBAA15}" dt="2024-11-19T14:49:40.064" v="0" actId="47"/>
        <pc:sldMkLst>
          <pc:docMk/>
          <pc:sldMk cId="2087254480" sldId="309"/>
        </pc:sldMkLst>
      </pc:sldChg>
      <pc:sldChg chg="add">
        <pc:chgData name="Folajimi, Yetunde" userId="3a54126c-7470-4734-afae-d4449bb90691" providerId="ADAL" clId="{A0037543-A20B-4033-AC28-D667F8BBAA15}" dt="2024-11-19T20:49:28.873" v="625"/>
        <pc:sldMkLst>
          <pc:docMk/>
          <pc:sldMk cId="1263194960" sldId="310"/>
        </pc:sldMkLst>
      </pc:sldChg>
      <pc:sldChg chg="modSp add mod">
        <pc:chgData name="Folajimi, Yetunde" userId="3a54126c-7470-4734-afae-d4449bb90691" providerId="ADAL" clId="{A0037543-A20B-4033-AC28-D667F8BBAA15}" dt="2024-11-22T09:55:38.811" v="1091"/>
        <pc:sldMkLst>
          <pc:docMk/>
          <pc:sldMk cId="494358478" sldId="311"/>
        </pc:sldMkLst>
      </pc:sldChg>
      <pc:sldChg chg="del">
        <pc:chgData name="Folajimi, Yetunde" userId="3a54126c-7470-4734-afae-d4449bb90691" providerId="ADAL" clId="{A0037543-A20B-4033-AC28-D667F8BBAA15}" dt="2024-11-19T14:49:40.064" v="0" actId="47"/>
        <pc:sldMkLst>
          <pc:docMk/>
          <pc:sldMk cId="2985515563" sldId="317"/>
        </pc:sldMkLst>
      </pc:sldChg>
      <pc:sldChg chg="del">
        <pc:chgData name="Folajimi, Yetunde" userId="3a54126c-7470-4734-afae-d4449bb90691" providerId="ADAL" clId="{A0037543-A20B-4033-AC28-D667F8BBAA15}" dt="2024-11-19T14:49:40.064" v="0" actId="47"/>
        <pc:sldMkLst>
          <pc:docMk/>
          <pc:sldMk cId="139397499" sldId="326"/>
        </pc:sldMkLst>
      </pc:sldChg>
      <pc:sldChg chg="del">
        <pc:chgData name="Folajimi, Yetunde" userId="3a54126c-7470-4734-afae-d4449bb90691" providerId="ADAL" clId="{A0037543-A20B-4033-AC28-D667F8BBAA15}" dt="2024-11-19T14:49:40.064" v="0" actId="47"/>
        <pc:sldMkLst>
          <pc:docMk/>
          <pc:sldMk cId="1640351754" sldId="327"/>
        </pc:sldMkLst>
      </pc:sldChg>
      <pc:sldChg chg="del">
        <pc:chgData name="Folajimi, Yetunde" userId="3a54126c-7470-4734-afae-d4449bb90691" providerId="ADAL" clId="{A0037543-A20B-4033-AC28-D667F8BBAA15}" dt="2024-11-19T14:49:40.064" v="0" actId="47"/>
        <pc:sldMkLst>
          <pc:docMk/>
          <pc:sldMk cId="416701184" sldId="328"/>
        </pc:sldMkLst>
      </pc:sldChg>
      <pc:sldChg chg="del">
        <pc:chgData name="Folajimi, Yetunde" userId="3a54126c-7470-4734-afae-d4449bb90691" providerId="ADAL" clId="{A0037543-A20B-4033-AC28-D667F8BBAA15}" dt="2024-11-19T14:49:40.064" v="0" actId="47"/>
        <pc:sldMkLst>
          <pc:docMk/>
          <pc:sldMk cId="2031117208" sldId="333"/>
        </pc:sldMkLst>
      </pc:sldChg>
      <pc:sldChg chg="del">
        <pc:chgData name="Folajimi, Yetunde" userId="3a54126c-7470-4734-afae-d4449bb90691" providerId="ADAL" clId="{A0037543-A20B-4033-AC28-D667F8BBAA15}" dt="2024-11-19T14:49:40.064" v="0" actId="47"/>
        <pc:sldMkLst>
          <pc:docMk/>
          <pc:sldMk cId="668635862" sldId="334"/>
        </pc:sldMkLst>
      </pc:sldChg>
      <pc:sldChg chg="addSp delSp modSp mod">
        <pc:chgData name="Folajimi, Yetunde" userId="3a54126c-7470-4734-afae-d4449bb90691" providerId="ADAL" clId="{A0037543-A20B-4033-AC28-D667F8BBAA15}" dt="2024-11-19T14:50:16.866" v="12" actId="1076"/>
        <pc:sldMkLst>
          <pc:docMk/>
          <pc:sldMk cId="2144636512" sldId="395"/>
        </pc:sldMkLst>
      </pc:sldChg>
      <pc:sldChg chg="modSp new del mod modNotesTx">
        <pc:chgData name="Folajimi, Yetunde" userId="3a54126c-7470-4734-afae-d4449bb90691" providerId="ADAL" clId="{A0037543-A20B-4033-AC28-D667F8BBAA15}" dt="2024-11-19T15:33:53.922" v="267" actId="47"/>
        <pc:sldMkLst>
          <pc:docMk/>
          <pc:sldMk cId="3975901161" sldId="396"/>
        </pc:sldMkLst>
      </pc:sldChg>
      <pc:sldChg chg="del">
        <pc:chgData name="Folajimi, Yetunde" userId="3a54126c-7470-4734-afae-d4449bb90691" providerId="ADAL" clId="{A0037543-A20B-4033-AC28-D667F8BBAA15}" dt="2024-11-19T14:51:16.365" v="30" actId="47"/>
        <pc:sldMkLst>
          <pc:docMk/>
          <pc:sldMk cId="1881087770" sldId="397"/>
        </pc:sldMkLst>
      </pc:sldChg>
      <pc:sldChg chg="addSp delSp modSp new del mod modNotesTx">
        <pc:chgData name="Folajimi, Yetunde" userId="3a54126c-7470-4734-afae-d4449bb90691" providerId="ADAL" clId="{A0037543-A20B-4033-AC28-D667F8BBAA15}" dt="2024-11-20T15:00:20.107" v="1064" actId="2696"/>
        <pc:sldMkLst>
          <pc:docMk/>
          <pc:sldMk cId="2817321067" sldId="397"/>
        </pc:sldMkLst>
      </pc:sldChg>
      <pc:sldChg chg="add ord">
        <pc:chgData name="Folajimi, Yetunde" userId="3a54126c-7470-4734-afae-d4449bb90691" providerId="ADAL" clId="{A0037543-A20B-4033-AC28-D667F8BBAA15}" dt="2024-11-20T15:00:50.867" v="1067"/>
        <pc:sldMkLst>
          <pc:docMk/>
          <pc:sldMk cId="3842804947" sldId="397"/>
        </pc:sldMkLst>
      </pc:sldChg>
      <pc:sldChg chg="del">
        <pc:chgData name="Folajimi, Yetunde" userId="3a54126c-7470-4734-afae-d4449bb90691" providerId="ADAL" clId="{A0037543-A20B-4033-AC28-D667F8BBAA15}" dt="2024-11-19T14:49:40.064" v="0" actId="47"/>
        <pc:sldMkLst>
          <pc:docMk/>
          <pc:sldMk cId="2586117641" sldId="398"/>
        </pc:sldMkLst>
      </pc:sldChg>
      <pc:sldChg chg="addSp delSp modSp new del mod modNotesTx">
        <pc:chgData name="Folajimi, Yetunde" userId="3a54126c-7470-4734-afae-d4449bb90691" providerId="ADAL" clId="{A0037543-A20B-4033-AC28-D667F8BBAA15}" dt="2024-11-19T15:40:33.982" v="335" actId="47"/>
        <pc:sldMkLst>
          <pc:docMk/>
          <pc:sldMk cId="3175933666" sldId="398"/>
        </pc:sldMkLst>
      </pc:sldChg>
      <pc:sldChg chg="modSp add del mod">
        <pc:chgData name="Folajimi, Yetunde" userId="3a54126c-7470-4734-afae-d4449bb90691" providerId="ADAL" clId="{A0037543-A20B-4033-AC28-D667F8BBAA15}" dt="2024-11-19T15:40:33.982" v="335" actId="47"/>
        <pc:sldMkLst>
          <pc:docMk/>
          <pc:sldMk cId="1002329188" sldId="399"/>
        </pc:sldMkLst>
      </pc:sldChg>
      <pc:sldChg chg="add del">
        <pc:chgData name="Folajimi, Yetunde" userId="3a54126c-7470-4734-afae-d4449bb90691" providerId="ADAL" clId="{A0037543-A20B-4033-AC28-D667F8BBAA15}" dt="2024-11-20T10:38:26.160" v="966" actId="2696"/>
        <pc:sldMkLst>
          <pc:docMk/>
          <pc:sldMk cId="1699582652" sldId="399"/>
        </pc:sldMkLst>
      </pc:sldChg>
      <pc:sldChg chg="addSp modSp add mod">
        <pc:chgData name="Folajimi, Yetunde" userId="3a54126c-7470-4734-afae-d4449bb90691" providerId="ADAL" clId="{A0037543-A20B-4033-AC28-D667F8BBAA15}" dt="2024-11-20T10:40:03.417" v="970" actId="1076"/>
        <pc:sldMkLst>
          <pc:docMk/>
          <pc:sldMk cId="3715418561" sldId="399"/>
        </pc:sldMkLst>
      </pc:sldChg>
      <pc:sldChg chg="modSp new del mod modNotesTx">
        <pc:chgData name="Folajimi, Yetunde" userId="3a54126c-7470-4734-afae-d4449bb90691" providerId="ADAL" clId="{A0037543-A20B-4033-AC28-D667F8BBAA15}" dt="2024-11-19T15:40:33.982" v="335" actId="47"/>
        <pc:sldMkLst>
          <pc:docMk/>
          <pc:sldMk cId="2519455587" sldId="400"/>
        </pc:sldMkLst>
      </pc:sldChg>
      <pc:sldChg chg="del">
        <pc:chgData name="Folajimi, Yetunde" userId="3a54126c-7470-4734-afae-d4449bb90691" providerId="ADAL" clId="{A0037543-A20B-4033-AC28-D667F8BBAA15}" dt="2024-11-19T14:49:43.796" v="1" actId="47"/>
        <pc:sldMkLst>
          <pc:docMk/>
          <pc:sldMk cId="3224467406" sldId="400"/>
        </pc:sldMkLst>
      </pc:sldChg>
      <pc:sldChg chg="addSp modSp new del mod">
        <pc:chgData name="Folajimi, Yetunde" userId="3a54126c-7470-4734-afae-d4449bb90691" providerId="ADAL" clId="{A0037543-A20B-4033-AC28-D667F8BBAA15}" dt="2024-11-19T15:40:33.982" v="335" actId="47"/>
        <pc:sldMkLst>
          <pc:docMk/>
          <pc:sldMk cId="714693910" sldId="401"/>
        </pc:sldMkLst>
      </pc:sldChg>
      <pc:sldChg chg="addSp modSp new del mod">
        <pc:chgData name="Folajimi, Yetunde" userId="3a54126c-7470-4734-afae-d4449bb90691" providerId="ADAL" clId="{A0037543-A20B-4033-AC28-D667F8BBAA15}" dt="2024-11-19T20:19:41.269" v="624" actId="47"/>
        <pc:sldMkLst>
          <pc:docMk/>
          <pc:sldMk cId="363980722" sldId="402"/>
        </pc:sldMkLst>
      </pc:sldChg>
      <pc:sldChg chg="del">
        <pc:chgData name="Folajimi, Yetunde" userId="3a54126c-7470-4734-afae-d4449bb90691" providerId="ADAL" clId="{A0037543-A20B-4033-AC28-D667F8BBAA15}" dt="2024-11-19T14:49:40.064" v="0" actId="47"/>
        <pc:sldMkLst>
          <pc:docMk/>
          <pc:sldMk cId="2435377945" sldId="402"/>
        </pc:sldMkLst>
      </pc:sldChg>
      <pc:sldChg chg="del">
        <pc:chgData name="Folajimi, Yetunde" userId="3a54126c-7470-4734-afae-d4449bb90691" providerId="ADAL" clId="{A0037543-A20B-4033-AC28-D667F8BBAA15}" dt="2024-11-19T14:49:40.064" v="0" actId="47"/>
        <pc:sldMkLst>
          <pc:docMk/>
          <pc:sldMk cId="400092950" sldId="403"/>
        </pc:sldMkLst>
      </pc:sldChg>
      <pc:sldChg chg="modSp new mod modNotesTx">
        <pc:chgData name="Folajimi, Yetunde" userId="3a54126c-7470-4734-afae-d4449bb90691" providerId="ADAL" clId="{A0037543-A20B-4033-AC28-D667F8BBAA15}" dt="2024-11-19T15:11:02.962" v="239" actId="404"/>
        <pc:sldMkLst>
          <pc:docMk/>
          <pc:sldMk cId="3528193116" sldId="403"/>
        </pc:sldMkLst>
      </pc:sldChg>
      <pc:sldChg chg="del">
        <pc:chgData name="Folajimi, Yetunde" userId="3a54126c-7470-4734-afae-d4449bb90691" providerId="ADAL" clId="{A0037543-A20B-4033-AC28-D667F8BBAA15}" dt="2024-11-19T14:49:40.064" v="0" actId="47"/>
        <pc:sldMkLst>
          <pc:docMk/>
          <pc:sldMk cId="986130778" sldId="404"/>
        </pc:sldMkLst>
      </pc:sldChg>
      <pc:sldChg chg="modSp new mod ord modNotesTx">
        <pc:chgData name="Folajimi, Yetunde" userId="3a54126c-7470-4734-afae-d4449bb90691" providerId="ADAL" clId="{A0037543-A20B-4033-AC28-D667F8BBAA15}" dt="2024-11-19T15:45:04.758" v="433" actId="20577"/>
        <pc:sldMkLst>
          <pc:docMk/>
          <pc:sldMk cId="2917957431" sldId="404"/>
        </pc:sldMkLst>
      </pc:sldChg>
      <pc:sldChg chg="modSp new mod ord modNotesTx">
        <pc:chgData name="Folajimi, Yetunde" userId="3a54126c-7470-4734-afae-d4449bb90691" providerId="ADAL" clId="{A0037543-A20B-4033-AC28-D667F8BBAA15}" dt="2024-11-19T15:43:15.499" v="403"/>
        <pc:sldMkLst>
          <pc:docMk/>
          <pc:sldMk cId="626035750" sldId="405"/>
        </pc:sldMkLst>
      </pc:sldChg>
      <pc:sldChg chg="addSp modSp new mod ord">
        <pc:chgData name="Folajimi, Yetunde" userId="3a54126c-7470-4734-afae-d4449bb90691" providerId="ADAL" clId="{A0037543-A20B-4033-AC28-D667F8BBAA15}" dt="2024-11-19T15:43:53.907" v="422"/>
        <pc:sldMkLst>
          <pc:docMk/>
          <pc:sldMk cId="349686267" sldId="406"/>
        </pc:sldMkLst>
      </pc:sldChg>
      <pc:sldChg chg="del">
        <pc:chgData name="Folajimi, Yetunde" userId="3a54126c-7470-4734-afae-d4449bb90691" providerId="ADAL" clId="{A0037543-A20B-4033-AC28-D667F8BBAA15}" dt="2024-11-19T14:49:40.064" v="0" actId="47"/>
        <pc:sldMkLst>
          <pc:docMk/>
          <pc:sldMk cId="3142121076" sldId="406"/>
        </pc:sldMkLst>
      </pc:sldChg>
      <pc:sldChg chg="del">
        <pc:chgData name="Folajimi, Yetunde" userId="3a54126c-7470-4734-afae-d4449bb90691" providerId="ADAL" clId="{A0037543-A20B-4033-AC28-D667F8BBAA15}" dt="2024-11-19T14:51:16.365" v="30" actId="47"/>
        <pc:sldMkLst>
          <pc:docMk/>
          <pc:sldMk cId="2791794227" sldId="407"/>
        </pc:sldMkLst>
      </pc:sldChg>
      <pc:sldChg chg="modSp new del mod modNotesTx">
        <pc:chgData name="Folajimi, Yetunde" userId="3a54126c-7470-4734-afae-d4449bb90691" providerId="ADAL" clId="{A0037543-A20B-4033-AC28-D667F8BBAA15}" dt="2024-11-19T15:40:33.982" v="335" actId="47"/>
        <pc:sldMkLst>
          <pc:docMk/>
          <pc:sldMk cId="3827651013" sldId="407"/>
        </pc:sldMkLst>
      </pc:sldChg>
      <pc:sldChg chg="addSp modSp add mod">
        <pc:chgData name="Folajimi, Yetunde" userId="3a54126c-7470-4734-afae-d4449bb90691" providerId="ADAL" clId="{A0037543-A20B-4033-AC28-D667F8BBAA15}" dt="2024-11-19T22:56:13.500" v="634"/>
        <pc:sldMkLst>
          <pc:docMk/>
          <pc:sldMk cId="4085766679" sldId="407"/>
        </pc:sldMkLst>
      </pc:sldChg>
      <pc:sldChg chg="modSp new del mod modNotesTx">
        <pc:chgData name="Folajimi, Yetunde" userId="3a54126c-7470-4734-afae-d4449bb90691" providerId="ADAL" clId="{A0037543-A20B-4033-AC28-D667F8BBAA15}" dt="2024-11-22T09:55:24.533" v="1089" actId="47"/>
        <pc:sldMkLst>
          <pc:docMk/>
          <pc:sldMk cId="2430812186" sldId="408"/>
        </pc:sldMkLst>
      </pc:sldChg>
      <pc:sldChg chg="del">
        <pc:chgData name="Folajimi, Yetunde" userId="3a54126c-7470-4734-afae-d4449bb90691" providerId="ADAL" clId="{A0037543-A20B-4033-AC28-D667F8BBAA15}" dt="2024-11-19T14:51:16.365" v="30" actId="47"/>
        <pc:sldMkLst>
          <pc:docMk/>
          <pc:sldMk cId="2768682212" sldId="408"/>
        </pc:sldMkLst>
      </pc:sldChg>
      <pc:sldChg chg="modSp new del mod">
        <pc:chgData name="Folajimi, Yetunde" userId="3a54126c-7470-4734-afae-d4449bb90691" providerId="ADAL" clId="{A0037543-A20B-4033-AC28-D667F8BBAA15}" dt="2024-11-19T16:05:56.421" v="620" actId="47"/>
        <pc:sldMkLst>
          <pc:docMk/>
          <pc:sldMk cId="1533080727" sldId="409"/>
        </pc:sldMkLst>
      </pc:sldChg>
      <pc:sldChg chg="del">
        <pc:chgData name="Folajimi, Yetunde" userId="3a54126c-7470-4734-afae-d4449bb90691" providerId="ADAL" clId="{A0037543-A20B-4033-AC28-D667F8BBAA15}" dt="2024-11-19T14:49:43.796" v="1" actId="47"/>
        <pc:sldMkLst>
          <pc:docMk/>
          <pc:sldMk cId="1878462729" sldId="409"/>
        </pc:sldMkLst>
      </pc:sldChg>
      <pc:sldChg chg="del">
        <pc:chgData name="Folajimi, Yetunde" userId="3a54126c-7470-4734-afae-d4449bb90691" providerId="ADAL" clId="{A0037543-A20B-4033-AC28-D667F8BBAA15}" dt="2024-11-19T14:49:40.064" v="0" actId="47"/>
        <pc:sldMkLst>
          <pc:docMk/>
          <pc:sldMk cId="3647428711" sldId="410"/>
        </pc:sldMkLst>
      </pc:sldChg>
      <pc:sldChg chg="addSp modSp new del mod">
        <pc:chgData name="Folajimi, Yetunde" userId="3a54126c-7470-4734-afae-d4449bb90691" providerId="ADAL" clId="{A0037543-A20B-4033-AC28-D667F8BBAA15}" dt="2024-11-19T16:06:03.723" v="621" actId="47"/>
        <pc:sldMkLst>
          <pc:docMk/>
          <pc:sldMk cId="3675882438" sldId="410"/>
        </pc:sldMkLst>
      </pc:sldChg>
      <pc:sldChg chg="addSp modSp new del mod">
        <pc:chgData name="Folajimi, Yetunde" userId="3a54126c-7470-4734-afae-d4449bb90691" providerId="ADAL" clId="{A0037543-A20B-4033-AC28-D667F8BBAA15}" dt="2024-11-22T09:54:05.771" v="1079" actId="47"/>
        <pc:sldMkLst>
          <pc:docMk/>
          <pc:sldMk cId="4092591662" sldId="411"/>
        </pc:sldMkLst>
      </pc:sldChg>
      <pc:sldChg chg="modSp new del mod modNotesTx">
        <pc:chgData name="Folajimi, Yetunde" userId="3a54126c-7470-4734-afae-d4449bb90691" providerId="ADAL" clId="{A0037543-A20B-4033-AC28-D667F8BBAA15}" dt="2024-11-22T09:55:17.542" v="1087" actId="47"/>
        <pc:sldMkLst>
          <pc:docMk/>
          <pc:sldMk cId="621666569" sldId="412"/>
        </pc:sldMkLst>
      </pc:sldChg>
      <pc:sldChg chg="addSp modSp new del mod">
        <pc:chgData name="Folajimi, Yetunde" userId="3a54126c-7470-4734-afae-d4449bb90691" providerId="ADAL" clId="{A0037543-A20B-4033-AC28-D667F8BBAA15}" dt="2024-11-22T09:55:05.650" v="1086" actId="47"/>
        <pc:sldMkLst>
          <pc:docMk/>
          <pc:sldMk cId="4236846339" sldId="413"/>
        </pc:sldMkLst>
      </pc:sldChg>
      <pc:sldChg chg="addSp modSp new del mod">
        <pc:chgData name="Folajimi, Yetunde" userId="3a54126c-7470-4734-afae-d4449bb90691" providerId="ADAL" clId="{A0037543-A20B-4033-AC28-D667F8BBAA15}" dt="2024-11-22T09:55:01.113" v="1085" actId="47"/>
        <pc:sldMkLst>
          <pc:docMk/>
          <pc:sldMk cId="3284058145" sldId="414"/>
        </pc:sldMkLst>
      </pc:sldChg>
      <pc:sldChg chg="addSp modSp new del mod modNotesTx">
        <pc:chgData name="Folajimi, Yetunde" userId="3a54126c-7470-4734-afae-d4449bb90691" providerId="ADAL" clId="{A0037543-A20B-4033-AC28-D667F8BBAA15}" dt="2024-11-22T09:54:57.035" v="1084" actId="47"/>
        <pc:sldMkLst>
          <pc:docMk/>
          <pc:sldMk cId="1045939504" sldId="415"/>
        </pc:sldMkLst>
      </pc:sldChg>
      <pc:sldChg chg="addSp modSp new del mod">
        <pc:chgData name="Folajimi, Yetunde" userId="3a54126c-7470-4734-afae-d4449bb90691" providerId="ADAL" clId="{A0037543-A20B-4033-AC28-D667F8BBAA15}" dt="2024-11-22T09:55:21.589" v="1088" actId="47"/>
        <pc:sldMkLst>
          <pc:docMk/>
          <pc:sldMk cId="872706194" sldId="416"/>
        </pc:sldMkLst>
      </pc:sldChg>
      <pc:sldChg chg="addSp modSp new del mod">
        <pc:chgData name="Folajimi, Yetunde" userId="3a54126c-7470-4734-afae-d4449bb90691" providerId="ADAL" clId="{A0037543-A20B-4033-AC28-D667F8BBAA15}" dt="2024-11-22T09:54:39.661" v="1083" actId="47"/>
        <pc:sldMkLst>
          <pc:docMk/>
          <pc:sldMk cId="2408008439" sldId="417"/>
        </pc:sldMkLst>
      </pc:sldChg>
      <pc:sldChg chg="addSp modSp new del mod">
        <pc:chgData name="Folajimi, Yetunde" userId="3a54126c-7470-4734-afae-d4449bb90691" providerId="ADAL" clId="{A0037543-A20B-4033-AC28-D667F8BBAA15}" dt="2024-11-22T09:54:28.181" v="1082" actId="47"/>
        <pc:sldMkLst>
          <pc:docMk/>
          <pc:sldMk cId="1254765619" sldId="418"/>
        </pc:sldMkLst>
      </pc:sldChg>
      <pc:sldChg chg="new del">
        <pc:chgData name="Folajimi, Yetunde" userId="3a54126c-7470-4734-afae-d4449bb90691" providerId="ADAL" clId="{A0037543-A20B-4033-AC28-D667F8BBAA15}" dt="2024-11-22T09:54:09.793" v="1080" actId="47"/>
        <pc:sldMkLst>
          <pc:docMk/>
          <pc:sldMk cId="726163902" sldId="419"/>
        </pc:sldMkLst>
      </pc:sldChg>
      <pc:sldChg chg="addSp modSp new del mod ord">
        <pc:chgData name="Folajimi, Yetunde" userId="3a54126c-7470-4734-afae-d4449bb90691" providerId="ADAL" clId="{A0037543-A20B-4033-AC28-D667F8BBAA15}" dt="2024-11-22T09:54:28.165" v="1081" actId="47"/>
        <pc:sldMkLst>
          <pc:docMk/>
          <pc:sldMk cId="2124875270" sldId="420"/>
        </pc:sldMkLst>
      </pc:sldChg>
      <pc:sldChg chg="add">
        <pc:chgData name="Folajimi, Yetunde" userId="3a54126c-7470-4734-afae-d4449bb90691" providerId="ADAL" clId="{A0037543-A20B-4033-AC28-D667F8BBAA15}" dt="2024-11-19T20:49:28.873" v="625"/>
        <pc:sldMkLst>
          <pc:docMk/>
          <pc:sldMk cId="3444650341" sldId="421"/>
        </pc:sldMkLst>
      </pc:sldChg>
      <pc:sldChg chg="addSp modSp new del">
        <pc:chgData name="Folajimi, Yetunde" userId="3a54126c-7470-4734-afae-d4449bb90691" providerId="ADAL" clId="{A0037543-A20B-4033-AC28-D667F8BBAA15}" dt="2024-11-20T15:00:11.103" v="1063" actId="47"/>
        <pc:sldMkLst>
          <pc:docMk/>
          <pc:sldMk cId="613242498" sldId="422"/>
        </pc:sldMkLst>
      </pc:sldChg>
      <pc:sldChg chg="addSp modSp add del">
        <pc:chgData name="Folajimi, Yetunde" userId="3a54126c-7470-4734-afae-d4449bb90691" providerId="ADAL" clId="{A0037543-A20B-4033-AC28-D667F8BBAA15}" dt="2024-11-20T09:15:05.008" v="756"/>
        <pc:sldMkLst>
          <pc:docMk/>
          <pc:sldMk cId="3968942008" sldId="423"/>
        </pc:sldMkLst>
      </pc:sldChg>
      <pc:sldChg chg="addSp delSp modSp add del mod">
        <pc:chgData name="Folajimi, Yetunde" userId="3a54126c-7470-4734-afae-d4449bb90691" providerId="ADAL" clId="{A0037543-A20B-4033-AC28-D667F8BBAA15}" dt="2024-11-20T09:47:13.633" v="899" actId="47"/>
        <pc:sldMkLst>
          <pc:docMk/>
          <pc:sldMk cId="354201646" sldId="424"/>
        </pc:sldMkLst>
      </pc:sldChg>
      <pc:sldChg chg="addSp modSp new mod ord">
        <pc:chgData name="Folajimi, Yetunde" userId="3a54126c-7470-4734-afae-d4449bb90691" providerId="ADAL" clId="{A0037543-A20B-4033-AC28-D667F8BBAA15}" dt="2024-11-20T14:52:44.539" v="1057"/>
        <pc:sldMkLst>
          <pc:docMk/>
          <pc:sldMk cId="1459466167" sldId="424"/>
        </pc:sldMkLst>
      </pc:sldChg>
      <pc:sldChg chg="add">
        <pc:chgData name="Folajimi, Yetunde" userId="3a54126c-7470-4734-afae-d4449bb90691" providerId="ADAL" clId="{A0037543-A20B-4033-AC28-D667F8BBAA15}" dt="2024-11-20T14:52:57.478" v="1060" actId="2890"/>
        <pc:sldMkLst>
          <pc:docMk/>
          <pc:sldMk cId="988298871" sldId="425"/>
        </pc:sldMkLst>
      </pc:sldChg>
      <pc:sldChg chg="addSp delSp modSp new del mod">
        <pc:chgData name="Folajimi, Yetunde" userId="3a54126c-7470-4734-afae-d4449bb90691" providerId="ADAL" clId="{A0037543-A20B-4033-AC28-D667F8BBAA15}" dt="2024-11-20T10:40:25.706" v="971" actId="47"/>
        <pc:sldMkLst>
          <pc:docMk/>
          <pc:sldMk cId="2077241044" sldId="425"/>
        </pc:sldMkLst>
      </pc:sldChg>
      <pc:sldChg chg="new del">
        <pc:chgData name="Folajimi, Yetunde" userId="3a54126c-7470-4734-afae-d4449bb90691" providerId="ADAL" clId="{A0037543-A20B-4033-AC28-D667F8BBAA15}" dt="2024-11-20T14:52:53.325" v="1059" actId="680"/>
        <pc:sldMkLst>
          <pc:docMk/>
          <pc:sldMk cId="3693290178" sldId="425"/>
        </pc:sldMkLst>
      </pc:sldChg>
      <pc:sldChg chg="new del">
        <pc:chgData name="Folajimi, Yetunde" userId="3a54126c-7470-4734-afae-d4449bb90691" providerId="ADAL" clId="{A0037543-A20B-4033-AC28-D667F8BBAA15}" dt="2024-11-22T15:57:23.843" v="1093" actId="680"/>
        <pc:sldMkLst>
          <pc:docMk/>
          <pc:sldMk cId="828184139" sldId="426"/>
        </pc:sldMkLst>
      </pc:sldChg>
      <pc:sldChg chg="modSp add mod">
        <pc:chgData name="Folajimi, Yetunde" userId="3a54126c-7470-4734-afae-d4449bb90691" providerId="ADAL" clId="{A0037543-A20B-4033-AC28-D667F8BBAA15}" dt="2024-11-22T15:57:37.176" v="1115" actId="20577"/>
        <pc:sldMkLst>
          <pc:docMk/>
          <pc:sldMk cId="4208292035" sldId="426"/>
        </pc:sldMkLst>
      </pc:sldChg>
      <pc:sldMasterChg chg="delSldLayout">
        <pc:chgData name="Folajimi, Yetunde" userId="3a54126c-7470-4734-afae-d4449bb90691" providerId="ADAL" clId="{A0037543-A20B-4033-AC28-D667F8BBAA15}" dt="2024-11-19T14:51:16.365" v="30" actId="47"/>
        <pc:sldMasterMkLst>
          <pc:docMk/>
          <pc:sldMasterMk cId="0" sldId="2147483648"/>
        </pc:sldMasterMkLst>
        <pc:sldLayoutChg chg="del">
          <pc:chgData name="Folajimi, Yetunde" userId="3a54126c-7470-4734-afae-d4449bb90691" providerId="ADAL" clId="{A0037543-A20B-4033-AC28-D667F8BBAA15}" dt="2024-11-19T14:51:16.365" v="30" actId="47"/>
          <pc:sldLayoutMkLst>
            <pc:docMk/>
            <pc:sldMasterMk cId="0" sldId="2147483648"/>
            <pc:sldLayoutMk cId="3498397553" sldId="2147483654"/>
          </pc:sldLayoutMkLst>
        </pc:sldLayoutChg>
      </pc:sldMasterChg>
    </pc:docChg>
  </pc:docChgLst>
  <pc:docChgLst>
    <pc:chgData name="Folajimi, Yetunde" userId="3a54126c-7470-4734-afae-d4449bb90691" providerId="ADAL" clId="{F8B70D10-DD90-4DE0-828A-D373BBF6A8B0}"/>
    <pc:docChg chg="modSld">
      <pc:chgData name="Folajimi, Yetunde" userId="3a54126c-7470-4734-afae-d4449bb90691" providerId="ADAL" clId="{F8B70D10-DD90-4DE0-828A-D373BBF6A8B0}" dt="2025-03-26T17:34:06.242" v="0" actId="1076"/>
      <pc:docMkLst>
        <pc:docMk/>
      </pc:docMkLst>
      <pc:sldChg chg="modSp mod">
        <pc:chgData name="Folajimi, Yetunde" userId="3a54126c-7470-4734-afae-d4449bb90691" providerId="ADAL" clId="{F8B70D10-DD90-4DE0-828A-D373BBF6A8B0}" dt="2025-03-26T17:34:06.242" v="0" actId="1076"/>
        <pc:sldMkLst>
          <pc:docMk/>
          <pc:sldMk cId="1121362872" sldId="301"/>
        </pc:sldMkLst>
        <pc:picChg chg="mod">
          <ac:chgData name="Folajimi, Yetunde" userId="3a54126c-7470-4734-afae-d4449bb90691" providerId="ADAL" clId="{F8B70D10-DD90-4DE0-828A-D373BBF6A8B0}" dt="2025-03-26T17:34:06.242" v="0" actId="1076"/>
          <ac:picMkLst>
            <pc:docMk/>
            <pc:sldMk cId="1121362872" sldId="301"/>
            <ac:picMk id="9"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4999001-6FB9-451D-BC92-54FE6D24AE68}"/>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3F4E11D-4A75-4AFA-8F8F-D59A698F9693}"/>
              </a:ext>
            </a:extLst>
          </p:cNvPr>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a:defRPr sz="1200"/>
            </a:lvl1pPr>
          </a:lstStyle>
          <a:p>
            <a:fld id="{C66DB8E5-2024-41CF-BD11-EC857590B0F8}" type="datetimeFigureOut">
              <a:rPr lang="en-US" smtClean="0"/>
              <a:t>3/26/2025</a:t>
            </a:fld>
            <a:endParaRPr lang="en-US"/>
          </a:p>
        </p:txBody>
      </p:sp>
      <p:sp>
        <p:nvSpPr>
          <p:cNvPr id="4" name="Footer Placeholder 3">
            <a:extLst>
              <a:ext uri="{FF2B5EF4-FFF2-40B4-BE49-F238E27FC236}">
                <a16:creationId xmlns:a16="http://schemas.microsoft.com/office/drawing/2014/main" id="{D324C8F7-AE85-43CA-A356-0B72EE4FD3A4}"/>
              </a:ext>
            </a:extLst>
          </p:cNvPr>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4B7EBF5-74BE-48DD-9EBA-AEC71887E75F}"/>
              </a:ext>
            </a:extLst>
          </p:cNvPr>
          <p:cNvSpPr>
            <a:spLocks noGrp="1"/>
          </p:cNvSpPr>
          <p:nvPr>
            <p:ph type="sldNum" sz="quarter" idx="3"/>
          </p:nvPr>
        </p:nvSpPr>
        <p:spPr>
          <a:xfrm>
            <a:off x="4402138" y="9553575"/>
            <a:ext cx="3368675" cy="504825"/>
          </a:xfrm>
          <a:prstGeom prst="rect">
            <a:avLst/>
          </a:prstGeom>
        </p:spPr>
        <p:txBody>
          <a:bodyPr vert="horz" lIns="91440" tIns="45720" rIns="91440" bIns="45720" rtlCol="0" anchor="b"/>
          <a:lstStyle>
            <a:lvl1pPr algn="r">
              <a:defRPr sz="1200"/>
            </a:lvl1pPr>
          </a:lstStyle>
          <a:p>
            <a:fld id="{2DA22A9C-E20E-479E-B913-3AB3798D33D6}" type="slidenum">
              <a:rPr lang="en-US" smtClean="0"/>
              <a:t>‹#›</a:t>
            </a:fld>
            <a:endParaRPr lang="en-US"/>
          </a:p>
        </p:txBody>
      </p:sp>
    </p:spTree>
    <p:extLst>
      <p:ext uri="{BB962C8B-B14F-4D97-AF65-F5344CB8AC3E}">
        <p14:creationId xmlns:p14="http://schemas.microsoft.com/office/powerpoint/2010/main" val="15198261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p:cNvSpPr>
            <a:spLocks noGrp="1" noRot="1" noChangeAspect="1" noChangeArrowheads="1"/>
          </p:cNvSpPr>
          <p:nvPr>
            <p:ph type="sldImg"/>
          </p:nvPr>
        </p:nvSpPr>
        <p:spPr bwMode="auto">
          <a:xfrm>
            <a:off x="1587500" y="1006475"/>
            <a:ext cx="4594225" cy="3444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0" name="Rectangle 2"/>
          <p:cNvSpPr>
            <a:spLocks noGrp="1" noChangeArrowheads="1"/>
          </p:cNvSpPr>
          <p:nvPr>
            <p:ph type="body"/>
          </p:nvPr>
        </p:nvSpPr>
        <p:spPr bwMode="auto">
          <a:xfrm>
            <a:off x="1185863" y="4787900"/>
            <a:ext cx="5405437" cy="3824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3971403428"/>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49263" rtl="0" eaLnBrk="0" fontAlgn="base" latinLnBrk="0" hangingPunct="0">
              <a:lnSpc>
                <a:spcPct val="100000"/>
              </a:lnSpc>
              <a:spcBef>
                <a:spcPct val="30000"/>
              </a:spcBef>
              <a:spcAft>
                <a:spcPct val="0"/>
              </a:spcAft>
              <a:buClr>
                <a:srgbClr val="000000"/>
              </a:buClr>
              <a:buSzPct val="100000"/>
              <a:buFont typeface="Times New Roman" pitchFamily="16" charset="0"/>
              <a:buNone/>
              <a:tabLst/>
              <a:defRPr/>
            </a:pPr>
            <a:r>
              <a:rPr lang="en-US"/>
              <a:t>WIT COMP1050 Computer Science II Course Material by Wentworth</a:t>
            </a:r>
            <a:r>
              <a:rPr lang="en-US" baseline="0"/>
              <a:t> Institute of Technology</a:t>
            </a:r>
            <a:r>
              <a:rPr lang="en-US"/>
              <a:t> (http://www.wit.edu/computer-science) is licensed under a Creative Commons Attribution-</a:t>
            </a:r>
            <a:r>
              <a:rPr lang="en-US" err="1"/>
              <a:t>NonCommercial</a:t>
            </a:r>
            <a:r>
              <a:rPr lang="en-US"/>
              <a:t> 4.0 International License (http://creativecommons.org/licenses/by-nc/4.0/).</a:t>
            </a:r>
            <a:r>
              <a:rPr lang="en-US" sz="1200" b="0" i="0" kern="1200">
                <a:solidFill>
                  <a:srgbClr val="000000"/>
                </a:solidFill>
                <a:effectLst/>
                <a:latin typeface="Times New Roman" pitchFamily="16" charset="0"/>
                <a:ea typeface="+mn-ea"/>
                <a:cs typeface="+mn-cs"/>
              </a:rPr>
              <a:t> </a:t>
            </a:r>
            <a:endParaRPr lang="en-US"/>
          </a:p>
        </p:txBody>
      </p:sp>
    </p:spTree>
    <p:extLst>
      <p:ext uri="{BB962C8B-B14F-4D97-AF65-F5344CB8AC3E}">
        <p14:creationId xmlns:p14="http://schemas.microsoft.com/office/powerpoint/2010/main" val="4250301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59537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Features:</a:t>
            </a:r>
          </a:p>
          <a:p>
            <a:pPr>
              <a:buFont typeface="Arial" panose="020B0604020202020204" pitchFamily="34" charset="0"/>
              <a:buChar char="•"/>
            </a:pPr>
            <a:r>
              <a:rPr lang="en-US" dirty="0"/>
              <a:t>Modern UI controls and features.</a:t>
            </a:r>
          </a:p>
          <a:p>
            <a:pPr>
              <a:buFont typeface="Arial" panose="020B0604020202020204" pitchFamily="34" charset="0"/>
              <a:buChar char="•"/>
            </a:pPr>
            <a:r>
              <a:rPr lang="en-US" dirty="0"/>
              <a:t>Graphics and animation support.</a:t>
            </a:r>
          </a:p>
          <a:p>
            <a:pPr>
              <a:buFont typeface="Arial" panose="020B0604020202020204" pitchFamily="34" charset="0"/>
              <a:buChar char="•"/>
            </a:pPr>
            <a:r>
              <a:rPr lang="en-US" dirty="0"/>
              <a:t>Media support for video and audio playback.</a:t>
            </a:r>
          </a:p>
          <a:p>
            <a:pPr>
              <a:buFont typeface="Arial" panose="020B0604020202020204" pitchFamily="34" charset="0"/>
              <a:buChar char="•"/>
            </a:pPr>
            <a:r>
              <a:rPr lang="en-US" dirty="0"/>
              <a:t>CSS for styling.</a:t>
            </a:r>
          </a:p>
          <a:p>
            <a:pPr>
              <a:buFont typeface="Arial" panose="020B0604020202020204" pitchFamily="34" charset="0"/>
              <a:buChar char="•"/>
            </a:pPr>
            <a:r>
              <a:rPr lang="en-US" dirty="0"/>
              <a:t>Hardware-accelerated graphics.</a:t>
            </a:r>
          </a:p>
          <a:p>
            <a:endParaRPr lang="en-US" dirty="0"/>
          </a:p>
        </p:txBody>
      </p:sp>
    </p:spTree>
    <p:extLst>
      <p:ext uri="{BB962C8B-B14F-4D97-AF65-F5344CB8AC3E}">
        <p14:creationId xmlns:p14="http://schemas.microsoft.com/office/powerpoint/2010/main" val="1358478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63193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14879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28788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54F10-247D-EA00-7E94-42287DF25B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31108-FAA1-32DC-D560-1B055615F8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1138B6-1C79-D52F-F9DF-0AC0822321A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64705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2:notes"/>
          <p:cNvSpPr txBox="1">
            <a:spLocks noGrp="1"/>
          </p:cNvSpPr>
          <p:nvPr>
            <p:ph type="body" idx="1"/>
          </p:nvPr>
        </p:nvSpPr>
        <p:spPr>
          <a:xfrm>
            <a:off x="1185863" y="4787900"/>
            <a:ext cx="5405437" cy="3824288"/>
          </a:xfrm>
          <a:prstGeom prst="rect">
            <a:avLst/>
          </a:prstGeom>
        </p:spPr>
        <p:txBody>
          <a:bodyPr spcFirstLastPara="1" wrap="square" lIns="0" tIns="0" rIns="0" bIns="0" anchor="t" anchorCtr="0">
            <a:noAutofit/>
          </a:bodyPr>
          <a:lstStyle/>
          <a:p>
            <a:r>
              <a:rPr lang="en-US" sz="1200" b="0" i="0" kern="1200" dirty="0">
                <a:solidFill>
                  <a:srgbClr val="000000"/>
                </a:solidFill>
                <a:effectLst/>
                <a:latin typeface="Times New Roman" pitchFamily="16" charset="0"/>
                <a:ea typeface="+mn-ea"/>
                <a:cs typeface="+mn-cs"/>
              </a:rPr>
              <a:t>As you can see, the main() method calls the static launch() method with the command line parameters. The launch() method is a static method located in the Application class. This method launches the JavaFX runtime and your JavaFX application.</a:t>
            </a:r>
          </a:p>
          <a:p>
            <a:r>
              <a:rPr lang="en-US" sz="1200" b="0" i="0" kern="1200" dirty="0">
                <a:solidFill>
                  <a:srgbClr val="000000"/>
                </a:solidFill>
                <a:effectLst/>
                <a:latin typeface="Times New Roman" pitchFamily="16" charset="0"/>
                <a:ea typeface="+mn-ea"/>
                <a:cs typeface="+mn-cs"/>
              </a:rPr>
              <a:t>The launch() method will detect from which class it is called, so you don't have to tell it explicitly what class to launch.</a:t>
            </a:r>
          </a:p>
          <a:p>
            <a:r>
              <a:rPr lang="en-US" sz="1200" b="0" i="0" kern="1200" dirty="0">
                <a:solidFill>
                  <a:srgbClr val="000000"/>
                </a:solidFill>
                <a:effectLst/>
                <a:latin typeface="Times New Roman" pitchFamily="16" charset="0"/>
                <a:ea typeface="+mn-ea"/>
                <a:cs typeface="+mn-cs"/>
              </a:rPr>
              <a:t>That is really all it takes to create a JavaFX application. It is quite simple, isn't it? Now you are ready to start playing around with JavaFX !</a:t>
            </a:r>
          </a:p>
          <a:p>
            <a:pPr marL="0" lvl="0" indent="0" algn="l" rtl="0">
              <a:spcBef>
                <a:spcPts val="360"/>
              </a:spcBef>
              <a:spcAft>
                <a:spcPts val="0"/>
              </a:spcAft>
              <a:buNone/>
            </a:pPr>
            <a:endParaRPr lang="en-US" sz="1200" kern="1200" dirty="0">
              <a:solidFill>
                <a:srgbClr val="000000"/>
              </a:solidFill>
              <a:effectLst/>
              <a:latin typeface="Times New Roman" pitchFamily="16" charset="0"/>
              <a:ea typeface="+mn-ea"/>
              <a:cs typeface="+mn-cs"/>
            </a:endParaRPr>
          </a:p>
          <a:p>
            <a:pPr marL="0" lvl="0" indent="0" algn="l" rtl="0">
              <a:spcBef>
                <a:spcPts val="360"/>
              </a:spcBef>
              <a:spcAft>
                <a:spcPts val="0"/>
              </a:spcAft>
              <a:buNone/>
            </a:pPr>
            <a:endParaRPr lang="en-US" sz="1200" kern="1200" dirty="0">
              <a:solidFill>
                <a:srgbClr val="000000"/>
              </a:solidFill>
              <a:effectLst/>
              <a:latin typeface="Times New Roman" pitchFamily="16" charset="0"/>
              <a:ea typeface="+mn-ea"/>
              <a:cs typeface="+mn-cs"/>
            </a:endParaRPr>
          </a:p>
          <a:p>
            <a:pPr marL="0" lvl="0" indent="0" algn="l" rtl="0">
              <a:spcBef>
                <a:spcPts val="360"/>
              </a:spcBef>
              <a:spcAft>
                <a:spcPts val="0"/>
              </a:spcAft>
              <a:buNone/>
            </a:pPr>
            <a:endParaRPr lang="en-US" sz="1200" kern="1200" dirty="0">
              <a:solidFill>
                <a:srgbClr val="000000"/>
              </a:solidFill>
              <a:effectLst/>
              <a:latin typeface="Times New Roman" pitchFamily="16" charset="0"/>
              <a:ea typeface="+mn-ea"/>
              <a:cs typeface="+mn-cs"/>
            </a:endParaRPr>
          </a:p>
          <a:p>
            <a:pPr marL="0" lvl="0" indent="0" algn="l" rtl="0">
              <a:spcBef>
                <a:spcPts val="360"/>
              </a:spcBef>
              <a:spcAft>
                <a:spcPts val="0"/>
              </a:spcAft>
              <a:buNone/>
            </a:pPr>
            <a:r>
              <a:rPr lang="en-US" sz="1200" kern="1200" dirty="0">
                <a:solidFill>
                  <a:srgbClr val="000000"/>
                </a:solidFill>
                <a:effectLst/>
                <a:latin typeface="Times New Roman" pitchFamily="16" charset="0"/>
                <a:ea typeface="+mn-ea"/>
                <a:cs typeface="+mn-cs"/>
              </a:rPr>
              <a:t>The main() method is ignored in correctly deployed JavaFX application. * main() serves only as fallback in case the application can not be * launched through deployment artifacts, e.g., in IDEs with limited FX * support. NetBeans ignores main().</a:t>
            </a:r>
          </a:p>
          <a:p>
            <a:pPr marL="0" lvl="0" indent="0" algn="l" rtl="0">
              <a:spcBef>
                <a:spcPts val="360"/>
              </a:spcBef>
              <a:spcAft>
                <a:spcPts val="0"/>
              </a:spcAft>
              <a:buNone/>
            </a:pPr>
            <a:endParaRPr lang="en-US" sz="1200" b="0" i="0" kern="1200" dirty="0">
              <a:solidFill>
                <a:srgbClr val="000000"/>
              </a:solidFill>
              <a:effectLst/>
              <a:latin typeface="Times New Roman" pitchFamily="16" charset="0"/>
              <a:ea typeface="+mn-ea"/>
              <a:cs typeface="+mn-cs"/>
            </a:endParaRPr>
          </a:p>
          <a:p>
            <a:pPr marL="0" lvl="0" indent="0" algn="l" rtl="0">
              <a:spcBef>
                <a:spcPts val="360"/>
              </a:spcBef>
              <a:spcAft>
                <a:spcPts val="0"/>
              </a:spcAft>
              <a:buNone/>
            </a:pPr>
            <a:r>
              <a:rPr lang="en-US" sz="1200" b="0" i="0" kern="1200" dirty="0">
                <a:solidFill>
                  <a:srgbClr val="000000"/>
                </a:solidFill>
                <a:effectLst/>
                <a:latin typeface="Times New Roman" pitchFamily="16" charset="0"/>
                <a:ea typeface="+mn-ea"/>
                <a:cs typeface="+mn-cs"/>
              </a:rPr>
              <a:t>So essentially, </a:t>
            </a:r>
            <a:r>
              <a:rPr lang="en-US" sz="1200" b="1" i="0" kern="1200" dirty="0">
                <a:solidFill>
                  <a:srgbClr val="000000"/>
                </a:solidFill>
                <a:effectLst/>
                <a:latin typeface="Times New Roman" pitchFamily="16" charset="0"/>
                <a:ea typeface="+mn-ea"/>
                <a:cs typeface="+mn-cs"/>
              </a:rPr>
              <a:t>it shouldn't even be called</a:t>
            </a:r>
            <a:r>
              <a:rPr lang="en-US" sz="1200" b="0" i="0" kern="1200" dirty="0">
                <a:solidFill>
                  <a:srgbClr val="000000"/>
                </a:solidFill>
                <a:effectLst/>
                <a:latin typeface="Times New Roman" pitchFamily="16" charset="0"/>
                <a:ea typeface="+mn-ea"/>
                <a:cs typeface="+mn-cs"/>
              </a:rPr>
              <a:t> as it is JavaFX, however if it is called then it will just pass the command line arguments (</a:t>
            </a:r>
            <a:r>
              <a:rPr lang="en-US" sz="1200" b="0" i="0" kern="1200" dirty="0" err="1">
                <a:solidFill>
                  <a:srgbClr val="000000"/>
                </a:solidFill>
                <a:effectLst/>
                <a:latin typeface="Times New Roman" pitchFamily="16" charset="0"/>
                <a:ea typeface="+mn-ea"/>
                <a:cs typeface="+mn-cs"/>
              </a:rPr>
              <a:t>args</a:t>
            </a:r>
            <a:r>
              <a:rPr lang="en-US" sz="1200" b="0" i="0" kern="1200" dirty="0">
                <a:solidFill>
                  <a:srgbClr val="000000"/>
                </a:solidFill>
                <a:effectLst/>
                <a:latin typeface="Times New Roman" pitchFamily="16" charset="0"/>
                <a:ea typeface="+mn-ea"/>
                <a:cs typeface="+mn-cs"/>
              </a:rPr>
              <a:t>) to the </a:t>
            </a:r>
            <a:r>
              <a:rPr lang="en-US" sz="1200" b="0" i="0" kern="1200" dirty="0" err="1">
                <a:solidFill>
                  <a:srgbClr val="000000"/>
                </a:solidFill>
                <a:effectLst/>
                <a:latin typeface="Times New Roman" pitchFamily="16" charset="0"/>
                <a:ea typeface="+mn-ea"/>
                <a:cs typeface="+mn-cs"/>
              </a:rPr>
              <a:t>javafx.application.Application.launch</a:t>
            </a:r>
            <a:r>
              <a:rPr lang="en-US" sz="1200" b="0" i="0" kern="1200" dirty="0">
                <a:solidFill>
                  <a:srgbClr val="000000"/>
                </a:solidFill>
                <a:effectLst/>
                <a:latin typeface="Times New Roman" pitchFamily="16" charset="0"/>
                <a:ea typeface="+mn-ea"/>
                <a:cs typeface="+mn-cs"/>
              </a:rPr>
              <a:t> which will open the JavaFX as expected.</a:t>
            </a:r>
            <a:endParaRPr dirty="0"/>
          </a:p>
        </p:txBody>
      </p:sp>
      <p:sp>
        <p:nvSpPr>
          <p:cNvPr id="182" name="Google Shape;182;p12:notes"/>
          <p:cNvSpPr>
            <a:spLocks noGrp="1" noRot="1" noChangeAspect="1"/>
          </p:cNvSpPr>
          <p:nvPr>
            <p:ph type="sldImg" idx="2"/>
          </p:nvPr>
        </p:nvSpPr>
        <p:spPr>
          <a:xfrm>
            <a:off x="1587500" y="1006475"/>
            <a:ext cx="4594225" cy="34448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6:notes"/>
          <p:cNvSpPr txBox="1">
            <a:spLocks noGrp="1"/>
          </p:cNvSpPr>
          <p:nvPr>
            <p:ph type="body" idx="1"/>
          </p:nvPr>
        </p:nvSpPr>
        <p:spPr>
          <a:xfrm>
            <a:off x="1185863" y="4787900"/>
            <a:ext cx="5405437" cy="3824288"/>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189" name="Google Shape;189;p6:notes"/>
          <p:cNvSpPr>
            <a:spLocks noGrp="1" noRot="1" noChangeAspect="1"/>
          </p:cNvSpPr>
          <p:nvPr>
            <p:ph type="sldImg" idx="2"/>
          </p:nvPr>
        </p:nvSpPr>
        <p:spPr>
          <a:xfrm>
            <a:off x="1587500" y="1006475"/>
            <a:ext cx="4594225" cy="34448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a:extLst>
            <a:ext uri="{FF2B5EF4-FFF2-40B4-BE49-F238E27FC236}">
              <a16:creationId xmlns:a16="http://schemas.microsoft.com/office/drawing/2014/main" id="{4F9F3089-18E8-9BAE-7B2E-15EC97394A08}"/>
            </a:ext>
          </a:extLst>
        </p:cNvPr>
        <p:cNvGrpSpPr/>
        <p:nvPr/>
      </p:nvGrpSpPr>
      <p:grpSpPr>
        <a:xfrm>
          <a:off x="0" y="0"/>
          <a:ext cx="0" cy="0"/>
          <a:chOff x="0" y="0"/>
          <a:chExt cx="0" cy="0"/>
        </a:xfrm>
      </p:grpSpPr>
      <p:sp>
        <p:nvSpPr>
          <p:cNvPr id="188" name="Google Shape;188;p6:notes">
            <a:extLst>
              <a:ext uri="{FF2B5EF4-FFF2-40B4-BE49-F238E27FC236}">
                <a16:creationId xmlns:a16="http://schemas.microsoft.com/office/drawing/2014/main" id="{91AA0B22-B0DD-4C5E-B8CD-8B1678842B14}"/>
              </a:ext>
            </a:extLst>
          </p:cNvPr>
          <p:cNvSpPr txBox="1">
            <a:spLocks noGrp="1"/>
          </p:cNvSpPr>
          <p:nvPr>
            <p:ph type="body" idx="1"/>
          </p:nvPr>
        </p:nvSpPr>
        <p:spPr>
          <a:xfrm>
            <a:off x="1185863" y="4787900"/>
            <a:ext cx="5405437" cy="3824288"/>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189" name="Google Shape;189;p6:notes">
            <a:extLst>
              <a:ext uri="{FF2B5EF4-FFF2-40B4-BE49-F238E27FC236}">
                <a16:creationId xmlns:a16="http://schemas.microsoft.com/office/drawing/2014/main" id="{CDDFABCF-F3F8-B317-6990-81106C6D8FCF}"/>
              </a:ext>
            </a:extLst>
          </p:cNvPr>
          <p:cNvSpPr>
            <a:spLocks noGrp="1" noRot="1" noChangeAspect="1"/>
          </p:cNvSpPr>
          <p:nvPr>
            <p:ph type="sldImg" idx="2"/>
          </p:nvPr>
        </p:nvSpPr>
        <p:spPr>
          <a:xfrm>
            <a:off x="1587500" y="1006475"/>
            <a:ext cx="4594225" cy="34448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3539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7068db824e_0_136:notes"/>
          <p:cNvSpPr txBox="1">
            <a:spLocks noGrp="1"/>
          </p:cNvSpPr>
          <p:nvPr>
            <p:ph type="body" idx="1"/>
          </p:nvPr>
        </p:nvSpPr>
        <p:spPr>
          <a:xfrm>
            <a:off x="1185863" y="4787900"/>
            <a:ext cx="5405400" cy="3824400"/>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196" name="Google Shape;196;g7068db824e_0_136:notes"/>
          <p:cNvSpPr>
            <a:spLocks noGrp="1" noRot="1" noChangeAspect="1"/>
          </p:cNvSpPr>
          <p:nvPr>
            <p:ph type="sldImg" idx="2"/>
          </p:nvPr>
        </p:nvSpPr>
        <p:spPr>
          <a:xfrm>
            <a:off x="1587500" y="1006475"/>
            <a:ext cx="4594225" cy="34448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8434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0:notes"/>
          <p:cNvSpPr txBox="1">
            <a:spLocks noGrp="1"/>
          </p:cNvSpPr>
          <p:nvPr>
            <p:ph type="body" idx="1"/>
          </p:nvPr>
        </p:nvSpPr>
        <p:spPr>
          <a:xfrm>
            <a:off x="1185863" y="4787900"/>
            <a:ext cx="5405437" cy="3824288"/>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202" name="Google Shape;202;p10:notes"/>
          <p:cNvSpPr>
            <a:spLocks noGrp="1" noRot="1" noChangeAspect="1"/>
          </p:cNvSpPr>
          <p:nvPr>
            <p:ph type="sldImg" idx="2"/>
          </p:nvPr>
        </p:nvSpPr>
        <p:spPr>
          <a:xfrm>
            <a:off x="1587500" y="1006475"/>
            <a:ext cx="4594225" cy="34448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3:notes"/>
          <p:cNvSpPr txBox="1">
            <a:spLocks noGrp="1"/>
          </p:cNvSpPr>
          <p:nvPr>
            <p:ph type="body" idx="1"/>
          </p:nvPr>
        </p:nvSpPr>
        <p:spPr>
          <a:xfrm>
            <a:off x="1185863" y="4787900"/>
            <a:ext cx="5405437" cy="3824288"/>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215" name="Google Shape;215;p13:notes"/>
          <p:cNvSpPr>
            <a:spLocks noGrp="1" noRot="1" noChangeAspect="1"/>
          </p:cNvSpPr>
          <p:nvPr>
            <p:ph type="sldImg" idx="2"/>
          </p:nvPr>
        </p:nvSpPr>
        <p:spPr>
          <a:xfrm>
            <a:off x="1587500" y="1006475"/>
            <a:ext cx="4594225" cy="34448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40108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4:notes"/>
          <p:cNvSpPr txBox="1">
            <a:spLocks noGrp="1"/>
          </p:cNvSpPr>
          <p:nvPr>
            <p:ph type="body" idx="1"/>
          </p:nvPr>
        </p:nvSpPr>
        <p:spPr>
          <a:xfrm>
            <a:off x="1185863" y="4787900"/>
            <a:ext cx="5405437" cy="3824288"/>
          </a:xfrm>
          <a:prstGeom prst="rect">
            <a:avLst/>
          </a:prstGeom>
        </p:spPr>
        <p:txBody>
          <a:bodyPr spcFirstLastPara="1" wrap="square" lIns="0" tIns="0" rIns="0" bIns="0" anchor="t" anchorCtr="0">
            <a:noAutofit/>
          </a:bodyPr>
          <a:lstStyle/>
          <a:p>
            <a:pPr algn="l"/>
            <a:r>
              <a:rPr lang="en-US" b="0" i="0" dirty="0">
                <a:solidFill>
                  <a:srgbClr val="222222"/>
                </a:solidFill>
                <a:effectLst/>
                <a:latin typeface="Merriweather"/>
              </a:rPr>
              <a:t>There are 6 Panels in </a:t>
            </a:r>
            <a:r>
              <a:rPr lang="en-US" b="0" i="0" dirty="0" err="1">
                <a:solidFill>
                  <a:srgbClr val="222222"/>
                </a:solidFill>
                <a:effectLst/>
                <a:latin typeface="Merriweather"/>
              </a:rPr>
              <a:t>javaFX</a:t>
            </a:r>
            <a:r>
              <a:rPr lang="en-US" b="0" i="0" dirty="0">
                <a:solidFill>
                  <a:srgbClr val="222222"/>
                </a:solidFill>
                <a:effectLst/>
                <a:latin typeface="Merriweather"/>
              </a:rPr>
              <a:t> such as: </a:t>
            </a:r>
            <a:r>
              <a:rPr lang="en-US" b="0" i="0" dirty="0" err="1">
                <a:solidFill>
                  <a:srgbClr val="222222"/>
                </a:solidFill>
                <a:effectLst/>
                <a:latin typeface="Merriweather"/>
              </a:rPr>
              <a:t>BorderPane</a:t>
            </a:r>
            <a:r>
              <a:rPr lang="en-US" b="0" i="0" dirty="0">
                <a:solidFill>
                  <a:srgbClr val="222222"/>
                </a:solidFill>
                <a:effectLst/>
                <a:latin typeface="Merriweather"/>
              </a:rPr>
              <a:t>, </a:t>
            </a:r>
            <a:r>
              <a:rPr lang="en-US" b="0" i="0" dirty="0" err="1">
                <a:solidFill>
                  <a:srgbClr val="222222"/>
                </a:solidFill>
                <a:effectLst/>
                <a:latin typeface="Merriweather"/>
              </a:rPr>
              <a:t>StackPane</a:t>
            </a:r>
            <a:r>
              <a:rPr lang="en-US" b="0" i="0" dirty="0">
                <a:solidFill>
                  <a:srgbClr val="222222"/>
                </a:solidFill>
                <a:effectLst/>
                <a:latin typeface="Merriweather"/>
              </a:rPr>
              <a:t>, </a:t>
            </a:r>
            <a:r>
              <a:rPr lang="en-US" b="0" i="0" dirty="0" err="1">
                <a:solidFill>
                  <a:srgbClr val="222222"/>
                </a:solidFill>
                <a:effectLst/>
                <a:latin typeface="Merriweather"/>
              </a:rPr>
              <a:t>GridPane</a:t>
            </a:r>
            <a:r>
              <a:rPr lang="en-US" b="0" i="0" dirty="0">
                <a:solidFill>
                  <a:srgbClr val="222222"/>
                </a:solidFill>
                <a:effectLst/>
                <a:latin typeface="Merriweather"/>
              </a:rPr>
              <a:t>, </a:t>
            </a:r>
            <a:r>
              <a:rPr lang="en-US" b="0" i="0" dirty="0" err="1">
                <a:solidFill>
                  <a:srgbClr val="222222"/>
                </a:solidFill>
                <a:effectLst/>
                <a:latin typeface="Merriweather"/>
              </a:rPr>
              <a:t>FlowPane,TilePane</a:t>
            </a:r>
            <a:r>
              <a:rPr lang="en-US" b="0" i="0" dirty="0">
                <a:solidFill>
                  <a:srgbClr val="222222"/>
                </a:solidFill>
                <a:effectLst/>
                <a:latin typeface="Merriweather"/>
              </a:rPr>
              <a:t> and </a:t>
            </a:r>
            <a:r>
              <a:rPr lang="en-US" b="0" i="0" dirty="0" err="1">
                <a:solidFill>
                  <a:srgbClr val="222222"/>
                </a:solidFill>
                <a:effectLst/>
                <a:latin typeface="Merriweather"/>
              </a:rPr>
              <a:t>AnchorPane</a:t>
            </a:r>
            <a:r>
              <a:rPr lang="en-US" b="0" i="0" dirty="0">
                <a:solidFill>
                  <a:srgbClr val="222222"/>
                </a:solidFill>
                <a:effectLst/>
                <a:latin typeface="Merriweather"/>
              </a:rPr>
              <a:t>.</a:t>
            </a:r>
          </a:p>
          <a:p>
            <a:pPr algn="l"/>
            <a:r>
              <a:rPr lang="en-US" b="1" i="0" dirty="0" err="1">
                <a:solidFill>
                  <a:srgbClr val="222222"/>
                </a:solidFill>
                <a:effectLst/>
                <a:latin typeface="Merriweather"/>
              </a:rPr>
              <a:t>StackPane</a:t>
            </a:r>
            <a:endParaRPr lang="en-US" b="0" i="0" dirty="0">
              <a:solidFill>
                <a:srgbClr val="222222"/>
              </a:solidFill>
              <a:effectLst/>
              <a:latin typeface="Merriweather"/>
            </a:endParaRPr>
          </a:p>
          <a:p>
            <a:pPr algn="l"/>
            <a:r>
              <a:rPr lang="en-US" b="0" i="0" dirty="0">
                <a:solidFill>
                  <a:srgbClr val="222222"/>
                </a:solidFill>
                <a:effectLst/>
                <a:latin typeface="Merriweather"/>
              </a:rPr>
              <a:t>Stack pane allows you to place many nodes one on top of an other.</a:t>
            </a:r>
          </a:p>
          <a:p>
            <a:pPr algn="l"/>
            <a:r>
              <a:rPr lang="en-US" b="0" i="0" dirty="0" err="1">
                <a:solidFill>
                  <a:srgbClr val="110000"/>
                </a:solidFill>
                <a:effectLst/>
                <a:latin typeface="Merriweather"/>
              </a:rPr>
              <a:t>StackPane</a:t>
            </a:r>
            <a:r>
              <a:rPr lang="en-US" b="0" i="0" dirty="0">
                <a:solidFill>
                  <a:srgbClr val="110000"/>
                </a:solidFill>
                <a:effectLst/>
                <a:latin typeface="Merriweather"/>
              </a:rPr>
              <a:t> root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err="1">
                <a:solidFill>
                  <a:srgbClr val="110000"/>
                </a:solidFill>
                <a:effectLst/>
                <a:latin typeface="Merriweather"/>
              </a:rPr>
              <a:t>StackPane</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a:solidFill>
                  <a:srgbClr val="003399"/>
                </a:solidFill>
                <a:effectLst/>
                <a:latin typeface="Merriweather"/>
              </a:rPr>
              <a:t>Button</a:t>
            </a:r>
            <a:r>
              <a:rPr lang="en-US" b="0" i="0" dirty="0">
                <a:solidFill>
                  <a:srgbClr val="110000"/>
                </a:solidFill>
                <a:effectLst/>
                <a:latin typeface="Merriweather"/>
              </a:rPr>
              <a:t> btn1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a:solidFill>
                  <a:srgbClr val="003399"/>
                </a:solidFill>
                <a:effectLst/>
                <a:latin typeface="Merriweather"/>
              </a:rPr>
              <a:t>Button</a:t>
            </a:r>
            <a:r>
              <a:rPr lang="en-US" b="0" i="0" dirty="0">
                <a:solidFill>
                  <a:srgbClr val="009900"/>
                </a:solidFill>
                <a:effectLst/>
                <a:latin typeface="Merriweather"/>
              </a:rPr>
              <a:t>(</a:t>
            </a:r>
            <a:r>
              <a:rPr lang="en-US" b="0" i="0" dirty="0">
                <a:solidFill>
                  <a:srgbClr val="0000FF"/>
                </a:solidFill>
                <a:effectLst/>
                <a:latin typeface="Merriweather"/>
              </a:rPr>
              <a:t>" 1 "</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a:solidFill>
                  <a:srgbClr val="003399"/>
                </a:solidFill>
                <a:effectLst/>
                <a:latin typeface="Merriweather"/>
              </a:rPr>
              <a:t>Button</a:t>
            </a:r>
            <a:r>
              <a:rPr lang="en-US" b="0" i="0" dirty="0">
                <a:solidFill>
                  <a:srgbClr val="110000"/>
                </a:solidFill>
                <a:effectLst/>
                <a:latin typeface="Merriweather"/>
              </a:rPr>
              <a:t> btn2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a:solidFill>
                  <a:srgbClr val="003399"/>
                </a:solidFill>
                <a:effectLst/>
                <a:latin typeface="Merriweather"/>
              </a:rPr>
              <a:t>Button</a:t>
            </a:r>
            <a:r>
              <a:rPr lang="en-US" b="0" i="0" dirty="0">
                <a:solidFill>
                  <a:srgbClr val="009900"/>
                </a:solidFill>
                <a:effectLst/>
                <a:latin typeface="Merriweather"/>
              </a:rPr>
              <a:t>(</a:t>
            </a:r>
            <a:r>
              <a:rPr lang="en-US" b="0" i="0" dirty="0">
                <a:solidFill>
                  <a:srgbClr val="0000FF"/>
                </a:solidFill>
                <a:effectLst/>
                <a:latin typeface="Merriweather"/>
              </a:rPr>
              <a:t>"22222222"</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root.</a:t>
            </a:r>
            <a:r>
              <a:rPr lang="en-US" b="0" i="0" dirty="0" err="1">
                <a:solidFill>
                  <a:srgbClr val="006633"/>
                </a:solidFill>
                <a:effectLst/>
                <a:latin typeface="Merriweather"/>
              </a:rPr>
              <a:t>getChildren</a:t>
            </a:r>
            <a:r>
              <a:rPr lang="en-US" b="0" i="0" dirty="0">
                <a:solidFill>
                  <a:srgbClr val="009900"/>
                </a:solidFill>
                <a:effectLst/>
                <a:latin typeface="Merriweather"/>
              </a:rPr>
              <a:t>()</a:t>
            </a:r>
            <a:r>
              <a:rPr lang="en-US" b="0" i="0" dirty="0">
                <a:solidFill>
                  <a:srgbClr val="110000"/>
                </a:solidFill>
                <a:effectLst/>
                <a:latin typeface="Merriweather"/>
              </a:rPr>
              <a:t>.</a:t>
            </a:r>
            <a:r>
              <a:rPr lang="en-US" b="0" i="0" dirty="0" err="1">
                <a:solidFill>
                  <a:srgbClr val="006633"/>
                </a:solidFill>
                <a:effectLst/>
                <a:latin typeface="Merriweather"/>
              </a:rPr>
              <a:t>addAll</a:t>
            </a:r>
            <a:r>
              <a:rPr lang="en-US" b="0" i="0" dirty="0">
                <a:solidFill>
                  <a:srgbClr val="009900"/>
                </a:solidFill>
                <a:effectLst/>
                <a:latin typeface="Merriweather"/>
              </a:rPr>
              <a:t>(</a:t>
            </a:r>
            <a:r>
              <a:rPr lang="en-US" b="0" i="0" dirty="0">
                <a:solidFill>
                  <a:srgbClr val="110000"/>
                </a:solidFill>
                <a:effectLst/>
                <a:latin typeface="Merriweather"/>
              </a:rPr>
              <a:t>btn2, btn1</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root.</a:t>
            </a:r>
            <a:r>
              <a:rPr lang="en-US" b="0" i="0" dirty="0" err="1">
                <a:solidFill>
                  <a:srgbClr val="006633"/>
                </a:solidFill>
                <a:effectLst/>
                <a:latin typeface="Merriweather"/>
              </a:rPr>
              <a:t>setStyle</a:t>
            </a:r>
            <a:r>
              <a:rPr lang="en-US" b="0" i="0" dirty="0">
                <a:solidFill>
                  <a:srgbClr val="009900"/>
                </a:solidFill>
                <a:effectLst/>
                <a:latin typeface="Merriweather"/>
              </a:rPr>
              <a:t>(</a:t>
            </a:r>
            <a:r>
              <a:rPr lang="en-US" b="0" i="0" dirty="0">
                <a:solidFill>
                  <a:srgbClr val="0000FF"/>
                </a:solidFill>
                <a:effectLst/>
                <a:latin typeface="Merriweather"/>
              </a:rPr>
              <a:t>"-</a:t>
            </a:r>
            <a:r>
              <a:rPr lang="en-US" b="0" i="0" dirty="0" err="1">
                <a:solidFill>
                  <a:srgbClr val="0000FF"/>
                </a:solidFill>
                <a:effectLst/>
                <a:latin typeface="Merriweather"/>
              </a:rPr>
              <a:t>fx</a:t>
            </a:r>
            <a:r>
              <a:rPr lang="en-US" b="0" i="0" dirty="0">
                <a:solidFill>
                  <a:srgbClr val="0000FF"/>
                </a:solidFill>
                <a:effectLst/>
                <a:latin typeface="Merriweather"/>
              </a:rPr>
              <a:t>-background-color: #87CEFA;"</a:t>
            </a:r>
            <a:r>
              <a:rPr lang="en-US" b="0" i="0" dirty="0">
                <a:solidFill>
                  <a:srgbClr val="009900"/>
                </a:solidFill>
                <a:effectLst/>
                <a:latin typeface="Merriweather"/>
              </a:rPr>
              <a:t>)</a:t>
            </a:r>
            <a:r>
              <a:rPr lang="en-US" b="0" i="0" dirty="0">
                <a:solidFill>
                  <a:srgbClr val="339933"/>
                </a:solidFill>
                <a:effectLst/>
                <a:latin typeface="Merriweather"/>
              </a:rPr>
              <a:t>;</a:t>
            </a:r>
            <a:endParaRPr lang="en-US" b="0" i="0" dirty="0">
              <a:solidFill>
                <a:srgbClr val="110000"/>
              </a:solidFill>
              <a:effectLst/>
              <a:latin typeface="Merriweather"/>
            </a:endParaRPr>
          </a:p>
          <a:p>
            <a:pPr algn="l"/>
            <a:r>
              <a:rPr lang="en-US" b="1" i="0" dirty="0" err="1">
                <a:solidFill>
                  <a:srgbClr val="222222"/>
                </a:solidFill>
                <a:effectLst/>
                <a:latin typeface="Merriweather"/>
              </a:rPr>
              <a:t>GridPane</a:t>
            </a:r>
            <a:endParaRPr lang="en-US" b="0" i="0" dirty="0">
              <a:solidFill>
                <a:srgbClr val="222222"/>
              </a:solidFill>
              <a:effectLst/>
              <a:latin typeface="Merriweather"/>
            </a:endParaRPr>
          </a:p>
          <a:p>
            <a:pPr algn="l"/>
            <a:r>
              <a:rPr lang="en-US" b="0" i="0" dirty="0" err="1">
                <a:solidFill>
                  <a:srgbClr val="222222"/>
                </a:solidFill>
                <a:effectLst/>
                <a:latin typeface="Merriweather"/>
              </a:rPr>
              <a:t>GridPane</a:t>
            </a:r>
            <a:r>
              <a:rPr lang="en-US" b="0" i="0" dirty="0">
                <a:solidFill>
                  <a:srgbClr val="222222"/>
                </a:solidFill>
                <a:effectLst/>
                <a:latin typeface="Merriweather"/>
              </a:rPr>
              <a:t> allows you to create a flexible grid of rows and columns and position each node in exact place.</a:t>
            </a:r>
          </a:p>
          <a:p>
            <a:pPr algn="l"/>
            <a:r>
              <a:rPr lang="en-US" b="0" i="0" dirty="0" err="1">
                <a:solidFill>
                  <a:srgbClr val="110000"/>
                </a:solidFill>
                <a:effectLst/>
                <a:latin typeface="Merriweather"/>
              </a:rPr>
              <a:t>GridPane</a:t>
            </a:r>
            <a:r>
              <a:rPr lang="en-US" b="0" i="0" dirty="0">
                <a:solidFill>
                  <a:srgbClr val="110000"/>
                </a:solidFill>
                <a:effectLst/>
                <a:latin typeface="Merriweather"/>
              </a:rPr>
              <a:t> grid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err="1">
                <a:solidFill>
                  <a:srgbClr val="110000"/>
                </a:solidFill>
                <a:effectLst/>
                <a:latin typeface="Merriweather"/>
              </a:rPr>
              <a:t>GridPane</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grid.</a:t>
            </a:r>
            <a:r>
              <a:rPr lang="en-US" b="0" i="0" dirty="0" err="1">
                <a:solidFill>
                  <a:srgbClr val="006633"/>
                </a:solidFill>
                <a:effectLst/>
                <a:latin typeface="Merriweather"/>
              </a:rPr>
              <a:t>setPadding</a:t>
            </a:r>
            <a:r>
              <a:rPr lang="en-US" b="0" i="0" dirty="0">
                <a:solidFill>
                  <a:srgbClr val="009900"/>
                </a:solidFill>
                <a:effectLst/>
                <a:latin typeface="Merriweather"/>
              </a:rPr>
              <a:t>(</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a:solidFill>
                  <a:srgbClr val="003399"/>
                </a:solidFill>
                <a:effectLst/>
                <a:latin typeface="Merriweather"/>
              </a:rPr>
              <a:t>Insets</a:t>
            </a:r>
            <a:r>
              <a:rPr lang="en-US" b="0" i="0" dirty="0">
                <a:solidFill>
                  <a:srgbClr val="009900"/>
                </a:solidFill>
                <a:effectLst/>
                <a:latin typeface="Merriweather"/>
              </a:rPr>
              <a:t>(</a:t>
            </a:r>
            <a:r>
              <a:rPr lang="en-US" b="0" i="0" dirty="0">
                <a:solidFill>
                  <a:srgbClr val="CC66CC"/>
                </a:solidFill>
                <a:effectLst/>
                <a:latin typeface="Merriweather"/>
              </a:rPr>
              <a:t>10</a:t>
            </a:r>
            <a:r>
              <a:rPr lang="en-US" b="0" i="0" dirty="0">
                <a:solidFill>
                  <a:srgbClr val="110000"/>
                </a:solidFill>
                <a:effectLst/>
                <a:latin typeface="Merriweather"/>
              </a:rPr>
              <a:t>, </a:t>
            </a:r>
            <a:r>
              <a:rPr lang="en-US" b="0" i="0" dirty="0">
                <a:solidFill>
                  <a:srgbClr val="CC66CC"/>
                </a:solidFill>
                <a:effectLst/>
                <a:latin typeface="Merriweather"/>
              </a:rPr>
              <a:t>10</a:t>
            </a:r>
            <a:r>
              <a:rPr lang="en-US" b="0" i="0" dirty="0">
                <a:solidFill>
                  <a:srgbClr val="110000"/>
                </a:solidFill>
                <a:effectLst/>
                <a:latin typeface="Merriweather"/>
              </a:rPr>
              <a:t>, </a:t>
            </a:r>
            <a:r>
              <a:rPr lang="en-US" b="0" i="0" dirty="0">
                <a:solidFill>
                  <a:srgbClr val="CC66CC"/>
                </a:solidFill>
                <a:effectLst/>
                <a:latin typeface="Merriweather"/>
              </a:rPr>
              <a:t>10</a:t>
            </a:r>
            <a:r>
              <a:rPr lang="en-US" b="0" i="0" dirty="0">
                <a:solidFill>
                  <a:srgbClr val="110000"/>
                </a:solidFill>
                <a:effectLst/>
                <a:latin typeface="Merriweather"/>
              </a:rPr>
              <a:t>, </a:t>
            </a:r>
            <a:r>
              <a:rPr lang="en-US" b="0" i="0" dirty="0">
                <a:solidFill>
                  <a:srgbClr val="CC66CC"/>
                </a:solidFill>
                <a:effectLst/>
                <a:latin typeface="Merriweather"/>
              </a:rPr>
              <a:t>10</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grid.</a:t>
            </a:r>
            <a:r>
              <a:rPr lang="en-US" b="0" i="0" dirty="0" err="1">
                <a:solidFill>
                  <a:srgbClr val="006633"/>
                </a:solidFill>
                <a:effectLst/>
                <a:latin typeface="Merriweather"/>
              </a:rPr>
              <a:t>setMinSize</a:t>
            </a:r>
            <a:r>
              <a:rPr lang="en-US" b="0" i="0" dirty="0">
                <a:solidFill>
                  <a:srgbClr val="009900"/>
                </a:solidFill>
                <a:effectLst/>
                <a:latin typeface="Merriweather"/>
              </a:rPr>
              <a:t>(</a:t>
            </a:r>
            <a:r>
              <a:rPr lang="en-US" b="0" i="0" dirty="0">
                <a:solidFill>
                  <a:srgbClr val="CC66CC"/>
                </a:solidFill>
                <a:effectLst/>
                <a:latin typeface="Merriweather"/>
              </a:rPr>
              <a:t>300</a:t>
            </a:r>
            <a:r>
              <a:rPr lang="en-US" b="0" i="0" dirty="0">
                <a:solidFill>
                  <a:srgbClr val="110000"/>
                </a:solidFill>
                <a:effectLst/>
                <a:latin typeface="Merriweather"/>
              </a:rPr>
              <a:t>, </a:t>
            </a:r>
            <a:r>
              <a:rPr lang="en-US" b="0" i="0" dirty="0">
                <a:solidFill>
                  <a:srgbClr val="CC66CC"/>
                </a:solidFill>
                <a:effectLst/>
                <a:latin typeface="Merriweather"/>
              </a:rPr>
              <a:t>300</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grid.</a:t>
            </a:r>
            <a:r>
              <a:rPr lang="en-US" b="0" i="0" dirty="0" err="1">
                <a:solidFill>
                  <a:srgbClr val="006633"/>
                </a:solidFill>
                <a:effectLst/>
                <a:latin typeface="Merriweather"/>
              </a:rPr>
              <a:t>setVgap</a:t>
            </a:r>
            <a:r>
              <a:rPr lang="en-US" b="0" i="0" dirty="0">
                <a:solidFill>
                  <a:srgbClr val="009900"/>
                </a:solidFill>
                <a:effectLst/>
                <a:latin typeface="Merriweather"/>
              </a:rPr>
              <a:t>(</a:t>
            </a:r>
            <a:r>
              <a:rPr lang="en-US" b="0" i="0" dirty="0">
                <a:solidFill>
                  <a:srgbClr val="CC66CC"/>
                </a:solidFill>
                <a:effectLst/>
                <a:latin typeface="Merriweather"/>
              </a:rPr>
              <a:t>5</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grid.</a:t>
            </a:r>
            <a:r>
              <a:rPr lang="en-US" b="0" i="0" dirty="0" err="1">
                <a:solidFill>
                  <a:srgbClr val="006633"/>
                </a:solidFill>
                <a:effectLst/>
                <a:latin typeface="Merriweather"/>
              </a:rPr>
              <a:t>setHgap</a:t>
            </a:r>
            <a:r>
              <a:rPr lang="en-US" b="0" i="0" dirty="0">
                <a:solidFill>
                  <a:srgbClr val="009900"/>
                </a:solidFill>
                <a:effectLst/>
                <a:latin typeface="Merriweather"/>
              </a:rPr>
              <a:t>(</a:t>
            </a:r>
            <a:r>
              <a:rPr lang="en-US" b="0" i="0" dirty="0">
                <a:solidFill>
                  <a:srgbClr val="CC66CC"/>
                </a:solidFill>
                <a:effectLst/>
                <a:latin typeface="Merriweather"/>
              </a:rPr>
              <a:t>5</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Text username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Text</a:t>
            </a:r>
            <a:r>
              <a:rPr lang="en-US" b="0" i="0" dirty="0">
                <a:solidFill>
                  <a:srgbClr val="009900"/>
                </a:solidFill>
                <a:effectLst/>
                <a:latin typeface="Merriweather"/>
              </a:rPr>
              <a:t>(</a:t>
            </a:r>
            <a:r>
              <a:rPr lang="en-US" b="0" i="0" dirty="0">
                <a:solidFill>
                  <a:srgbClr val="0000FF"/>
                </a:solidFill>
                <a:effectLst/>
                <a:latin typeface="Merriweather"/>
              </a:rPr>
              <a:t>"Username:"</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grid.</a:t>
            </a:r>
            <a:r>
              <a:rPr lang="en-US" b="0" i="0" dirty="0" err="1">
                <a:solidFill>
                  <a:srgbClr val="006633"/>
                </a:solidFill>
                <a:effectLst/>
                <a:latin typeface="Merriweather"/>
              </a:rPr>
              <a:t>add</a:t>
            </a:r>
            <a:r>
              <a:rPr lang="en-US" b="0" i="0" dirty="0">
                <a:solidFill>
                  <a:srgbClr val="009900"/>
                </a:solidFill>
                <a:effectLst/>
                <a:latin typeface="Merriweather"/>
              </a:rPr>
              <a:t>(</a:t>
            </a:r>
            <a:r>
              <a:rPr lang="en-US" b="0" i="0" dirty="0">
                <a:solidFill>
                  <a:srgbClr val="110000"/>
                </a:solidFill>
                <a:effectLst/>
                <a:latin typeface="Merriweather"/>
              </a:rPr>
              <a:t>username, </a:t>
            </a:r>
            <a:r>
              <a:rPr lang="en-US" b="0" i="0" dirty="0">
                <a:solidFill>
                  <a:srgbClr val="CC66CC"/>
                </a:solidFill>
                <a:effectLst/>
                <a:latin typeface="Merriweather"/>
              </a:rPr>
              <a:t>0</a:t>
            </a:r>
            <a:r>
              <a:rPr lang="en-US" b="0" i="0" dirty="0">
                <a:solidFill>
                  <a:srgbClr val="110000"/>
                </a:solidFill>
                <a:effectLst/>
                <a:latin typeface="Merriweather"/>
              </a:rPr>
              <a:t>, </a:t>
            </a:r>
            <a:r>
              <a:rPr lang="en-US" b="0" i="0" dirty="0">
                <a:solidFill>
                  <a:srgbClr val="CC66CC"/>
                </a:solidFill>
                <a:effectLst/>
                <a:latin typeface="Merriweather"/>
              </a:rPr>
              <a:t>0</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003399"/>
                </a:solidFill>
                <a:effectLst/>
                <a:latin typeface="Merriweather"/>
              </a:rPr>
              <a:t>TextField</a:t>
            </a:r>
            <a:r>
              <a:rPr lang="en-US" b="0" i="0" dirty="0">
                <a:solidFill>
                  <a:srgbClr val="110000"/>
                </a:solidFill>
                <a:effectLst/>
                <a:latin typeface="Merriweather"/>
              </a:rPr>
              <a:t> text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err="1">
                <a:solidFill>
                  <a:srgbClr val="003399"/>
                </a:solidFill>
                <a:effectLst/>
                <a:latin typeface="Merriweather"/>
              </a:rPr>
              <a:t>TextField</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text.</a:t>
            </a:r>
            <a:r>
              <a:rPr lang="en-US" b="0" i="0" dirty="0" err="1">
                <a:solidFill>
                  <a:srgbClr val="006633"/>
                </a:solidFill>
                <a:effectLst/>
                <a:latin typeface="Merriweather"/>
              </a:rPr>
              <a:t>setPrefColumnCount</a:t>
            </a:r>
            <a:r>
              <a:rPr lang="en-US" b="0" i="0" dirty="0">
                <a:solidFill>
                  <a:srgbClr val="009900"/>
                </a:solidFill>
                <a:effectLst/>
                <a:latin typeface="Merriweather"/>
              </a:rPr>
              <a:t>(</a:t>
            </a:r>
            <a:r>
              <a:rPr lang="en-US" b="0" i="0" dirty="0">
                <a:solidFill>
                  <a:srgbClr val="CC66CC"/>
                </a:solidFill>
                <a:effectLst/>
                <a:latin typeface="Merriweather"/>
              </a:rPr>
              <a:t>10</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grid.</a:t>
            </a:r>
            <a:r>
              <a:rPr lang="en-US" b="0" i="0" dirty="0" err="1">
                <a:solidFill>
                  <a:srgbClr val="006633"/>
                </a:solidFill>
                <a:effectLst/>
                <a:latin typeface="Merriweather"/>
              </a:rPr>
              <a:t>add</a:t>
            </a:r>
            <a:r>
              <a:rPr lang="en-US" b="0" i="0" dirty="0">
                <a:solidFill>
                  <a:srgbClr val="009900"/>
                </a:solidFill>
                <a:effectLst/>
                <a:latin typeface="Merriweather"/>
              </a:rPr>
              <a:t>(</a:t>
            </a:r>
            <a:r>
              <a:rPr lang="en-US" b="0" i="0" dirty="0">
                <a:solidFill>
                  <a:srgbClr val="110000"/>
                </a:solidFill>
                <a:effectLst/>
                <a:latin typeface="Merriweather"/>
              </a:rPr>
              <a:t>text, </a:t>
            </a:r>
            <a:r>
              <a:rPr lang="en-US" b="0" i="0" dirty="0">
                <a:solidFill>
                  <a:srgbClr val="CC66CC"/>
                </a:solidFill>
                <a:effectLst/>
                <a:latin typeface="Merriweather"/>
              </a:rPr>
              <a:t>1</a:t>
            </a:r>
            <a:r>
              <a:rPr lang="en-US" b="0" i="0" dirty="0">
                <a:solidFill>
                  <a:srgbClr val="110000"/>
                </a:solidFill>
                <a:effectLst/>
                <a:latin typeface="Merriweather"/>
              </a:rPr>
              <a:t>, </a:t>
            </a:r>
            <a:r>
              <a:rPr lang="en-US" b="0" i="0" dirty="0">
                <a:solidFill>
                  <a:srgbClr val="CC66CC"/>
                </a:solidFill>
                <a:effectLst/>
                <a:latin typeface="Merriweather"/>
              </a:rPr>
              <a:t>0</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Text password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Text</a:t>
            </a:r>
            <a:r>
              <a:rPr lang="en-US" b="0" i="0" dirty="0">
                <a:solidFill>
                  <a:srgbClr val="009900"/>
                </a:solidFill>
                <a:effectLst/>
                <a:latin typeface="Merriweather"/>
              </a:rPr>
              <a:t>(</a:t>
            </a:r>
            <a:r>
              <a:rPr lang="en-US" b="0" i="0" dirty="0">
                <a:solidFill>
                  <a:srgbClr val="0000FF"/>
                </a:solidFill>
                <a:effectLst/>
                <a:latin typeface="Merriweather"/>
              </a:rPr>
              <a:t>"Password:"</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grid.</a:t>
            </a:r>
            <a:r>
              <a:rPr lang="en-US" b="0" i="0" dirty="0" err="1">
                <a:solidFill>
                  <a:srgbClr val="006633"/>
                </a:solidFill>
                <a:effectLst/>
                <a:latin typeface="Merriweather"/>
              </a:rPr>
              <a:t>add</a:t>
            </a:r>
            <a:r>
              <a:rPr lang="en-US" b="0" i="0" dirty="0">
                <a:solidFill>
                  <a:srgbClr val="009900"/>
                </a:solidFill>
                <a:effectLst/>
                <a:latin typeface="Merriweather"/>
              </a:rPr>
              <a:t>(</a:t>
            </a:r>
            <a:r>
              <a:rPr lang="en-US" b="0" i="0" dirty="0">
                <a:solidFill>
                  <a:srgbClr val="110000"/>
                </a:solidFill>
                <a:effectLst/>
                <a:latin typeface="Merriweather"/>
              </a:rPr>
              <a:t>password, </a:t>
            </a:r>
            <a:r>
              <a:rPr lang="en-US" b="0" i="0" dirty="0">
                <a:solidFill>
                  <a:srgbClr val="CC66CC"/>
                </a:solidFill>
                <a:effectLst/>
                <a:latin typeface="Merriweather"/>
              </a:rPr>
              <a:t>0</a:t>
            </a:r>
            <a:r>
              <a:rPr lang="en-US" b="0" i="0" dirty="0">
                <a:solidFill>
                  <a:srgbClr val="110000"/>
                </a:solidFill>
                <a:effectLst/>
                <a:latin typeface="Merriweather"/>
              </a:rPr>
              <a:t>, </a:t>
            </a:r>
            <a:r>
              <a:rPr lang="en-US" b="0" i="0" dirty="0">
                <a:solidFill>
                  <a:srgbClr val="CC66CC"/>
                </a:solidFill>
                <a:effectLst/>
                <a:latin typeface="Merriweather"/>
              </a:rPr>
              <a:t>1</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003399"/>
                </a:solidFill>
                <a:effectLst/>
                <a:latin typeface="Merriweather"/>
              </a:rPr>
              <a:t>TextField</a:t>
            </a:r>
            <a:r>
              <a:rPr lang="en-US" b="0" i="0" dirty="0">
                <a:solidFill>
                  <a:srgbClr val="110000"/>
                </a:solidFill>
                <a:effectLst/>
                <a:latin typeface="Merriweather"/>
              </a:rPr>
              <a:t> text2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err="1">
                <a:solidFill>
                  <a:srgbClr val="003399"/>
                </a:solidFill>
                <a:effectLst/>
                <a:latin typeface="Merriweather"/>
              </a:rPr>
              <a:t>TextField</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text2.</a:t>
            </a:r>
            <a:r>
              <a:rPr lang="en-US" b="0" i="0" dirty="0">
                <a:solidFill>
                  <a:srgbClr val="006633"/>
                </a:solidFill>
                <a:effectLst/>
                <a:latin typeface="Merriweather"/>
              </a:rPr>
              <a:t>setPrefColumnCount</a:t>
            </a:r>
            <a:r>
              <a:rPr lang="en-US" b="0" i="0" dirty="0">
                <a:solidFill>
                  <a:srgbClr val="009900"/>
                </a:solidFill>
                <a:effectLst/>
                <a:latin typeface="Merriweather"/>
              </a:rPr>
              <a:t>(</a:t>
            </a:r>
            <a:r>
              <a:rPr lang="en-US" b="0" i="0" dirty="0">
                <a:solidFill>
                  <a:srgbClr val="CC66CC"/>
                </a:solidFill>
                <a:effectLst/>
                <a:latin typeface="Merriweather"/>
              </a:rPr>
              <a:t>10</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grid.</a:t>
            </a:r>
            <a:r>
              <a:rPr lang="en-US" b="0" i="0" dirty="0" err="1">
                <a:solidFill>
                  <a:srgbClr val="006633"/>
                </a:solidFill>
                <a:effectLst/>
                <a:latin typeface="Merriweather"/>
              </a:rPr>
              <a:t>add</a:t>
            </a:r>
            <a:r>
              <a:rPr lang="en-US" b="0" i="0" dirty="0">
                <a:solidFill>
                  <a:srgbClr val="009900"/>
                </a:solidFill>
                <a:effectLst/>
                <a:latin typeface="Merriweather"/>
              </a:rPr>
              <a:t>(</a:t>
            </a:r>
            <a:r>
              <a:rPr lang="en-US" b="0" i="0" dirty="0">
                <a:solidFill>
                  <a:srgbClr val="110000"/>
                </a:solidFill>
                <a:effectLst/>
                <a:latin typeface="Merriweather"/>
              </a:rPr>
              <a:t>text2, </a:t>
            </a:r>
            <a:r>
              <a:rPr lang="en-US" b="0" i="0" dirty="0">
                <a:solidFill>
                  <a:srgbClr val="CC66CC"/>
                </a:solidFill>
                <a:effectLst/>
                <a:latin typeface="Merriweather"/>
              </a:rPr>
              <a:t>1</a:t>
            </a:r>
            <a:r>
              <a:rPr lang="en-US" b="0" i="0" dirty="0">
                <a:solidFill>
                  <a:srgbClr val="110000"/>
                </a:solidFill>
                <a:effectLst/>
                <a:latin typeface="Merriweather"/>
              </a:rPr>
              <a:t>, </a:t>
            </a:r>
            <a:r>
              <a:rPr lang="en-US" b="0" i="0" dirty="0">
                <a:solidFill>
                  <a:srgbClr val="CC66CC"/>
                </a:solidFill>
                <a:effectLst/>
                <a:latin typeface="Merriweather"/>
              </a:rPr>
              <a:t>1</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grid.</a:t>
            </a:r>
            <a:r>
              <a:rPr lang="en-US" b="0" i="0" dirty="0" err="1">
                <a:solidFill>
                  <a:srgbClr val="006633"/>
                </a:solidFill>
                <a:effectLst/>
                <a:latin typeface="Merriweather"/>
              </a:rPr>
              <a:t>setStyle</a:t>
            </a:r>
            <a:r>
              <a:rPr lang="en-US" b="0" i="0" dirty="0">
                <a:solidFill>
                  <a:srgbClr val="009900"/>
                </a:solidFill>
                <a:effectLst/>
                <a:latin typeface="Merriweather"/>
              </a:rPr>
              <a:t>(</a:t>
            </a:r>
            <a:r>
              <a:rPr lang="en-US" b="0" i="0" dirty="0">
                <a:solidFill>
                  <a:srgbClr val="0000FF"/>
                </a:solidFill>
                <a:effectLst/>
                <a:latin typeface="Merriweather"/>
              </a:rPr>
              <a:t>"-</a:t>
            </a:r>
            <a:r>
              <a:rPr lang="en-US" b="0" i="0" dirty="0" err="1">
                <a:solidFill>
                  <a:srgbClr val="0000FF"/>
                </a:solidFill>
                <a:effectLst/>
                <a:latin typeface="Merriweather"/>
              </a:rPr>
              <a:t>fx</a:t>
            </a:r>
            <a:r>
              <a:rPr lang="en-US" b="0" i="0" dirty="0">
                <a:solidFill>
                  <a:srgbClr val="0000FF"/>
                </a:solidFill>
                <a:effectLst/>
                <a:latin typeface="Merriweather"/>
              </a:rPr>
              <a:t>-background-color: #D8BFD8;"</a:t>
            </a:r>
            <a:r>
              <a:rPr lang="en-US" b="0" i="0" dirty="0">
                <a:solidFill>
                  <a:srgbClr val="009900"/>
                </a:solidFill>
                <a:effectLst/>
                <a:latin typeface="Merriweather"/>
              </a:rPr>
              <a:t>)</a:t>
            </a:r>
            <a:r>
              <a:rPr lang="en-US" b="0" i="0" dirty="0">
                <a:solidFill>
                  <a:srgbClr val="339933"/>
                </a:solidFill>
                <a:effectLst/>
                <a:latin typeface="Merriweather"/>
              </a:rPr>
              <a:t>;</a:t>
            </a:r>
            <a:endParaRPr lang="en-US" b="0" i="0" dirty="0">
              <a:solidFill>
                <a:srgbClr val="110000"/>
              </a:solidFill>
              <a:effectLst/>
              <a:latin typeface="Merriweather"/>
            </a:endParaRPr>
          </a:p>
          <a:p>
            <a:pPr algn="l"/>
            <a:r>
              <a:rPr lang="en-US" b="1" i="0" dirty="0" err="1">
                <a:solidFill>
                  <a:srgbClr val="222222"/>
                </a:solidFill>
                <a:effectLst/>
                <a:latin typeface="Merriweather"/>
              </a:rPr>
              <a:t>FlowPane</a:t>
            </a:r>
            <a:endParaRPr lang="en-US" b="0" i="0" dirty="0">
              <a:solidFill>
                <a:srgbClr val="222222"/>
              </a:solidFill>
              <a:effectLst/>
              <a:latin typeface="Merriweather"/>
            </a:endParaRPr>
          </a:p>
          <a:p>
            <a:pPr algn="l"/>
            <a:r>
              <a:rPr lang="en-US" b="0" i="0" dirty="0">
                <a:solidFill>
                  <a:srgbClr val="222222"/>
                </a:solidFill>
                <a:effectLst/>
                <a:latin typeface="Merriweather"/>
              </a:rPr>
              <a:t>Flow Pane lays all nodes one after an other in the order they were added.</a:t>
            </a:r>
          </a:p>
          <a:p>
            <a:pPr algn="l"/>
            <a:r>
              <a:rPr lang="en-US" b="0" i="0" dirty="0" err="1">
                <a:solidFill>
                  <a:srgbClr val="110000"/>
                </a:solidFill>
                <a:effectLst/>
                <a:latin typeface="Merriweather"/>
              </a:rPr>
              <a:t>FlowPane</a:t>
            </a:r>
            <a:r>
              <a:rPr lang="en-US" b="0" i="0" dirty="0">
                <a:solidFill>
                  <a:srgbClr val="110000"/>
                </a:solidFill>
                <a:effectLst/>
                <a:latin typeface="Merriweather"/>
              </a:rPr>
              <a:t> flow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err="1">
                <a:solidFill>
                  <a:srgbClr val="110000"/>
                </a:solidFill>
                <a:effectLst/>
                <a:latin typeface="Merriweather"/>
              </a:rPr>
              <a:t>FlowPane</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flow.</a:t>
            </a:r>
            <a:r>
              <a:rPr lang="en-US" b="0" i="0" dirty="0" err="1">
                <a:solidFill>
                  <a:srgbClr val="006633"/>
                </a:solidFill>
                <a:effectLst/>
                <a:latin typeface="Merriweather"/>
              </a:rPr>
              <a:t>setPadding</a:t>
            </a:r>
            <a:r>
              <a:rPr lang="en-US" b="0" i="0" dirty="0">
                <a:solidFill>
                  <a:srgbClr val="009900"/>
                </a:solidFill>
                <a:effectLst/>
                <a:latin typeface="Merriweather"/>
              </a:rPr>
              <a:t>(</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a:solidFill>
                  <a:srgbClr val="003399"/>
                </a:solidFill>
                <a:effectLst/>
                <a:latin typeface="Merriweather"/>
              </a:rPr>
              <a:t>Insets</a:t>
            </a:r>
            <a:r>
              <a:rPr lang="en-US" b="0" i="0" dirty="0">
                <a:solidFill>
                  <a:srgbClr val="009900"/>
                </a:solidFill>
                <a:effectLst/>
                <a:latin typeface="Merriweather"/>
              </a:rPr>
              <a:t>(</a:t>
            </a:r>
            <a:r>
              <a:rPr lang="en-US" b="0" i="0" dirty="0">
                <a:solidFill>
                  <a:srgbClr val="CC66CC"/>
                </a:solidFill>
                <a:effectLst/>
                <a:latin typeface="Merriweather"/>
              </a:rPr>
              <a:t>10</a:t>
            </a:r>
            <a:r>
              <a:rPr lang="en-US" b="0" i="0" dirty="0">
                <a:solidFill>
                  <a:srgbClr val="110000"/>
                </a:solidFill>
                <a:effectLst/>
                <a:latin typeface="Merriweather"/>
              </a:rPr>
              <a:t>, </a:t>
            </a:r>
            <a:r>
              <a:rPr lang="en-US" b="0" i="0" dirty="0">
                <a:solidFill>
                  <a:srgbClr val="CC66CC"/>
                </a:solidFill>
                <a:effectLst/>
                <a:latin typeface="Merriweather"/>
              </a:rPr>
              <a:t>10</a:t>
            </a:r>
            <a:r>
              <a:rPr lang="en-US" b="0" i="0" dirty="0">
                <a:solidFill>
                  <a:srgbClr val="110000"/>
                </a:solidFill>
                <a:effectLst/>
                <a:latin typeface="Merriweather"/>
              </a:rPr>
              <a:t>, </a:t>
            </a:r>
            <a:r>
              <a:rPr lang="en-US" b="0" i="0" dirty="0">
                <a:solidFill>
                  <a:srgbClr val="CC66CC"/>
                </a:solidFill>
                <a:effectLst/>
                <a:latin typeface="Merriweather"/>
              </a:rPr>
              <a:t>10</a:t>
            </a:r>
            <a:r>
              <a:rPr lang="en-US" b="0" i="0" dirty="0">
                <a:solidFill>
                  <a:srgbClr val="110000"/>
                </a:solidFill>
                <a:effectLst/>
                <a:latin typeface="Merriweather"/>
              </a:rPr>
              <a:t>, </a:t>
            </a:r>
            <a:r>
              <a:rPr lang="en-US" b="0" i="0" dirty="0">
                <a:solidFill>
                  <a:srgbClr val="CC66CC"/>
                </a:solidFill>
                <a:effectLst/>
                <a:latin typeface="Merriweather"/>
              </a:rPr>
              <a:t>10</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flow.</a:t>
            </a:r>
            <a:r>
              <a:rPr lang="en-US" b="0" i="0" dirty="0" err="1">
                <a:solidFill>
                  <a:srgbClr val="006633"/>
                </a:solidFill>
                <a:effectLst/>
                <a:latin typeface="Merriweather"/>
              </a:rPr>
              <a:t>setStyle</a:t>
            </a:r>
            <a:r>
              <a:rPr lang="en-US" b="0" i="0" dirty="0">
                <a:solidFill>
                  <a:srgbClr val="009900"/>
                </a:solidFill>
                <a:effectLst/>
                <a:latin typeface="Merriweather"/>
              </a:rPr>
              <a:t>(</a:t>
            </a:r>
            <a:r>
              <a:rPr lang="en-US" b="0" i="0" dirty="0">
                <a:solidFill>
                  <a:srgbClr val="0000FF"/>
                </a:solidFill>
                <a:effectLst/>
                <a:latin typeface="Merriweather"/>
              </a:rPr>
              <a:t>"-</a:t>
            </a:r>
            <a:r>
              <a:rPr lang="en-US" b="0" i="0" dirty="0" err="1">
                <a:solidFill>
                  <a:srgbClr val="0000FF"/>
                </a:solidFill>
                <a:effectLst/>
                <a:latin typeface="Merriweather"/>
              </a:rPr>
              <a:t>fx</a:t>
            </a:r>
            <a:r>
              <a:rPr lang="en-US" b="0" i="0" dirty="0">
                <a:solidFill>
                  <a:srgbClr val="0000FF"/>
                </a:solidFill>
                <a:effectLst/>
                <a:latin typeface="Merriweather"/>
              </a:rPr>
              <a:t>-background-color: DAE6F3;"</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flow.</a:t>
            </a:r>
            <a:r>
              <a:rPr lang="en-US" b="0" i="0" dirty="0" err="1">
                <a:solidFill>
                  <a:srgbClr val="006633"/>
                </a:solidFill>
                <a:effectLst/>
                <a:latin typeface="Merriweather"/>
              </a:rPr>
              <a:t>setHgap</a:t>
            </a:r>
            <a:r>
              <a:rPr lang="en-US" b="0" i="0" dirty="0">
                <a:solidFill>
                  <a:srgbClr val="009900"/>
                </a:solidFill>
                <a:effectLst/>
                <a:latin typeface="Merriweather"/>
              </a:rPr>
              <a:t>(</a:t>
            </a:r>
            <a:r>
              <a:rPr lang="en-US" b="0" i="0" dirty="0">
                <a:solidFill>
                  <a:srgbClr val="CC66CC"/>
                </a:solidFill>
                <a:effectLst/>
                <a:latin typeface="Merriweather"/>
              </a:rPr>
              <a:t>5</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flow.</a:t>
            </a:r>
            <a:r>
              <a:rPr lang="en-US" b="0" i="0" dirty="0" err="1">
                <a:solidFill>
                  <a:srgbClr val="006633"/>
                </a:solidFill>
                <a:effectLst/>
                <a:latin typeface="Merriweather"/>
              </a:rPr>
              <a:t>getChildren</a:t>
            </a:r>
            <a:r>
              <a:rPr lang="en-US" b="0" i="0" dirty="0">
                <a:solidFill>
                  <a:srgbClr val="009900"/>
                </a:solidFill>
                <a:effectLst/>
                <a:latin typeface="Merriweather"/>
              </a:rPr>
              <a:t>()</a:t>
            </a:r>
            <a:r>
              <a:rPr lang="en-US" b="0" i="0" dirty="0">
                <a:solidFill>
                  <a:srgbClr val="110000"/>
                </a:solidFill>
                <a:effectLst/>
                <a:latin typeface="Merriweather"/>
              </a:rPr>
              <a:t>.</a:t>
            </a:r>
            <a:r>
              <a:rPr lang="en-US" b="0" i="0" dirty="0" err="1">
                <a:solidFill>
                  <a:srgbClr val="006633"/>
                </a:solidFill>
                <a:effectLst/>
                <a:latin typeface="Merriweather"/>
              </a:rPr>
              <a:t>addAll</a:t>
            </a:r>
            <a:r>
              <a:rPr lang="en-US" b="0" i="0" dirty="0">
                <a:solidFill>
                  <a:srgbClr val="009900"/>
                </a:solidFill>
                <a:effectLst/>
                <a:latin typeface="Merriweather"/>
              </a:rPr>
              <a:t>(</a:t>
            </a:r>
            <a:r>
              <a:rPr lang="en-US" b="0" i="0" dirty="0">
                <a:solidFill>
                  <a:srgbClr val="110000"/>
                </a:solidFill>
                <a:effectLst/>
                <a:latin typeface="Merriweather"/>
              </a:rPr>
              <a:t>left, center</a:t>
            </a:r>
            <a:r>
              <a:rPr lang="en-US" b="0" i="0" dirty="0">
                <a:solidFill>
                  <a:srgbClr val="009900"/>
                </a:solidFill>
                <a:effectLst/>
                <a:latin typeface="Merriweather"/>
              </a:rPr>
              <a:t>)</a:t>
            </a:r>
            <a:r>
              <a:rPr lang="en-US" b="0" i="0" dirty="0">
                <a:solidFill>
                  <a:srgbClr val="339933"/>
                </a:solidFill>
                <a:effectLst/>
                <a:latin typeface="Merriweather"/>
              </a:rPr>
              <a:t>;</a:t>
            </a:r>
            <a:endParaRPr lang="en-US" b="0" i="0" dirty="0">
              <a:solidFill>
                <a:srgbClr val="110000"/>
              </a:solidFill>
              <a:effectLst/>
              <a:latin typeface="Merriweather"/>
            </a:endParaRPr>
          </a:p>
          <a:p>
            <a:pPr algn="l"/>
            <a:r>
              <a:rPr lang="en-US" b="1" i="0" dirty="0" err="1">
                <a:solidFill>
                  <a:srgbClr val="222222"/>
                </a:solidFill>
                <a:effectLst/>
                <a:latin typeface="Merriweather"/>
              </a:rPr>
              <a:t>TilePane</a:t>
            </a:r>
            <a:endParaRPr lang="en-US" b="0" i="0" dirty="0">
              <a:solidFill>
                <a:srgbClr val="222222"/>
              </a:solidFill>
              <a:effectLst/>
              <a:latin typeface="Merriweather"/>
            </a:endParaRPr>
          </a:p>
          <a:p>
            <a:pPr algn="l"/>
            <a:r>
              <a:rPr lang="en-US" b="0" i="0" dirty="0" err="1">
                <a:solidFill>
                  <a:srgbClr val="222222"/>
                </a:solidFill>
                <a:effectLst/>
                <a:latin typeface="Merriweather"/>
              </a:rPr>
              <a:t>TilePane</a:t>
            </a:r>
            <a:r>
              <a:rPr lang="en-US" b="0" i="0" dirty="0">
                <a:solidFill>
                  <a:srgbClr val="222222"/>
                </a:solidFill>
                <a:effectLst/>
                <a:latin typeface="Merriweather"/>
              </a:rPr>
              <a:t> is similar to the flow pane. All nodes are placed in a grid in the same order they were added.</a:t>
            </a:r>
          </a:p>
          <a:p>
            <a:pPr algn="l"/>
            <a:r>
              <a:rPr lang="en-US" b="0" i="0" dirty="0" err="1">
                <a:solidFill>
                  <a:srgbClr val="110000"/>
                </a:solidFill>
                <a:effectLst/>
                <a:latin typeface="Merriweather"/>
              </a:rPr>
              <a:t>TilePane</a:t>
            </a:r>
            <a:r>
              <a:rPr lang="en-US" b="0" i="0" dirty="0">
                <a:solidFill>
                  <a:srgbClr val="110000"/>
                </a:solidFill>
                <a:effectLst/>
                <a:latin typeface="Merriweather"/>
              </a:rPr>
              <a:t> tile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err="1">
                <a:solidFill>
                  <a:srgbClr val="110000"/>
                </a:solidFill>
                <a:effectLst/>
                <a:latin typeface="Merriweather"/>
              </a:rPr>
              <a:t>TilePane</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tile.</a:t>
            </a:r>
            <a:r>
              <a:rPr lang="en-US" b="0" i="0" dirty="0" err="1">
                <a:solidFill>
                  <a:srgbClr val="006633"/>
                </a:solidFill>
                <a:effectLst/>
                <a:latin typeface="Merriweather"/>
              </a:rPr>
              <a:t>setPadding</a:t>
            </a:r>
            <a:r>
              <a:rPr lang="en-US" b="0" i="0" dirty="0">
                <a:solidFill>
                  <a:srgbClr val="009900"/>
                </a:solidFill>
                <a:effectLst/>
                <a:latin typeface="Merriweather"/>
              </a:rPr>
              <a:t>(</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a:solidFill>
                  <a:srgbClr val="003399"/>
                </a:solidFill>
                <a:effectLst/>
                <a:latin typeface="Merriweather"/>
              </a:rPr>
              <a:t>Insets</a:t>
            </a:r>
            <a:r>
              <a:rPr lang="en-US" b="0" i="0" dirty="0">
                <a:solidFill>
                  <a:srgbClr val="009900"/>
                </a:solidFill>
                <a:effectLst/>
                <a:latin typeface="Merriweather"/>
              </a:rPr>
              <a:t>(</a:t>
            </a:r>
            <a:r>
              <a:rPr lang="en-US" b="0" i="0" dirty="0">
                <a:solidFill>
                  <a:srgbClr val="CC66CC"/>
                </a:solidFill>
                <a:effectLst/>
                <a:latin typeface="Merriweather"/>
              </a:rPr>
              <a:t>10</a:t>
            </a:r>
            <a:r>
              <a:rPr lang="en-US" b="0" i="0" dirty="0">
                <a:solidFill>
                  <a:srgbClr val="110000"/>
                </a:solidFill>
                <a:effectLst/>
                <a:latin typeface="Merriweather"/>
              </a:rPr>
              <a:t>, </a:t>
            </a:r>
            <a:r>
              <a:rPr lang="en-US" b="0" i="0" dirty="0">
                <a:solidFill>
                  <a:srgbClr val="CC66CC"/>
                </a:solidFill>
                <a:effectLst/>
                <a:latin typeface="Merriweather"/>
              </a:rPr>
              <a:t>10</a:t>
            </a:r>
            <a:r>
              <a:rPr lang="en-US" b="0" i="0" dirty="0">
                <a:solidFill>
                  <a:srgbClr val="110000"/>
                </a:solidFill>
                <a:effectLst/>
                <a:latin typeface="Merriweather"/>
              </a:rPr>
              <a:t>, </a:t>
            </a:r>
            <a:r>
              <a:rPr lang="en-US" b="0" i="0" dirty="0">
                <a:solidFill>
                  <a:srgbClr val="CC66CC"/>
                </a:solidFill>
                <a:effectLst/>
                <a:latin typeface="Merriweather"/>
              </a:rPr>
              <a:t>10</a:t>
            </a:r>
            <a:r>
              <a:rPr lang="en-US" b="0" i="0" dirty="0">
                <a:solidFill>
                  <a:srgbClr val="110000"/>
                </a:solidFill>
                <a:effectLst/>
                <a:latin typeface="Merriweather"/>
              </a:rPr>
              <a:t>, </a:t>
            </a:r>
            <a:r>
              <a:rPr lang="en-US" b="0" i="0" dirty="0">
                <a:solidFill>
                  <a:srgbClr val="CC66CC"/>
                </a:solidFill>
                <a:effectLst/>
                <a:latin typeface="Merriweather"/>
              </a:rPr>
              <a:t>10</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tile.</a:t>
            </a:r>
            <a:r>
              <a:rPr lang="en-US" b="0" i="0" dirty="0" err="1">
                <a:solidFill>
                  <a:srgbClr val="006633"/>
                </a:solidFill>
                <a:effectLst/>
                <a:latin typeface="Merriweather"/>
              </a:rPr>
              <a:t>setPrefColumns</a:t>
            </a:r>
            <a:r>
              <a:rPr lang="en-US" b="0" i="0" dirty="0">
                <a:solidFill>
                  <a:srgbClr val="009900"/>
                </a:solidFill>
                <a:effectLst/>
                <a:latin typeface="Merriweather"/>
              </a:rPr>
              <a:t>(</a:t>
            </a:r>
            <a:r>
              <a:rPr lang="en-US" b="0" i="0" dirty="0">
                <a:solidFill>
                  <a:srgbClr val="CC66CC"/>
                </a:solidFill>
                <a:effectLst/>
                <a:latin typeface="Merriweather"/>
              </a:rPr>
              <a:t>2</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tile.</a:t>
            </a:r>
            <a:r>
              <a:rPr lang="en-US" b="0" i="0" dirty="0" err="1">
                <a:solidFill>
                  <a:srgbClr val="006633"/>
                </a:solidFill>
                <a:effectLst/>
                <a:latin typeface="Merriweather"/>
              </a:rPr>
              <a:t>setStyle</a:t>
            </a:r>
            <a:r>
              <a:rPr lang="en-US" b="0" i="0" dirty="0">
                <a:solidFill>
                  <a:srgbClr val="009900"/>
                </a:solidFill>
                <a:effectLst/>
                <a:latin typeface="Merriweather"/>
              </a:rPr>
              <a:t>(</a:t>
            </a:r>
            <a:r>
              <a:rPr lang="en-US" b="0" i="0" dirty="0">
                <a:solidFill>
                  <a:srgbClr val="0000FF"/>
                </a:solidFill>
                <a:effectLst/>
                <a:latin typeface="Merriweather"/>
              </a:rPr>
              <a:t>"-</a:t>
            </a:r>
            <a:r>
              <a:rPr lang="en-US" b="0" i="0" dirty="0" err="1">
                <a:solidFill>
                  <a:srgbClr val="0000FF"/>
                </a:solidFill>
                <a:effectLst/>
                <a:latin typeface="Merriweather"/>
              </a:rPr>
              <a:t>fx</a:t>
            </a:r>
            <a:r>
              <a:rPr lang="en-US" b="0" i="0" dirty="0">
                <a:solidFill>
                  <a:srgbClr val="0000FF"/>
                </a:solidFill>
                <a:effectLst/>
                <a:latin typeface="Merriweather"/>
              </a:rPr>
              <a:t>-background-color: #CD5C5C;"</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HBox</a:t>
            </a:r>
            <a:r>
              <a:rPr lang="en-US" b="0" i="0" dirty="0">
                <a:solidFill>
                  <a:srgbClr val="110000"/>
                </a:solidFill>
                <a:effectLst/>
                <a:latin typeface="Merriweather"/>
              </a:rPr>
              <a:t> hbox2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err="1">
                <a:solidFill>
                  <a:srgbClr val="110000"/>
                </a:solidFill>
                <a:effectLst/>
                <a:latin typeface="Merriweather"/>
              </a:rPr>
              <a:t>HBox</a:t>
            </a:r>
            <a:r>
              <a:rPr lang="en-US" b="0" i="0" dirty="0">
                <a:solidFill>
                  <a:srgbClr val="009900"/>
                </a:solidFill>
                <a:effectLst/>
                <a:latin typeface="Merriweather"/>
              </a:rPr>
              <a:t>(</a:t>
            </a:r>
            <a:r>
              <a:rPr lang="en-US" b="0" i="0" dirty="0">
                <a:solidFill>
                  <a:srgbClr val="CC66CC"/>
                </a:solidFill>
                <a:effectLst/>
                <a:latin typeface="Merriweather"/>
              </a:rPr>
              <a:t>8</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1" dirty="0">
                <a:solidFill>
                  <a:srgbClr val="666666"/>
                </a:solidFill>
                <a:effectLst/>
                <a:latin typeface="Merriweather"/>
              </a:rPr>
              <a:t>// spacing = 8</a:t>
            </a:r>
            <a:r>
              <a:rPr lang="en-US" b="0" i="0" dirty="0">
                <a:solidFill>
                  <a:srgbClr val="110000"/>
                </a:solidFill>
                <a:effectLst/>
                <a:latin typeface="Merriweather"/>
              </a:rPr>
              <a:t> hbox2.</a:t>
            </a:r>
            <a:r>
              <a:rPr lang="en-US" b="0" i="0" dirty="0">
                <a:solidFill>
                  <a:srgbClr val="006633"/>
                </a:solidFill>
                <a:effectLst/>
                <a:latin typeface="Merriweather"/>
              </a:rPr>
              <a:t>getChildren</a:t>
            </a:r>
            <a:r>
              <a:rPr lang="en-US" b="0" i="0" dirty="0">
                <a:solidFill>
                  <a:srgbClr val="009900"/>
                </a:solidFill>
                <a:effectLst/>
                <a:latin typeface="Merriweather"/>
              </a:rPr>
              <a:t>()</a:t>
            </a:r>
            <a:r>
              <a:rPr lang="en-US" b="0" i="0" dirty="0">
                <a:solidFill>
                  <a:srgbClr val="110000"/>
                </a:solidFill>
                <a:effectLst/>
                <a:latin typeface="Merriweather"/>
              </a:rPr>
              <a:t>.</a:t>
            </a:r>
            <a:r>
              <a:rPr lang="en-US" b="0" i="0" dirty="0" err="1">
                <a:solidFill>
                  <a:srgbClr val="006633"/>
                </a:solidFill>
                <a:effectLst/>
                <a:latin typeface="Merriweather"/>
              </a:rPr>
              <a:t>addAll</a:t>
            </a:r>
            <a:r>
              <a:rPr lang="en-US" b="0" i="0" dirty="0">
                <a:solidFill>
                  <a:srgbClr val="009900"/>
                </a:solidFill>
                <a:effectLst/>
                <a:latin typeface="Merriweather"/>
              </a:rPr>
              <a:t>(</a:t>
            </a:r>
            <a:r>
              <a:rPr lang="en-US" b="0" i="0" dirty="0">
                <a:solidFill>
                  <a:srgbClr val="110000"/>
                </a:solidFill>
                <a:effectLst/>
                <a:latin typeface="Merriweather"/>
              </a:rPr>
              <a:t>top, left, center</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tile.</a:t>
            </a:r>
            <a:r>
              <a:rPr lang="en-US" b="0" i="0" dirty="0" err="1">
                <a:solidFill>
                  <a:srgbClr val="006633"/>
                </a:solidFill>
                <a:effectLst/>
                <a:latin typeface="Merriweather"/>
              </a:rPr>
              <a:t>getChildren</a:t>
            </a:r>
            <a:r>
              <a:rPr lang="en-US" b="0" i="0" dirty="0">
                <a:solidFill>
                  <a:srgbClr val="009900"/>
                </a:solidFill>
                <a:effectLst/>
                <a:latin typeface="Merriweather"/>
              </a:rPr>
              <a:t>()</a:t>
            </a:r>
            <a:r>
              <a:rPr lang="en-US" b="0" i="0" dirty="0">
                <a:solidFill>
                  <a:srgbClr val="110000"/>
                </a:solidFill>
                <a:effectLst/>
                <a:latin typeface="Merriweather"/>
              </a:rPr>
              <a:t>.</a:t>
            </a:r>
            <a:r>
              <a:rPr lang="en-US" b="0" i="0" dirty="0">
                <a:solidFill>
                  <a:srgbClr val="006633"/>
                </a:solidFill>
                <a:effectLst/>
                <a:latin typeface="Merriweather"/>
              </a:rPr>
              <a:t>add</a:t>
            </a:r>
            <a:r>
              <a:rPr lang="en-US" b="0" i="0" dirty="0">
                <a:solidFill>
                  <a:srgbClr val="009900"/>
                </a:solidFill>
                <a:effectLst/>
                <a:latin typeface="Merriweather"/>
              </a:rPr>
              <a:t>(</a:t>
            </a:r>
            <a:r>
              <a:rPr lang="en-US" b="0" i="0" dirty="0">
                <a:solidFill>
                  <a:srgbClr val="110000"/>
                </a:solidFill>
                <a:effectLst/>
                <a:latin typeface="Merriweather"/>
              </a:rPr>
              <a:t>hbox2</a:t>
            </a:r>
            <a:r>
              <a:rPr lang="en-US" b="0" i="0" dirty="0">
                <a:solidFill>
                  <a:srgbClr val="009900"/>
                </a:solidFill>
                <a:effectLst/>
                <a:latin typeface="Merriweather"/>
              </a:rPr>
              <a:t>)</a:t>
            </a:r>
            <a:r>
              <a:rPr lang="en-US" b="0" i="0" dirty="0">
                <a:solidFill>
                  <a:srgbClr val="339933"/>
                </a:solidFill>
                <a:effectLst/>
                <a:latin typeface="Merriweather"/>
              </a:rPr>
              <a:t>;</a:t>
            </a:r>
            <a:endParaRPr lang="en-US" b="0" i="0" dirty="0">
              <a:solidFill>
                <a:srgbClr val="110000"/>
              </a:solidFill>
              <a:effectLst/>
              <a:latin typeface="Merriweather"/>
            </a:endParaRPr>
          </a:p>
          <a:p>
            <a:pPr algn="l"/>
            <a:r>
              <a:rPr lang="en-US" b="1" i="0" dirty="0" err="1">
                <a:solidFill>
                  <a:srgbClr val="222222"/>
                </a:solidFill>
                <a:effectLst/>
                <a:latin typeface="Merriweather"/>
              </a:rPr>
              <a:t>AnchorPane</a:t>
            </a:r>
            <a:endParaRPr lang="en-US" b="0" i="0" dirty="0">
              <a:solidFill>
                <a:srgbClr val="222222"/>
              </a:solidFill>
              <a:effectLst/>
              <a:latin typeface="Merriweather"/>
            </a:endParaRPr>
          </a:p>
          <a:p>
            <a:pPr algn="l"/>
            <a:r>
              <a:rPr lang="en-US" b="0" i="0" dirty="0" err="1">
                <a:solidFill>
                  <a:srgbClr val="222222"/>
                </a:solidFill>
                <a:effectLst/>
                <a:latin typeface="Merriweather"/>
              </a:rPr>
              <a:t>AnchorPane</a:t>
            </a:r>
            <a:r>
              <a:rPr lang="en-US" b="0" i="0" dirty="0">
                <a:solidFill>
                  <a:srgbClr val="222222"/>
                </a:solidFill>
                <a:effectLst/>
                <a:latin typeface="Merriweather"/>
              </a:rPr>
              <a:t> allows you to position nodes in the top, bottom, left side, right side, or center of the pane.</a:t>
            </a:r>
          </a:p>
          <a:p>
            <a:pPr algn="l"/>
            <a:r>
              <a:rPr lang="en-US" b="0" i="0" dirty="0" err="1">
                <a:solidFill>
                  <a:srgbClr val="110000"/>
                </a:solidFill>
                <a:effectLst/>
                <a:latin typeface="Merriweather"/>
              </a:rPr>
              <a:t>AnchorPane</a:t>
            </a:r>
            <a:r>
              <a:rPr lang="en-US" b="0" i="0" dirty="0">
                <a:solidFill>
                  <a:srgbClr val="110000"/>
                </a:solidFill>
                <a:effectLst/>
                <a:latin typeface="Merriweather"/>
              </a:rPr>
              <a:t> </a:t>
            </a:r>
            <a:r>
              <a:rPr lang="en-US" b="0" i="0" dirty="0" err="1">
                <a:solidFill>
                  <a:srgbClr val="110000"/>
                </a:solidFill>
                <a:effectLst/>
                <a:latin typeface="Merriweather"/>
              </a:rPr>
              <a:t>anchorpane</a:t>
            </a:r>
            <a:r>
              <a:rPr lang="en-US" b="0" i="0" dirty="0">
                <a:solidFill>
                  <a:srgbClr val="110000"/>
                </a:solidFill>
                <a:effectLst/>
                <a:latin typeface="Merriweather"/>
              </a:rPr>
              <a:t>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err="1">
                <a:solidFill>
                  <a:srgbClr val="110000"/>
                </a:solidFill>
                <a:effectLst/>
                <a:latin typeface="Merriweather"/>
              </a:rPr>
              <a:t>AnchorPane</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a:solidFill>
                  <a:srgbClr val="003399"/>
                </a:solidFill>
                <a:effectLst/>
                <a:latin typeface="Merriweather"/>
              </a:rPr>
              <a:t>Button</a:t>
            </a:r>
            <a:r>
              <a:rPr lang="en-US" b="0" i="0" dirty="0">
                <a:solidFill>
                  <a:srgbClr val="110000"/>
                </a:solidFill>
                <a:effectLst/>
                <a:latin typeface="Merriweather"/>
              </a:rPr>
              <a:t> </a:t>
            </a:r>
            <a:r>
              <a:rPr lang="en-US" b="0" i="0" dirty="0" err="1">
                <a:solidFill>
                  <a:srgbClr val="110000"/>
                </a:solidFill>
                <a:effectLst/>
                <a:latin typeface="Merriweather"/>
              </a:rPr>
              <a:t>buttonSave</a:t>
            </a:r>
            <a:r>
              <a:rPr lang="en-US" b="0" i="0" dirty="0">
                <a:solidFill>
                  <a:srgbClr val="110000"/>
                </a:solidFill>
                <a:effectLst/>
                <a:latin typeface="Merriweather"/>
              </a:rPr>
              <a:t>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a:solidFill>
                  <a:srgbClr val="003399"/>
                </a:solidFill>
                <a:effectLst/>
                <a:latin typeface="Merriweather"/>
              </a:rPr>
              <a:t>Button</a:t>
            </a:r>
            <a:r>
              <a:rPr lang="en-US" b="0" i="0" dirty="0">
                <a:solidFill>
                  <a:srgbClr val="009900"/>
                </a:solidFill>
                <a:effectLst/>
                <a:latin typeface="Merriweather"/>
              </a:rPr>
              <a:t>(</a:t>
            </a:r>
            <a:r>
              <a:rPr lang="en-US" b="0" i="0" dirty="0">
                <a:solidFill>
                  <a:srgbClr val="0000FF"/>
                </a:solidFill>
                <a:effectLst/>
                <a:latin typeface="Merriweather"/>
              </a:rPr>
              <a:t>"Save"</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a:solidFill>
                  <a:srgbClr val="003399"/>
                </a:solidFill>
                <a:effectLst/>
                <a:latin typeface="Merriweather"/>
              </a:rPr>
              <a:t>Button</a:t>
            </a:r>
            <a:r>
              <a:rPr lang="en-US" b="0" i="0" dirty="0">
                <a:solidFill>
                  <a:srgbClr val="110000"/>
                </a:solidFill>
                <a:effectLst/>
                <a:latin typeface="Merriweather"/>
              </a:rPr>
              <a:t> </a:t>
            </a:r>
            <a:r>
              <a:rPr lang="en-US" b="0" i="0" dirty="0" err="1">
                <a:solidFill>
                  <a:srgbClr val="110000"/>
                </a:solidFill>
                <a:effectLst/>
                <a:latin typeface="Merriweather"/>
              </a:rPr>
              <a:t>buttonCancel</a:t>
            </a:r>
            <a:r>
              <a:rPr lang="en-US" b="0" i="0" dirty="0">
                <a:solidFill>
                  <a:srgbClr val="110000"/>
                </a:solidFill>
                <a:effectLst/>
                <a:latin typeface="Merriweather"/>
              </a:rPr>
              <a:t>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a:solidFill>
                  <a:srgbClr val="003399"/>
                </a:solidFill>
                <a:effectLst/>
                <a:latin typeface="Merriweather"/>
              </a:rPr>
              <a:t>Button</a:t>
            </a:r>
            <a:r>
              <a:rPr lang="en-US" b="0" i="0" dirty="0">
                <a:solidFill>
                  <a:srgbClr val="009900"/>
                </a:solidFill>
                <a:effectLst/>
                <a:latin typeface="Merriweather"/>
              </a:rPr>
              <a:t>(</a:t>
            </a:r>
            <a:r>
              <a:rPr lang="en-US" b="0" i="0" dirty="0">
                <a:solidFill>
                  <a:srgbClr val="0000FF"/>
                </a:solidFill>
                <a:effectLst/>
                <a:latin typeface="Merriweather"/>
              </a:rPr>
              <a:t>"Cancel"</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anchorpane.</a:t>
            </a:r>
            <a:r>
              <a:rPr lang="en-US" b="0" i="0" dirty="0" err="1">
                <a:solidFill>
                  <a:srgbClr val="006633"/>
                </a:solidFill>
                <a:effectLst/>
                <a:latin typeface="Merriweather"/>
              </a:rPr>
              <a:t>setStyle</a:t>
            </a:r>
            <a:r>
              <a:rPr lang="en-US" b="0" i="0" dirty="0">
                <a:solidFill>
                  <a:srgbClr val="009900"/>
                </a:solidFill>
                <a:effectLst/>
                <a:latin typeface="Merriweather"/>
              </a:rPr>
              <a:t>(</a:t>
            </a:r>
            <a:r>
              <a:rPr lang="en-US" b="0" i="0" dirty="0">
                <a:solidFill>
                  <a:srgbClr val="0000FF"/>
                </a:solidFill>
                <a:effectLst/>
                <a:latin typeface="Merriweather"/>
              </a:rPr>
              <a:t>"-</a:t>
            </a:r>
            <a:r>
              <a:rPr lang="en-US" b="0" i="0" dirty="0" err="1">
                <a:solidFill>
                  <a:srgbClr val="0000FF"/>
                </a:solidFill>
                <a:effectLst/>
                <a:latin typeface="Merriweather"/>
              </a:rPr>
              <a:t>fx</a:t>
            </a:r>
            <a:r>
              <a:rPr lang="en-US" b="0" i="0" dirty="0">
                <a:solidFill>
                  <a:srgbClr val="0000FF"/>
                </a:solidFill>
                <a:effectLst/>
                <a:latin typeface="Merriweather"/>
              </a:rPr>
              <a:t>-background-color: #A9A9A9;"</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HBox</a:t>
            </a:r>
            <a:r>
              <a:rPr lang="en-US" b="0" i="0" dirty="0">
                <a:solidFill>
                  <a:srgbClr val="110000"/>
                </a:solidFill>
                <a:effectLst/>
                <a:latin typeface="Merriweather"/>
              </a:rPr>
              <a:t> </a:t>
            </a:r>
            <a:r>
              <a:rPr lang="en-US" b="0" i="0" dirty="0" err="1">
                <a:solidFill>
                  <a:srgbClr val="110000"/>
                </a:solidFill>
                <a:effectLst/>
                <a:latin typeface="Merriweather"/>
              </a:rPr>
              <a:t>hb</a:t>
            </a:r>
            <a:r>
              <a:rPr lang="en-US" b="0" i="0" dirty="0">
                <a:solidFill>
                  <a:srgbClr val="110000"/>
                </a:solidFill>
                <a:effectLst/>
                <a:latin typeface="Merriweather"/>
              </a:rPr>
              <a:t>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err="1">
                <a:solidFill>
                  <a:srgbClr val="110000"/>
                </a:solidFill>
                <a:effectLst/>
                <a:latin typeface="Merriweather"/>
              </a:rPr>
              <a:t>HBox</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hb.</a:t>
            </a:r>
            <a:r>
              <a:rPr lang="en-US" b="0" i="0" dirty="0" err="1">
                <a:solidFill>
                  <a:srgbClr val="006633"/>
                </a:solidFill>
                <a:effectLst/>
                <a:latin typeface="Merriweather"/>
              </a:rPr>
              <a:t>getChildren</a:t>
            </a:r>
            <a:r>
              <a:rPr lang="en-US" b="0" i="0" dirty="0">
                <a:solidFill>
                  <a:srgbClr val="009900"/>
                </a:solidFill>
                <a:effectLst/>
                <a:latin typeface="Merriweather"/>
              </a:rPr>
              <a:t>()</a:t>
            </a:r>
            <a:r>
              <a:rPr lang="en-US" b="0" i="0" dirty="0">
                <a:solidFill>
                  <a:srgbClr val="110000"/>
                </a:solidFill>
                <a:effectLst/>
                <a:latin typeface="Merriweather"/>
              </a:rPr>
              <a:t>.</a:t>
            </a:r>
            <a:r>
              <a:rPr lang="en-US" b="0" i="0" dirty="0" err="1">
                <a:solidFill>
                  <a:srgbClr val="006633"/>
                </a:solidFill>
                <a:effectLst/>
                <a:latin typeface="Merriweather"/>
              </a:rPr>
              <a:t>addAll</a:t>
            </a:r>
            <a:r>
              <a:rPr lang="en-US" b="0" i="0" dirty="0">
                <a:solidFill>
                  <a:srgbClr val="009900"/>
                </a:solidFill>
                <a:effectLst/>
                <a:latin typeface="Merriweather"/>
              </a:rPr>
              <a:t>(</a:t>
            </a:r>
            <a:r>
              <a:rPr lang="en-US" b="0" i="0" dirty="0" err="1">
                <a:solidFill>
                  <a:srgbClr val="110000"/>
                </a:solidFill>
                <a:effectLst/>
                <a:latin typeface="Merriweather"/>
              </a:rPr>
              <a:t>buttonSave</a:t>
            </a:r>
            <a:r>
              <a:rPr lang="en-US" b="0" i="0" dirty="0">
                <a:solidFill>
                  <a:srgbClr val="110000"/>
                </a:solidFill>
                <a:effectLst/>
                <a:latin typeface="Merriweather"/>
              </a:rPr>
              <a:t>, </a:t>
            </a:r>
            <a:r>
              <a:rPr lang="en-US" b="0" i="0" dirty="0" err="1">
                <a:solidFill>
                  <a:srgbClr val="110000"/>
                </a:solidFill>
                <a:effectLst/>
                <a:latin typeface="Merriweather"/>
              </a:rPr>
              <a:t>buttonCancel</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anchorpane.</a:t>
            </a:r>
            <a:r>
              <a:rPr lang="en-US" b="0" i="0" dirty="0" err="1">
                <a:solidFill>
                  <a:srgbClr val="006633"/>
                </a:solidFill>
                <a:effectLst/>
                <a:latin typeface="Merriweather"/>
              </a:rPr>
              <a:t>getChildren</a:t>
            </a:r>
            <a:r>
              <a:rPr lang="en-US" b="0" i="0" dirty="0">
                <a:solidFill>
                  <a:srgbClr val="009900"/>
                </a:solidFill>
                <a:effectLst/>
                <a:latin typeface="Merriweather"/>
              </a:rPr>
              <a:t>()</a:t>
            </a:r>
            <a:r>
              <a:rPr lang="en-US" b="0" i="0" dirty="0">
                <a:solidFill>
                  <a:srgbClr val="110000"/>
                </a:solidFill>
                <a:effectLst/>
                <a:latin typeface="Merriweather"/>
              </a:rPr>
              <a:t>.</a:t>
            </a:r>
            <a:r>
              <a:rPr lang="en-US" b="0" i="0" dirty="0" err="1">
                <a:solidFill>
                  <a:srgbClr val="006633"/>
                </a:solidFill>
                <a:effectLst/>
                <a:latin typeface="Merriweather"/>
              </a:rPr>
              <a:t>addAll</a:t>
            </a:r>
            <a:r>
              <a:rPr lang="en-US" b="0" i="0" dirty="0">
                <a:solidFill>
                  <a:srgbClr val="009900"/>
                </a:solidFill>
                <a:effectLst/>
                <a:latin typeface="Merriweather"/>
              </a:rPr>
              <a:t>(</a:t>
            </a:r>
            <a:r>
              <a:rPr lang="en-US" b="0" i="0" dirty="0" err="1">
                <a:solidFill>
                  <a:srgbClr val="110000"/>
                </a:solidFill>
                <a:effectLst/>
                <a:latin typeface="Merriweather"/>
              </a:rPr>
              <a:t>hb</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anchorpane.</a:t>
            </a:r>
            <a:r>
              <a:rPr lang="en-US" b="0" i="0" dirty="0" err="1">
                <a:solidFill>
                  <a:srgbClr val="006633"/>
                </a:solidFill>
                <a:effectLst/>
                <a:latin typeface="Merriweather"/>
              </a:rPr>
              <a:t>setMinSize</a:t>
            </a:r>
            <a:r>
              <a:rPr lang="en-US" b="0" i="0" dirty="0">
                <a:solidFill>
                  <a:srgbClr val="009900"/>
                </a:solidFill>
                <a:effectLst/>
                <a:latin typeface="Merriweather"/>
              </a:rPr>
              <a:t>(</a:t>
            </a:r>
            <a:r>
              <a:rPr lang="en-US" b="0" i="0" dirty="0">
                <a:solidFill>
                  <a:srgbClr val="CC66CC"/>
                </a:solidFill>
                <a:effectLst/>
                <a:latin typeface="Merriweather"/>
              </a:rPr>
              <a:t>300</a:t>
            </a:r>
            <a:r>
              <a:rPr lang="en-US" b="0" i="0" dirty="0">
                <a:solidFill>
                  <a:srgbClr val="110000"/>
                </a:solidFill>
                <a:effectLst/>
                <a:latin typeface="Merriweather"/>
              </a:rPr>
              <a:t>, </a:t>
            </a:r>
            <a:r>
              <a:rPr lang="en-US" b="0" i="0" dirty="0">
                <a:solidFill>
                  <a:srgbClr val="CC66CC"/>
                </a:solidFill>
                <a:effectLst/>
                <a:latin typeface="Merriweather"/>
              </a:rPr>
              <a:t>100</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AnchorPane.</a:t>
            </a:r>
            <a:r>
              <a:rPr lang="en-US" b="0" i="0" dirty="0" err="1">
                <a:solidFill>
                  <a:srgbClr val="006633"/>
                </a:solidFill>
                <a:effectLst/>
                <a:latin typeface="Merriweather"/>
              </a:rPr>
              <a:t>setRightAnchor</a:t>
            </a:r>
            <a:r>
              <a:rPr lang="en-US" b="0" i="0" dirty="0">
                <a:solidFill>
                  <a:srgbClr val="009900"/>
                </a:solidFill>
                <a:effectLst/>
                <a:latin typeface="Merriweather"/>
              </a:rPr>
              <a:t>(</a:t>
            </a:r>
            <a:r>
              <a:rPr lang="en-US" b="0" i="0" dirty="0" err="1">
                <a:solidFill>
                  <a:srgbClr val="110000"/>
                </a:solidFill>
                <a:effectLst/>
                <a:latin typeface="Merriweather"/>
              </a:rPr>
              <a:t>hb</a:t>
            </a:r>
            <a:r>
              <a:rPr lang="en-US" b="0" i="0" dirty="0">
                <a:solidFill>
                  <a:srgbClr val="110000"/>
                </a:solidFill>
                <a:effectLst/>
                <a:latin typeface="Merriweather"/>
              </a:rPr>
              <a:t>, </a:t>
            </a:r>
            <a:r>
              <a:rPr lang="en-US" b="0" i="0" dirty="0">
                <a:solidFill>
                  <a:srgbClr val="CC66CC"/>
                </a:solidFill>
                <a:effectLst/>
                <a:latin typeface="Merriweather"/>
              </a:rPr>
              <a:t>10.0</a:t>
            </a:r>
            <a:r>
              <a:rPr lang="en-US" b="0" i="0" dirty="0">
                <a:solidFill>
                  <a:srgbClr val="009900"/>
                </a:solidFill>
                <a:effectLst/>
                <a:latin typeface="Merriweather"/>
              </a:rPr>
              <a:t>)</a:t>
            </a:r>
            <a:r>
              <a:rPr lang="en-US" b="0" i="0" dirty="0">
                <a:solidFill>
                  <a:srgbClr val="339933"/>
                </a:solidFill>
                <a:effectLst/>
                <a:latin typeface="Merriweather"/>
              </a:rPr>
              <a:t>;</a:t>
            </a:r>
            <a:endParaRPr lang="en-US" b="0" i="0" dirty="0">
              <a:solidFill>
                <a:srgbClr val="110000"/>
              </a:solidFill>
              <a:effectLst/>
              <a:latin typeface="Merriweather"/>
            </a:endParaRPr>
          </a:p>
          <a:p>
            <a:pPr algn="l"/>
            <a:r>
              <a:rPr lang="en-US" b="1" i="0" dirty="0" err="1">
                <a:solidFill>
                  <a:srgbClr val="222222"/>
                </a:solidFill>
                <a:effectLst/>
                <a:latin typeface="Merriweather"/>
              </a:rPr>
              <a:t>BorderPane</a:t>
            </a:r>
            <a:endParaRPr lang="en-US" b="0" i="0" dirty="0">
              <a:solidFill>
                <a:srgbClr val="222222"/>
              </a:solidFill>
              <a:effectLst/>
              <a:latin typeface="Merriweather"/>
            </a:endParaRPr>
          </a:p>
          <a:p>
            <a:pPr algn="l"/>
            <a:r>
              <a:rPr lang="en-US" b="0" i="0" dirty="0" err="1">
                <a:solidFill>
                  <a:srgbClr val="222222"/>
                </a:solidFill>
                <a:effectLst/>
                <a:latin typeface="Merriweather"/>
              </a:rPr>
              <a:t>BorderPane</a:t>
            </a:r>
            <a:r>
              <a:rPr lang="en-US" b="0" i="0" dirty="0">
                <a:solidFill>
                  <a:srgbClr val="222222"/>
                </a:solidFill>
                <a:effectLst/>
                <a:latin typeface="Merriweather"/>
              </a:rPr>
              <a:t> splits the scene in five regions such as: top, bottom, left, right, and center. Where you can adjust added nodes. </a:t>
            </a:r>
            <a:r>
              <a:rPr lang="en-US" b="0" i="0" dirty="0" err="1">
                <a:solidFill>
                  <a:srgbClr val="222222"/>
                </a:solidFill>
                <a:effectLst/>
                <a:latin typeface="Merriweather"/>
              </a:rPr>
              <a:t>BorderPane</a:t>
            </a:r>
            <a:r>
              <a:rPr lang="en-US" b="0" i="0" dirty="0">
                <a:solidFill>
                  <a:srgbClr val="222222"/>
                </a:solidFill>
                <a:effectLst/>
                <a:latin typeface="Merriweather"/>
              </a:rPr>
              <a:t> also allows you to add different panes in each region as shown in my example. However  you cannot use the same pane more than once.</a:t>
            </a:r>
          </a:p>
          <a:p>
            <a:pPr algn="l"/>
            <a:r>
              <a:rPr lang="en-US" b="0" i="0" dirty="0" err="1">
                <a:solidFill>
                  <a:srgbClr val="110000"/>
                </a:solidFill>
                <a:effectLst/>
                <a:latin typeface="Merriweather"/>
              </a:rPr>
              <a:t>BorderPane</a:t>
            </a:r>
            <a:r>
              <a:rPr lang="en-US" b="0" i="0" dirty="0">
                <a:solidFill>
                  <a:srgbClr val="110000"/>
                </a:solidFill>
                <a:effectLst/>
                <a:latin typeface="Merriweather"/>
              </a:rPr>
              <a:t> pane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a:t>
            </a:r>
            <a:r>
              <a:rPr lang="en-US" b="0" i="0" dirty="0" err="1">
                <a:solidFill>
                  <a:srgbClr val="110000"/>
                </a:solidFill>
                <a:effectLst/>
                <a:latin typeface="Merriweather"/>
              </a:rPr>
              <a:t>BorderPane</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pane.</a:t>
            </a:r>
            <a:r>
              <a:rPr lang="en-US" b="0" i="0" dirty="0" err="1">
                <a:solidFill>
                  <a:srgbClr val="006633"/>
                </a:solidFill>
                <a:effectLst/>
                <a:latin typeface="Merriweather"/>
              </a:rPr>
              <a:t>setLeft</a:t>
            </a:r>
            <a:r>
              <a:rPr lang="en-US" b="0" i="0" dirty="0">
                <a:solidFill>
                  <a:srgbClr val="009900"/>
                </a:solidFill>
                <a:effectLst/>
                <a:latin typeface="Merriweather"/>
              </a:rPr>
              <a:t>(</a:t>
            </a:r>
            <a:r>
              <a:rPr lang="en-US" b="0" i="0" dirty="0" err="1">
                <a:solidFill>
                  <a:srgbClr val="110000"/>
                </a:solidFill>
                <a:effectLst/>
                <a:latin typeface="Merriweather"/>
              </a:rPr>
              <a:t>anchorpane</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pane.</a:t>
            </a:r>
            <a:r>
              <a:rPr lang="en-US" b="0" i="0" dirty="0" err="1">
                <a:solidFill>
                  <a:srgbClr val="006633"/>
                </a:solidFill>
                <a:effectLst/>
                <a:latin typeface="Merriweather"/>
              </a:rPr>
              <a:t>setCenter</a:t>
            </a:r>
            <a:r>
              <a:rPr lang="en-US" b="0" i="0" dirty="0">
                <a:solidFill>
                  <a:srgbClr val="009900"/>
                </a:solidFill>
                <a:effectLst/>
                <a:latin typeface="Merriweather"/>
              </a:rPr>
              <a:t>(</a:t>
            </a:r>
            <a:r>
              <a:rPr lang="en-US" b="0" i="0" dirty="0">
                <a:solidFill>
                  <a:srgbClr val="110000"/>
                </a:solidFill>
                <a:effectLst/>
                <a:latin typeface="Merriweather"/>
              </a:rPr>
              <a:t>root</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pane.</a:t>
            </a:r>
            <a:r>
              <a:rPr lang="en-US" b="0" i="0" dirty="0" err="1">
                <a:solidFill>
                  <a:srgbClr val="006633"/>
                </a:solidFill>
                <a:effectLst/>
                <a:latin typeface="Merriweather"/>
              </a:rPr>
              <a:t>setRight</a:t>
            </a:r>
            <a:r>
              <a:rPr lang="en-US" b="0" i="0" dirty="0">
                <a:solidFill>
                  <a:srgbClr val="009900"/>
                </a:solidFill>
                <a:effectLst/>
                <a:latin typeface="Merriweather"/>
              </a:rPr>
              <a:t>(</a:t>
            </a:r>
            <a:r>
              <a:rPr lang="en-US" b="0" i="0" dirty="0">
                <a:solidFill>
                  <a:srgbClr val="110000"/>
                </a:solidFill>
                <a:effectLst/>
                <a:latin typeface="Merriweather"/>
              </a:rPr>
              <a:t>grid</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pane.</a:t>
            </a:r>
            <a:r>
              <a:rPr lang="en-US" b="0" i="0" dirty="0" err="1">
                <a:solidFill>
                  <a:srgbClr val="006633"/>
                </a:solidFill>
                <a:effectLst/>
                <a:latin typeface="Merriweather"/>
              </a:rPr>
              <a:t>setTop</a:t>
            </a:r>
            <a:r>
              <a:rPr lang="en-US" b="0" i="0" dirty="0">
                <a:solidFill>
                  <a:srgbClr val="009900"/>
                </a:solidFill>
                <a:effectLst/>
                <a:latin typeface="Merriweather"/>
              </a:rPr>
              <a:t>(</a:t>
            </a:r>
            <a:r>
              <a:rPr lang="en-US" b="0" i="0" dirty="0">
                <a:solidFill>
                  <a:srgbClr val="110000"/>
                </a:solidFill>
                <a:effectLst/>
                <a:latin typeface="Merriweather"/>
              </a:rPr>
              <a:t>flow</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a:t>
            </a:r>
            <a:r>
              <a:rPr lang="en-US" b="0" i="0" dirty="0" err="1">
                <a:solidFill>
                  <a:srgbClr val="110000"/>
                </a:solidFill>
                <a:effectLst/>
                <a:latin typeface="Merriweather"/>
              </a:rPr>
              <a:t>pane.</a:t>
            </a:r>
            <a:r>
              <a:rPr lang="en-US" b="0" i="0" dirty="0" err="1">
                <a:solidFill>
                  <a:srgbClr val="006633"/>
                </a:solidFill>
                <a:effectLst/>
                <a:latin typeface="Merriweather"/>
              </a:rPr>
              <a:t>setBottom</a:t>
            </a:r>
            <a:r>
              <a:rPr lang="en-US" b="0" i="0" dirty="0">
                <a:solidFill>
                  <a:srgbClr val="009900"/>
                </a:solidFill>
                <a:effectLst/>
                <a:latin typeface="Merriweather"/>
              </a:rPr>
              <a:t>(</a:t>
            </a:r>
            <a:r>
              <a:rPr lang="en-US" b="0" i="0" dirty="0">
                <a:solidFill>
                  <a:srgbClr val="110000"/>
                </a:solidFill>
                <a:effectLst/>
                <a:latin typeface="Merriweather"/>
              </a:rPr>
              <a:t>tile</a:t>
            </a:r>
            <a:r>
              <a:rPr lang="en-US" b="0" i="0" dirty="0">
                <a:solidFill>
                  <a:srgbClr val="009900"/>
                </a:solidFill>
                <a:effectLst/>
                <a:latin typeface="Merriweather"/>
              </a:rPr>
              <a:t>)</a:t>
            </a:r>
            <a:r>
              <a:rPr lang="en-US" b="0" i="0" dirty="0">
                <a:solidFill>
                  <a:srgbClr val="339933"/>
                </a:solidFill>
                <a:effectLst/>
                <a:latin typeface="Merriweather"/>
              </a:rPr>
              <a:t>;</a:t>
            </a:r>
            <a:r>
              <a:rPr lang="en-US" b="0" i="0" dirty="0">
                <a:solidFill>
                  <a:srgbClr val="110000"/>
                </a:solidFill>
                <a:effectLst/>
                <a:latin typeface="Merriweather"/>
              </a:rPr>
              <a:t>   Scene </a:t>
            </a:r>
            <a:r>
              <a:rPr lang="en-US" b="0" i="0" dirty="0" err="1">
                <a:solidFill>
                  <a:srgbClr val="110000"/>
                </a:solidFill>
                <a:effectLst/>
                <a:latin typeface="Merriweather"/>
              </a:rPr>
              <a:t>scene</a:t>
            </a:r>
            <a:r>
              <a:rPr lang="en-US" b="0" i="0" dirty="0">
                <a:solidFill>
                  <a:srgbClr val="110000"/>
                </a:solidFill>
                <a:effectLst/>
                <a:latin typeface="Merriweather"/>
              </a:rPr>
              <a:t> </a:t>
            </a:r>
            <a:r>
              <a:rPr lang="en-US" b="0" i="0" dirty="0">
                <a:solidFill>
                  <a:srgbClr val="339933"/>
                </a:solidFill>
                <a:effectLst/>
                <a:latin typeface="Merriweather"/>
              </a:rPr>
              <a:t>=</a:t>
            </a:r>
            <a:r>
              <a:rPr lang="en-US" b="0" i="0" dirty="0">
                <a:solidFill>
                  <a:srgbClr val="110000"/>
                </a:solidFill>
                <a:effectLst/>
                <a:latin typeface="Merriweather"/>
              </a:rPr>
              <a:t> </a:t>
            </a:r>
            <a:r>
              <a:rPr lang="en-US" b="1" i="0" dirty="0">
                <a:solidFill>
                  <a:srgbClr val="000000"/>
                </a:solidFill>
                <a:effectLst/>
                <a:latin typeface="Merriweather"/>
              </a:rPr>
              <a:t>new</a:t>
            </a:r>
            <a:r>
              <a:rPr lang="en-US" b="0" i="0" dirty="0">
                <a:solidFill>
                  <a:srgbClr val="110000"/>
                </a:solidFill>
                <a:effectLst/>
                <a:latin typeface="Merriweather"/>
              </a:rPr>
              <a:t> Scene</a:t>
            </a:r>
            <a:r>
              <a:rPr lang="en-US" b="0" i="0" dirty="0">
                <a:solidFill>
                  <a:srgbClr val="009900"/>
                </a:solidFill>
                <a:effectLst/>
                <a:latin typeface="Merriweather"/>
              </a:rPr>
              <a:t>(</a:t>
            </a:r>
            <a:r>
              <a:rPr lang="en-US" b="0" i="0" dirty="0">
                <a:solidFill>
                  <a:srgbClr val="110000"/>
                </a:solidFill>
                <a:effectLst/>
                <a:latin typeface="Merriweather"/>
              </a:rPr>
              <a:t>pane, </a:t>
            </a:r>
            <a:r>
              <a:rPr lang="en-US" b="0" i="0" dirty="0">
                <a:solidFill>
                  <a:srgbClr val="CC66CC"/>
                </a:solidFill>
                <a:effectLst/>
                <a:latin typeface="Merriweather"/>
              </a:rPr>
              <a:t>300</a:t>
            </a:r>
            <a:r>
              <a:rPr lang="en-US" b="0" i="0" dirty="0">
                <a:solidFill>
                  <a:srgbClr val="110000"/>
                </a:solidFill>
                <a:effectLst/>
                <a:latin typeface="Merriweather"/>
              </a:rPr>
              <a:t>, </a:t>
            </a:r>
            <a:r>
              <a:rPr lang="en-US" b="0" i="0" dirty="0">
                <a:solidFill>
                  <a:srgbClr val="CC66CC"/>
                </a:solidFill>
                <a:effectLst/>
                <a:latin typeface="Merriweather"/>
              </a:rPr>
              <a:t>250</a:t>
            </a:r>
            <a:r>
              <a:rPr lang="en-US" b="0" i="0" dirty="0">
                <a:solidFill>
                  <a:srgbClr val="009900"/>
                </a:solidFill>
                <a:effectLst/>
                <a:latin typeface="Merriweather"/>
              </a:rPr>
              <a:t>)</a:t>
            </a:r>
            <a:r>
              <a:rPr lang="en-US" b="0" i="0" dirty="0">
                <a:solidFill>
                  <a:srgbClr val="339933"/>
                </a:solidFill>
                <a:effectLst/>
                <a:latin typeface="Merriweather"/>
              </a:rPr>
              <a:t>;</a:t>
            </a:r>
            <a:endParaRPr lang="en-US" b="0" i="0" dirty="0">
              <a:solidFill>
                <a:srgbClr val="110000"/>
              </a:solidFill>
              <a:effectLst/>
              <a:latin typeface="Merriweather"/>
            </a:endParaRPr>
          </a:p>
          <a:p>
            <a:br>
              <a:rPr lang="en-US" dirty="0"/>
            </a:br>
            <a:endParaRPr lang="en-US" sz="1200" b="0" i="0" kern="1200" dirty="0">
              <a:solidFill>
                <a:srgbClr val="000000"/>
              </a:solidFill>
              <a:effectLst/>
              <a:latin typeface="Times New Roman" pitchFamily="16" charset="0"/>
              <a:ea typeface="+mn-ea"/>
              <a:cs typeface="+mn-cs"/>
            </a:endParaRPr>
          </a:p>
          <a:p>
            <a:pPr marL="0" lvl="0" indent="0" algn="l" rtl="0">
              <a:spcBef>
                <a:spcPts val="360"/>
              </a:spcBef>
              <a:spcAft>
                <a:spcPts val="0"/>
              </a:spcAft>
              <a:buNone/>
            </a:pPr>
            <a:endParaRPr lang="en-US" sz="1200" b="0" i="0" kern="1200" dirty="0">
              <a:solidFill>
                <a:srgbClr val="000000"/>
              </a:solidFill>
              <a:effectLst/>
              <a:latin typeface="Times New Roman" pitchFamily="16" charset="0"/>
              <a:ea typeface="+mn-ea"/>
              <a:cs typeface="+mn-cs"/>
            </a:endParaRPr>
          </a:p>
          <a:p>
            <a:pPr marL="0" lvl="0" indent="0" algn="l" rtl="0">
              <a:spcBef>
                <a:spcPts val="360"/>
              </a:spcBef>
              <a:spcAft>
                <a:spcPts val="0"/>
              </a:spcAft>
              <a:buNone/>
            </a:pPr>
            <a:endParaRPr lang="en-US" sz="1200" b="0" i="0" kern="1200" dirty="0">
              <a:solidFill>
                <a:srgbClr val="000000"/>
              </a:solidFill>
              <a:effectLst/>
              <a:latin typeface="Times New Roman" pitchFamily="16" charset="0"/>
              <a:ea typeface="+mn-ea"/>
              <a:cs typeface="+mn-cs"/>
            </a:endParaRPr>
          </a:p>
          <a:p>
            <a:pPr marL="0" lvl="0" indent="0" algn="l" rtl="0">
              <a:spcBef>
                <a:spcPts val="360"/>
              </a:spcBef>
              <a:spcAft>
                <a:spcPts val="0"/>
              </a:spcAft>
              <a:buNone/>
            </a:pPr>
            <a:r>
              <a:rPr lang="en-US" sz="1200" b="0" i="0" kern="1200" dirty="0">
                <a:solidFill>
                  <a:srgbClr val="000000"/>
                </a:solidFill>
                <a:effectLst/>
                <a:latin typeface="Times New Roman" pitchFamily="16" charset="0"/>
                <a:ea typeface="+mn-ea"/>
                <a:cs typeface="+mn-cs"/>
              </a:rPr>
              <a:t>A generalization is a taxonomic relationship between a more general classifier and a more specific classifier. Each instance of the specific classifier is also an indirect instance of the general classifier. Thus, the specific classifier inherits the features of the more general classifier.</a:t>
            </a:r>
          </a:p>
          <a:p>
            <a:pPr marL="0" lvl="0" indent="0" algn="l" rtl="0">
              <a:spcBef>
                <a:spcPts val="360"/>
              </a:spcBef>
              <a:spcAft>
                <a:spcPts val="0"/>
              </a:spcAft>
              <a:buNone/>
            </a:pPr>
            <a:endParaRPr lang="en-US" sz="1200" b="0" i="0" kern="1200" dirty="0">
              <a:solidFill>
                <a:srgbClr val="000000"/>
              </a:solidFill>
              <a:effectLst/>
              <a:latin typeface="Times New Roman" pitchFamily="16" charset="0"/>
              <a:ea typeface="+mn-ea"/>
              <a:cs typeface="+mn-cs"/>
            </a:endParaRPr>
          </a:p>
          <a:p>
            <a:r>
              <a:rPr lang="en-US" sz="1200" b="0" i="0" kern="1200" dirty="0">
                <a:solidFill>
                  <a:srgbClr val="000000"/>
                </a:solidFill>
                <a:effectLst/>
                <a:latin typeface="Times New Roman" pitchFamily="16" charset="0"/>
                <a:ea typeface="+mn-ea"/>
                <a:cs typeface="+mn-cs"/>
              </a:rPr>
              <a:t>Association</a:t>
            </a:r>
          </a:p>
          <a:p>
            <a:r>
              <a:rPr lang="en-US" sz="1200" b="0" i="0" kern="1200" dirty="0">
                <a:solidFill>
                  <a:srgbClr val="000000"/>
                </a:solidFill>
                <a:effectLst/>
                <a:latin typeface="Times New Roman" pitchFamily="16" charset="0"/>
                <a:ea typeface="+mn-ea"/>
                <a:cs typeface="+mn-cs"/>
              </a:rPr>
              <a:t>Associations are relationships between classes in a UML Class Diagram. They are represented by a solid line between classes. Associations are typically named using a verb or verb phrase which reflects the real world problem domain.</a:t>
            </a:r>
          </a:p>
          <a:p>
            <a:pPr marL="0" lvl="0" indent="0" algn="l" rtl="0">
              <a:spcBef>
                <a:spcPts val="360"/>
              </a:spcBef>
              <a:spcAft>
                <a:spcPts val="0"/>
              </a:spcAft>
              <a:buNone/>
            </a:pPr>
            <a:endParaRPr lang="en-US" dirty="0"/>
          </a:p>
          <a:p>
            <a:pPr marL="0" lvl="0" indent="0" algn="l" rtl="0">
              <a:spcBef>
                <a:spcPts val="360"/>
              </a:spcBef>
              <a:spcAft>
                <a:spcPts val="0"/>
              </a:spcAft>
              <a:buNone/>
            </a:pPr>
            <a:endParaRPr lang="en-US" dirty="0"/>
          </a:p>
          <a:p>
            <a:r>
              <a:rPr lang="en-US" sz="1200" b="0" i="0" kern="1200" dirty="0">
                <a:solidFill>
                  <a:srgbClr val="000000"/>
                </a:solidFill>
                <a:effectLst/>
                <a:latin typeface="Times New Roman" pitchFamily="16" charset="0"/>
                <a:ea typeface="+mn-ea"/>
                <a:cs typeface="+mn-cs"/>
              </a:rPr>
              <a:t>Aggregation</a:t>
            </a:r>
          </a:p>
          <a:p>
            <a:r>
              <a:rPr lang="en-US" sz="1200" b="0" i="0" kern="1200" dirty="0">
                <a:solidFill>
                  <a:srgbClr val="000000"/>
                </a:solidFill>
                <a:effectLst/>
                <a:latin typeface="Times New Roman" pitchFamily="16" charset="0"/>
                <a:ea typeface="+mn-ea"/>
                <a:cs typeface="+mn-cs"/>
              </a:rPr>
              <a:t>A special type of association.</a:t>
            </a:r>
          </a:p>
          <a:p>
            <a:r>
              <a:rPr lang="en-US" sz="1200" b="0" i="0" kern="1200" dirty="0">
                <a:solidFill>
                  <a:srgbClr val="000000"/>
                </a:solidFill>
                <a:effectLst/>
                <a:latin typeface="Times New Roman" pitchFamily="16" charset="0"/>
                <a:ea typeface="+mn-ea"/>
                <a:cs typeface="+mn-cs"/>
              </a:rPr>
              <a:t>It represents a "part of" relationship.</a:t>
            </a:r>
          </a:p>
          <a:p>
            <a:r>
              <a:rPr lang="en-US" sz="1200" b="0" i="0" kern="1200" dirty="0">
                <a:solidFill>
                  <a:srgbClr val="000000"/>
                </a:solidFill>
                <a:effectLst/>
                <a:latin typeface="Times New Roman" pitchFamily="16" charset="0"/>
                <a:ea typeface="+mn-ea"/>
                <a:cs typeface="+mn-cs"/>
              </a:rPr>
              <a:t>Class2 is part of Class1.</a:t>
            </a:r>
          </a:p>
          <a:p>
            <a:r>
              <a:rPr lang="en-US" sz="1200" b="0" i="0" kern="1200" dirty="0">
                <a:solidFill>
                  <a:srgbClr val="000000"/>
                </a:solidFill>
                <a:effectLst/>
                <a:latin typeface="Times New Roman" pitchFamily="16" charset="0"/>
                <a:ea typeface="+mn-ea"/>
                <a:cs typeface="+mn-cs"/>
              </a:rPr>
              <a:t>Many instances (denoted by the *) of Class2 can be associated with Class1.</a:t>
            </a:r>
          </a:p>
          <a:p>
            <a:r>
              <a:rPr lang="en-US" sz="1200" b="0" i="0" kern="1200" dirty="0">
                <a:solidFill>
                  <a:srgbClr val="000000"/>
                </a:solidFill>
                <a:effectLst/>
                <a:latin typeface="Times New Roman" pitchFamily="16" charset="0"/>
                <a:ea typeface="+mn-ea"/>
                <a:cs typeface="+mn-cs"/>
              </a:rPr>
              <a:t>Objects of Class1 and Class2 have separate lifetimes.</a:t>
            </a:r>
          </a:p>
          <a:p>
            <a:r>
              <a:rPr lang="en-US" sz="1200" b="0" i="0" kern="1200" dirty="0">
                <a:solidFill>
                  <a:srgbClr val="000000"/>
                </a:solidFill>
                <a:effectLst/>
                <a:latin typeface="Times New Roman" pitchFamily="16" charset="0"/>
                <a:ea typeface="+mn-ea"/>
                <a:cs typeface="+mn-cs"/>
              </a:rPr>
              <a:t>The figure below shows an example of aggregation. The relationship is displayed as a solid line with a unfilled diamond at the association end, which is connected to the class that represents the aggregate.</a:t>
            </a:r>
          </a:p>
          <a:p>
            <a:pPr marL="0" lvl="0" indent="0" algn="l" rtl="0">
              <a:spcBef>
                <a:spcPts val="360"/>
              </a:spcBef>
              <a:spcAft>
                <a:spcPts val="0"/>
              </a:spcAft>
              <a:buNone/>
            </a:pPr>
            <a:endParaRPr lang="en-US" dirty="0"/>
          </a:p>
          <a:p>
            <a:pPr marL="0" lvl="0" indent="0" algn="l" rtl="0">
              <a:spcBef>
                <a:spcPts val="360"/>
              </a:spcBef>
              <a:spcAft>
                <a:spcPts val="0"/>
              </a:spcAft>
              <a:buNone/>
            </a:pPr>
            <a:endParaRPr lang="en-US" dirty="0"/>
          </a:p>
          <a:p>
            <a:r>
              <a:rPr lang="en-US" sz="1200" b="0" i="0" kern="1200" dirty="0">
                <a:solidFill>
                  <a:srgbClr val="000000"/>
                </a:solidFill>
                <a:effectLst/>
                <a:latin typeface="Times New Roman" pitchFamily="16" charset="0"/>
                <a:ea typeface="+mn-ea"/>
                <a:cs typeface="+mn-cs"/>
              </a:rPr>
              <a:t>Composition</a:t>
            </a:r>
          </a:p>
          <a:p>
            <a:r>
              <a:rPr lang="en-US" sz="1200" b="0" i="0" kern="1200" dirty="0">
                <a:solidFill>
                  <a:srgbClr val="000000"/>
                </a:solidFill>
                <a:effectLst/>
                <a:latin typeface="Times New Roman" pitchFamily="16" charset="0"/>
                <a:ea typeface="+mn-ea"/>
                <a:cs typeface="+mn-cs"/>
              </a:rPr>
              <a:t>A special type of aggregation where parts are destroyed when the whole is destroyed.</a:t>
            </a:r>
          </a:p>
          <a:p>
            <a:r>
              <a:rPr lang="en-US" sz="1200" b="0" i="0" kern="1200" dirty="0">
                <a:solidFill>
                  <a:srgbClr val="000000"/>
                </a:solidFill>
                <a:effectLst/>
                <a:latin typeface="Times New Roman" pitchFamily="16" charset="0"/>
                <a:ea typeface="+mn-ea"/>
                <a:cs typeface="+mn-cs"/>
              </a:rPr>
              <a:t>Objects of Class2 live and die with Class1.</a:t>
            </a:r>
          </a:p>
          <a:p>
            <a:r>
              <a:rPr lang="en-US" sz="1200" b="0" i="0" kern="1200" dirty="0">
                <a:solidFill>
                  <a:srgbClr val="000000"/>
                </a:solidFill>
                <a:effectLst/>
                <a:latin typeface="Times New Roman" pitchFamily="16" charset="0"/>
                <a:ea typeface="+mn-ea"/>
                <a:cs typeface="+mn-cs"/>
              </a:rPr>
              <a:t>Class2 cannot stand by itself.</a:t>
            </a:r>
          </a:p>
          <a:p>
            <a:r>
              <a:rPr lang="en-US" sz="1200" b="0" i="0" kern="1200" dirty="0">
                <a:solidFill>
                  <a:srgbClr val="000000"/>
                </a:solidFill>
                <a:effectLst/>
                <a:latin typeface="Times New Roman" pitchFamily="16" charset="0"/>
                <a:ea typeface="+mn-ea"/>
                <a:cs typeface="+mn-cs"/>
              </a:rPr>
              <a:t>The figure below shows an example of composition. The relationship is displayed as a solid line with a filled diamond at the association end, which is connected to the class that represents the whole or composite.</a:t>
            </a:r>
          </a:p>
          <a:p>
            <a:pPr marL="0" lvl="0" indent="0" algn="l" rtl="0">
              <a:spcBef>
                <a:spcPts val="360"/>
              </a:spcBef>
              <a:spcAft>
                <a:spcPts val="0"/>
              </a:spcAft>
              <a:buNone/>
            </a:pPr>
            <a:endParaRPr lang="en-US" dirty="0"/>
          </a:p>
          <a:p>
            <a:pPr marL="0" lvl="0" indent="0" algn="l" rtl="0">
              <a:spcBef>
                <a:spcPts val="360"/>
              </a:spcBef>
              <a:spcAft>
                <a:spcPts val="0"/>
              </a:spcAft>
              <a:buNone/>
            </a:pPr>
            <a:endParaRPr lang="en-US" dirty="0"/>
          </a:p>
          <a:p>
            <a:r>
              <a:rPr lang="en-US" sz="1200" b="0" i="0" kern="1200" dirty="0">
                <a:solidFill>
                  <a:srgbClr val="000000"/>
                </a:solidFill>
                <a:effectLst/>
                <a:latin typeface="Times New Roman" pitchFamily="16" charset="0"/>
                <a:ea typeface="+mn-ea"/>
                <a:cs typeface="+mn-cs"/>
              </a:rPr>
              <a:t>Dependency</a:t>
            </a:r>
          </a:p>
          <a:p>
            <a:r>
              <a:rPr lang="en-US" sz="1200" b="0" i="0" kern="1200" dirty="0">
                <a:solidFill>
                  <a:srgbClr val="000000"/>
                </a:solidFill>
                <a:effectLst/>
                <a:latin typeface="Times New Roman" pitchFamily="16" charset="0"/>
                <a:ea typeface="+mn-ea"/>
                <a:cs typeface="+mn-cs"/>
              </a:rPr>
              <a:t>An object of one class might use an object of another class in the code of a method. If the object is not stored in any field, then this is modeled as a dependency relationship.</a:t>
            </a:r>
          </a:p>
          <a:p>
            <a:r>
              <a:rPr lang="en-US" sz="1200" b="0" i="0" kern="1200" dirty="0">
                <a:solidFill>
                  <a:srgbClr val="000000"/>
                </a:solidFill>
                <a:effectLst/>
                <a:latin typeface="Times New Roman" pitchFamily="16" charset="0"/>
                <a:ea typeface="+mn-ea"/>
                <a:cs typeface="+mn-cs"/>
              </a:rPr>
              <a:t>A special type of association.</a:t>
            </a:r>
          </a:p>
          <a:p>
            <a:r>
              <a:rPr lang="en-US" sz="1200" b="0" i="0" kern="1200" dirty="0">
                <a:solidFill>
                  <a:srgbClr val="000000"/>
                </a:solidFill>
                <a:effectLst/>
                <a:latin typeface="Times New Roman" pitchFamily="16" charset="0"/>
                <a:ea typeface="+mn-ea"/>
                <a:cs typeface="+mn-cs"/>
              </a:rPr>
              <a:t>Exists between two classes if changes to the definition of one may cause changes to the other (but not the other way around).</a:t>
            </a:r>
          </a:p>
          <a:p>
            <a:r>
              <a:rPr lang="en-US" sz="1200" b="0" i="0" kern="1200" dirty="0">
                <a:solidFill>
                  <a:srgbClr val="000000"/>
                </a:solidFill>
                <a:effectLst/>
                <a:latin typeface="Times New Roman" pitchFamily="16" charset="0"/>
                <a:ea typeface="+mn-ea"/>
                <a:cs typeface="+mn-cs"/>
              </a:rPr>
              <a:t>Class1 depends on Class2</a:t>
            </a:r>
          </a:p>
          <a:p>
            <a:r>
              <a:rPr lang="en-US" sz="1200" b="0" i="0" kern="1200" dirty="0">
                <a:solidFill>
                  <a:srgbClr val="000000"/>
                </a:solidFill>
                <a:effectLst/>
                <a:latin typeface="Times New Roman" pitchFamily="16" charset="0"/>
                <a:ea typeface="+mn-ea"/>
                <a:cs typeface="+mn-cs"/>
              </a:rPr>
              <a:t>The figure below shows an example of dependency. The relationship is displayed as a dashed line with an open arrow.</a:t>
            </a:r>
          </a:p>
          <a:p>
            <a:pPr marL="0" lvl="0" indent="0" algn="l" rtl="0">
              <a:spcBef>
                <a:spcPts val="360"/>
              </a:spcBef>
              <a:spcAft>
                <a:spcPts val="0"/>
              </a:spcAft>
              <a:buNone/>
            </a:pPr>
            <a:endParaRPr lang="en-US" dirty="0"/>
          </a:p>
          <a:p>
            <a:pPr marL="0" lvl="0" indent="0" algn="l" rtl="0">
              <a:spcBef>
                <a:spcPts val="360"/>
              </a:spcBef>
              <a:spcAft>
                <a:spcPts val="0"/>
              </a:spcAft>
              <a:buNone/>
            </a:pPr>
            <a:endParaRPr lang="en-US" dirty="0"/>
          </a:p>
          <a:p>
            <a:r>
              <a:rPr lang="en-US" sz="1200" b="0" i="0" kern="1200" dirty="0">
                <a:solidFill>
                  <a:srgbClr val="000000"/>
                </a:solidFill>
                <a:effectLst/>
                <a:latin typeface="Times New Roman" pitchFamily="16" charset="0"/>
                <a:ea typeface="+mn-ea"/>
                <a:cs typeface="+mn-cs"/>
              </a:rPr>
              <a:t>Realization</a:t>
            </a:r>
          </a:p>
          <a:p>
            <a:r>
              <a:rPr lang="en-US" sz="1200" b="0" i="0" kern="1200" dirty="0">
                <a:solidFill>
                  <a:srgbClr val="000000"/>
                </a:solidFill>
                <a:effectLst/>
                <a:latin typeface="Times New Roman" pitchFamily="16" charset="0"/>
                <a:ea typeface="+mn-ea"/>
                <a:cs typeface="+mn-cs"/>
              </a:rPr>
              <a:t>Realization is a relationship between the blueprint class and the object containing its respective implementation level details. This object is said to realize the blueprint class. In other words, you can understand this as the relationship between the interface and the implementing class.</a:t>
            </a:r>
          </a:p>
          <a:p>
            <a:r>
              <a:rPr lang="en-US" sz="1200" b="0" i="0" kern="1200" dirty="0">
                <a:solidFill>
                  <a:srgbClr val="000000"/>
                </a:solidFill>
                <a:effectLst/>
                <a:latin typeface="Times New Roman" pitchFamily="16" charset="0"/>
                <a:ea typeface="+mn-ea"/>
                <a:cs typeface="+mn-cs"/>
              </a:rPr>
              <a:t>For example, the Owner interface might specify methods for acquiring property and disposing of property. The Person and Corporation classes need to implement these methods, possibly in very different ways.</a:t>
            </a:r>
          </a:p>
          <a:p>
            <a:pPr marL="0" lvl="0" indent="0" algn="l" rtl="0">
              <a:spcBef>
                <a:spcPts val="360"/>
              </a:spcBef>
              <a:spcAft>
                <a:spcPts val="0"/>
              </a:spcAft>
              <a:buNone/>
            </a:pPr>
            <a:endParaRPr lang="en-US" dirty="0"/>
          </a:p>
        </p:txBody>
      </p:sp>
      <p:sp>
        <p:nvSpPr>
          <p:cNvPr id="222" name="Google Shape;222;p14:notes"/>
          <p:cNvSpPr>
            <a:spLocks noGrp="1" noRot="1" noChangeAspect="1"/>
          </p:cNvSpPr>
          <p:nvPr>
            <p:ph type="sldImg" idx="2"/>
          </p:nvPr>
        </p:nvSpPr>
        <p:spPr>
          <a:xfrm>
            <a:off x="1587500" y="1006475"/>
            <a:ext cx="4594225" cy="34448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1:notes"/>
          <p:cNvSpPr txBox="1">
            <a:spLocks noGrp="1"/>
          </p:cNvSpPr>
          <p:nvPr>
            <p:ph type="body" idx="1"/>
          </p:nvPr>
        </p:nvSpPr>
        <p:spPr>
          <a:xfrm>
            <a:off x="1185863" y="4787900"/>
            <a:ext cx="5405437" cy="3824288"/>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337" name="Google Shape;337;p31:notes"/>
          <p:cNvSpPr>
            <a:spLocks noGrp="1" noRot="1" noChangeAspect="1"/>
          </p:cNvSpPr>
          <p:nvPr>
            <p:ph type="sldImg" idx="2"/>
          </p:nvPr>
        </p:nvSpPr>
        <p:spPr>
          <a:xfrm>
            <a:off x="1587500" y="1006475"/>
            <a:ext cx="4594225" cy="34448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540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36:notes"/>
          <p:cNvSpPr txBox="1">
            <a:spLocks noGrp="1"/>
          </p:cNvSpPr>
          <p:nvPr>
            <p:ph type="body" idx="1"/>
          </p:nvPr>
        </p:nvSpPr>
        <p:spPr>
          <a:xfrm>
            <a:off x="1185863" y="4787900"/>
            <a:ext cx="5405437" cy="3824288"/>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368" name="Google Shape;368;p36:notes"/>
          <p:cNvSpPr>
            <a:spLocks noGrp="1" noRot="1" noChangeAspect="1"/>
          </p:cNvSpPr>
          <p:nvPr>
            <p:ph type="sldImg" idx="2"/>
          </p:nvPr>
        </p:nvSpPr>
        <p:spPr>
          <a:xfrm>
            <a:off x="1587500" y="1006475"/>
            <a:ext cx="4594225" cy="34448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74594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6:notes"/>
          <p:cNvSpPr txBox="1">
            <a:spLocks noGrp="1"/>
          </p:cNvSpPr>
          <p:nvPr>
            <p:ph type="body" idx="1"/>
          </p:nvPr>
        </p:nvSpPr>
        <p:spPr>
          <a:xfrm>
            <a:off x="1185863" y="4787900"/>
            <a:ext cx="5405437" cy="3824288"/>
          </a:xfrm>
          <a:prstGeom prst="rect">
            <a:avLst/>
          </a:prstGeom>
        </p:spPr>
        <p:txBody>
          <a:bodyPr spcFirstLastPara="1" wrap="square" lIns="0" tIns="0" rIns="0" bIns="0" anchor="t" anchorCtr="0">
            <a:noAutofit/>
          </a:bodyPr>
          <a:lstStyle/>
          <a:p>
            <a:pPr marL="0" lvl="0" indent="0" algn="l" rtl="0">
              <a:spcBef>
                <a:spcPts val="360"/>
              </a:spcBef>
              <a:spcAft>
                <a:spcPts val="0"/>
              </a:spcAft>
              <a:buNone/>
            </a:pPr>
            <a:endParaRPr/>
          </a:p>
        </p:txBody>
      </p:sp>
      <p:sp>
        <p:nvSpPr>
          <p:cNvPr id="235" name="Google Shape;235;p16:notes"/>
          <p:cNvSpPr>
            <a:spLocks noGrp="1" noRot="1" noChangeAspect="1"/>
          </p:cNvSpPr>
          <p:nvPr>
            <p:ph type="sldImg" idx="2"/>
          </p:nvPr>
        </p:nvSpPr>
        <p:spPr>
          <a:xfrm>
            <a:off x="1587500" y="1006475"/>
            <a:ext cx="4594225" cy="34448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242729"/>
                </a:solidFill>
                <a:effectLst/>
                <a:latin typeface="Arial" panose="020B0604020202020204" pitchFamily="34" charset="0"/>
              </a:rPr>
              <a:t>--module-path "\path\to\javafx-sdk-12.0.1\lib" --add-modules </a:t>
            </a:r>
            <a:r>
              <a:rPr lang="en-US" b="0" i="0" dirty="0" err="1">
                <a:solidFill>
                  <a:srgbClr val="242729"/>
                </a:solidFill>
                <a:effectLst/>
                <a:latin typeface="Arial" panose="020B0604020202020204" pitchFamily="34" charset="0"/>
              </a:rPr>
              <a:t>javafx.controls,javafx.fxml</a:t>
            </a:r>
            <a:r>
              <a:rPr lang="en-US" b="0" i="0" dirty="0">
                <a:solidFill>
                  <a:srgbClr val="242729"/>
                </a:solidFill>
                <a:effectLst/>
                <a:latin typeface="Arial" panose="020B0604020202020204" pitchFamily="34" charset="0"/>
              </a:rPr>
              <a:t> </a:t>
            </a:r>
          </a:p>
          <a:p>
            <a:pPr algn="l" fontAlgn="base"/>
            <a:endParaRPr lang="en-US" b="0" i="0" dirty="0">
              <a:solidFill>
                <a:srgbClr val="242729"/>
              </a:solidFill>
              <a:effectLst/>
              <a:latin typeface="Arial" panose="020B0604020202020204" pitchFamily="34" charset="0"/>
            </a:endParaRPr>
          </a:p>
          <a:p>
            <a:pPr algn="l" fontAlgn="base"/>
            <a:r>
              <a:rPr lang="en-US" b="0" i="0" dirty="0">
                <a:solidFill>
                  <a:srgbClr val="242729"/>
                </a:solidFill>
                <a:effectLst/>
                <a:latin typeface="Arial" panose="020B0604020202020204" pitchFamily="34" charset="0"/>
              </a:rPr>
              <a:t>--module-path "C:\Program Files\Java\jdk-15.0.1\lib" --add-modules </a:t>
            </a:r>
            <a:r>
              <a:rPr lang="en-US" b="0" i="0" dirty="0" err="1">
                <a:solidFill>
                  <a:srgbClr val="242729"/>
                </a:solidFill>
                <a:effectLst/>
                <a:latin typeface="Arial" panose="020B0604020202020204" pitchFamily="34" charset="0"/>
              </a:rPr>
              <a:t>javafx.controls,javafx.fxml</a:t>
            </a:r>
            <a:endParaRPr lang="en-US" dirty="0"/>
          </a:p>
        </p:txBody>
      </p:sp>
    </p:spTree>
    <p:extLst>
      <p:ext uri="{BB962C8B-B14F-4D97-AF65-F5344CB8AC3E}">
        <p14:creationId xmlns:p14="http://schemas.microsoft.com/office/powerpoint/2010/main" val="386201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242729"/>
                </a:solidFill>
                <a:effectLst/>
                <a:latin typeface="Arial" panose="020B0604020202020204" pitchFamily="34" charset="0"/>
              </a:rPr>
              <a:t>--module-path "\path\to\javafx-sdk-12.0.1\lib" --add-modules </a:t>
            </a:r>
            <a:r>
              <a:rPr lang="en-US" b="0" i="0" dirty="0" err="1">
                <a:solidFill>
                  <a:srgbClr val="242729"/>
                </a:solidFill>
                <a:effectLst/>
                <a:latin typeface="Arial" panose="020B0604020202020204" pitchFamily="34" charset="0"/>
              </a:rPr>
              <a:t>javafx.controls,javafx.fxml</a:t>
            </a:r>
            <a:r>
              <a:rPr lang="en-US" b="0" i="0" dirty="0">
                <a:solidFill>
                  <a:srgbClr val="242729"/>
                </a:solidFill>
                <a:effectLst/>
                <a:latin typeface="Arial" panose="020B0604020202020204" pitchFamily="34" charset="0"/>
              </a:rPr>
              <a:t> </a:t>
            </a:r>
          </a:p>
          <a:p>
            <a:pPr algn="l" fontAlgn="base"/>
            <a:endParaRPr lang="en-US" b="0" i="0" dirty="0">
              <a:solidFill>
                <a:srgbClr val="242729"/>
              </a:solidFill>
              <a:effectLst/>
              <a:latin typeface="Arial" panose="020B0604020202020204" pitchFamily="34" charset="0"/>
            </a:endParaRPr>
          </a:p>
          <a:p>
            <a:pPr algn="l" fontAlgn="base"/>
            <a:r>
              <a:rPr lang="en-US" b="0" i="0" dirty="0">
                <a:solidFill>
                  <a:srgbClr val="242729"/>
                </a:solidFill>
                <a:effectLst/>
                <a:latin typeface="Arial" panose="020B0604020202020204" pitchFamily="34" charset="0"/>
              </a:rPr>
              <a:t>--module-path "C:\Program Files\Java\jdk-15.0.1\lib" --add-modules </a:t>
            </a:r>
            <a:r>
              <a:rPr lang="en-US" b="0" i="0" dirty="0" err="1">
                <a:solidFill>
                  <a:srgbClr val="242729"/>
                </a:solidFill>
                <a:effectLst/>
                <a:latin typeface="Arial" panose="020B0604020202020204" pitchFamily="34" charset="0"/>
              </a:rPr>
              <a:t>javafx.controls,javafx.fxml</a:t>
            </a:r>
            <a:endParaRPr lang="en-US" dirty="0"/>
          </a:p>
        </p:txBody>
      </p:sp>
    </p:spTree>
    <p:extLst>
      <p:ext uri="{BB962C8B-B14F-4D97-AF65-F5344CB8AC3E}">
        <p14:creationId xmlns:p14="http://schemas.microsoft.com/office/powerpoint/2010/main" val="35588422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76182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49" y="1951038"/>
            <a:ext cx="8569325" cy="1066800"/>
          </a:xfrm>
          <a:prstGeom prst="rect">
            <a:avLst/>
          </a:prstGeom>
        </p:spPr>
        <p:txBody>
          <a:bodyPr/>
          <a:lstStyle>
            <a:lvl1pPr>
              <a:defRPr/>
            </a:lvl1pPr>
          </a:lstStyle>
          <a:p>
            <a:endParaRPr lang="en-US"/>
          </a:p>
        </p:txBody>
      </p:sp>
      <p:sp>
        <p:nvSpPr>
          <p:cNvPr id="3" name="Subtitle 2"/>
          <p:cNvSpPr>
            <a:spLocks noGrp="1"/>
          </p:cNvSpPr>
          <p:nvPr>
            <p:ph type="subTitle" idx="1"/>
          </p:nvPr>
        </p:nvSpPr>
        <p:spPr>
          <a:xfrm>
            <a:off x="1512888" y="4283075"/>
            <a:ext cx="7056437" cy="1931988"/>
          </a:xfrm>
          <a:prstGeom prst="rect">
            <a:avLst/>
          </a:prstGeom>
        </p:spPr>
        <p:txBody>
          <a:bodyPr anchor="ct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932185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03238" y="3398837"/>
            <a:ext cx="9069387" cy="3505200"/>
          </a:xfrm>
          <a:prstGeom prst="rect">
            <a:avLst/>
          </a:prstGeom>
        </p:spPr>
        <p:txBody>
          <a:bodyPr/>
          <a:lstStyle>
            <a:lvl1pPr marL="457200" indent="-457200">
              <a:buFont typeface="Wingdings" pitchFamily="2" charset="2"/>
              <a:buChar char="§"/>
              <a:defRPr/>
            </a:lvl1pPr>
            <a:lvl2pPr marL="914400" indent="-457200">
              <a:buFont typeface="Arial" pitchFamily="34" charset="0"/>
              <a:buChar char="•"/>
              <a:defRPr/>
            </a:lvl2pPr>
            <a:lvl3pPr marL="1257300" indent="-342900">
              <a:buFont typeface="Wingdings" pitchFamily="2" charset="2"/>
              <a:buChar char="§"/>
              <a:defRPr/>
            </a:lvl3pPr>
            <a:lvl4pPr marL="1714500" indent="-342900">
              <a:buFont typeface="Arial" pitchFamily="34" charset="0"/>
              <a:buChar char="•"/>
              <a:defRPr/>
            </a:lvl4pPr>
            <a:lvl5pPr marL="2171700" indent="-342900">
              <a:buFont typeface="Wingdings"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3"/>
          <p:cNvSpPr>
            <a:spLocks noGrp="1"/>
          </p:cNvSpPr>
          <p:nvPr>
            <p:ph type="title"/>
          </p:nvPr>
        </p:nvSpPr>
        <p:spPr>
          <a:xfrm>
            <a:off x="1306512" y="1722437"/>
            <a:ext cx="7772401" cy="1260475"/>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476304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a:xfrm>
            <a:off x="1230312" y="655638"/>
            <a:ext cx="7772401" cy="729430"/>
          </a:xfrm>
        </p:spPr>
        <p:txBody>
          <a:bodyPr/>
          <a:lstStyle/>
          <a:p>
            <a:r>
              <a:rPr lang="en-US"/>
              <a:t>Click to edit Master title style</a:t>
            </a:r>
          </a:p>
        </p:txBody>
      </p:sp>
      <p:sp>
        <p:nvSpPr>
          <p:cNvPr id="10" name="Text Placeholder 9"/>
          <p:cNvSpPr>
            <a:spLocks noGrp="1"/>
          </p:cNvSpPr>
          <p:nvPr>
            <p:ph type="body" sz="quarter" idx="10"/>
          </p:nvPr>
        </p:nvSpPr>
        <p:spPr>
          <a:xfrm>
            <a:off x="487167" y="1417637"/>
            <a:ext cx="9143999"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6179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4031" y="1399897"/>
            <a:ext cx="4452276" cy="5353063"/>
          </a:xfrm>
        </p:spPr>
        <p:txBody>
          <a:bodyPr/>
          <a:lstStyle>
            <a:lvl1pPr>
              <a:defRPr sz="3086"/>
            </a:lvl1pPr>
            <a:lvl2pPr>
              <a:defRPr sz="2646"/>
            </a:lvl2pPr>
            <a:lvl3pPr>
              <a:defRPr sz="2205"/>
            </a:lvl3pPr>
            <a:lvl4pPr>
              <a:defRPr sz="1984"/>
            </a:lvl4pPr>
            <a:lvl5pPr>
              <a:defRPr sz="1984"/>
            </a:lvl5pPr>
            <a:lvl6pPr>
              <a:defRPr sz="1984"/>
            </a:lvl6pPr>
            <a:lvl7pPr>
              <a:defRPr sz="1984"/>
            </a:lvl7pPr>
            <a:lvl8pPr>
              <a:defRPr sz="1984"/>
            </a:lvl8pPr>
            <a:lvl9pPr>
              <a:defRPr sz="198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24318" y="1399897"/>
            <a:ext cx="4452276" cy="5353063"/>
          </a:xfrm>
        </p:spPr>
        <p:txBody>
          <a:bodyPr/>
          <a:lstStyle>
            <a:lvl1pPr>
              <a:defRPr sz="3086"/>
            </a:lvl1pPr>
            <a:lvl2pPr>
              <a:defRPr sz="2646"/>
            </a:lvl2pPr>
            <a:lvl3pPr>
              <a:defRPr sz="2205"/>
            </a:lvl3pPr>
            <a:lvl4pPr>
              <a:defRPr sz="1984"/>
            </a:lvl4pPr>
            <a:lvl5pPr>
              <a:defRPr sz="1984"/>
            </a:lvl5pPr>
            <a:lvl6pPr>
              <a:defRPr sz="1984"/>
            </a:lvl6pPr>
            <a:lvl7pPr>
              <a:defRPr sz="1984"/>
            </a:lvl7pPr>
            <a:lvl8pPr>
              <a:defRPr sz="1984"/>
            </a:lvl8pPr>
            <a:lvl9pPr>
              <a:defRPr sz="198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504031" y="7307290"/>
            <a:ext cx="2525762" cy="252385"/>
          </a:xfrm>
          <a:prstGeom prst="rect">
            <a:avLst/>
          </a:prstGeom>
        </p:spPr>
        <p:txBody>
          <a:bodyPr/>
          <a:lstStyle/>
          <a:p>
            <a:fld id="{8EF583E3-C04C-E649-9FC4-BBB7F8DFC670}" type="datetime4">
              <a:rPr lang="en-US" smtClean="0"/>
              <a:t>March 26, 2025</a:t>
            </a:fld>
            <a:endParaRPr lang="en-US"/>
          </a:p>
        </p:txBody>
      </p:sp>
      <p:sp>
        <p:nvSpPr>
          <p:cNvPr id="6" name="Footer Placeholder 5"/>
          <p:cNvSpPr>
            <a:spLocks noGrp="1"/>
          </p:cNvSpPr>
          <p:nvPr>
            <p:ph type="ftr" sz="quarter" idx="11"/>
          </p:nvPr>
        </p:nvSpPr>
        <p:spPr>
          <a:xfrm>
            <a:off x="895598" y="6915653"/>
            <a:ext cx="8680996" cy="334538"/>
          </a:xfrm>
          <a:prstGeom prst="rect">
            <a:avLst/>
          </a:prstGeom>
        </p:spPr>
        <p:txBody>
          <a:bodyPr/>
          <a:lstStyle/>
          <a:p>
            <a:r>
              <a:rPr lang="en-US"/>
              <a:t>Event-Driven Programming</a:t>
            </a:r>
          </a:p>
        </p:txBody>
      </p:sp>
      <p:sp>
        <p:nvSpPr>
          <p:cNvPr id="7" name="Slide Number Placeholder 6"/>
          <p:cNvSpPr>
            <a:spLocks noGrp="1"/>
          </p:cNvSpPr>
          <p:nvPr>
            <p:ph type="sldNum" sz="quarter" idx="12"/>
          </p:nvPr>
        </p:nvSpPr>
        <p:spPr>
          <a:xfrm>
            <a:off x="8372722" y="7309524"/>
            <a:ext cx="1203872" cy="250151"/>
          </a:xfrm>
          <a:prstGeom prst="rect">
            <a:avLst/>
          </a:prstGeom>
        </p:spPr>
        <p:txBody>
          <a:bodyPr/>
          <a:lstStyle/>
          <a:p>
            <a:fld id="{A85782A5-310D-064D-97B2-7CD9DCF5F4D7}" type="slidenum">
              <a:rPr lang="en-US" smtClean="0"/>
              <a:t>‹#›</a:t>
            </a:fld>
            <a:endParaRPr lang="en-US"/>
          </a:p>
        </p:txBody>
      </p:sp>
    </p:spTree>
    <p:extLst>
      <p:ext uri="{BB962C8B-B14F-4D97-AF65-F5344CB8AC3E}">
        <p14:creationId xmlns:p14="http://schemas.microsoft.com/office/powerpoint/2010/main" val="1979443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30"/>
        <p:cNvGrpSpPr/>
        <p:nvPr/>
      </p:nvGrpSpPr>
      <p:grpSpPr>
        <a:xfrm>
          <a:off x="0" y="0"/>
          <a:ext cx="0" cy="0"/>
          <a:chOff x="0" y="0"/>
          <a:chExt cx="0" cy="0"/>
        </a:xfrm>
      </p:grpSpPr>
      <p:sp>
        <p:nvSpPr>
          <p:cNvPr id="31" name="Google Shape;31;p63"/>
          <p:cNvSpPr txBox="1">
            <a:spLocks noGrp="1"/>
          </p:cNvSpPr>
          <p:nvPr>
            <p:ph type="title"/>
          </p:nvPr>
        </p:nvSpPr>
        <p:spPr>
          <a:xfrm>
            <a:off x="1230312" y="309562"/>
            <a:ext cx="7772401" cy="1260475"/>
          </a:xfrm>
          <a:prstGeom prst="rect">
            <a:avLst/>
          </a:prstGeom>
          <a:noFill/>
          <a:ln>
            <a:noFill/>
          </a:ln>
        </p:spPr>
        <p:txBody>
          <a:bodyPr spcFirstLastPara="1" wrap="square" lIns="0" tIns="0" rIns="0" bIns="0" anchor="ctr" anchorCtr="0">
            <a:noAutofit/>
          </a:bodyPr>
          <a:lstStyle>
            <a:lvl1pPr lvl="0" algn="ctr">
              <a:lnSpc>
                <a:spcPct val="117000"/>
              </a:lnSpc>
              <a:spcBef>
                <a:spcPts val="0"/>
              </a:spcBef>
              <a:spcAft>
                <a:spcPts val="0"/>
              </a:spcAft>
              <a:buSzPts val="1400"/>
              <a:buNone/>
              <a:defRPr/>
            </a:lvl1pPr>
            <a:lvl2pPr lvl="1" algn="ctr">
              <a:lnSpc>
                <a:spcPct val="117000"/>
              </a:lnSpc>
              <a:spcBef>
                <a:spcPts val="0"/>
              </a:spcBef>
              <a:spcAft>
                <a:spcPts val="0"/>
              </a:spcAft>
              <a:buSzPts val="1400"/>
              <a:buNone/>
              <a:defRPr/>
            </a:lvl2pPr>
            <a:lvl3pPr lvl="2" algn="ctr">
              <a:lnSpc>
                <a:spcPct val="117000"/>
              </a:lnSpc>
              <a:spcBef>
                <a:spcPts val="0"/>
              </a:spcBef>
              <a:spcAft>
                <a:spcPts val="0"/>
              </a:spcAft>
              <a:buSzPts val="1400"/>
              <a:buNone/>
              <a:defRPr/>
            </a:lvl3pPr>
            <a:lvl4pPr lvl="3" algn="ctr">
              <a:lnSpc>
                <a:spcPct val="117000"/>
              </a:lnSpc>
              <a:spcBef>
                <a:spcPts val="0"/>
              </a:spcBef>
              <a:spcAft>
                <a:spcPts val="0"/>
              </a:spcAft>
              <a:buSzPts val="1400"/>
              <a:buNone/>
              <a:defRPr/>
            </a:lvl4pPr>
            <a:lvl5pPr lvl="4" algn="ctr">
              <a:lnSpc>
                <a:spcPct val="117000"/>
              </a:lnSpc>
              <a:spcBef>
                <a:spcPts val="0"/>
              </a:spcBef>
              <a:spcAft>
                <a:spcPts val="0"/>
              </a:spcAft>
              <a:buSzPts val="1400"/>
              <a:buNone/>
              <a:defRPr/>
            </a:lvl5pPr>
            <a:lvl6pPr lvl="5" algn="ctr">
              <a:lnSpc>
                <a:spcPct val="117000"/>
              </a:lnSpc>
              <a:spcBef>
                <a:spcPts val="0"/>
              </a:spcBef>
              <a:spcAft>
                <a:spcPts val="0"/>
              </a:spcAft>
              <a:buSzPts val="1400"/>
              <a:buNone/>
              <a:defRPr/>
            </a:lvl6pPr>
            <a:lvl7pPr lvl="6" algn="ctr">
              <a:lnSpc>
                <a:spcPct val="117000"/>
              </a:lnSpc>
              <a:spcBef>
                <a:spcPts val="0"/>
              </a:spcBef>
              <a:spcAft>
                <a:spcPts val="0"/>
              </a:spcAft>
              <a:buSzPts val="1400"/>
              <a:buNone/>
              <a:defRPr/>
            </a:lvl7pPr>
            <a:lvl8pPr lvl="7" algn="ctr">
              <a:lnSpc>
                <a:spcPct val="117000"/>
              </a:lnSpc>
              <a:spcBef>
                <a:spcPts val="0"/>
              </a:spcBef>
              <a:spcAft>
                <a:spcPts val="0"/>
              </a:spcAft>
              <a:buSzPts val="1400"/>
              <a:buNone/>
              <a:defRPr/>
            </a:lvl8pPr>
            <a:lvl9pPr lvl="8" algn="ctr">
              <a:lnSpc>
                <a:spcPct val="117000"/>
              </a:lnSpc>
              <a:spcBef>
                <a:spcPts val="0"/>
              </a:spcBef>
              <a:spcAft>
                <a:spcPts val="0"/>
              </a:spcAft>
              <a:buSzPts val="1400"/>
              <a:buNone/>
              <a:defRPr/>
            </a:lvl9pPr>
          </a:lstStyle>
          <a:p>
            <a:endParaRPr/>
          </a:p>
        </p:txBody>
      </p:sp>
      <p:sp>
        <p:nvSpPr>
          <p:cNvPr id="32" name="Google Shape;32;p63"/>
          <p:cNvSpPr txBox="1">
            <a:spLocks noGrp="1"/>
          </p:cNvSpPr>
          <p:nvPr>
            <p:ph type="body" idx="1"/>
          </p:nvPr>
        </p:nvSpPr>
        <p:spPr>
          <a:xfrm>
            <a:off x="487167" y="1570037"/>
            <a:ext cx="9143999" cy="5334000"/>
          </a:xfrm>
          <a:prstGeom prst="rect">
            <a:avLst/>
          </a:prstGeom>
          <a:noFill/>
          <a:ln>
            <a:noFill/>
          </a:ln>
        </p:spPr>
        <p:txBody>
          <a:bodyPr spcFirstLastPara="1" wrap="square" lIns="0" tIns="0" rIns="0" bIns="0" anchor="t" anchorCtr="0">
            <a:noAutofit/>
          </a:bodyPr>
          <a:lstStyle>
            <a:lvl1pPr marL="457200" lvl="0" indent="-342900" algn="l">
              <a:lnSpc>
                <a:spcPct val="117000"/>
              </a:lnSpc>
              <a:spcBef>
                <a:spcPts val="0"/>
              </a:spcBef>
              <a:spcAft>
                <a:spcPts val="0"/>
              </a:spcAft>
              <a:buSzPts val="1800"/>
              <a:buChar char="▪"/>
              <a:defRPr/>
            </a:lvl1pPr>
            <a:lvl2pPr marL="914400" lvl="1" indent="-342900" algn="l">
              <a:lnSpc>
                <a:spcPct val="117000"/>
              </a:lnSpc>
              <a:spcBef>
                <a:spcPts val="1413"/>
              </a:spcBef>
              <a:spcAft>
                <a:spcPts val="0"/>
              </a:spcAft>
              <a:buSzPts val="1800"/>
              <a:buChar char="»"/>
              <a:defRPr/>
            </a:lvl2pPr>
            <a:lvl3pPr marL="1371600" lvl="2" indent="-342900" algn="l">
              <a:lnSpc>
                <a:spcPct val="117000"/>
              </a:lnSpc>
              <a:spcBef>
                <a:spcPts val="1138"/>
              </a:spcBef>
              <a:spcAft>
                <a:spcPts val="0"/>
              </a:spcAft>
              <a:buSzPts val="1800"/>
              <a:buChar char="▪"/>
              <a:defRPr/>
            </a:lvl3pPr>
            <a:lvl4pPr marL="1828800" lvl="3" indent="-342900" algn="l">
              <a:lnSpc>
                <a:spcPct val="117000"/>
              </a:lnSpc>
              <a:spcBef>
                <a:spcPts val="850"/>
              </a:spcBef>
              <a:spcAft>
                <a:spcPts val="0"/>
              </a:spcAft>
              <a:buSzPts val="1800"/>
              <a:buChar char="▪"/>
              <a:defRPr/>
            </a:lvl4pPr>
            <a:lvl5pPr marL="2286000" lvl="4" indent="-342900" algn="l">
              <a:lnSpc>
                <a:spcPct val="117000"/>
              </a:lnSpc>
              <a:spcBef>
                <a:spcPts val="575"/>
              </a:spcBef>
              <a:spcAft>
                <a:spcPts val="0"/>
              </a:spcAft>
              <a:buSzPts val="1800"/>
              <a:buChar char="▪"/>
              <a:defRPr/>
            </a:lvl5pPr>
            <a:lvl6pPr marL="2743200" lvl="5" indent="-228600" algn="l">
              <a:lnSpc>
                <a:spcPct val="117000"/>
              </a:lnSpc>
              <a:spcBef>
                <a:spcPts val="288"/>
              </a:spcBef>
              <a:spcAft>
                <a:spcPts val="0"/>
              </a:spcAft>
              <a:buSzPts val="1400"/>
              <a:buNone/>
              <a:defRPr/>
            </a:lvl6pPr>
            <a:lvl7pPr marL="3200400" lvl="6" indent="-228600" algn="l">
              <a:lnSpc>
                <a:spcPct val="117000"/>
              </a:lnSpc>
              <a:spcBef>
                <a:spcPts val="288"/>
              </a:spcBef>
              <a:spcAft>
                <a:spcPts val="0"/>
              </a:spcAft>
              <a:buSzPts val="1400"/>
              <a:buNone/>
              <a:defRPr/>
            </a:lvl7pPr>
            <a:lvl8pPr marL="3657600" lvl="7" indent="-228600" algn="l">
              <a:lnSpc>
                <a:spcPct val="117000"/>
              </a:lnSpc>
              <a:spcBef>
                <a:spcPts val="288"/>
              </a:spcBef>
              <a:spcAft>
                <a:spcPts val="0"/>
              </a:spcAft>
              <a:buSzPts val="1400"/>
              <a:buNone/>
              <a:defRPr/>
            </a:lvl8pPr>
            <a:lvl9pPr marL="4114800" lvl="8" indent="-228600" algn="l">
              <a:lnSpc>
                <a:spcPct val="117000"/>
              </a:lnSpc>
              <a:spcBef>
                <a:spcPts val="288"/>
              </a:spcBef>
              <a:spcAft>
                <a:spcPts val="288"/>
              </a:spcAft>
              <a:buSzPts val="1400"/>
              <a:buNone/>
              <a:defRPr/>
            </a:lvl9pPr>
          </a:lstStyle>
          <a:p>
            <a:endParaRPr/>
          </a:p>
        </p:txBody>
      </p:sp>
    </p:spTree>
    <p:extLst>
      <p:ext uri="{BB962C8B-B14F-4D97-AF65-F5344CB8AC3E}">
        <p14:creationId xmlns:p14="http://schemas.microsoft.com/office/powerpoint/2010/main" val="7764145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8" name="Rectangle 8">
            <a:extLst>
              <a:ext uri="{FF2B5EF4-FFF2-40B4-BE49-F238E27FC236}">
                <a16:creationId xmlns:a16="http://schemas.microsoft.com/office/drawing/2014/main" id="{B9D9CB32-BDF9-4D6D-A87C-6E08D9474AFB}"/>
              </a:ext>
            </a:extLst>
          </p:cNvPr>
          <p:cNvSpPr>
            <a:spLocks noGrp="1" noChangeArrowheads="1"/>
          </p:cNvSpPr>
          <p:nvPr>
            <p:ph type="title"/>
          </p:nvPr>
        </p:nvSpPr>
        <p:spPr bwMode="auto">
          <a:xfrm>
            <a:off x="1196652" y="1580614"/>
            <a:ext cx="7772401" cy="1040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US"/>
              <a:t>Click to edit the title text format</a:t>
            </a:r>
          </a:p>
        </p:txBody>
      </p:sp>
      <p:sp>
        <p:nvSpPr>
          <p:cNvPr id="13" name="Rectangle 9">
            <a:extLst>
              <a:ext uri="{FF2B5EF4-FFF2-40B4-BE49-F238E27FC236}">
                <a16:creationId xmlns:a16="http://schemas.microsoft.com/office/drawing/2014/main" id="{892413C1-E145-46D9-BDF4-3C6BB05EEAB5}"/>
              </a:ext>
            </a:extLst>
          </p:cNvPr>
          <p:cNvSpPr>
            <a:spLocks noGrp="1" noChangeArrowheads="1"/>
          </p:cNvSpPr>
          <p:nvPr>
            <p:ph type="body" idx="1"/>
          </p:nvPr>
        </p:nvSpPr>
        <p:spPr bwMode="auto">
          <a:xfrm>
            <a:off x="548158" y="2722405"/>
            <a:ext cx="9069387" cy="31341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4"/>
            <a:r>
              <a:rPr lang="en-US"/>
              <a:t>Sixth Outline Level</a:t>
            </a:r>
          </a:p>
          <a:p>
            <a:pPr lvl="4"/>
            <a:r>
              <a:rPr lang="en-US"/>
              <a:t>Seventh Outline Level</a:t>
            </a:r>
          </a:p>
          <a:p>
            <a:pPr lvl="4"/>
            <a:r>
              <a:rPr lang="en-US"/>
              <a:t>Eighth Outline Level</a:t>
            </a:r>
          </a:p>
          <a:p>
            <a:pPr lvl="4"/>
            <a:r>
              <a:rPr lang="en-US"/>
              <a:t>Ninth Outline Level</a:t>
            </a:r>
          </a:p>
        </p:txBody>
      </p:sp>
      <p:sp>
        <p:nvSpPr>
          <p:cNvPr id="14" name="Rectangle 13">
            <a:extLst>
              <a:ext uri="{FF2B5EF4-FFF2-40B4-BE49-F238E27FC236}">
                <a16:creationId xmlns:a16="http://schemas.microsoft.com/office/drawing/2014/main" id="{F6D5F2CC-61BF-4B4F-B5C8-F6D945C623B4}"/>
              </a:ext>
            </a:extLst>
          </p:cNvPr>
          <p:cNvSpPr/>
          <p:nvPr userDrawn="1"/>
        </p:nvSpPr>
        <p:spPr bwMode="auto">
          <a:xfrm>
            <a:off x="-1" y="0"/>
            <a:ext cx="10080625" cy="1112837"/>
          </a:xfrm>
          <a:prstGeom prst="rect">
            <a:avLst/>
          </a:prstGeom>
          <a:solidFill>
            <a:srgbClr val="E3DE00">
              <a:alpha val="50196"/>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pPr>
            <a:endParaRPr kumimoji="0" lang="en-US" sz="2200" b="1" i="0" u="none" strike="noStrike" cap="none" normalizeH="0" baseline="0">
              <a:ln>
                <a:noFill/>
              </a:ln>
              <a:effectLst/>
              <a:latin typeface="Georgia" panose="02040502050405020303" pitchFamily="18" charset="0"/>
              <a:cs typeface="Cordia New" pitchFamily="34" charset="-34"/>
            </a:endParaRPr>
          </a:p>
        </p:txBody>
      </p:sp>
      <p:sp>
        <p:nvSpPr>
          <p:cNvPr id="15" name="Rectangle 14">
            <a:extLst>
              <a:ext uri="{FF2B5EF4-FFF2-40B4-BE49-F238E27FC236}">
                <a16:creationId xmlns:a16="http://schemas.microsoft.com/office/drawing/2014/main" id="{10ACCFFC-7B96-446B-B5EC-DBCBBD32FD97}"/>
              </a:ext>
            </a:extLst>
          </p:cNvPr>
          <p:cNvSpPr/>
          <p:nvPr userDrawn="1"/>
        </p:nvSpPr>
        <p:spPr bwMode="auto">
          <a:xfrm>
            <a:off x="-1" y="1112837"/>
            <a:ext cx="10080624" cy="366523"/>
          </a:xfrm>
          <a:prstGeom prst="rect">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pPr>
            <a:r>
              <a:rPr kumimoji="0" lang="en-US" sz="2000" b="1" i="0" u="none" strike="noStrike" cap="none" normalizeH="0" baseline="0">
                <a:ln>
                  <a:noFill/>
                </a:ln>
                <a:solidFill>
                  <a:schemeClr val="bg1"/>
                </a:solidFill>
                <a:effectLst/>
                <a:latin typeface="Georgia" panose="02040502050405020303" pitchFamily="18" charset="0"/>
                <a:cs typeface="Cordia New" pitchFamily="34" charset="-34"/>
              </a:rPr>
              <a:t>School of Computing &amp; Data Science</a:t>
            </a:r>
          </a:p>
        </p:txBody>
      </p:sp>
      <p:pic>
        <p:nvPicPr>
          <p:cNvPr id="16" name="Picture 2" descr="Branding Guidelines | Wentworth">
            <a:extLst>
              <a:ext uri="{FF2B5EF4-FFF2-40B4-BE49-F238E27FC236}">
                <a16:creationId xmlns:a16="http://schemas.microsoft.com/office/drawing/2014/main" id="{C559D3AF-BD20-44DC-8C1F-98AC6BFBDD40}"/>
              </a:ext>
            </a:extLst>
          </p:cNvPr>
          <p:cNvPicPr>
            <a:picLocks noChangeAspect="1" noChangeArrowheads="1"/>
          </p:cNvPicPr>
          <p:nvPr userDrawn="1"/>
        </p:nvPicPr>
        <p:blipFill rotWithShape="1">
          <a:blip r:embed="rId4" cstate="print">
            <a:extLst>
              <a:ext uri="{28A0092B-C50C-407E-A947-70E740481C1C}">
                <a14:useLocalDpi xmlns:a14="http://schemas.microsoft.com/office/drawing/2010/main" val="0"/>
              </a:ext>
            </a:extLst>
          </a:blip>
          <a:srcRect l="3473" t="21401" r="2808" b="17625"/>
          <a:stretch/>
        </p:blipFill>
        <p:spPr bwMode="auto">
          <a:xfrm>
            <a:off x="1866078" y="122237"/>
            <a:ext cx="6705600" cy="88584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D22CA55-62BF-4C94-A272-3FD56DEED2DA}"/>
              </a:ext>
            </a:extLst>
          </p:cNvPr>
          <p:cNvPicPr>
            <a:picLocks noChangeAspect="1"/>
          </p:cNvPicPr>
          <p:nvPr userDrawn="1"/>
        </p:nvPicPr>
        <p:blipFill>
          <a:blip r:embed="rId5" cstate="print">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a:off x="9155112" y="220079"/>
            <a:ext cx="588602" cy="705477"/>
          </a:xfrm>
          <a:prstGeom prst="rect">
            <a:avLst/>
          </a:prstGeom>
        </p:spPr>
      </p:pic>
      <p:pic>
        <p:nvPicPr>
          <p:cNvPr id="10" name="Picture 9">
            <a:extLst>
              <a:ext uri="{FF2B5EF4-FFF2-40B4-BE49-F238E27FC236}">
                <a16:creationId xmlns:a16="http://schemas.microsoft.com/office/drawing/2014/main" id="{D17B7479-6EEF-4822-B748-A3A59F1C80EE}"/>
              </a:ext>
            </a:extLst>
          </p:cNvPr>
          <p:cNvPicPr>
            <a:picLocks noChangeAspect="1"/>
          </p:cNvPicPr>
          <p:nvPr userDrawn="1"/>
        </p:nvPicPr>
        <p:blipFill>
          <a:blip r:embed="rId5" cstate="print">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a:off x="548160" y="198437"/>
            <a:ext cx="588602" cy="705477"/>
          </a:xfrm>
          <a:prstGeom prst="rect">
            <a:avLst/>
          </a:prstGeom>
        </p:spPr>
      </p:pic>
    </p:spTree>
    <p:extLst>
      <p:ext uri="{BB962C8B-B14F-4D97-AF65-F5344CB8AC3E}">
        <p14:creationId xmlns:p14="http://schemas.microsoft.com/office/powerpoint/2010/main" val="3515345073"/>
      </p:ext>
    </p:extLst>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p:txStyles>
    <p:titleStyle>
      <a:lvl1pPr algn="ctr" defTabSz="449263" rtl="0" eaLnBrk="1" fontAlgn="base" hangingPunct="1">
        <a:lnSpc>
          <a:spcPct val="117000"/>
        </a:lnSpc>
        <a:spcBef>
          <a:spcPct val="0"/>
        </a:spcBef>
        <a:spcAft>
          <a:spcPct val="0"/>
        </a:spcAft>
        <a:buClr>
          <a:srgbClr val="000000"/>
        </a:buClr>
        <a:buSzPct val="100000"/>
        <a:buFont typeface="Times New Roman" pitchFamily="16" charset="0"/>
        <a:defRPr sz="3600">
          <a:solidFill>
            <a:srgbClr val="820000"/>
          </a:solidFill>
          <a:latin typeface="Tahoma" pitchFamily="34" charset="0"/>
          <a:ea typeface="Tahoma" pitchFamily="34" charset="0"/>
          <a:cs typeface="Tahoma" pitchFamily="34" charset="0"/>
        </a:defRPr>
      </a:lvl1pPr>
      <a:lvl2pPr marL="742950" indent="-28575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2pPr>
      <a:lvl3pPr marL="11430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3pPr>
      <a:lvl4pPr marL="16002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4pPr>
      <a:lvl5pPr marL="20574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5pPr>
      <a:lvl6pPr marL="25146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6pPr>
      <a:lvl7pPr marL="29718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7pPr>
      <a:lvl8pPr marL="34290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8pPr>
      <a:lvl9pPr marL="38862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9pPr>
    </p:titleStyle>
    <p:bodyStyle>
      <a:lvl1pPr marL="457200" indent="-274320" algn="l" defTabSz="449263" rtl="0" eaLnBrk="1" fontAlgn="base" hangingPunct="1">
        <a:lnSpc>
          <a:spcPct val="100000"/>
        </a:lnSpc>
        <a:spcBef>
          <a:spcPct val="0"/>
        </a:spcBef>
        <a:spcAft>
          <a:spcPts val="1413"/>
        </a:spcAft>
        <a:buClr>
          <a:srgbClr val="820000"/>
        </a:buClr>
        <a:buSzPct val="100000"/>
        <a:buFont typeface="Wingdings" pitchFamily="2" charset="2"/>
        <a:buChar char="§"/>
        <a:defRPr sz="3200">
          <a:solidFill>
            <a:srgbClr val="000000"/>
          </a:solidFill>
          <a:latin typeface="Tahoma" pitchFamily="34" charset="0"/>
          <a:ea typeface="Tahoma" pitchFamily="34" charset="0"/>
          <a:cs typeface="Tahoma" pitchFamily="34" charset="0"/>
        </a:defRPr>
      </a:lvl1pPr>
      <a:lvl2pPr marL="914400" indent="-274320" algn="l" defTabSz="449263" rtl="0" eaLnBrk="1" fontAlgn="base" hangingPunct="1">
        <a:lnSpc>
          <a:spcPct val="100000"/>
        </a:lnSpc>
        <a:spcBef>
          <a:spcPct val="0"/>
        </a:spcBef>
        <a:spcAft>
          <a:spcPts val="1138"/>
        </a:spcAft>
        <a:buClr>
          <a:srgbClr val="820000"/>
        </a:buClr>
        <a:buSzPct val="100000"/>
        <a:buFont typeface="Verdana" pitchFamily="34" charset="0"/>
        <a:buChar char="»"/>
        <a:defRPr sz="2800">
          <a:solidFill>
            <a:srgbClr val="000000"/>
          </a:solidFill>
          <a:latin typeface="Tahoma" pitchFamily="34" charset="0"/>
          <a:ea typeface="Tahoma" pitchFamily="34" charset="0"/>
          <a:cs typeface="Tahoma" pitchFamily="34" charset="0"/>
        </a:defRPr>
      </a:lvl2pPr>
      <a:lvl3pPr marL="1257300" indent="-274320" algn="l" defTabSz="449263" rtl="0" eaLnBrk="1" fontAlgn="base" hangingPunct="1">
        <a:lnSpc>
          <a:spcPct val="100000"/>
        </a:lnSpc>
        <a:spcBef>
          <a:spcPct val="0"/>
        </a:spcBef>
        <a:spcAft>
          <a:spcPts val="850"/>
        </a:spcAft>
        <a:buClr>
          <a:srgbClr val="820000"/>
        </a:buClr>
        <a:buSzPct val="100000"/>
        <a:buFont typeface="Wingdings" pitchFamily="2" charset="2"/>
        <a:buChar char="§"/>
        <a:defRPr sz="2400">
          <a:solidFill>
            <a:srgbClr val="000000"/>
          </a:solidFill>
          <a:latin typeface="Tahoma" pitchFamily="34" charset="0"/>
          <a:ea typeface="Tahoma" pitchFamily="34" charset="0"/>
          <a:cs typeface="Tahoma" pitchFamily="34" charset="0"/>
        </a:defRPr>
      </a:lvl3pPr>
      <a:lvl4pPr marL="1714500" indent="-342900" algn="l" defTabSz="449263" rtl="0" eaLnBrk="1" fontAlgn="base" hangingPunct="1">
        <a:lnSpc>
          <a:spcPct val="100000"/>
        </a:lnSpc>
        <a:spcBef>
          <a:spcPct val="0"/>
        </a:spcBef>
        <a:spcAft>
          <a:spcPts val="575"/>
        </a:spcAft>
        <a:buClr>
          <a:srgbClr val="820000"/>
        </a:buClr>
        <a:buSzPct val="100000"/>
        <a:buFont typeface="Wingdings" pitchFamily="2" charset="2"/>
        <a:buChar char="§"/>
        <a:defRPr sz="2000">
          <a:solidFill>
            <a:srgbClr val="000000"/>
          </a:solidFill>
          <a:latin typeface="Tahoma" pitchFamily="34" charset="0"/>
          <a:ea typeface="Tahoma" pitchFamily="34" charset="0"/>
          <a:cs typeface="Tahoma" pitchFamily="34" charset="0"/>
        </a:defRPr>
      </a:lvl4pPr>
      <a:lvl5pPr marL="2171700" indent="-342900" algn="l" defTabSz="449263" rtl="0" eaLnBrk="1" fontAlgn="base" hangingPunct="1">
        <a:lnSpc>
          <a:spcPct val="100000"/>
        </a:lnSpc>
        <a:spcBef>
          <a:spcPct val="0"/>
        </a:spcBef>
        <a:spcAft>
          <a:spcPts val="288"/>
        </a:spcAft>
        <a:buClr>
          <a:srgbClr val="820000"/>
        </a:buClr>
        <a:buSzPct val="100000"/>
        <a:buFont typeface="Wingdings" pitchFamily="2" charset="2"/>
        <a:buChar char="§"/>
        <a:defRPr sz="2000">
          <a:solidFill>
            <a:srgbClr val="000000"/>
          </a:solidFill>
          <a:latin typeface="Tahoma" pitchFamily="34" charset="0"/>
          <a:ea typeface="Tahoma" pitchFamily="34" charset="0"/>
          <a:cs typeface="Tahoma" pitchFamily="34" charset="0"/>
        </a:defRPr>
      </a:lvl5pPr>
      <a:lvl6pPr marL="25146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025" name="Line 1"/>
          <p:cNvSpPr>
            <a:spLocks noChangeShapeType="1"/>
          </p:cNvSpPr>
          <p:nvPr/>
        </p:nvSpPr>
        <p:spPr bwMode="auto">
          <a:xfrm>
            <a:off x="134447" y="7132637"/>
            <a:ext cx="978266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7" name="Text Box 3"/>
          <p:cNvSpPr txBox="1">
            <a:spLocks noChangeArrowheads="1"/>
          </p:cNvSpPr>
          <p:nvPr/>
        </p:nvSpPr>
        <p:spPr bwMode="auto">
          <a:xfrm>
            <a:off x="306485" y="7227691"/>
            <a:ext cx="1762027"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5876" rIns="0" bIns="0"/>
          <a:lstStyle>
            <a:lvl1pPr>
              <a:tabLst>
                <a:tab pos="723900" algn="l"/>
                <a:tab pos="1447800" algn="l"/>
                <a:tab pos="2171700" algn="l"/>
              </a:tabLst>
              <a:defRPr sz="2400">
                <a:solidFill>
                  <a:srgbClr val="000000"/>
                </a:solidFill>
                <a:latin typeface="Bitstream Vera Serif" pitchFamily="16" charset="0"/>
                <a:ea typeface="msmincho" charset="0"/>
                <a:cs typeface="msmincho" charset="0"/>
              </a:defRPr>
            </a:lvl1pPr>
            <a:lvl2pPr>
              <a:tabLst>
                <a:tab pos="723900" algn="l"/>
                <a:tab pos="1447800" algn="l"/>
                <a:tab pos="2171700" algn="l"/>
              </a:tabLst>
              <a:defRPr sz="2400">
                <a:solidFill>
                  <a:srgbClr val="000000"/>
                </a:solidFill>
                <a:latin typeface="Bitstream Vera Serif" pitchFamily="16" charset="0"/>
                <a:ea typeface="msmincho" charset="0"/>
                <a:cs typeface="msmincho" charset="0"/>
              </a:defRPr>
            </a:lvl2pPr>
            <a:lvl3pPr>
              <a:tabLst>
                <a:tab pos="723900" algn="l"/>
                <a:tab pos="1447800" algn="l"/>
                <a:tab pos="2171700" algn="l"/>
              </a:tabLst>
              <a:defRPr sz="2400">
                <a:solidFill>
                  <a:srgbClr val="000000"/>
                </a:solidFill>
                <a:latin typeface="Bitstream Vera Serif" pitchFamily="16" charset="0"/>
                <a:ea typeface="msmincho" charset="0"/>
                <a:cs typeface="msmincho" charset="0"/>
              </a:defRPr>
            </a:lvl3pPr>
            <a:lvl4pPr>
              <a:tabLst>
                <a:tab pos="723900" algn="l"/>
                <a:tab pos="1447800" algn="l"/>
                <a:tab pos="2171700" algn="l"/>
              </a:tabLst>
              <a:defRPr sz="2400">
                <a:solidFill>
                  <a:srgbClr val="000000"/>
                </a:solidFill>
                <a:latin typeface="Bitstream Vera Serif" pitchFamily="16" charset="0"/>
                <a:ea typeface="msmincho" charset="0"/>
                <a:cs typeface="msmincho" charset="0"/>
              </a:defRPr>
            </a:lvl4pPr>
            <a:lvl5pPr>
              <a:tabLst>
                <a:tab pos="723900" algn="l"/>
                <a:tab pos="1447800" algn="l"/>
                <a:tab pos="2171700" algn="l"/>
              </a:tabLst>
              <a:defRPr sz="2400">
                <a:solidFill>
                  <a:srgbClr val="000000"/>
                </a:solidFill>
                <a:latin typeface="Bitstream Vera Serif" pitchFamily="16" charset="0"/>
                <a:ea typeface="msmincho" charset="0"/>
                <a:cs typeface="msmincho" charset="0"/>
              </a:defRPr>
            </a:lvl5pPr>
            <a:lvl6pPr marL="25146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6pPr>
            <a:lvl7pPr marL="29718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7pPr>
            <a:lvl8pPr marL="34290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8pPr>
            <a:lvl9pPr marL="38862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9pPr>
          </a:lstStyle>
          <a:p>
            <a:pPr>
              <a:lnSpc>
                <a:spcPct val="93000"/>
              </a:lnSpc>
            </a:pPr>
            <a:r>
              <a:rPr lang="de-DE" sz="1600" i="0">
                <a:latin typeface="Tahoma" pitchFamily="34" charset="0"/>
                <a:ea typeface="Tahoma" pitchFamily="34" charset="0"/>
                <a:cs typeface="Tahoma" pitchFamily="34" charset="0"/>
              </a:rPr>
              <a:t>COMP1050</a:t>
            </a:r>
          </a:p>
        </p:txBody>
      </p:sp>
      <p:sp>
        <p:nvSpPr>
          <p:cNvPr id="1028" name="Text Box 4"/>
          <p:cNvSpPr txBox="1">
            <a:spLocks noChangeArrowheads="1"/>
          </p:cNvSpPr>
          <p:nvPr/>
        </p:nvSpPr>
        <p:spPr bwMode="auto">
          <a:xfrm>
            <a:off x="9011093" y="7227692"/>
            <a:ext cx="763047" cy="257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5876" rIns="0" bIns="0"/>
          <a:lstStyle/>
          <a:p>
            <a:pPr algn="r">
              <a:lnSpc>
                <a:spcPct val="93000"/>
              </a:lnSpc>
            </a:pPr>
            <a:fld id="{0CBF143C-F1D4-4CC7-8AA6-A94FC5CAAAF3}" type="slidenum">
              <a:rPr lang="de-DE" sz="1800">
                <a:solidFill>
                  <a:srgbClr val="000000"/>
                </a:solidFill>
                <a:latin typeface="Tahoma" pitchFamily="34" charset="0"/>
                <a:ea typeface="Tahoma" pitchFamily="34" charset="0"/>
                <a:cs typeface="Tahoma" pitchFamily="34" charset="0"/>
              </a:rPr>
              <a:pPr algn="r">
                <a:lnSpc>
                  <a:spcPct val="93000"/>
                </a:lnSpc>
              </a:pPr>
              <a:t>‹#›</a:t>
            </a:fld>
            <a:endParaRPr lang="de-DE" sz="1800">
              <a:solidFill>
                <a:srgbClr val="000000"/>
              </a:solidFill>
              <a:latin typeface="Tahoma" pitchFamily="34" charset="0"/>
              <a:ea typeface="Tahoma" pitchFamily="34" charset="0"/>
              <a:cs typeface="Tahoma" pitchFamily="34" charset="0"/>
            </a:endParaRPr>
          </a:p>
        </p:txBody>
      </p:sp>
      <p:sp>
        <p:nvSpPr>
          <p:cNvPr id="1032" name="Rectangle 8"/>
          <p:cNvSpPr>
            <a:spLocks noGrp="1" noChangeArrowheads="1"/>
          </p:cNvSpPr>
          <p:nvPr>
            <p:ph type="title"/>
          </p:nvPr>
        </p:nvSpPr>
        <p:spPr bwMode="auto">
          <a:xfrm>
            <a:off x="1230312" y="612007"/>
            <a:ext cx="7772401" cy="729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US"/>
              <a:t>Click to edit the title text format</a:t>
            </a:r>
          </a:p>
        </p:txBody>
      </p:sp>
      <p:sp>
        <p:nvSpPr>
          <p:cNvPr id="1033" name="Rectangle 9"/>
          <p:cNvSpPr>
            <a:spLocks noGrp="1" noChangeArrowheads="1"/>
          </p:cNvSpPr>
          <p:nvPr>
            <p:ph type="body" idx="1"/>
          </p:nvPr>
        </p:nvSpPr>
        <p:spPr bwMode="auto">
          <a:xfrm>
            <a:off x="503238" y="1436490"/>
            <a:ext cx="9069387" cy="54675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4"/>
            <a:r>
              <a:rPr lang="en-US"/>
              <a:t>Sixth Outline Level</a:t>
            </a:r>
          </a:p>
          <a:p>
            <a:pPr lvl="4"/>
            <a:r>
              <a:rPr lang="en-US"/>
              <a:t>Seventh Outline Level</a:t>
            </a:r>
          </a:p>
          <a:p>
            <a:pPr lvl="4"/>
            <a:r>
              <a:rPr lang="en-US"/>
              <a:t>Eighth Outline Level</a:t>
            </a:r>
          </a:p>
          <a:p>
            <a:pPr lvl="4"/>
            <a:r>
              <a:rPr lang="en-US"/>
              <a:t>Ninth Outline Level</a:t>
            </a:r>
          </a:p>
        </p:txBody>
      </p:sp>
      <p:sp>
        <p:nvSpPr>
          <p:cNvPr id="12" name="Line 1"/>
          <p:cNvSpPr>
            <a:spLocks noChangeShapeType="1"/>
          </p:cNvSpPr>
          <p:nvPr/>
        </p:nvSpPr>
        <p:spPr bwMode="auto">
          <a:xfrm>
            <a:off x="134447" y="1341437"/>
            <a:ext cx="978266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 name="Rectangle 1">
            <a:extLst>
              <a:ext uri="{FF2B5EF4-FFF2-40B4-BE49-F238E27FC236}">
                <a16:creationId xmlns:a16="http://schemas.microsoft.com/office/drawing/2014/main" id="{CACBA48C-005A-4F3D-9E31-7F5B1C34DC6C}"/>
              </a:ext>
            </a:extLst>
          </p:cNvPr>
          <p:cNvSpPr/>
          <p:nvPr userDrawn="1"/>
        </p:nvSpPr>
        <p:spPr bwMode="auto">
          <a:xfrm>
            <a:off x="-1" y="1"/>
            <a:ext cx="5040313" cy="516951"/>
          </a:xfrm>
          <a:prstGeom prst="rect">
            <a:avLst/>
          </a:prstGeom>
          <a:solidFill>
            <a:srgbClr val="E3DE00">
              <a:alpha val="50196"/>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pPr>
            <a:endParaRPr kumimoji="0" lang="en-US" sz="2200" b="1" i="0" u="none" strike="noStrike" cap="none" normalizeH="0" baseline="0">
              <a:ln>
                <a:noFill/>
              </a:ln>
              <a:effectLst/>
              <a:latin typeface="Georgia" panose="02040502050405020303" pitchFamily="18" charset="0"/>
              <a:cs typeface="Cordia New" pitchFamily="34" charset="-34"/>
            </a:endParaRPr>
          </a:p>
        </p:txBody>
      </p:sp>
      <p:sp>
        <p:nvSpPr>
          <p:cNvPr id="8" name="Rectangle 7">
            <a:extLst>
              <a:ext uri="{FF2B5EF4-FFF2-40B4-BE49-F238E27FC236}">
                <a16:creationId xmlns:a16="http://schemas.microsoft.com/office/drawing/2014/main" id="{6C75D1D9-A90D-453D-B673-4D5D6A8BF398}"/>
              </a:ext>
            </a:extLst>
          </p:cNvPr>
          <p:cNvSpPr/>
          <p:nvPr userDrawn="1"/>
        </p:nvSpPr>
        <p:spPr bwMode="auto">
          <a:xfrm>
            <a:off x="5025319" y="-4402"/>
            <a:ext cx="5055306" cy="516946"/>
          </a:xfrm>
          <a:prstGeom prst="rect">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pPr>
            <a:r>
              <a:rPr kumimoji="0" lang="en-US" sz="1600" b="1" i="0" u="none" strike="noStrike" cap="none" normalizeH="0" baseline="0">
                <a:ln>
                  <a:noFill/>
                </a:ln>
                <a:solidFill>
                  <a:schemeClr val="tx1"/>
                </a:solidFill>
                <a:effectLst/>
                <a:latin typeface="Georgia" panose="02040502050405020303" pitchFamily="18" charset="0"/>
                <a:cs typeface="Cordia New" pitchFamily="34" charset="-34"/>
              </a:rPr>
              <a:t>School of Computing &amp; Data Science</a:t>
            </a:r>
          </a:p>
        </p:txBody>
      </p:sp>
      <p:pic>
        <p:nvPicPr>
          <p:cNvPr id="9" name="Picture 2" descr="Branding Guidelines | Wentworth">
            <a:extLst>
              <a:ext uri="{FF2B5EF4-FFF2-40B4-BE49-F238E27FC236}">
                <a16:creationId xmlns:a16="http://schemas.microsoft.com/office/drawing/2014/main" id="{4B19A1CF-F143-4ABF-BCB6-08957CD5570F}"/>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val="0"/>
              </a:ext>
            </a:extLst>
          </a:blip>
          <a:srcRect l="3473" t="21401" r="2808" b="17625"/>
          <a:stretch/>
        </p:blipFill>
        <p:spPr bwMode="auto">
          <a:xfrm>
            <a:off x="696912" y="26696"/>
            <a:ext cx="3848343" cy="49466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D00F5E07-EF57-4226-AD34-FCA08732837D}"/>
              </a:ext>
            </a:extLst>
          </p:cNvPr>
          <p:cNvPicPr>
            <a:picLocks noChangeAspect="1"/>
          </p:cNvPicPr>
          <p:nvPr userDrawn="1"/>
        </p:nvPicPr>
        <p:blipFill>
          <a:blip r:embed="rId6" cstate="print">
            <a:clrChange>
              <a:clrFrom>
                <a:srgbClr val="FDFDFD"/>
              </a:clrFrom>
              <a:clrTo>
                <a:srgbClr val="FDFDFD">
                  <a:alpha val="0"/>
                </a:srgbClr>
              </a:clrTo>
            </a:clrChange>
            <a:extLst>
              <a:ext uri="{28A0092B-C50C-407E-A947-70E740481C1C}">
                <a14:useLocalDpi xmlns:a14="http://schemas.microsoft.com/office/drawing/2010/main" val="0"/>
              </a:ext>
            </a:extLst>
          </a:blip>
          <a:stretch>
            <a:fillRect/>
          </a:stretch>
        </p:blipFill>
        <p:spPr>
          <a:xfrm>
            <a:off x="4818225" y="16114"/>
            <a:ext cx="414188" cy="496430"/>
          </a:xfrm>
          <a:prstGeom prst="rect">
            <a:avLst/>
          </a:prstGeom>
        </p:spPr>
      </p:pic>
      <p:sp>
        <p:nvSpPr>
          <p:cNvPr id="14" name="Text Box 3">
            <a:extLst>
              <a:ext uri="{FF2B5EF4-FFF2-40B4-BE49-F238E27FC236}">
                <a16:creationId xmlns:a16="http://schemas.microsoft.com/office/drawing/2014/main" id="{A7BE0A97-ADA4-48F9-B3CB-C4967068DF48}"/>
              </a:ext>
            </a:extLst>
          </p:cNvPr>
          <p:cNvSpPr txBox="1">
            <a:spLocks noChangeArrowheads="1"/>
          </p:cNvSpPr>
          <p:nvPr userDrawn="1"/>
        </p:nvSpPr>
        <p:spPr bwMode="auto">
          <a:xfrm>
            <a:off x="4658789" y="7243128"/>
            <a:ext cx="1762027"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5876" rIns="0" bIns="0"/>
          <a:lstStyle>
            <a:lvl1pPr>
              <a:tabLst>
                <a:tab pos="723900" algn="l"/>
                <a:tab pos="1447800" algn="l"/>
                <a:tab pos="2171700" algn="l"/>
              </a:tabLst>
              <a:defRPr sz="2400">
                <a:solidFill>
                  <a:srgbClr val="000000"/>
                </a:solidFill>
                <a:latin typeface="Bitstream Vera Serif" pitchFamily="16" charset="0"/>
                <a:ea typeface="msmincho" charset="0"/>
                <a:cs typeface="msmincho" charset="0"/>
              </a:defRPr>
            </a:lvl1pPr>
            <a:lvl2pPr>
              <a:tabLst>
                <a:tab pos="723900" algn="l"/>
                <a:tab pos="1447800" algn="l"/>
                <a:tab pos="2171700" algn="l"/>
              </a:tabLst>
              <a:defRPr sz="2400">
                <a:solidFill>
                  <a:srgbClr val="000000"/>
                </a:solidFill>
                <a:latin typeface="Bitstream Vera Serif" pitchFamily="16" charset="0"/>
                <a:ea typeface="msmincho" charset="0"/>
                <a:cs typeface="msmincho" charset="0"/>
              </a:defRPr>
            </a:lvl2pPr>
            <a:lvl3pPr>
              <a:tabLst>
                <a:tab pos="723900" algn="l"/>
                <a:tab pos="1447800" algn="l"/>
                <a:tab pos="2171700" algn="l"/>
              </a:tabLst>
              <a:defRPr sz="2400">
                <a:solidFill>
                  <a:srgbClr val="000000"/>
                </a:solidFill>
                <a:latin typeface="Bitstream Vera Serif" pitchFamily="16" charset="0"/>
                <a:ea typeface="msmincho" charset="0"/>
                <a:cs typeface="msmincho" charset="0"/>
              </a:defRPr>
            </a:lvl3pPr>
            <a:lvl4pPr>
              <a:tabLst>
                <a:tab pos="723900" algn="l"/>
                <a:tab pos="1447800" algn="l"/>
                <a:tab pos="2171700" algn="l"/>
              </a:tabLst>
              <a:defRPr sz="2400">
                <a:solidFill>
                  <a:srgbClr val="000000"/>
                </a:solidFill>
                <a:latin typeface="Bitstream Vera Serif" pitchFamily="16" charset="0"/>
                <a:ea typeface="msmincho" charset="0"/>
                <a:cs typeface="msmincho" charset="0"/>
              </a:defRPr>
            </a:lvl4pPr>
            <a:lvl5pPr>
              <a:tabLst>
                <a:tab pos="723900" algn="l"/>
                <a:tab pos="1447800" algn="l"/>
                <a:tab pos="2171700" algn="l"/>
              </a:tabLst>
              <a:defRPr sz="2400">
                <a:solidFill>
                  <a:srgbClr val="000000"/>
                </a:solidFill>
                <a:latin typeface="Bitstream Vera Serif" pitchFamily="16" charset="0"/>
                <a:ea typeface="msmincho" charset="0"/>
                <a:cs typeface="msmincho" charset="0"/>
              </a:defRPr>
            </a:lvl5pPr>
            <a:lvl6pPr marL="25146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6pPr>
            <a:lvl7pPr marL="29718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7pPr>
            <a:lvl8pPr marL="34290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8pPr>
            <a:lvl9pPr marL="3886200" indent="-228600" defTabSz="449263" fontAlgn="base" hangingPunct="0">
              <a:lnSpc>
                <a:spcPct val="98000"/>
              </a:lnSpc>
              <a:spcBef>
                <a:spcPct val="0"/>
              </a:spcBef>
              <a:spcAft>
                <a:spcPct val="0"/>
              </a:spcAft>
              <a:buClr>
                <a:srgbClr val="000000"/>
              </a:buClr>
              <a:buSzPct val="100000"/>
              <a:buFont typeface="Times New Roman" pitchFamily="16" charset="0"/>
              <a:tabLst>
                <a:tab pos="723900" algn="l"/>
                <a:tab pos="1447800" algn="l"/>
                <a:tab pos="2171700" algn="l"/>
              </a:tabLst>
              <a:defRPr sz="2400">
                <a:solidFill>
                  <a:srgbClr val="000000"/>
                </a:solidFill>
                <a:latin typeface="Bitstream Vera Serif" pitchFamily="16" charset="0"/>
                <a:ea typeface="msmincho" charset="0"/>
                <a:cs typeface="msmincho" charset="0"/>
              </a:defRPr>
            </a:lvl9pPr>
          </a:lstStyle>
          <a:p>
            <a:pPr>
              <a:lnSpc>
                <a:spcPct val="93000"/>
              </a:lnSpc>
            </a:pPr>
            <a:r>
              <a:rPr lang="de-DE" sz="1600" i="0">
                <a:latin typeface="Tahoma" pitchFamily="34" charset="0"/>
                <a:ea typeface="Tahoma" pitchFamily="34" charset="0"/>
                <a:cs typeface="Tahoma" pitchFamily="34" charset="0"/>
              </a:rPr>
              <a:t>Professor Folajimi</a:t>
            </a:r>
          </a:p>
        </p:txBody>
      </p:sp>
    </p:spTree>
  </p:cSld>
  <p:clrMap bg1="lt1" tx1="dk1" bg2="lt2" tx2="dk2" accent1="accent1" accent2="accent2" accent3="accent3" accent4="accent4" accent5="accent5" accent6="accent6" hlink="hlink" folHlink="folHlink"/>
  <p:sldLayoutIdLst>
    <p:sldLayoutId id="2147483650" r:id="rId1"/>
    <p:sldLayoutId id="2147483654" r:id="rId2"/>
    <p:sldLayoutId id="2147483655" r:id="rId3"/>
  </p:sldLayoutIdLst>
  <p:hf sldNum="0" hdr="0" ftr="0"/>
  <p:txStyles>
    <p:titleStyle>
      <a:lvl1pPr algn="ctr" defTabSz="449263" rtl="0" eaLnBrk="1" fontAlgn="base" hangingPunct="1">
        <a:lnSpc>
          <a:spcPct val="117000"/>
        </a:lnSpc>
        <a:spcBef>
          <a:spcPct val="0"/>
        </a:spcBef>
        <a:spcAft>
          <a:spcPct val="0"/>
        </a:spcAft>
        <a:buClr>
          <a:srgbClr val="000000"/>
        </a:buClr>
        <a:buSzPct val="100000"/>
        <a:buFont typeface="Times New Roman" pitchFamily="16" charset="0"/>
        <a:defRPr sz="3600">
          <a:solidFill>
            <a:srgbClr val="820000"/>
          </a:solidFill>
          <a:latin typeface="Tahoma" pitchFamily="34" charset="0"/>
          <a:ea typeface="Tahoma" pitchFamily="34" charset="0"/>
          <a:cs typeface="Tahoma" pitchFamily="34" charset="0"/>
        </a:defRPr>
      </a:lvl1pPr>
      <a:lvl2pPr marL="742950" indent="-28575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2pPr>
      <a:lvl3pPr marL="11430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3pPr>
      <a:lvl4pPr marL="16002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4pPr>
      <a:lvl5pPr marL="20574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5pPr>
      <a:lvl6pPr marL="25146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6pPr>
      <a:lvl7pPr marL="29718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7pPr>
      <a:lvl8pPr marL="34290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8pPr>
      <a:lvl9pPr marL="3886200" indent="-228600" algn="ctr" defTabSz="449263" rtl="0" eaLnBrk="1" fontAlgn="base" hangingPunct="1">
        <a:lnSpc>
          <a:spcPct val="117000"/>
        </a:lnSpc>
        <a:spcBef>
          <a:spcPct val="0"/>
        </a:spcBef>
        <a:spcAft>
          <a:spcPct val="0"/>
        </a:spcAft>
        <a:buClr>
          <a:srgbClr val="000000"/>
        </a:buClr>
        <a:buSzPct val="100000"/>
        <a:buFont typeface="Times New Roman" pitchFamily="16" charset="0"/>
        <a:defRPr sz="4400">
          <a:solidFill>
            <a:srgbClr val="000000"/>
          </a:solidFill>
          <a:latin typeface="Comic Sans MS" charset="0"/>
          <a:ea typeface="msmincho" charset="0"/>
          <a:cs typeface="msmincho" charset="0"/>
        </a:defRPr>
      </a:lvl9pPr>
    </p:titleStyle>
    <p:bodyStyle>
      <a:lvl1pPr marL="457200" indent="-274320" algn="l" defTabSz="449263" rtl="0" eaLnBrk="1" fontAlgn="base" hangingPunct="1">
        <a:lnSpc>
          <a:spcPct val="100000"/>
        </a:lnSpc>
        <a:spcBef>
          <a:spcPct val="0"/>
        </a:spcBef>
        <a:spcAft>
          <a:spcPts val="0"/>
        </a:spcAft>
        <a:buClr>
          <a:srgbClr val="820000"/>
        </a:buClr>
        <a:buSzPct val="100000"/>
        <a:buFont typeface="Wingdings" pitchFamily="2" charset="2"/>
        <a:buChar char="§"/>
        <a:defRPr sz="3200">
          <a:solidFill>
            <a:srgbClr val="000000"/>
          </a:solidFill>
          <a:latin typeface="Tahoma" pitchFamily="34" charset="0"/>
          <a:ea typeface="Tahoma" pitchFamily="34" charset="0"/>
          <a:cs typeface="Tahoma" pitchFamily="34" charset="0"/>
        </a:defRPr>
      </a:lvl1pPr>
      <a:lvl2pPr marL="914400" indent="-274320" algn="l" defTabSz="449263" rtl="0" eaLnBrk="1" fontAlgn="base" hangingPunct="1">
        <a:lnSpc>
          <a:spcPct val="100000"/>
        </a:lnSpc>
        <a:spcBef>
          <a:spcPct val="0"/>
        </a:spcBef>
        <a:spcAft>
          <a:spcPts val="0"/>
        </a:spcAft>
        <a:buClr>
          <a:srgbClr val="820000"/>
        </a:buClr>
        <a:buSzPct val="100000"/>
        <a:buFont typeface="Verdana" pitchFamily="34" charset="0"/>
        <a:buChar char="»"/>
        <a:defRPr sz="2800">
          <a:solidFill>
            <a:srgbClr val="000000"/>
          </a:solidFill>
          <a:latin typeface="Tahoma" pitchFamily="34" charset="0"/>
          <a:ea typeface="Tahoma" pitchFamily="34" charset="0"/>
          <a:cs typeface="Tahoma" pitchFamily="34" charset="0"/>
        </a:defRPr>
      </a:lvl2pPr>
      <a:lvl3pPr marL="1257300" indent="-274320" algn="l" defTabSz="449263" rtl="0" eaLnBrk="1" fontAlgn="base" hangingPunct="1">
        <a:lnSpc>
          <a:spcPct val="100000"/>
        </a:lnSpc>
        <a:spcBef>
          <a:spcPct val="0"/>
        </a:spcBef>
        <a:spcAft>
          <a:spcPts val="0"/>
        </a:spcAft>
        <a:buClr>
          <a:srgbClr val="820000"/>
        </a:buClr>
        <a:buSzPct val="100000"/>
        <a:buFont typeface="Wingdings" pitchFamily="2" charset="2"/>
        <a:buChar char="§"/>
        <a:defRPr sz="2400">
          <a:solidFill>
            <a:srgbClr val="000000"/>
          </a:solidFill>
          <a:latin typeface="Tahoma" pitchFamily="34" charset="0"/>
          <a:ea typeface="Tahoma" pitchFamily="34" charset="0"/>
          <a:cs typeface="Tahoma" pitchFamily="34" charset="0"/>
        </a:defRPr>
      </a:lvl3pPr>
      <a:lvl4pPr marL="1714500" indent="-342900" algn="l" defTabSz="449263" rtl="0" eaLnBrk="1" fontAlgn="base" hangingPunct="1">
        <a:lnSpc>
          <a:spcPct val="100000"/>
        </a:lnSpc>
        <a:spcBef>
          <a:spcPct val="0"/>
        </a:spcBef>
        <a:spcAft>
          <a:spcPts val="0"/>
        </a:spcAft>
        <a:buClr>
          <a:srgbClr val="820000"/>
        </a:buClr>
        <a:buSzPct val="100000"/>
        <a:buFont typeface="Wingdings" pitchFamily="2" charset="2"/>
        <a:buChar char="§"/>
        <a:defRPr sz="2000">
          <a:solidFill>
            <a:srgbClr val="000000"/>
          </a:solidFill>
          <a:latin typeface="Tahoma" pitchFamily="34" charset="0"/>
          <a:ea typeface="Tahoma" pitchFamily="34" charset="0"/>
          <a:cs typeface="Tahoma" pitchFamily="34" charset="0"/>
        </a:defRPr>
      </a:lvl4pPr>
      <a:lvl5pPr marL="2171700" indent="-342900" algn="l" defTabSz="449263" rtl="0" eaLnBrk="1" fontAlgn="base" hangingPunct="1">
        <a:lnSpc>
          <a:spcPct val="100000"/>
        </a:lnSpc>
        <a:spcBef>
          <a:spcPct val="0"/>
        </a:spcBef>
        <a:spcAft>
          <a:spcPts val="0"/>
        </a:spcAft>
        <a:buClr>
          <a:srgbClr val="820000"/>
        </a:buClr>
        <a:buSzPct val="100000"/>
        <a:buFont typeface="Wingdings" pitchFamily="2" charset="2"/>
        <a:buChar char="§"/>
        <a:defRPr sz="2000">
          <a:solidFill>
            <a:srgbClr val="000000"/>
          </a:solidFill>
          <a:latin typeface="Tahoma" pitchFamily="34" charset="0"/>
          <a:ea typeface="Tahoma" pitchFamily="34" charset="0"/>
          <a:cs typeface="Tahoma" pitchFamily="34" charset="0"/>
        </a:defRPr>
      </a:lvl5pPr>
      <a:lvl6pPr marL="25146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gluonhq.com/products/javafx/"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hyperlink" Target="https://docs.oracle.com/javase/8/javafx/api/allclasses-noframe.html" TargetMode="External"/><Relationship Id="rId5" Type="http://schemas.openxmlformats.org/officeDocument/2006/relationships/hyperlink" Target="https://docs.oracle.com/javase/8/javafx/api/overview-tree.html" TargetMode="Externa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9D7764C4-7BC2-4796-A488-1742950E800F}"/>
              </a:ext>
            </a:extLst>
          </p:cNvPr>
          <p:cNvSpPr>
            <a:spLocks noGrp="1"/>
          </p:cNvSpPr>
          <p:nvPr>
            <p:ph type="subTitle" idx="1"/>
          </p:nvPr>
        </p:nvSpPr>
        <p:spPr>
          <a:xfrm>
            <a:off x="5584588" y="6446837"/>
            <a:ext cx="3947160" cy="260969"/>
          </a:xfrm>
        </p:spPr>
        <p:txBody>
          <a:bodyPr/>
          <a:lstStyle/>
          <a:p>
            <a:r>
              <a:rPr lang="en-US"/>
              <a:t>Professor Folajimi</a:t>
            </a:r>
          </a:p>
        </p:txBody>
      </p:sp>
      <p:sp>
        <p:nvSpPr>
          <p:cNvPr id="8" name="Title 1">
            <a:extLst>
              <a:ext uri="{FF2B5EF4-FFF2-40B4-BE49-F238E27FC236}">
                <a16:creationId xmlns:a16="http://schemas.microsoft.com/office/drawing/2014/main" id="{C5C00647-C4D0-4B41-A54B-E2C2E9CAAF45}"/>
              </a:ext>
            </a:extLst>
          </p:cNvPr>
          <p:cNvSpPr>
            <a:spLocks noGrp="1"/>
          </p:cNvSpPr>
          <p:nvPr>
            <p:ph type="ctrTitle"/>
          </p:nvPr>
        </p:nvSpPr>
        <p:spPr>
          <a:xfrm>
            <a:off x="247565" y="5408121"/>
            <a:ext cx="5887631" cy="1620837"/>
          </a:xfrm>
        </p:spPr>
        <p:txBody>
          <a:bodyPr/>
          <a:lstStyle/>
          <a:p>
            <a:pPr algn="l"/>
            <a:r>
              <a:rPr lang="en-US"/>
              <a:t>Welcome to COMP1050!</a:t>
            </a:r>
          </a:p>
        </p:txBody>
      </p:sp>
      <p:pic>
        <p:nvPicPr>
          <p:cNvPr id="1026" name="Picture 2" descr="Rob Ashton's AMAZING Homepage">
            <a:extLst>
              <a:ext uri="{FF2B5EF4-FFF2-40B4-BE49-F238E27FC236}">
                <a16:creationId xmlns:a16="http://schemas.microsoft.com/office/drawing/2014/main" id="{1D70C0A3-A220-475B-883C-A0B3B03DB361}"/>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287712" y="2559306"/>
            <a:ext cx="2847484" cy="2847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566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FX - Wikipedia">
            <a:extLst>
              <a:ext uri="{FF2B5EF4-FFF2-40B4-BE49-F238E27FC236}">
                <a16:creationId xmlns:a16="http://schemas.microsoft.com/office/drawing/2014/main" id="{FCB70985-1EB4-8DC9-C03A-C70C650FF0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6449" y="2673115"/>
            <a:ext cx="6934205" cy="2892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463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Introduction to JavaFX</a:t>
            </a:r>
          </a:p>
        </p:txBody>
      </p:sp>
      <p:sp>
        <p:nvSpPr>
          <p:cNvPr id="3" name="Content Placeholder 2"/>
          <p:cNvSpPr>
            <a:spLocks noGrp="1"/>
          </p:cNvSpPr>
          <p:nvPr>
            <p:ph idx="4294967295"/>
          </p:nvPr>
        </p:nvSpPr>
        <p:spPr>
          <a:xfrm>
            <a:off x="504507" y="1409292"/>
            <a:ext cx="9071610" cy="5343668"/>
          </a:xfrm>
          <a:prstGeom prst="rect">
            <a:avLst/>
          </a:prstGeom>
        </p:spPr>
        <p:txBody>
          <a:bodyPr>
            <a:normAutofit/>
          </a:bodyPr>
          <a:lstStyle/>
          <a:p>
            <a:r>
              <a:rPr lang="en-US" dirty="0"/>
              <a:t>JavaFX is a powerful, rich-client application platform for Java.</a:t>
            </a:r>
          </a:p>
          <a:p>
            <a:r>
              <a:rPr lang="en-US" dirty="0"/>
              <a:t>It replaces the older Swing and AWT libraries.</a:t>
            </a:r>
          </a:p>
          <a:p>
            <a:r>
              <a:rPr lang="en-US" dirty="0"/>
              <a:t>It is widely used for developing desktop applications and internet-based rich-client applications</a:t>
            </a:r>
          </a:p>
          <a:p>
            <a:endParaRPr lang="en-US" dirty="0"/>
          </a:p>
          <a:p>
            <a:endParaRPr lang="en-US" dirty="0"/>
          </a:p>
          <a:p>
            <a:endParaRPr lang="en-US" b="1" dirty="0"/>
          </a:p>
        </p:txBody>
      </p:sp>
    </p:spTree>
    <p:extLst>
      <p:ext uri="{BB962C8B-B14F-4D97-AF65-F5344CB8AC3E}">
        <p14:creationId xmlns:p14="http://schemas.microsoft.com/office/powerpoint/2010/main" val="974700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3406C-A3BC-EB57-5922-108CF9DC09BA}"/>
              </a:ext>
            </a:extLst>
          </p:cNvPr>
          <p:cNvSpPr>
            <a:spLocks noGrp="1"/>
          </p:cNvSpPr>
          <p:nvPr>
            <p:ph type="title"/>
          </p:nvPr>
        </p:nvSpPr>
        <p:spPr/>
        <p:txBody>
          <a:bodyPr/>
          <a:lstStyle/>
          <a:p>
            <a:r>
              <a:rPr lang="en-US" dirty="0"/>
              <a:t>Key Features</a:t>
            </a:r>
          </a:p>
        </p:txBody>
      </p:sp>
      <p:sp>
        <p:nvSpPr>
          <p:cNvPr id="3" name="Text Placeholder 2">
            <a:extLst>
              <a:ext uri="{FF2B5EF4-FFF2-40B4-BE49-F238E27FC236}">
                <a16:creationId xmlns:a16="http://schemas.microsoft.com/office/drawing/2014/main" id="{87D529FE-5A07-573B-4E0F-674221539B21}"/>
              </a:ext>
            </a:extLst>
          </p:cNvPr>
          <p:cNvSpPr>
            <a:spLocks noGrp="1"/>
          </p:cNvSpPr>
          <p:nvPr>
            <p:ph type="body" sz="quarter" idx="10"/>
          </p:nvPr>
        </p:nvSpPr>
        <p:spPr/>
        <p:txBody>
          <a:bodyPr/>
          <a:lstStyle/>
          <a:p>
            <a:r>
              <a:rPr lang="en-US" sz="2000" dirty="0"/>
              <a:t>Rich UI Controls: </a:t>
            </a:r>
          </a:p>
          <a:p>
            <a:pPr lvl="1"/>
            <a:r>
              <a:rPr lang="en-US" sz="1800" dirty="0"/>
              <a:t>Supports modern UI controls such as sliders, charts, and tables.</a:t>
            </a:r>
          </a:p>
          <a:p>
            <a:r>
              <a:rPr lang="en-US" sz="2000" dirty="0"/>
              <a:t>CSS Styling: </a:t>
            </a:r>
          </a:p>
          <a:p>
            <a:pPr lvl="1"/>
            <a:r>
              <a:rPr lang="en-US" sz="1800" dirty="0"/>
              <a:t>Allows developers to style UI elements using CSS, similar to web development.</a:t>
            </a:r>
          </a:p>
          <a:p>
            <a:r>
              <a:rPr lang="en-US" sz="2000" dirty="0"/>
              <a:t>FXML: </a:t>
            </a:r>
          </a:p>
          <a:p>
            <a:pPr lvl="1"/>
            <a:r>
              <a:rPr lang="en-US" sz="1800" dirty="0"/>
              <a:t>Provides an XML-based language for defining the UI, making the separation of design and logic easier.</a:t>
            </a:r>
          </a:p>
          <a:p>
            <a:r>
              <a:rPr lang="en-US" sz="2000" dirty="0"/>
              <a:t>Media Support: </a:t>
            </a:r>
          </a:p>
          <a:p>
            <a:pPr lvl="1"/>
            <a:r>
              <a:rPr lang="en-US" sz="1800" dirty="0"/>
              <a:t>Built-in capabilities for handling images, videos, and audio.</a:t>
            </a:r>
          </a:p>
          <a:p>
            <a:r>
              <a:rPr lang="en-US" sz="2000" dirty="0"/>
              <a:t>WebView: </a:t>
            </a:r>
          </a:p>
          <a:p>
            <a:pPr lvl="1"/>
            <a:r>
              <a:rPr lang="en-US" sz="1800" dirty="0"/>
              <a:t>Embeds web content into JavaFX applications using </a:t>
            </a:r>
            <a:r>
              <a:rPr lang="en-US" sz="1800" dirty="0" err="1"/>
              <a:t>WebEngine</a:t>
            </a:r>
            <a:r>
              <a:rPr lang="en-US" sz="1800" dirty="0"/>
              <a:t>.</a:t>
            </a:r>
          </a:p>
          <a:p>
            <a:r>
              <a:rPr lang="en-US" sz="2000" dirty="0"/>
              <a:t>Scene Graph: </a:t>
            </a:r>
          </a:p>
          <a:p>
            <a:pPr lvl="1"/>
            <a:r>
              <a:rPr lang="en-US" sz="1800" dirty="0"/>
              <a:t>JavaFX uses a scene graph to represent the graphical layout, offering hierarchical and flexible UI designs.</a:t>
            </a:r>
          </a:p>
          <a:p>
            <a:r>
              <a:rPr lang="en-US" sz="2000" dirty="0"/>
              <a:t>Hardware Acceleration: </a:t>
            </a:r>
          </a:p>
          <a:p>
            <a:pPr lvl="1"/>
            <a:r>
              <a:rPr lang="en-US" sz="1800" dirty="0"/>
              <a:t>Makes use of GPU acceleration to improve performance.</a:t>
            </a:r>
          </a:p>
          <a:p>
            <a:r>
              <a:rPr lang="en-US" sz="2000" dirty="0"/>
              <a:t>Multiplatform Support: </a:t>
            </a:r>
          </a:p>
          <a:p>
            <a:pPr lvl="1"/>
            <a:r>
              <a:rPr lang="en-US" sz="1800" dirty="0"/>
              <a:t>Runs on Windows, macOS, and Linux.</a:t>
            </a:r>
          </a:p>
          <a:p>
            <a:endParaRPr lang="en-US" sz="2000" dirty="0"/>
          </a:p>
          <a:p>
            <a:endParaRPr lang="en-US" sz="2000" dirty="0"/>
          </a:p>
        </p:txBody>
      </p:sp>
    </p:spTree>
    <p:extLst>
      <p:ext uri="{BB962C8B-B14F-4D97-AF65-F5344CB8AC3E}">
        <p14:creationId xmlns:p14="http://schemas.microsoft.com/office/powerpoint/2010/main" val="3528193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E55D5-1595-9876-1B65-72695D06B878}"/>
              </a:ext>
            </a:extLst>
          </p:cNvPr>
          <p:cNvSpPr>
            <a:spLocks noGrp="1"/>
          </p:cNvSpPr>
          <p:nvPr>
            <p:ph type="title"/>
          </p:nvPr>
        </p:nvSpPr>
        <p:spPr/>
        <p:txBody>
          <a:bodyPr/>
          <a:lstStyle/>
          <a:p>
            <a:r>
              <a:rPr lang="en-US" dirty="0"/>
              <a:t>Setting Up JavaFX  in Eclipse</a:t>
            </a:r>
          </a:p>
        </p:txBody>
      </p:sp>
      <p:sp>
        <p:nvSpPr>
          <p:cNvPr id="3" name="Text Placeholder 2">
            <a:extLst>
              <a:ext uri="{FF2B5EF4-FFF2-40B4-BE49-F238E27FC236}">
                <a16:creationId xmlns:a16="http://schemas.microsoft.com/office/drawing/2014/main" id="{22E7C9FF-0A81-3810-0F00-6F50EDB90AD0}"/>
              </a:ext>
            </a:extLst>
          </p:cNvPr>
          <p:cNvSpPr>
            <a:spLocks noGrp="1"/>
          </p:cNvSpPr>
          <p:nvPr>
            <p:ph type="body" sz="quarter" idx="10"/>
          </p:nvPr>
        </p:nvSpPr>
        <p:spPr/>
        <p:txBody>
          <a:bodyPr/>
          <a:lstStyle/>
          <a:p>
            <a:r>
              <a:rPr lang="en-US" sz="2800" dirty="0"/>
              <a:t>Download JavaFX SDK from the </a:t>
            </a:r>
            <a:r>
              <a:rPr lang="en-US" sz="2800" dirty="0" err="1"/>
              <a:t>OpenJFX</a:t>
            </a:r>
            <a:r>
              <a:rPr lang="en-US" sz="2800" dirty="0"/>
              <a:t> website: </a:t>
            </a:r>
            <a:r>
              <a:rPr lang="en-US" sz="2800" dirty="0">
                <a:hlinkClick r:id="rId3"/>
              </a:rPr>
              <a:t>https://gluonhq.com/products/javafx/</a:t>
            </a:r>
            <a:endParaRPr lang="en-US" sz="2800" dirty="0"/>
          </a:p>
          <a:p>
            <a:r>
              <a:rPr lang="en-US" sz="2800" dirty="0"/>
              <a:t>Extract the SDK to a location on your computer (e.g., C:/javafx-sdk).</a:t>
            </a:r>
          </a:p>
          <a:p>
            <a:endParaRPr lang="en-US" sz="2800" dirty="0"/>
          </a:p>
        </p:txBody>
      </p:sp>
    </p:spTree>
    <p:extLst>
      <p:ext uri="{BB962C8B-B14F-4D97-AF65-F5344CB8AC3E}">
        <p14:creationId xmlns:p14="http://schemas.microsoft.com/office/powerpoint/2010/main" val="2917957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C2517-2137-8D67-3E01-5E7FF39218EF}"/>
              </a:ext>
            </a:extLst>
          </p:cNvPr>
          <p:cNvSpPr>
            <a:spLocks noGrp="1"/>
          </p:cNvSpPr>
          <p:nvPr>
            <p:ph type="title"/>
          </p:nvPr>
        </p:nvSpPr>
        <p:spPr/>
        <p:txBody>
          <a:bodyPr/>
          <a:lstStyle/>
          <a:p>
            <a:r>
              <a:rPr lang="en-US" dirty="0"/>
              <a:t>Configure the JavaFX SDK</a:t>
            </a:r>
          </a:p>
        </p:txBody>
      </p:sp>
      <p:sp>
        <p:nvSpPr>
          <p:cNvPr id="3" name="Text Placeholder 2">
            <a:extLst>
              <a:ext uri="{FF2B5EF4-FFF2-40B4-BE49-F238E27FC236}">
                <a16:creationId xmlns:a16="http://schemas.microsoft.com/office/drawing/2014/main" id="{D12671AA-3DA8-EE0C-2665-933850E6E0A3}"/>
              </a:ext>
            </a:extLst>
          </p:cNvPr>
          <p:cNvSpPr>
            <a:spLocks noGrp="1"/>
          </p:cNvSpPr>
          <p:nvPr>
            <p:ph type="body" sz="quarter" idx="10"/>
          </p:nvPr>
        </p:nvSpPr>
        <p:spPr/>
        <p:txBody>
          <a:bodyPr/>
          <a:lstStyle/>
          <a:p>
            <a:r>
              <a:rPr lang="en-US" sz="3600" dirty="0"/>
              <a:t>Add JavaFX SDK to the Module Path</a:t>
            </a:r>
          </a:p>
          <a:p>
            <a:pPr lvl="1"/>
            <a:r>
              <a:rPr lang="en-US" sz="3200" dirty="0"/>
              <a:t>Right-click your project in the Project Explorer.</a:t>
            </a:r>
          </a:p>
          <a:p>
            <a:pPr lvl="1"/>
            <a:r>
              <a:rPr lang="en-US" sz="3200" dirty="0"/>
              <a:t>Select Properties.</a:t>
            </a:r>
          </a:p>
          <a:p>
            <a:pPr lvl="1"/>
            <a:r>
              <a:rPr lang="en-US" sz="3200" dirty="0"/>
              <a:t>Navigate to Java Build Path.</a:t>
            </a:r>
          </a:p>
          <a:p>
            <a:pPr lvl="1"/>
            <a:r>
              <a:rPr lang="en-US" sz="3200" dirty="0"/>
              <a:t>Click on the </a:t>
            </a:r>
            <a:r>
              <a:rPr lang="en-US" sz="3200" dirty="0" err="1"/>
              <a:t>Modulepath</a:t>
            </a:r>
            <a:r>
              <a:rPr lang="en-US" sz="3200" dirty="0"/>
              <a:t> tab.</a:t>
            </a:r>
          </a:p>
          <a:p>
            <a:pPr lvl="1"/>
            <a:r>
              <a:rPr lang="en-US" sz="3200" dirty="0"/>
              <a:t>Click Add External JARs.</a:t>
            </a:r>
          </a:p>
          <a:p>
            <a:pPr lvl="1"/>
            <a:r>
              <a:rPr lang="en-US" sz="3200" dirty="0"/>
              <a:t>Browse to the extracted JavaFX SDK folder:</a:t>
            </a:r>
          </a:p>
          <a:p>
            <a:pPr lvl="2"/>
            <a:r>
              <a:rPr lang="en-US" sz="2800" dirty="0"/>
              <a:t>Open the lib folder.</a:t>
            </a:r>
          </a:p>
          <a:p>
            <a:pPr lvl="2"/>
            <a:r>
              <a:rPr lang="en-US" sz="2800" dirty="0"/>
              <a:t>Select all the .jar files.</a:t>
            </a:r>
          </a:p>
          <a:p>
            <a:pPr lvl="1"/>
            <a:r>
              <a:rPr lang="en-US" sz="3200" dirty="0"/>
              <a:t>Click Apply and Close.</a:t>
            </a:r>
          </a:p>
        </p:txBody>
      </p:sp>
    </p:spTree>
    <p:extLst>
      <p:ext uri="{BB962C8B-B14F-4D97-AF65-F5344CB8AC3E}">
        <p14:creationId xmlns:p14="http://schemas.microsoft.com/office/powerpoint/2010/main" val="626035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4D2F9-861B-9619-8ADE-8E4B21B3525E}"/>
              </a:ext>
            </a:extLst>
          </p:cNvPr>
          <p:cNvSpPr>
            <a:spLocks noGrp="1"/>
          </p:cNvSpPr>
          <p:nvPr>
            <p:ph type="title"/>
          </p:nvPr>
        </p:nvSpPr>
        <p:spPr/>
        <p:txBody>
          <a:bodyPr/>
          <a:lstStyle/>
          <a:p>
            <a:r>
              <a:rPr lang="en-US" dirty="0"/>
              <a:t>Update JavaFX VM Arguments</a:t>
            </a:r>
          </a:p>
        </p:txBody>
      </p:sp>
      <p:sp>
        <p:nvSpPr>
          <p:cNvPr id="3" name="Text Placeholder 2">
            <a:extLst>
              <a:ext uri="{FF2B5EF4-FFF2-40B4-BE49-F238E27FC236}">
                <a16:creationId xmlns:a16="http://schemas.microsoft.com/office/drawing/2014/main" id="{037A869A-3233-AF1E-5DD8-679CC1A2C1C7}"/>
              </a:ext>
            </a:extLst>
          </p:cNvPr>
          <p:cNvSpPr>
            <a:spLocks noGrp="1"/>
          </p:cNvSpPr>
          <p:nvPr>
            <p:ph type="body" sz="quarter" idx="10"/>
          </p:nvPr>
        </p:nvSpPr>
        <p:spPr/>
        <p:txBody>
          <a:bodyPr/>
          <a:lstStyle/>
          <a:p>
            <a:r>
              <a:rPr lang="en-US" dirty="0"/>
              <a:t>Go to Run &gt; Run Configurations.</a:t>
            </a:r>
          </a:p>
          <a:p>
            <a:r>
              <a:rPr lang="en-US" dirty="0"/>
              <a:t>Select your application in the Java Application category.</a:t>
            </a:r>
          </a:p>
          <a:p>
            <a:r>
              <a:rPr lang="en-US" dirty="0"/>
              <a:t>Go to the Arguments tab.</a:t>
            </a:r>
          </a:p>
          <a:p>
            <a:r>
              <a:rPr lang="en-US" dirty="0"/>
              <a:t>Under VM Arguments, add the following (replace &lt;</a:t>
            </a:r>
            <a:r>
              <a:rPr lang="en-US" dirty="0" err="1"/>
              <a:t>path_to_sdk</a:t>
            </a:r>
            <a:r>
              <a:rPr lang="en-US" dirty="0"/>
              <a:t>&gt; with the actual path to your JavaFX SDK lib folder):</a:t>
            </a:r>
          </a:p>
          <a:p>
            <a:endParaRPr lang="en-US" dirty="0"/>
          </a:p>
          <a:p>
            <a:endParaRPr lang="en-US" dirty="0"/>
          </a:p>
          <a:p>
            <a:r>
              <a:rPr lang="en-US" dirty="0"/>
              <a:t>Example:</a:t>
            </a:r>
          </a:p>
          <a:p>
            <a:endParaRPr lang="en-US" dirty="0"/>
          </a:p>
          <a:p>
            <a:endParaRPr lang="en-US" dirty="0"/>
          </a:p>
        </p:txBody>
      </p:sp>
      <p:sp>
        <p:nvSpPr>
          <p:cNvPr id="5" name="TextBox 4">
            <a:extLst>
              <a:ext uri="{FF2B5EF4-FFF2-40B4-BE49-F238E27FC236}">
                <a16:creationId xmlns:a16="http://schemas.microsoft.com/office/drawing/2014/main" id="{5A92F53E-2DB2-E0E8-1D10-EA0763AF2B20}"/>
              </a:ext>
            </a:extLst>
          </p:cNvPr>
          <p:cNvSpPr txBox="1"/>
          <p:nvPr/>
        </p:nvSpPr>
        <p:spPr>
          <a:xfrm>
            <a:off x="796412" y="5014365"/>
            <a:ext cx="8910953" cy="393954"/>
          </a:xfrm>
          <a:prstGeom prst="rect">
            <a:avLst/>
          </a:prstGeom>
          <a:noFill/>
        </p:spPr>
        <p:txBody>
          <a:bodyPr wrap="square">
            <a:spAutoFit/>
          </a:bodyPr>
          <a:lstStyle/>
          <a:p>
            <a:r>
              <a:rPr lang="en-US" sz="2000" dirty="0"/>
              <a:t>--module-path &lt;</a:t>
            </a:r>
            <a:r>
              <a:rPr lang="en-US" sz="2000" dirty="0" err="1"/>
              <a:t>path_to_sdk</a:t>
            </a:r>
            <a:r>
              <a:rPr lang="en-US" sz="2000" dirty="0"/>
              <a:t>&gt; --add-modules </a:t>
            </a:r>
            <a:r>
              <a:rPr lang="en-US" sz="2000" dirty="0" err="1"/>
              <a:t>javafx.controls,javafx.fxml</a:t>
            </a:r>
            <a:endParaRPr lang="en-US" sz="2000" dirty="0"/>
          </a:p>
        </p:txBody>
      </p:sp>
      <p:sp>
        <p:nvSpPr>
          <p:cNvPr id="6" name="TextBox 5">
            <a:extLst>
              <a:ext uri="{FF2B5EF4-FFF2-40B4-BE49-F238E27FC236}">
                <a16:creationId xmlns:a16="http://schemas.microsoft.com/office/drawing/2014/main" id="{A883BDB4-6116-0E8D-642E-0E73C87EC53C}"/>
              </a:ext>
            </a:extLst>
          </p:cNvPr>
          <p:cNvSpPr txBox="1"/>
          <p:nvPr/>
        </p:nvSpPr>
        <p:spPr>
          <a:xfrm>
            <a:off x="872612" y="6415462"/>
            <a:ext cx="8910953" cy="393954"/>
          </a:xfrm>
          <a:prstGeom prst="rect">
            <a:avLst/>
          </a:prstGeom>
          <a:noFill/>
        </p:spPr>
        <p:txBody>
          <a:bodyPr wrap="square">
            <a:spAutoFit/>
          </a:bodyPr>
          <a:lstStyle/>
          <a:p>
            <a:r>
              <a:rPr lang="en-US" sz="2000" dirty="0"/>
              <a:t>--module-path C:/javafx-sdk/lib --add-modules </a:t>
            </a:r>
            <a:r>
              <a:rPr lang="en-US" sz="2000" dirty="0" err="1"/>
              <a:t>javafx.controls,javafx.fxml</a:t>
            </a:r>
            <a:endParaRPr lang="en-US" sz="2000" dirty="0"/>
          </a:p>
        </p:txBody>
      </p:sp>
    </p:spTree>
    <p:extLst>
      <p:ext uri="{BB962C8B-B14F-4D97-AF65-F5344CB8AC3E}">
        <p14:creationId xmlns:p14="http://schemas.microsoft.com/office/powerpoint/2010/main" val="349686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D12F3-FAD7-745F-3DA6-A5E2B24DA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424CB7-34A1-9D3A-C54F-3E6E2BE25070}"/>
              </a:ext>
            </a:extLst>
          </p:cNvPr>
          <p:cNvSpPr>
            <a:spLocks noGrp="1"/>
          </p:cNvSpPr>
          <p:nvPr>
            <p:ph type="title"/>
          </p:nvPr>
        </p:nvSpPr>
        <p:spPr/>
        <p:txBody>
          <a:bodyPr/>
          <a:lstStyle/>
          <a:p>
            <a:r>
              <a:rPr lang="en-US" dirty="0"/>
              <a:t>Setting Up JavaFX  with E(</a:t>
            </a:r>
            <a:r>
              <a:rPr lang="en-US" dirty="0" err="1"/>
              <a:t>fx</a:t>
            </a:r>
            <a:r>
              <a:rPr lang="en-US" dirty="0"/>
              <a:t>)</a:t>
            </a:r>
            <a:r>
              <a:rPr lang="en-US" dirty="0" err="1"/>
              <a:t>clipse</a:t>
            </a:r>
            <a:endParaRPr lang="en-US" dirty="0"/>
          </a:p>
        </p:txBody>
      </p:sp>
      <p:sp>
        <p:nvSpPr>
          <p:cNvPr id="3" name="Text Placeholder 2">
            <a:extLst>
              <a:ext uri="{FF2B5EF4-FFF2-40B4-BE49-F238E27FC236}">
                <a16:creationId xmlns:a16="http://schemas.microsoft.com/office/drawing/2014/main" id="{BD1D9110-4D0D-1DEA-3E7D-6A8DA915F64D}"/>
              </a:ext>
            </a:extLst>
          </p:cNvPr>
          <p:cNvSpPr>
            <a:spLocks noGrp="1"/>
          </p:cNvSpPr>
          <p:nvPr>
            <p:ph type="body" sz="quarter" idx="10"/>
          </p:nvPr>
        </p:nvSpPr>
        <p:spPr/>
        <p:txBody>
          <a:bodyPr/>
          <a:lstStyle/>
          <a:p>
            <a:r>
              <a:rPr lang="en-US" sz="3600" dirty="0"/>
              <a:t>Set up a New JavaFX Project:</a:t>
            </a:r>
          </a:p>
          <a:p>
            <a:r>
              <a:rPr lang="en-US" sz="3600" dirty="0"/>
              <a:t>Create a New Java Project:</a:t>
            </a:r>
          </a:p>
          <a:p>
            <a:pPr lvl="1"/>
            <a:r>
              <a:rPr lang="en-US" sz="3200" dirty="0"/>
              <a:t>Open Eclipse.</a:t>
            </a:r>
          </a:p>
          <a:p>
            <a:pPr lvl="1"/>
            <a:r>
              <a:rPr lang="en-US" sz="3200" dirty="0"/>
              <a:t>Go to File → New → Java Project.</a:t>
            </a:r>
          </a:p>
          <a:p>
            <a:pPr lvl="1"/>
            <a:r>
              <a:rPr lang="en-US" sz="3200" dirty="0"/>
              <a:t>Select JavaFX Project (if the option isn't available, ensure e(</a:t>
            </a:r>
            <a:r>
              <a:rPr lang="en-US" sz="3200" dirty="0" err="1"/>
              <a:t>fx</a:t>
            </a:r>
            <a:r>
              <a:rPr lang="en-US" sz="3200" dirty="0"/>
              <a:t>)</a:t>
            </a:r>
            <a:r>
              <a:rPr lang="en-US" sz="3200" dirty="0" err="1"/>
              <a:t>clipse</a:t>
            </a:r>
            <a:r>
              <a:rPr lang="en-US" sz="3200" dirty="0"/>
              <a:t> is installed).</a:t>
            </a:r>
          </a:p>
          <a:p>
            <a:pPr lvl="1"/>
            <a:r>
              <a:rPr lang="en-US" sz="3200" dirty="0"/>
              <a:t>Follow the wizard to create a new JavaFX project.</a:t>
            </a:r>
          </a:p>
          <a:p>
            <a:endParaRPr lang="en-US" sz="3600" dirty="0"/>
          </a:p>
          <a:p>
            <a:endParaRPr lang="en-US" sz="3600" dirty="0"/>
          </a:p>
        </p:txBody>
      </p:sp>
    </p:spTree>
    <p:extLst>
      <p:ext uri="{BB962C8B-B14F-4D97-AF65-F5344CB8AC3E}">
        <p14:creationId xmlns:p14="http://schemas.microsoft.com/office/powerpoint/2010/main" val="4085766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2"/>
          <p:cNvSpPr txBox="1">
            <a:spLocks noGrp="1"/>
          </p:cNvSpPr>
          <p:nvPr>
            <p:ph type="title"/>
          </p:nvPr>
        </p:nvSpPr>
        <p:spPr>
          <a:xfrm>
            <a:off x="1230312" y="309562"/>
            <a:ext cx="7772401" cy="1260475"/>
          </a:xfrm>
          <a:prstGeom prst="rect">
            <a:avLst/>
          </a:prstGeom>
          <a:noFill/>
          <a:ln>
            <a:noFill/>
          </a:ln>
        </p:spPr>
        <p:txBody>
          <a:bodyPr spcFirstLastPara="1" wrap="square" lIns="0" tIns="0" rIns="0" bIns="0" anchor="ctr" anchorCtr="0">
            <a:normAutofit/>
          </a:bodyPr>
          <a:lstStyle/>
          <a:p>
            <a:pPr marL="0" lvl="0" indent="0" algn="ctr" rtl="0">
              <a:lnSpc>
                <a:spcPct val="117000"/>
              </a:lnSpc>
              <a:spcBef>
                <a:spcPts val="0"/>
              </a:spcBef>
              <a:spcAft>
                <a:spcPts val="0"/>
              </a:spcAft>
              <a:buNone/>
            </a:pPr>
            <a:r>
              <a:rPr lang="en-US" dirty="0"/>
              <a:t>Basic Structure of JavaFX Application</a:t>
            </a:r>
            <a:endParaRPr dirty="0"/>
          </a:p>
        </p:txBody>
      </p:sp>
      <p:sp>
        <p:nvSpPr>
          <p:cNvPr id="185" name="Google Shape;185;p12"/>
          <p:cNvSpPr txBox="1">
            <a:spLocks noGrp="1"/>
          </p:cNvSpPr>
          <p:nvPr>
            <p:ph type="body" idx="1"/>
          </p:nvPr>
        </p:nvSpPr>
        <p:spPr>
          <a:xfrm>
            <a:off x="504031" y="1638436"/>
            <a:ext cx="5390142" cy="5353063"/>
          </a:xfrm>
          <a:prstGeom prst="rect">
            <a:avLst/>
          </a:prstGeom>
          <a:noFill/>
          <a:ln>
            <a:noFill/>
          </a:ln>
        </p:spPr>
        <p:txBody>
          <a:bodyPr spcFirstLastPara="1" wrap="square" lIns="0" tIns="0" rIns="0" bIns="0" anchor="t" anchorCtr="0">
            <a:normAutofit/>
          </a:bodyPr>
          <a:lstStyle/>
          <a:p>
            <a:pPr marL="566968" lvl="0" indent="-566968" algn="l" rtl="0">
              <a:spcBef>
                <a:spcPts val="0"/>
              </a:spcBef>
              <a:spcAft>
                <a:spcPts val="0"/>
              </a:spcAft>
              <a:buSzPts val="2854"/>
              <a:buFont typeface="Comic Sans MS"/>
              <a:buAutoNum type="arabicPeriod"/>
            </a:pPr>
            <a:r>
              <a:rPr lang="en-US" sz="3200" dirty="0"/>
              <a:t>Extend Application</a:t>
            </a:r>
          </a:p>
          <a:p>
            <a:pPr marL="1024168" lvl="1" indent="-566968">
              <a:spcBef>
                <a:spcPts val="0"/>
              </a:spcBef>
              <a:spcAft>
                <a:spcPts val="0"/>
              </a:spcAft>
              <a:buSzPts val="2854"/>
            </a:pPr>
            <a:r>
              <a:rPr lang="en-US" sz="2800" dirty="0"/>
              <a:t>Import Application</a:t>
            </a:r>
            <a:endParaRPr sz="2800" dirty="0"/>
          </a:p>
          <a:p>
            <a:pPr marL="566968" lvl="0" indent="-566968" algn="l" rtl="0">
              <a:spcBef>
                <a:spcPts val="0"/>
              </a:spcBef>
              <a:spcAft>
                <a:spcPts val="0"/>
              </a:spcAft>
              <a:buSzPts val="2854"/>
              <a:buFont typeface="Comic Sans MS"/>
              <a:buAutoNum type="arabicPeriod"/>
            </a:pPr>
            <a:r>
              <a:rPr lang="en-US" sz="3200" b="1" dirty="0">
                <a:latin typeface="Consolas"/>
                <a:ea typeface="Consolas"/>
                <a:cs typeface="Consolas"/>
                <a:sym typeface="Consolas"/>
              </a:rPr>
              <a:t>launch(</a:t>
            </a:r>
            <a:r>
              <a:rPr lang="en-US" sz="3200" b="1" dirty="0" err="1">
                <a:latin typeface="Consolas"/>
                <a:ea typeface="Consolas"/>
                <a:cs typeface="Consolas"/>
                <a:sym typeface="Consolas"/>
              </a:rPr>
              <a:t>args</a:t>
            </a:r>
            <a:r>
              <a:rPr lang="en-US" sz="3200" b="1" dirty="0">
                <a:latin typeface="Consolas"/>
                <a:ea typeface="Consolas"/>
                <a:cs typeface="Consolas"/>
                <a:sym typeface="Consolas"/>
              </a:rPr>
              <a:t>)</a:t>
            </a:r>
            <a:r>
              <a:rPr lang="en-US" sz="3200" dirty="0"/>
              <a:t> in </a:t>
            </a:r>
            <a:r>
              <a:rPr lang="en-US" sz="3200" b="1" dirty="0">
                <a:latin typeface="Consolas"/>
                <a:ea typeface="Consolas"/>
                <a:cs typeface="Consolas"/>
                <a:sym typeface="Consolas"/>
              </a:rPr>
              <a:t>main</a:t>
            </a:r>
            <a:endParaRPr sz="3200" dirty="0"/>
          </a:p>
          <a:p>
            <a:pPr marL="566968" lvl="0" indent="-566968" algn="l" rtl="0">
              <a:spcBef>
                <a:spcPts val="0"/>
              </a:spcBef>
              <a:spcAft>
                <a:spcPts val="0"/>
              </a:spcAft>
              <a:buSzPts val="2854"/>
              <a:buFont typeface="Comic Sans MS"/>
              <a:buAutoNum type="arabicPeriod"/>
            </a:pPr>
            <a:r>
              <a:rPr lang="en-US" sz="3200" dirty="0"/>
              <a:t>Override </a:t>
            </a:r>
            <a:r>
              <a:rPr lang="en-US" sz="3200" b="1" dirty="0">
                <a:latin typeface="Consolas"/>
                <a:ea typeface="Consolas"/>
                <a:cs typeface="Consolas"/>
                <a:sym typeface="Consolas"/>
              </a:rPr>
              <a:t>start(Stage)</a:t>
            </a:r>
          </a:p>
          <a:p>
            <a:pPr marL="1024168" lvl="1" indent="-566968">
              <a:spcBef>
                <a:spcPts val="0"/>
              </a:spcBef>
              <a:spcAft>
                <a:spcPts val="0"/>
              </a:spcAft>
              <a:buSzPts val="2854"/>
            </a:pPr>
            <a:r>
              <a:rPr lang="en-US" sz="2800" dirty="0"/>
              <a:t>Import Stage</a:t>
            </a:r>
          </a:p>
        </p:txBody>
      </p:sp>
      <p:graphicFrame>
        <p:nvGraphicFramePr>
          <p:cNvPr id="186" name="Google Shape;186;p12"/>
          <p:cNvGraphicFramePr/>
          <p:nvPr>
            <p:extLst>
              <p:ext uri="{D42A27DB-BD31-4B8C-83A1-F6EECF244321}">
                <p14:modId xmlns:p14="http://schemas.microsoft.com/office/powerpoint/2010/main" val="3099620753"/>
              </p:ext>
            </p:extLst>
          </p:nvPr>
        </p:nvGraphicFramePr>
        <p:xfrm>
          <a:off x="5469011" y="1399897"/>
          <a:ext cx="4505068" cy="3103491"/>
        </p:xfrm>
        <a:graphic>
          <a:graphicData uri="http://schemas.openxmlformats.org/presentationml/2006/ole">
            <mc:AlternateContent xmlns:mc="http://schemas.openxmlformats.org/markup-compatibility/2006">
              <mc:Choice xmlns:v="urn:schemas-microsoft-com:vml" Requires="v">
                <p:oleObj r:id="rId3" imgW="4505068" imgH="3103491" progId="Word.Picture.8">
                  <p:embed/>
                </p:oleObj>
              </mc:Choice>
              <mc:Fallback>
                <p:oleObj r:id="rId3" imgW="4505068" imgH="3103491" progId="Word.Picture.8">
                  <p:embed/>
                  <p:pic>
                    <p:nvPicPr>
                      <p:cNvPr id="186" name="Google Shape;186;p12"/>
                      <p:cNvPicPr preferRelativeResize="0"/>
                      <p:nvPr/>
                    </p:nvPicPr>
                    <p:blipFill rotWithShape="1">
                      <a:blip r:embed="rId4">
                        <a:alphaModFix/>
                      </a:blip>
                      <a:srcRect/>
                      <a:stretch/>
                    </p:blipFill>
                    <p:spPr>
                      <a:xfrm>
                        <a:off x="5469011" y="1399897"/>
                        <a:ext cx="4505068" cy="3103491"/>
                      </a:xfrm>
                      <a:prstGeom prst="rect">
                        <a:avLst/>
                      </a:prstGeom>
                      <a:noFill/>
                      <a:ln>
                        <a:noFill/>
                      </a:ln>
                    </p:spPr>
                  </p:pic>
                </p:oleObj>
              </mc:Fallback>
            </mc:AlternateContent>
          </a:graphicData>
        </a:graphic>
      </p:graphicFrame>
      <p:sp>
        <p:nvSpPr>
          <p:cNvPr id="2" name="Google Shape;185;p12">
            <a:extLst>
              <a:ext uri="{FF2B5EF4-FFF2-40B4-BE49-F238E27FC236}">
                <a16:creationId xmlns:a16="http://schemas.microsoft.com/office/drawing/2014/main" id="{5DF05509-D0AB-C9C1-2C98-C874A014C59B}"/>
              </a:ext>
            </a:extLst>
          </p:cNvPr>
          <p:cNvSpPr txBox="1">
            <a:spLocks/>
          </p:cNvSpPr>
          <p:nvPr/>
        </p:nvSpPr>
        <p:spPr bwMode="auto">
          <a:xfrm>
            <a:off x="504031" y="4056955"/>
            <a:ext cx="8401430" cy="2940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0" tIns="0" rIns="0" bIns="0" numCol="1" anchor="t" anchorCtr="0" compatLnSpc="1">
            <a:prstTxWarp prst="textNoShape">
              <a:avLst/>
            </a:prstTxWarp>
            <a:normAutofit/>
          </a:bodyPr>
          <a:lstStyle>
            <a:lvl1pPr marL="457200" indent="-274320" algn="l" defTabSz="449263" rtl="0" eaLnBrk="1" fontAlgn="base" hangingPunct="1">
              <a:lnSpc>
                <a:spcPct val="100000"/>
              </a:lnSpc>
              <a:spcBef>
                <a:spcPct val="0"/>
              </a:spcBef>
              <a:spcAft>
                <a:spcPts val="0"/>
              </a:spcAft>
              <a:buClr>
                <a:srgbClr val="820000"/>
              </a:buClr>
              <a:buSzPct val="100000"/>
              <a:buFont typeface="Wingdings" pitchFamily="2" charset="2"/>
              <a:buChar char="§"/>
              <a:defRPr sz="3086">
                <a:solidFill>
                  <a:srgbClr val="000000"/>
                </a:solidFill>
                <a:latin typeface="Tahoma" pitchFamily="34" charset="0"/>
                <a:ea typeface="Tahoma" pitchFamily="34" charset="0"/>
                <a:cs typeface="Tahoma" pitchFamily="34" charset="0"/>
              </a:defRPr>
            </a:lvl1pPr>
            <a:lvl2pPr marL="914400" indent="-274320" algn="l" defTabSz="449263" rtl="0" eaLnBrk="1" fontAlgn="base" hangingPunct="1">
              <a:lnSpc>
                <a:spcPct val="100000"/>
              </a:lnSpc>
              <a:spcBef>
                <a:spcPct val="0"/>
              </a:spcBef>
              <a:spcAft>
                <a:spcPts val="0"/>
              </a:spcAft>
              <a:buClr>
                <a:srgbClr val="820000"/>
              </a:buClr>
              <a:buSzPct val="100000"/>
              <a:buFont typeface="Verdana" pitchFamily="34" charset="0"/>
              <a:buChar char="»"/>
              <a:defRPr sz="2646">
                <a:solidFill>
                  <a:srgbClr val="000000"/>
                </a:solidFill>
                <a:latin typeface="Tahoma" pitchFamily="34" charset="0"/>
                <a:ea typeface="Tahoma" pitchFamily="34" charset="0"/>
                <a:cs typeface="Tahoma" pitchFamily="34" charset="0"/>
              </a:defRPr>
            </a:lvl2pPr>
            <a:lvl3pPr marL="1257300" indent="-274320" algn="l" defTabSz="449263" rtl="0" eaLnBrk="1" fontAlgn="base" hangingPunct="1">
              <a:lnSpc>
                <a:spcPct val="100000"/>
              </a:lnSpc>
              <a:spcBef>
                <a:spcPct val="0"/>
              </a:spcBef>
              <a:spcAft>
                <a:spcPts val="0"/>
              </a:spcAft>
              <a:buClr>
                <a:srgbClr val="820000"/>
              </a:buClr>
              <a:buSzPct val="100000"/>
              <a:buFont typeface="Wingdings" pitchFamily="2" charset="2"/>
              <a:buChar char="§"/>
              <a:defRPr sz="2205">
                <a:solidFill>
                  <a:srgbClr val="000000"/>
                </a:solidFill>
                <a:latin typeface="Tahoma" pitchFamily="34" charset="0"/>
                <a:ea typeface="Tahoma" pitchFamily="34" charset="0"/>
                <a:cs typeface="Tahoma" pitchFamily="34" charset="0"/>
              </a:defRPr>
            </a:lvl3pPr>
            <a:lvl4pPr marL="1714500" indent="-342900" algn="l" defTabSz="449263" rtl="0" eaLnBrk="1" fontAlgn="base" hangingPunct="1">
              <a:lnSpc>
                <a:spcPct val="100000"/>
              </a:lnSpc>
              <a:spcBef>
                <a:spcPct val="0"/>
              </a:spcBef>
              <a:spcAft>
                <a:spcPts val="0"/>
              </a:spcAft>
              <a:buClr>
                <a:srgbClr val="820000"/>
              </a:buClr>
              <a:buSzPct val="100000"/>
              <a:buFont typeface="Wingdings" pitchFamily="2" charset="2"/>
              <a:buChar char="§"/>
              <a:defRPr sz="1984">
                <a:solidFill>
                  <a:srgbClr val="000000"/>
                </a:solidFill>
                <a:latin typeface="Tahoma" pitchFamily="34" charset="0"/>
                <a:ea typeface="Tahoma" pitchFamily="34" charset="0"/>
                <a:cs typeface="Tahoma" pitchFamily="34" charset="0"/>
              </a:defRPr>
            </a:lvl4pPr>
            <a:lvl5pPr marL="2171700" indent="-342900" algn="l" defTabSz="449263" rtl="0" eaLnBrk="1" fontAlgn="base" hangingPunct="1">
              <a:lnSpc>
                <a:spcPct val="100000"/>
              </a:lnSpc>
              <a:spcBef>
                <a:spcPct val="0"/>
              </a:spcBef>
              <a:spcAft>
                <a:spcPts val="0"/>
              </a:spcAft>
              <a:buClr>
                <a:srgbClr val="820000"/>
              </a:buClr>
              <a:buSzPct val="100000"/>
              <a:buFont typeface="Wingdings" pitchFamily="2" charset="2"/>
              <a:buChar char="§"/>
              <a:defRPr sz="1984">
                <a:solidFill>
                  <a:srgbClr val="000000"/>
                </a:solidFill>
                <a:latin typeface="Tahoma" pitchFamily="34" charset="0"/>
                <a:ea typeface="Tahoma" pitchFamily="34" charset="0"/>
                <a:cs typeface="Tahoma" pitchFamily="34" charset="0"/>
              </a:defRPr>
            </a:lvl5pPr>
            <a:lvl6pPr marL="25146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1984">
                <a:solidFill>
                  <a:srgbClr val="000000"/>
                </a:solidFill>
                <a:latin typeface="+mn-lt"/>
                <a:ea typeface="+mn-ea"/>
                <a:cs typeface="+mn-cs"/>
              </a:defRPr>
            </a:lvl6pPr>
            <a:lvl7pPr marL="29718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1984">
                <a:solidFill>
                  <a:srgbClr val="000000"/>
                </a:solidFill>
                <a:latin typeface="+mn-lt"/>
                <a:ea typeface="+mn-ea"/>
                <a:cs typeface="+mn-cs"/>
              </a:defRPr>
            </a:lvl7pPr>
            <a:lvl8pPr marL="34290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1984">
                <a:solidFill>
                  <a:srgbClr val="000000"/>
                </a:solidFill>
                <a:latin typeface="+mn-lt"/>
                <a:ea typeface="+mn-ea"/>
                <a:cs typeface="+mn-cs"/>
              </a:defRPr>
            </a:lvl8pPr>
            <a:lvl9pPr marL="38862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1984">
                <a:solidFill>
                  <a:srgbClr val="000000"/>
                </a:solidFill>
                <a:latin typeface="+mn-lt"/>
                <a:ea typeface="+mn-ea"/>
                <a:cs typeface="+mn-cs"/>
              </a:defRPr>
            </a:lvl9pPr>
          </a:lstStyle>
          <a:p>
            <a:pPr marL="566968" indent="-566968">
              <a:lnSpc>
                <a:spcPct val="107000"/>
              </a:lnSpc>
              <a:spcBef>
                <a:spcPts val="0"/>
              </a:spcBef>
              <a:buSzPts val="2854"/>
              <a:buFont typeface="+mj-lt"/>
              <a:buAutoNum type="arabicPeriod" startAt="4"/>
            </a:pPr>
            <a:r>
              <a:rPr lang="en-US" sz="3200" kern="0" dirty="0"/>
              <a:t>Populate</a:t>
            </a:r>
          </a:p>
          <a:p>
            <a:pPr marL="1007943" lvl="1" indent="-566968">
              <a:lnSpc>
                <a:spcPct val="107000"/>
              </a:lnSpc>
              <a:spcBef>
                <a:spcPts val="0"/>
              </a:spcBef>
              <a:buSzPts val="2447"/>
            </a:pPr>
            <a:r>
              <a:rPr lang="en-US" sz="2800" kern="0" dirty="0"/>
              <a:t>Stage (Window): primary=default, can have multiple</a:t>
            </a:r>
          </a:p>
          <a:p>
            <a:pPr marL="1007943" lvl="1" indent="-566968">
              <a:lnSpc>
                <a:spcPct val="107000"/>
              </a:lnSpc>
              <a:spcBef>
                <a:spcPts val="0"/>
              </a:spcBef>
              <a:buSzPts val="2447"/>
            </a:pPr>
            <a:r>
              <a:rPr lang="en-US" sz="2800" kern="0" dirty="0"/>
              <a:t>Scene: hierarchical graph of nodes</a:t>
            </a:r>
          </a:p>
          <a:p>
            <a:pPr marL="1007943" lvl="1" indent="-566968">
              <a:lnSpc>
                <a:spcPct val="107000"/>
              </a:lnSpc>
              <a:spcBef>
                <a:spcPts val="0"/>
              </a:spcBef>
              <a:buSzPts val="2447"/>
            </a:pPr>
            <a:r>
              <a:rPr lang="en-US" sz="2800" kern="0" dirty="0"/>
              <a:t>Nodes: UI elements like buttons, text fields, etc.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6"/>
          <p:cNvSpPr txBox="1">
            <a:spLocks noGrp="1"/>
          </p:cNvSpPr>
          <p:nvPr>
            <p:ph type="title"/>
          </p:nvPr>
        </p:nvSpPr>
        <p:spPr>
          <a:xfrm>
            <a:off x="1230312" y="309562"/>
            <a:ext cx="7772401" cy="1260475"/>
          </a:xfrm>
          <a:prstGeom prst="rect">
            <a:avLst/>
          </a:prstGeom>
          <a:noFill/>
          <a:ln>
            <a:noFill/>
          </a:ln>
        </p:spPr>
        <p:txBody>
          <a:bodyPr spcFirstLastPara="1" wrap="square" lIns="0" tIns="0" rIns="0" bIns="0" anchor="ctr" anchorCtr="0">
            <a:normAutofit/>
          </a:bodyPr>
          <a:lstStyle/>
          <a:p>
            <a:pPr marL="0" lvl="0" indent="0" algn="ctr" rtl="0">
              <a:lnSpc>
                <a:spcPct val="117000"/>
              </a:lnSpc>
              <a:spcBef>
                <a:spcPts val="0"/>
              </a:spcBef>
              <a:spcAft>
                <a:spcPts val="0"/>
              </a:spcAft>
              <a:buNone/>
            </a:pPr>
            <a:r>
              <a:rPr lang="en-US" dirty="0"/>
              <a:t>My First JavaFX Application</a:t>
            </a:r>
            <a:endParaRPr dirty="0"/>
          </a:p>
        </p:txBody>
      </p:sp>
      <p:sp>
        <p:nvSpPr>
          <p:cNvPr id="192" name="Google Shape;192;p6"/>
          <p:cNvSpPr txBox="1">
            <a:spLocks noGrp="1"/>
          </p:cNvSpPr>
          <p:nvPr>
            <p:ph type="body" idx="4294967295"/>
          </p:nvPr>
        </p:nvSpPr>
        <p:spPr>
          <a:xfrm>
            <a:off x="504507" y="1409292"/>
            <a:ext cx="9071610" cy="3472998"/>
          </a:xfrm>
          <a:prstGeom prst="rect">
            <a:avLst/>
          </a:prstGeom>
          <a:noFill/>
          <a:ln>
            <a:noFill/>
          </a:ln>
        </p:spPr>
        <p:txBody>
          <a:bodyPr spcFirstLastPara="1" wrap="square" lIns="0" tIns="0" rIns="0" bIns="0" anchor="t" anchorCtr="0">
            <a:noAutofit/>
          </a:bodyPr>
          <a:lstStyle/>
          <a:p>
            <a:pPr marL="457200" lvl="0" indent="-274320" algn="l" rtl="0">
              <a:lnSpc>
                <a:spcPct val="117000"/>
              </a:lnSpc>
              <a:spcBef>
                <a:spcPts val="0"/>
              </a:spcBef>
              <a:spcAft>
                <a:spcPts val="0"/>
              </a:spcAft>
              <a:buSzPts val="3200"/>
              <a:buChar char="▪"/>
            </a:pPr>
            <a:r>
              <a:rPr lang="en-US" dirty="0"/>
              <a:t>Create a new project in Eclipse</a:t>
            </a:r>
            <a:endParaRPr dirty="0"/>
          </a:p>
          <a:p>
            <a:pPr marL="914400" lvl="1" indent="-274319" algn="l" rtl="0">
              <a:lnSpc>
                <a:spcPct val="117000"/>
              </a:lnSpc>
              <a:spcBef>
                <a:spcPts val="1413"/>
              </a:spcBef>
              <a:spcAft>
                <a:spcPts val="0"/>
              </a:spcAft>
              <a:buSzPts val="2800"/>
              <a:buChar char="»"/>
            </a:pPr>
            <a:r>
              <a:rPr lang="en-US" dirty="0"/>
              <a:t>Name: </a:t>
            </a:r>
            <a:r>
              <a:rPr lang="en-US" dirty="0" err="1"/>
              <a:t>MyJavaFX</a:t>
            </a:r>
            <a:endParaRPr dirty="0"/>
          </a:p>
          <a:p>
            <a:pPr marL="457200" lvl="0" indent="-274320" algn="l" rtl="0">
              <a:lnSpc>
                <a:spcPct val="117000"/>
              </a:lnSpc>
              <a:spcBef>
                <a:spcPts val="1138"/>
              </a:spcBef>
              <a:spcAft>
                <a:spcPts val="0"/>
              </a:spcAft>
              <a:buSzPts val="3200"/>
              <a:buChar char="▪"/>
            </a:pPr>
            <a:r>
              <a:rPr lang="en-US" dirty="0"/>
              <a:t>Create a new class</a:t>
            </a:r>
            <a:endParaRPr dirty="0"/>
          </a:p>
          <a:p>
            <a:pPr marL="914400" lvl="1" indent="-274319" algn="l" rtl="0">
              <a:lnSpc>
                <a:spcPct val="117000"/>
              </a:lnSpc>
              <a:spcBef>
                <a:spcPts val="1413"/>
              </a:spcBef>
              <a:spcAft>
                <a:spcPts val="0"/>
              </a:spcAft>
              <a:buSzPts val="2800"/>
              <a:buChar char="»"/>
            </a:pPr>
            <a:r>
              <a:rPr lang="en-US" dirty="0" err="1"/>
              <a:t>MyJavaFX</a:t>
            </a:r>
            <a:endParaRPr dirty="0"/>
          </a:p>
          <a:p>
            <a:pPr marL="1257300" lvl="2" indent="-274319" algn="l" rtl="0">
              <a:lnSpc>
                <a:spcPct val="117000"/>
              </a:lnSpc>
              <a:spcBef>
                <a:spcPts val="1138"/>
              </a:spcBef>
              <a:spcAft>
                <a:spcPts val="0"/>
              </a:spcAft>
              <a:buSzPts val="2400"/>
              <a:buChar char="▪"/>
            </a:pPr>
            <a:r>
              <a:rPr lang="en-US" dirty="0"/>
              <a:t>Extend the “Application” class</a:t>
            </a:r>
            <a:endParaRPr dirty="0"/>
          </a:p>
          <a:p>
            <a:pPr marL="914400" lvl="1" indent="-274319" algn="l" rtl="0">
              <a:lnSpc>
                <a:spcPct val="117000"/>
              </a:lnSpc>
              <a:spcBef>
                <a:spcPts val="850"/>
              </a:spcBef>
              <a:spcAft>
                <a:spcPts val="0"/>
              </a:spcAft>
              <a:buSzPts val="2800"/>
              <a:buChar char="»"/>
            </a:pPr>
            <a:r>
              <a:rPr lang="en-US" dirty="0"/>
              <a:t>Include a main method</a:t>
            </a:r>
            <a:endParaRPr dirty="0"/>
          </a:p>
        </p:txBody>
      </p:sp>
      <p:sp>
        <p:nvSpPr>
          <p:cNvPr id="193" name="Google Shape;193;p6"/>
          <p:cNvSpPr txBox="1"/>
          <p:nvPr/>
        </p:nvSpPr>
        <p:spPr>
          <a:xfrm>
            <a:off x="1241424" y="5303837"/>
            <a:ext cx="8180445" cy="1688411"/>
          </a:xfrm>
          <a:prstGeom prst="rect">
            <a:avLst/>
          </a:prstGeom>
          <a:noFill/>
          <a:ln>
            <a:noFill/>
          </a:ln>
        </p:spPr>
        <p:txBody>
          <a:bodyPr spcFirstLastPara="1" wrap="square" lIns="91425" tIns="45700" rIns="91425" bIns="45700" anchor="t" anchorCtr="0">
            <a:spAutoFit/>
          </a:bodyPr>
          <a:lstStyle/>
          <a:p>
            <a:pPr marL="0" marR="0" lvl="0" indent="0" algn="l" rtl="0">
              <a:lnSpc>
                <a:spcPct val="98000"/>
              </a:lnSpc>
              <a:spcBef>
                <a:spcPts val="0"/>
              </a:spcBef>
              <a:spcAft>
                <a:spcPts val="0"/>
              </a:spcAft>
              <a:buNone/>
            </a:pPr>
            <a:r>
              <a:rPr lang="en-US" sz="2646" b="1" dirty="0">
                <a:solidFill>
                  <a:schemeClr val="dk1"/>
                </a:solidFill>
                <a:latin typeface="Consolas"/>
                <a:ea typeface="Consolas"/>
                <a:cs typeface="Consolas"/>
                <a:sym typeface="Consolas"/>
              </a:rPr>
              <a:t>public class </a:t>
            </a:r>
            <a:r>
              <a:rPr lang="en-US" sz="2646" b="1" dirty="0" err="1">
                <a:solidFill>
                  <a:schemeClr val="dk1"/>
                </a:solidFill>
                <a:latin typeface="Consolas"/>
                <a:ea typeface="Consolas"/>
                <a:cs typeface="Consolas"/>
                <a:sym typeface="Consolas"/>
              </a:rPr>
              <a:t>MyJavaFX</a:t>
            </a:r>
            <a:r>
              <a:rPr lang="en-US" sz="2646" b="1" dirty="0">
                <a:solidFill>
                  <a:schemeClr val="dk1"/>
                </a:solidFill>
                <a:latin typeface="Consolas"/>
                <a:ea typeface="Consolas"/>
                <a:cs typeface="Consolas"/>
                <a:sym typeface="Consolas"/>
              </a:rPr>
              <a:t> extends </a:t>
            </a:r>
            <a:r>
              <a:rPr lang="en-US" sz="2646" b="1" u="sng" dirty="0">
                <a:solidFill>
                  <a:schemeClr val="dk1"/>
                </a:solidFill>
                <a:latin typeface="Consolas"/>
                <a:ea typeface="Consolas"/>
                <a:cs typeface="Consolas"/>
                <a:sym typeface="Consolas"/>
              </a:rPr>
              <a:t>Application</a:t>
            </a:r>
            <a:r>
              <a:rPr lang="en-US" sz="2646" b="1" dirty="0">
                <a:solidFill>
                  <a:schemeClr val="dk1"/>
                </a:solidFill>
                <a:latin typeface="Consolas"/>
                <a:ea typeface="Consolas"/>
                <a:cs typeface="Consolas"/>
                <a:sym typeface="Consolas"/>
              </a:rPr>
              <a:t> {</a:t>
            </a:r>
            <a:endParaRPr dirty="0"/>
          </a:p>
          <a:p>
            <a:pPr marL="0" marR="0" lvl="0" indent="0" algn="l" rtl="0">
              <a:lnSpc>
                <a:spcPct val="98000"/>
              </a:lnSpc>
              <a:spcBef>
                <a:spcPts val="0"/>
              </a:spcBef>
              <a:spcAft>
                <a:spcPts val="0"/>
              </a:spcAft>
              <a:buNone/>
            </a:pPr>
            <a:r>
              <a:rPr lang="en-US" sz="2646" b="1" dirty="0">
                <a:solidFill>
                  <a:schemeClr val="dk1"/>
                </a:solidFill>
                <a:latin typeface="Consolas"/>
                <a:ea typeface="Consolas"/>
                <a:cs typeface="Consolas"/>
                <a:sym typeface="Consolas"/>
              </a:rPr>
              <a:t>	public static void main(String[] </a:t>
            </a:r>
            <a:r>
              <a:rPr lang="en-US" sz="2646" b="1" dirty="0" err="1">
                <a:solidFill>
                  <a:schemeClr val="dk1"/>
                </a:solidFill>
                <a:latin typeface="Consolas"/>
                <a:ea typeface="Consolas"/>
                <a:cs typeface="Consolas"/>
                <a:sym typeface="Consolas"/>
              </a:rPr>
              <a:t>args</a:t>
            </a:r>
            <a:r>
              <a:rPr lang="en-US" sz="2646" b="1" dirty="0">
                <a:solidFill>
                  <a:schemeClr val="dk1"/>
                </a:solidFill>
                <a:latin typeface="Consolas"/>
                <a:ea typeface="Consolas"/>
                <a:cs typeface="Consolas"/>
                <a:sym typeface="Consolas"/>
              </a:rPr>
              <a:t>) {</a:t>
            </a:r>
            <a:endParaRPr dirty="0"/>
          </a:p>
          <a:p>
            <a:pPr marL="0" marR="0" lvl="0" indent="0" algn="l" rtl="0">
              <a:lnSpc>
                <a:spcPct val="98000"/>
              </a:lnSpc>
              <a:spcBef>
                <a:spcPts val="0"/>
              </a:spcBef>
              <a:spcAft>
                <a:spcPts val="0"/>
              </a:spcAft>
              <a:buNone/>
            </a:pPr>
            <a:r>
              <a:rPr lang="en-US" sz="2646" b="1" dirty="0">
                <a:solidFill>
                  <a:schemeClr val="dk1"/>
                </a:solidFill>
                <a:latin typeface="Consolas"/>
                <a:ea typeface="Consolas"/>
                <a:cs typeface="Consolas"/>
                <a:sym typeface="Consolas"/>
              </a:rPr>
              <a:t>	}</a:t>
            </a:r>
            <a:endParaRPr dirty="0"/>
          </a:p>
          <a:p>
            <a:pPr marL="0" marR="0" lvl="0" indent="0" algn="l" rtl="0">
              <a:lnSpc>
                <a:spcPct val="98000"/>
              </a:lnSpc>
              <a:spcBef>
                <a:spcPts val="0"/>
              </a:spcBef>
              <a:spcAft>
                <a:spcPts val="0"/>
              </a:spcAft>
              <a:buNone/>
            </a:pPr>
            <a:r>
              <a:rPr lang="en-US" sz="2646" b="1" dirty="0">
                <a:solidFill>
                  <a:schemeClr val="dk1"/>
                </a:solidFill>
                <a:latin typeface="Consolas"/>
                <a:ea typeface="Consolas"/>
                <a:cs typeface="Consolas"/>
                <a:sym typeface="Consolas"/>
              </a:rPr>
              <a:t>}</a:t>
            </a:r>
            <a:endParaRPr sz="2646" b="1" dirty="0">
              <a:solidFill>
                <a:schemeClr val="dk1"/>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399D409B-71F9-B162-A695-C40DFB0295EC}"/>
            </a:ext>
          </a:extLst>
        </p:cNvPr>
        <p:cNvGrpSpPr/>
        <p:nvPr/>
      </p:nvGrpSpPr>
      <p:grpSpPr>
        <a:xfrm>
          <a:off x="0" y="0"/>
          <a:ext cx="0" cy="0"/>
          <a:chOff x="0" y="0"/>
          <a:chExt cx="0" cy="0"/>
        </a:xfrm>
      </p:grpSpPr>
      <p:sp>
        <p:nvSpPr>
          <p:cNvPr id="191" name="Google Shape;191;p6">
            <a:extLst>
              <a:ext uri="{FF2B5EF4-FFF2-40B4-BE49-F238E27FC236}">
                <a16:creationId xmlns:a16="http://schemas.microsoft.com/office/drawing/2014/main" id="{8FD078F8-7996-3FD9-2F87-D13182C0DDDC}"/>
              </a:ext>
            </a:extLst>
          </p:cNvPr>
          <p:cNvSpPr txBox="1">
            <a:spLocks noGrp="1"/>
          </p:cNvSpPr>
          <p:nvPr>
            <p:ph type="title"/>
          </p:nvPr>
        </p:nvSpPr>
        <p:spPr>
          <a:xfrm>
            <a:off x="1230312" y="309562"/>
            <a:ext cx="7772401" cy="1260475"/>
          </a:xfrm>
          <a:prstGeom prst="rect">
            <a:avLst/>
          </a:prstGeom>
          <a:noFill/>
          <a:ln>
            <a:noFill/>
          </a:ln>
        </p:spPr>
        <p:txBody>
          <a:bodyPr spcFirstLastPara="1" wrap="square" lIns="0" tIns="0" rIns="0" bIns="0" anchor="ctr" anchorCtr="0">
            <a:normAutofit/>
          </a:bodyPr>
          <a:lstStyle/>
          <a:p>
            <a:pPr marL="0" lvl="0" indent="0" algn="ctr" rtl="0">
              <a:lnSpc>
                <a:spcPct val="117000"/>
              </a:lnSpc>
              <a:spcBef>
                <a:spcPts val="0"/>
              </a:spcBef>
              <a:spcAft>
                <a:spcPts val="0"/>
              </a:spcAft>
              <a:buNone/>
            </a:pPr>
            <a:r>
              <a:rPr lang="en-US" dirty="0"/>
              <a:t>My First JavaFX Application</a:t>
            </a:r>
            <a:endParaRPr dirty="0"/>
          </a:p>
        </p:txBody>
      </p:sp>
      <p:sp>
        <p:nvSpPr>
          <p:cNvPr id="192" name="Google Shape;192;p6">
            <a:extLst>
              <a:ext uri="{FF2B5EF4-FFF2-40B4-BE49-F238E27FC236}">
                <a16:creationId xmlns:a16="http://schemas.microsoft.com/office/drawing/2014/main" id="{771627BB-9531-F429-A753-FBF480592106}"/>
              </a:ext>
            </a:extLst>
          </p:cNvPr>
          <p:cNvSpPr txBox="1">
            <a:spLocks noGrp="1"/>
          </p:cNvSpPr>
          <p:nvPr>
            <p:ph type="body" idx="4294967295"/>
          </p:nvPr>
        </p:nvSpPr>
        <p:spPr>
          <a:xfrm>
            <a:off x="504507" y="1409292"/>
            <a:ext cx="9071610" cy="3472998"/>
          </a:xfrm>
          <a:prstGeom prst="rect">
            <a:avLst/>
          </a:prstGeom>
          <a:noFill/>
          <a:ln>
            <a:noFill/>
          </a:ln>
        </p:spPr>
        <p:txBody>
          <a:bodyPr spcFirstLastPara="1" wrap="square" lIns="0" tIns="0" rIns="0" bIns="0" anchor="t" anchorCtr="0">
            <a:noAutofit/>
          </a:bodyPr>
          <a:lstStyle/>
          <a:p>
            <a:pPr marL="457200" lvl="0" indent="-274320" algn="l" rtl="0">
              <a:lnSpc>
                <a:spcPct val="117000"/>
              </a:lnSpc>
              <a:spcBef>
                <a:spcPts val="0"/>
              </a:spcBef>
              <a:spcAft>
                <a:spcPts val="0"/>
              </a:spcAft>
              <a:buSzPts val="3200"/>
              <a:buChar char="▪"/>
            </a:pPr>
            <a:r>
              <a:rPr lang="en-US" dirty="0"/>
              <a:t>Create a new project in Eclipse</a:t>
            </a:r>
            <a:endParaRPr dirty="0"/>
          </a:p>
          <a:p>
            <a:pPr marL="914400" lvl="1" indent="-274319" algn="l" rtl="0">
              <a:lnSpc>
                <a:spcPct val="117000"/>
              </a:lnSpc>
              <a:spcBef>
                <a:spcPts val="1413"/>
              </a:spcBef>
              <a:spcAft>
                <a:spcPts val="0"/>
              </a:spcAft>
              <a:buSzPts val="2800"/>
              <a:buChar char="»"/>
            </a:pPr>
            <a:r>
              <a:rPr lang="en-US" dirty="0"/>
              <a:t>Name: </a:t>
            </a:r>
            <a:r>
              <a:rPr lang="en-US" dirty="0" err="1"/>
              <a:t>MyJavaFX</a:t>
            </a:r>
            <a:endParaRPr dirty="0"/>
          </a:p>
          <a:p>
            <a:pPr marL="457200" lvl="0" indent="-274320" algn="l" rtl="0">
              <a:lnSpc>
                <a:spcPct val="117000"/>
              </a:lnSpc>
              <a:spcBef>
                <a:spcPts val="1138"/>
              </a:spcBef>
              <a:spcAft>
                <a:spcPts val="0"/>
              </a:spcAft>
              <a:buSzPts val="3200"/>
              <a:buChar char="▪"/>
            </a:pPr>
            <a:r>
              <a:rPr lang="en-US" dirty="0"/>
              <a:t>Create a new class</a:t>
            </a:r>
            <a:endParaRPr dirty="0"/>
          </a:p>
          <a:p>
            <a:pPr marL="914400" lvl="1" indent="-274319" algn="l" rtl="0">
              <a:lnSpc>
                <a:spcPct val="117000"/>
              </a:lnSpc>
              <a:spcBef>
                <a:spcPts val="1413"/>
              </a:spcBef>
              <a:spcAft>
                <a:spcPts val="0"/>
              </a:spcAft>
              <a:buSzPts val="2800"/>
              <a:buChar char="»"/>
            </a:pPr>
            <a:r>
              <a:rPr lang="en-US" dirty="0" err="1"/>
              <a:t>MyJavaFX</a:t>
            </a:r>
            <a:endParaRPr dirty="0"/>
          </a:p>
          <a:p>
            <a:pPr marL="1257300" lvl="2" indent="-274319" algn="l" rtl="0">
              <a:lnSpc>
                <a:spcPct val="117000"/>
              </a:lnSpc>
              <a:spcBef>
                <a:spcPts val="1138"/>
              </a:spcBef>
              <a:spcAft>
                <a:spcPts val="0"/>
              </a:spcAft>
              <a:buSzPts val="2400"/>
              <a:buChar char="▪"/>
            </a:pPr>
            <a:r>
              <a:rPr lang="en-US" dirty="0"/>
              <a:t>Extend the “Application” class</a:t>
            </a:r>
            <a:endParaRPr dirty="0"/>
          </a:p>
          <a:p>
            <a:pPr marL="914400" lvl="1" indent="-274319" algn="l" rtl="0">
              <a:lnSpc>
                <a:spcPct val="117000"/>
              </a:lnSpc>
              <a:spcBef>
                <a:spcPts val="850"/>
              </a:spcBef>
              <a:spcAft>
                <a:spcPts val="0"/>
              </a:spcAft>
              <a:buSzPts val="2800"/>
              <a:buChar char="»"/>
            </a:pPr>
            <a:r>
              <a:rPr lang="en-US" dirty="0"/>
              <a:t>Include a main method</a:t>
            </a:r>
            <a:endParaRPr dirty="0"/>
          </a:p>
        </p:txBody>
      </p:sp>
      <p:sp>
        <p:nvSpPr>
          <p:cNvPr id="193" name="Google Shape;193;p6">
            <a:extLst>
              <a:ext uri="{FF2B5EF4-FFF2-40B4-BE49-F238E27FC236}">
                <a16:creationId xmlns:a16="http://schemas.microsoft.com/office/drawing/2014/main" id="{095779C1-A657-95DC-1D53-47CD3A976521}"/>
              </a:ext>
            </a:extLst>
          </p:cNvPr>
          <p:cNvSpPr txBox="1"/>
          <p:nvPr/>
        </p:nvSpPr>
        <p:spPr>
          <a:xfrm>
            <a:off x="1241424" y="5303837"/>
            <a:ext cx="8180445" cy="1688411"/>
          </a:xfrm>
          <a:prstGeom prst="rect">
            <a:avLst/>
          </a:prstGeom>
          <a:noFill/>
          <a:ln>
            <a:noFill/>
          </a:ln>
        </p:spPr>
        <p:txBody>
          <a:bodyPr spcFirstLastPara="1" wrap="square" lIns="91425" tIns="45700" rIns="91425" bIns="45700" anchor="t" anchorCtr="0">
            <a:spAutoFit/>
          </a:bodyPr>
          <a:lstStyle/>
          <a:p>
            <a:pPr marL="0" marR="0" lvl="0" indent="0" algn="l" rtl="0">
              <a:lnSpc>
                <a:spcPct val="98000"/>
              </a:lnSpc>
              <a:spcBef>
                <a:spcPts val="0"/>
              </a:spcBef>
              <a:spcAft>
                <a:spcPts val="0"/>
              </a:spcAft>
              <a:buNone/>
            </a:pPr>
            <a:r>
              <a:rPr lang="en-US" sz="2646" b="1" dirty="0">
                <a:solidFill>
                  <a:schemeClr val="dk1"/>
                </a:solidFill>
                <a:latin typeface="Consolas"/>
                <a:ea typeface="Consolas"/>
                <a:cs typeface="Consolas"/>
                <a:sym typeface="Consolas"/>
              </a:rPr>
              <a:t>public class </a:t>
            </a:r>
            <a:r>
              <a:rPr lang="en-US" sz="2646" b="1" dirty="0" err="1">
                <a:solidFill>
                  <a:schemeClr val="dk1"/>
                </a:solidFill>
                <a:latin typeface="Consolas"/>
                <a:ea typeface="Consolas"/>
                <a:cs typeface="Consolas"/>
                <a:sym typeface="Consolas"/>
              </a:rPr>
              <a:t>MyJavaFX</a:t>
            </a:r>
            <a:r>
              <a:rPr lang="en-US" sz="2646" b="1" dirty="0">
                <a:solidFill>
                  <a:schemeClr val="dk1"/>
                </a:solidFill>
                <a:latin typeface="Consolas"/>
                <a:ea typeface="Consolas"/>
                <a:cs typeface="Consolas"/>
                <a:sym typeface="Consolas"/>
              </a:rPr>
              <a:t> extends </a:t>
            </a:r>
            <a:r>
              <a:rPr lang="en-US" sz="2646" b="1" u="sng" dirty="0">
                <a:solidFill>
                  <a:schemeClr val="dk1"/>
                </a:solidFill>
                <a:latin typeface="Consolas"/>
                <a:ea typeface="Consolas"/>
                <a:cs typeface="Consolas"/>
                <a:sym typeface="Consolas"/>
              </a:rPr>
              <a:t>Application</a:t>
            </a:r>
            <a:r>
              <a:rPr lang="en-US" sz="2646" b="1" dirty="0">
                <a:solidFill>
                  <a:schemeClr val="dk1"/>
                </a:solidFill>
                <a:latin typeface="Consolas"/>
                <a:ea typeface="Consolas"/>
                <a:cs typeface="Consolas"/>
                <a:sym typeface="Consolas"/>
              </a:rPr>
              <a:t> {</a:t>
            </a:r>
            <a:endParaRPr dirty="0"/>
          </a:p>
          <a:p>
            <a:pPr marL="0" marR="0" lvl="0" indent="0" algn="l" rtl="0">
              <a:lnSpc>
                <a:spcPct val="98000"/>
              </a:lnSpc>
              <a:spcBef>
                <a:spcPts val="0"/>
              </a:spcBef>
              <a:spcAft>
                <a:spcPts val="0"/>
              </a:spcAft>
              <a:buNone/>
            </a:pPr>
            <a:r>
              <a:rPr lang="en-US" sz="2646" b="1" dirty="0">
                <a:solidFill>
                  <a:schemeClr val="dk1"/>
                </a:solidFill>
                <a:latin typeface="Consolas"/>
                <a:ea typeface="Consolas"/>
                <a:cs typeface="Consolas"/>
                <a:sym typeface="Consolas"/>
              </a:rPr>
              <a:t>	public static void main(String[] </a:t>
            </a:r>
            <a:r>
              <a:rPr lang="en-US" sz="2646" b="1" dirty="0" err="1">
                <a:solidFill>
                  <a:schemeClr val="dk1"/>
                </a:solidFill>
                <a:latin typeface="Consolas"/>
                <a:ea typeface="Consolas"/>
                <a:cs typeface="Consolas"/>
                <a:sym typeface="Consolas"/>
              </a:rPr>
              <a:t>args</a:t>
            </a:r>
            <a:r>
              <a:rPr lang="en-US" sz="2646" b="1" dirty="0">
                <a:solidFill>
                  <a:schemeClr val="dk1"/>
                </a:solidFill>
                <a:latin typeface="Consolas"/>
                <a:ea typeface="Consolas"/>
                <a:cs typeface="Consolas"/>
                <a:sym typeface="Consolas"/>
              </a:rPr>
              <a:t>) {</a:t>
            </a:r>
            <a:endParaRPr dirty="0"/>
          </a:p>
          <a:p>
            <a:pPr marL="0" marR="0" lvl="0" indent="0" algn="l" rtl="0">
              <a:lnSpc>
                <a:spcPct val="98000"/>
              </a:lnSpc>
              <a:spcBef>
                <a:spcPts val="0"/>
              </a:spcBef>
              <a:spcAft>
                <a:spcPts val="0"/>
              </a:spcAft>
              <a:buNone/>
            </a:pPr>
            <a:r>
              <a:rPr lang="en-US" sz="2646" b="1" dirty="0">
                <a:solidFill>
                  <a:schemeClr val="dk1"/>
                </a:solidFill>
                <a:latin typeface="Consolas"/>
                <a:ea typeface="Consolas"/>
                <a:cs typeface="Consolas"/>
                <a:sym typeface="Consolas"/>
              </a:rPr>
              <a:t>	}</a:t>
            </a:r>
            <a:endParaRPr dirty="0"/>
          </a:p>
          <a:p>
            <a:pPr marL="0" marR="0" lvl="0" indent="0" algn="l" rtl="0">
              <a:lnSpc>
                <a:spcPct val="98000"/>
              </a:lnSpc>
              <a:spcBef>
                <a:spcPts val="0"/>
              </a:spcBef>
              <a:spcAft>
                <a:spcPts val="0"/>
              </a:spcAft>
              <a:buNone/>
            </a:pPr>
            <a:r>
              <a:rPr lang="en-US" sz="2646" b="1" dirty="0">
                <a:solidFill>
                  <a:schemeClr val="dk1"/>
                </a:solidFill>
                <a:latin typeface="Consolas"/>
                <a:ea typeface="Consolas"/>
                <a:cs typeface="Consolas"/>
                <a:sym typeface="Consolas"/>
              </a:rPr>
              <a:t>}</a:t>
            </a:r>
            <a:endParaRPr sz="2646" b="1" dirty="0">
              <a:solidFill>
                <a:schemeClr val="dk1"/>
              </a:solidFill>
              <a:latin typeface="Consolas"/>
              <a:ea typeface="Consolas"/>
              <a:cs typeface="Consolas"/>
              <a:sym typeface="Consolas"/>
            </a:endParaRPr>
          </a:p>
        </p:txBody>
      </p:sp>
    </p:spTree>
    <p:extLst>
      <p:ext uri="{BB962C8B-B14F-4D97-AF65-F5344CB8AC3E}">
        <p14:creationId xmlns:p14="http://schemas.microsoft.com/office/powerpoint/2010/main" val="988298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7068db824e_0_136"/>
          <p:cNvSpPr txBox="1">
            <a:spLocks noGrp="1"/>
          </p:cNvSpPr>
          <p:nvPr>
            <p:ph type="title"/>
          </p:nvPr>
        </p:nvSpPr>
        <p:spPr>
          <a:xfrm>
            <a:off x="1230312" y="309562"/>
            <a:ext cx="7772400" cy="1260600"/>
          </a:xfrm>
          <a:prstGeom prst="rect">
            <a:avLst/>
          </a:prstGeom>
          <a:noFill/>
          <a:ln>
            <a:noFill/>
          </a:ln>
        </p:spPr>
        <p:txBody>
          <a:bodyPr spcFirstLastPara="1" wrap="square" lIns="0" tIns="0" rIns="0" bIns="0" anchor="ctr" anchorCtr="0">
            <a:noAutofit/>
          </a:bodyPr>
          <a:lstStyle/>
          <a:p>
            <a:pPr marL="0" lvl="0" indent="0" algn="ctr" rtl="0">
              <a:lnSpc>
                <a:spcPct val="117000"/>
              </a:lnSpc>
              <a:spcBef>
                <a:spcPts val="0"/>
              </a:spcBef>
              <a:spcAft>
                <a:spcPts val="0"/>
              </a:spcAft>
              <a:buNone/>
            </a:pPr>
            <a:r>
              <a:rPr lang="en-US"/>
              <a:t>My First JavaFX Application</a:t>
            </a:r>
            <a:endParaRPr/>
          </a:p>
        </p:txBody>
      </p:sp>
      <p:sp>
        <p:nvSpPr>
          <p:cNvPr id="199" name="Google Shape;199;g7068db824e_0_136"/>
          <p:cNvSpPr txBox="1"/>
          <p:nvPr/>
        </p:nvSpPr>
        <p:spPr>
          <a:xfrm>
            <a:off x="1900225" y="1874837"/>
            <a:ext cx="8180400" cy="1688400"/>
          </a:xfrm>
          <a:prstGeom prst="rect">
            <a:avLst/>
          </a:prstGeom>
          <a:noFill/>
          <a:ln>
            <a:noFill/>
          </a:ln>
        </p:spPr>
        <p:txBody>
          <a:bodyPr spcFirstLastPara="1" wrap="square" lIns="91425" tIns="45700" rIns="91425" bIns="45700" anchor="t" anchorCtr="0">
            <a:noAutofit/>
          </a:bodyPr>
          <a:lstStyle/>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import </a:t>
            </a:r>
            <a:r>
              <a:rPr lang="en-US" sz="1800" b="1" dirty="0" err="1">
                <a:solidFill>
                  <a:schemeClr val="dk1"/>
                </a:solidFill>
                <a:latin typeface="Consolas"/>
                <a:ea typeface="Consolas"/>
                <a:cs typeface="Consolas"/>
                <a:sym typeface="Consolas"/>
              </a:rPr>
              <a:t>javafx.application</a:t>
            </a:r>
            <a:r>
              <a:rPr lang="en-US" sz="1800" b="1" dirty="0">
                <a:solidFill>
                  <a:schemeClr val="dk1"/>
                </a:solidFill>
                <a:latin typeface="Consolas"/>
                <a:ea typeface="Consolas"/>
                <a:cs typeface="Consolas"/>
                <a:sym typeface="Consolas"/>
              </a:rPr>
              <a:t>.*;</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import </a:t>
            </a:r>
            <a:r>
              <a:rPr lang="en-US" sz="1800" b="1" dirty="0" err="1">
                <a:solidFill>
                  <a:schemeClr val="dk1"/>
                </a:solidFill>
                <a:latin typeface="Consolas"/>
                <a:ea typeface="Consolas"/>
                <a:cs typeface="Consolas"/>
                <a:sym typeface="Consolas"/>
              </a:rPr>
              <a:t>javafx.stage</a:t>
            </a:r>
            <a:r>
              <a:rPr lang="en-US" sz="1800" b="1" dirty="0">
                <a:solidFill>
                  <a:schemeClr val="dk1"/>
                </a:solidFill>
                <a:latin typeface="Consolas"/>
                <a:ea typeface="Consolas"/>
                <a:cs typeface="Consolas"/>
                <a:sym typeface="Consolas"/>
              </a:rPr>
              <a:t>.*;</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public class </a:t>
            </a:r>
            <a:r>
              <a:rPr lang="en-US" sz="1800" b="1" dirty="0" err="1">
                <a:solidFill>
                  <a:schemeClr val="dk1"/>
                </a:solidFill>
                <a:latin typeface="Consolas"/>
                <a:ea typeface="Consolas"/>
                <a:cs typeface="Consolas"/>
                <a:sym typeface="Consolas"/>
              </a:rPr>
              <a:t>MyJavaFX</a:t>
            </a:r>
            <a:r>
              <a:rPr lang="en-US" sz="1800" b="1" dirty="0">
                <a:solidFill>
                  <a:schemeClr val="dk1"/>
                </a:solidFill>
                <a:latin typeface="Consolas"/>
                <a:ea typeface="Consolas"/>
                <a:cs typeface="Consolas"/>
                <a:sym typeface="Consolas"/>
              </a:rPr>
              <a:t> extends Application {</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	</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	@Override</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	public void start (Stage s) {</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		</a:t>
            </a:r>
            <a:r>
              <a:rPr lang="en-US" sz="1800" b="1" dirty="0" err="1">
                <a:solidFill>
                  <a:schemeClr val="dk1"/>
                </a:solidFill>
                <a:latin typeface="Consolas"/>
                <a:ea typeface="Consolas"/>
                <a:cs typeface="Consolas"/>
                <a:sym typeface="Consolas"/>
              </a:rPr>
              <a:t>s.setWidth</a:t>
            </a:r>
            <a:r>
              <a:rPr lang="en-US" sz="1800" b="1" dirty="0">
                <a:solidFill>
                  <a:schemeClr val="dk1"/>
                </a:solidFill>
                <a:latin typeface="Consolas"/>
                <a:ea typeface="Consolas"/>
                <a:cs typeface="Consolas"/>
                <a:sym typeface="Consolas"/>
              </a:rPr>
              <a:t>(800);</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		</a:t>
            </a:r>
            <a:r>
              <a:rPr lang="en-US" sz="1800" b="1" dirty="0" err="1">
                <a:solidFill>
                  <a:schemeClr val="dk1"/>
                </a:solidFill>
                <a:latin typeface="Consolas"/>
                <a:ea typeface="Consolas"/>
                <a:cs typeface="Consolas"/>
                <a:sym typeface="Consolas"/>
              </a:rPr>
              <a:t>s.setHeight</a:t>
            </a:r>
            <a:r>
              <a:rPr lang="en-US" sz="1800" b="1" dirty="0">
                <a:solidFill>
                  <a:schemeClr val="dk1"/>
                </a:solidFill>
                <a:latin typeface="Consolas"/>
                <a:ea typeface="Consolas"/>
                <a:cs typeface="Consolas"/>
                <a:sym typeface="Consolas"/>
              </a:rPr>
              <a:t>(600);</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		</a:t>
            </a:r>
            <a:r>
              <a:rPr lang="en-US" sz="1800" b="1" dirty="0" err="1">
                <a:solidFill>
                  <a:schemeClr val="dk1"/>
                </a:solidFill>
                <a:latin typeface="Consolas"/>
                <a:ea typeface="Consolas"/>
                <a:cs typeface="Consolas"/>
                <a:sym typeface="Consolas"/>
              </a:rPr>
              <a:t>s.show</a:t>
            </a:r>
            <a:r>
              <a:rPr lang="en-US" sz="1800" b="1" dirty="0">
                <a:solidFill>
                  <a:schemeClr val="dk1"/>
                </a:solidFill>
                <a:latin typeface="Consolas"/>
                <a:ea typeface="Consolas"/>
                <a:cs typeface="Consolas"/>
                <a:sym typeface="Consolas"/>
              </a:rPr>
              <a:t>();</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	}</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	</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public static void main(String[] </a:t>
            </a:r>
            <a:r>
              <a:rPr lang="en-US" sz="1800" b="1" dirty="0" err="1">
                <a:solidFill>
                  <a:schemeClr val="dk1"/>
                </a:solidFill>
                <a:latin typeface="Consolas"/>
                <a:ea typeface="Consolas"/>
                <a:cs typeface="Consolas"/>
                <a:sym typeface="Consolas"/>
              </a:rPr>
              <a:t>args</a:t>
            </a:r>
            <a:r>
              <a:rPr lang="en-US" sz="1800" b="1" dirty="0">
                <a:solidFill>
                  <a:schemeClr val="dk1"/>
                </a:solidFill>
                <a:latin typeface="Consolas"/>
                <a:ea typeface="Consolas"/>
                <a:cs typeface="Consolas"/>
                <a:sym typeface="Consolas"/>
              </a:rPr>
              <a:t> ) {</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	launch(</a:t>
            </a:r>
            <a:r>
              <a:rPr lang="en-US" sz="1800" b="1" dirty="0" err="1">
                <a:solidFill>
                  <a:schemeClr val="dk1"/>
                </a:solidFill>
                <a:latin typeface="Consolas"/>
                <a:ea typeface="Consolas"/>
                <a:cs typeface="Consolas"/>
                <a:sym typeface="Consolas"/>
              </a:rPr>
              <a:t>args</a:t>
            </a:r>
            <a:r>
              <a:rPr lang="en-US" sz="1800" b="1" dirty="0">
                <a:solidFill>
                  <a:schemeClr val="dk1"/>
                </a:solidFill>
                <a:latin typeface="Consolas"/>
                <a:ea typeface="Consolas"/>
                <a:cs typeface="Consolas"/>
                <a:sym typeface="Consolas"/>
              </a:rPr>
              <a:t>);</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Clr>
                <a:schemeClr val="dk1"/>
              </a:buClr>
              <a:buSzPts val="1100"/>
              <a:buFont typeface="Arial"/>
              <a:buNone/>
            </a:pPr>
            <a:r>
              <a:rPr lang="en-US" sz="1800" b="1" dirty="0">
                <a:solidFill>
                  <a:schemeClr val="dk1"/>
                </a:solidFill>
                <a:latin typeface="Consolas"/>
                <a:ea typeface="Consolas"/>
                <a:cs typeface="Consolas"/>
                <a:sym typeface="Consolas"/>
              </a:rPr>
              <a:t>}</a:t>
            </a:r>
            <a:endParaRPr sz="1800" b="1" dirty="0">
              <a:solidFill>
                <a:schemeClr val="dk1"/>
              </a:solidFill>
              <a:latin typeface="Consolas"/>
              <a:ea typeface="Consolas"/>
              <a:cs typeface="Consolas"/>
              <a:sym typeface="Consolas"/>
            </a:endParaRPr>
          </a:p>
          <a:p>
            <a:pPr marL="0" marR="0" lvl="0" indent="0" algn="l" rtl="0">
              <a:lnSpc>
                <a:spcPct val="98000"/>
              </a:lnSpc>
              <a:spcBef>
                <a:spcPts val="0"/>
              </a:spcBef>
              <a:spcAft>
                <a:spcPts val="0"/>
              </a:spcAft>
              <a:buNone/>
            </a:pPr>
            <a:endParaRPr sz="1800" b="1" dirty="0">
              <a:solidFill>
                <a:schemeClr val="dk1"/>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E4F46-2340-020B-D578-3F570773BED2}"/>
              </a:ext>
            </a:extLst>
          </p:cNvPr>
          <p:cNvSpPr>
            <a:spLocks noGrp="1"/>
          </p:cNvSpPr>
          <p:nvPr>
            <p:ph type="title"/>
          </p:nvPr>
        </p:nvSpPr>
        <p:spPr/>
        <p:txBody>
          <a:bodyPr/>
          <a:lstStyle/>
          <a:p>
            <a:r>
              <a:rPr lang="en-US" dirty="0"/>
              <a:t>My First JavaFX Application (2)</a:t>
            </a:r>
          </a:p>
        </p:txBody>
      </p:sp>
      <p:sp>
        <p:nvSpPr>
          <p:cNvPr id="3" name="Text Placeholder 2">
            <a:extLst>
              <a:ext uri="{FF2B5EF4-FFF2-40B4-BE49-F238E27FC236}">
                <a16:creationId xmlns:a16="http://schemas.microsoft.com/office/drawing/2014/main" id="{F31D23BA-65F6-84DA-7A7C-179357C79E77}"/>
              </a:ext>
            </a:extLst>
          </p:cNvPr>
          <p:cNvSpPr>
            <a:spLocks noGrp="1"/>
          </p:cNvSpPr>
          <p:nvPr>
            <p:ph type="body" sz="quarter" idx="10"/>
          </p:nvPr>
        </p:nvSpPr>
        <p:spPr/>
        <p:txBody>
          <a:bodyPr/>
          <a:lstStyle/>
          <a:p>
            <a:r>
              <a:rPr lang="en-US" dirty="0"/>
              <a:t>Code Structure Example:</a:t>
            </a:r>
          </a:p>
          <a:p>
            <a:endParaRPr lang="en-US" sz="2800" dirty="0"/>
          </a:p>
        </p:txBody>
      </p:sp>
      <p:sp>
        <p:nvSpPr>
          <p:cNvPr id="7" name="TextBox 6">
            <a:extLst>
              <a:ext uri="{FF2B5EF4-FFF2-40B4-BE49-F238E27FC236}">
                <a16:creationId xmlns:a16="http://schemas.microsoft.com/office/drawing/2014/main" id="{88DBC6F8-24C1-A505-3357-A093539692EE}"/>
              </a:ext>
            </a:extLst>
          </p:cNvPr>
          <p:cNvSpPr txBox="1"/>
          <p:nvPr/>
        </p:nvSpPr>
        <p:spPr>
          <a:xfrm>
            <a:off x="981437" y="2138232"/>
            <a:ext cx="8496195" cy="2505301"/>
          </a:xfrm>
          <a:prstGeom prst="rect">
            <a:avLst/>
          </a:prstGeom>
          <a:noFill/>
        </p:spPr>
        <p:txBody>
          <a:bodyPr wrap="square">
            <a:spAutoFit/>
          </a:bodyPr>
          <a:lstStyle/>
          <a:p>
            <a:r>
              <a:rPr lang="en-US" sz="2000" dirty="0"/>
              <a:t>public class HelloWorld extends Application {</a:t>
            </a:r>
          </a:p>
          <a:p>
            <a:r>
              <a:rPr lang="en-US" sz="2000" dirty="0"/>
              <a:t>    public void start(Stage </a:t>
            </a:r>
            <a:r>
              <a:rPr lang="en-US" sz="2000" dirty="0" err="1"/>
              <a:t>primaryStage</a:t>
            </a:r>
            <a:r>
              <a:rPr lang="en-US" sz="2000" dirty="0"/>
              <a:t>) {</a:t>
            </a:r>
          </a:p>
          <a:p>
            <a:r>
              <a:rPr lang="en-US" sz="2000" dirty="0"/>
              <a:t>        Scene </a:t>
            </a:r>
            <a:r>
              <a:rPr lang="en-US" sz="2000" dirty="0" err="1"/>
              <a:t>scene</a:t>
            </a:r>
            <a:r>
              <a:rPr lang="en-US" sz="2000" dirty="0"/>
              <a:t> = new Scene(new </a:t>
            </a:r>
            <a:r>
              <a:rPr lang="en-US" sz="2000" dirty="0" err="1"/>
              <a:t>StackPane</a:t>
            </a:r>
            <a:r>
              <a:rPr lang="en-US" sz="2000" dirty="0"/>
              <a:t>(new Button("Click Me!")), 400, 300);</a:t>
            </a:r>
          </a:p>
          <a:p>
            <a:r>
              <a:rPr lang="en-US" sz="2000" dirty="0"/>
              <a:t>        </a:t>
            </a:r>
            <a:r>
              <a:rPr lang="en-US" sz="2000" dirty="0" err="1"/>
              <a:t>primaryStage.setScene</a:t>
            </a:r>
            <a:r>
              <a:rPr lang="en-US" sz="2000" dirty="0"/>
              <a:t>(scene);</a:t>
            </a:r>
          </a:p>
          <a:p>
            <a:r>
              <a:rPr lang="en-US" sz="2000" dirty="0"/>
              <a:t>        </a:t>
            </a:r>
            <a:r>
              <a:rPr lang="en-US" sz="2000" dirty="0" err="1"/>
              <a:t>primaryStage.show</a:t>
            </a:r>
            <a:r>
              <a:rPr lang="en-US" sz="2000" dirty="0"/>
              <a:t>();</a:t>
            </a:r>
          </a:p>
          <a:p>
            <a:r>
              <a:rPr lang="en-US" sz="2000" dirty="0"/>
              <a:t>    }</a:t>
            </a:r>
          </a:p>
          <a:p>
            <a:r>
              <a:rPr lang="en-US" sz="2000" dirty="0"/>
              <a:t>}</a:t>
            </a:r>
          </a:p>
        </p:txBody>
      </p:sp>
    </p:spTree>
    <p:extLst>
      <p:ext uri="{BB962C8B-B14F-4D97-AF65-F5344CB8AC3E}">
        <p14:creationId xmlns:p14="http://schemas.microsoft.com/office/powerpoint/2010/main" val="3842804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0"/>
          <p:cNvSpPr txBox="1">
            <a:spLocks noGrp="1"/>
          </p:cNvSpPr>
          <p:nvPr>
            <p:ph type="title"/>
          </p:nvPr>
        </p:nvSpPr>
        <p:spPr>
          <a:xfrm>
            <a:off x="1230312" y="309562"/>
            <a:ext cx="7772401" cy="1260475"/>
          </a:xfrm>
          <a:prstGeom prst="rect">
            <a:avLst/>
          </a:prstGeom>
          <a:noFill/>
          <a:ln>
            <a:noFill/>
          </a:ln>
        </p:spPr>
        <p:txBody>
          <a:bodyPr spcFirstLastPara="1" wrap="square" lIns="0" tIns="0" rIns="0" bIns="0" anchor="ctr" anchorCtr="0">
            <a:normAutofit/>
          </a:bodyPr>
          <a:lstStyle/>
          <a:p>
            <a:pPr marL="0" lvl="0" indent="0" algn="ctr" rtl="0">
              <a:lnSpc>
                <a:spcPct val="117000"/>
              </a:lnSpc>
              <a:spcBef>
                <a:spcPts val="0"/>
              </a:spcBef>
              <a:spcAft>
                <a:spcPts val="0"/>
              </a:spcAft>
              <a:buNone/>
            </a:pPr>
            <a:r>
              <a:rPr lang="en-US" dirty="0"/>
              <a:t>My First JavaFX Application (3)</a:t>
            </a:r>
            <a:endParaRPr dirty="0"/>
          </a:p>
        </p:txBody>
      </p:sp>
      <p:sp>
        <p:nvSpPr>
          <p:cNvPr id="205" name="Google Shape;205;p10"/>
          <p:cNvSpPr txBox="1">
            <a:spLocks noGrp="1"/>
          </p:cNvSpPr>
          <p:nvPr>
            <p:ph type="body" idx="4294967295"/>
          </p:nvPr>
        </p:nvSpPr>
        <p:spPr>
          <a:xfrm>
            <a:off x="504507" y="1409292"/>
            <a:ext cx="9071610" cy="5343668"/>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import </a:t>
            </a:r>
            <a:r>
              <a:rPr lang="en-US" sz="1400" b="1" dirty="0" err="1">
                <a:latin typeface="Consolas"/>
                <a:ea typeface="Consolas"/>
                <a:cs typeface="Consolas"/>
                <a:sym typeface="Consolas"/>
              </a:rPr>
              <a:t>javafx.application.Application</a:t>
            </a:r>
            <a:r>
              <a:rPr lang="en-US" sz="1400" b="1" dirty="0">
                <a:latin typeface="Consolas"/>
                <a:ea typeface="Consolas"/>
                <a:cs typeface="Consolas"/>
                <a:sym typeface="Consolas"/>
              </a:rPr>
              <a:t>;</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import </a:t>
            </a:r>
            <a:r>
              <a:rPr lang="en-US" sz="1400" b="1" dirty="0" err="1">
                <a:latin typeface="Consolas"/>
                <a:ea typeface="Consolas"/>
                <a:cs typeface="Consolas"/>
                <a:sym typeface="Consolas"/>
              </a:rPr>
              <a:t>javafx.scene.Scene</a:t>
            </a:r>
            <a:r>
              <a:rPr lang="en-US" sz="1400" b="1" dirty="0">
                <a:latin typeface="Consolas"/>
                <a:ea typeface="Consolas"/>
                <a:cs typeface="Consolas"/>
                <a:sym typeface="Consolas"/>
              </a:rPr>
              <a:t>;</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import </a:t>
            </a:r>
            <a:r>
              <a:rPr lang="en-US" sz="1400" b="1" dirty="0" err="1">
                <a:latin typeface="Consolas"/>
                <a:ea typeface="Consolas"/>
                <a:cs typeface="Consolas"/>
                <a:sym typeface="Consolas"/>
              </a:rPr>
              <a:t>javafx.scene.control.Button</a:t>
            </a:r>
            <a:r>
              <a:rPr lang="en-US" sz="1400" b="1" dirty="0">
                <a:latin typeface="Consolas"/>
                <a:ea typeface="Consolas"/>
                <a:cs typeface="Consolas"/>
                <a:sym typeface="Consolas"/>
              </a:rPr>
              <a:t>;</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import </a:t>
            </a:r>
            <a:r>
              <a:rPr lang="en-US" sz="1400" b="1" dirty="0" err="1">
                <a:latin typeface="Consolas"/>
                <a:ea typeface="Consolas"/>
                <a:cs typeface="Consolas"/>
                <a:sym typeface="Consolas"/>
              </a:rPr>
              <a:t>javafx.scene.layout.StackPane</a:t>
            </a:r>
            <a:r>
              <a:rPr lang="en-US" sz="1400" b="1" dirty="0">
                <a:latin typeface="Consolas"/>
                <a:ea typeface="Consolas"/>
                <a:cs typeface="Consolas"/>
                <a:sym typeface="Consolas"/>
              </a:rPr>
              <a:t>;</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import </a:t>
            </a:r>
            <a:r>
              <a:rPr lang="en-US" sz="1400" b="1" dirty="0" err="1">
                <a:latin typeface="Consolas"/>
                <a:ea typeface="Consolas"/>
                <a:cs typeface="Consolas"/>
                <a:sym typeface="Consolas"/>
              </a:rPr>
              <a:t>javafx.stage.Stage</a:t>
            </a:r>
            <a:r>
              <a:rPr lang="en-US" sz="1400" b="1" dirty="0">
                <a:latin typeface="Consolas"/>
                <a:ea typeface="Consolas"/>
                <a:cs typeface="Consolas"/>
                <a:sym typeface="Consolas"/>
              </a:rPr>
              <a:t>;</a:t>
            </a:r>
            <a:endParaRPr dirty="0"/>
          </a:p>
          <a:p>
            <a:pPr marL="0" lvl="0" indent="0" algn="l" rtl="0">
              <a:lnSpc>
                <a:spcPct val="100000"/>
              </a:lnSpc>
              <a:spcBef>
                <a:spcPts val="0"/>
              </a:spcBef>
              <a:spcAft>
                <a:spcPts val="0"/>
              </a:spcAft>
              <a:buSzPts val="1400"/>
              <a:buNone/>
            </a:pPr>
            <a:endParaRPr sz="1400" b="1" dirty="0">
              <a:latin typeface="Consolas"/>
              <a:ea typeface="Consolas"/>
              <a:cs typeface="Consolas"/>
              <a:sym typeface="Consolas"/>
            </a:endParaRPr>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public class </a:t>
            </a:r>
            <a:r>
              <a:rPr lang="en-US" sz="1400" b="1" dirty="0" err="1">
                <a:latin typeface="Consolas"/>
                <a:ea typeface="Consolas"/>
                <a:cs typeface="Consolas"/>
                <a:sym typeface="Consolas"/>
              </a:rPr>
              <a:t>MyJavaFX</a:t>
            </a:r>
            <a:r>
              <a:rPr lang="en-US" sz="1400" b="1" dirty="0">
                <a:latin typeface="Consolas"/>
                <a:ea typeface="Consolas"/>
                <a:cs typeface="Consolas"/>
                <a:sym typeface="Consolas"/>
              </a:rPr>
              <a:t> extends Application {</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public static void main(String[] </a:t>
            </a:r>
            <a:r>
              <a:rPr lang="en-US" sz="1400" b="1" dirty="0" err="1">
                <a:latin typeface="Consolas"/>
                <a:ea typeface="Consolas"/>
                <a:cs typeface="Consolas"/>
                <a:sym typeface="Consolas"/>
              </a:rPr>
              <a:t>args</a:t>
            </a:r>
            <a:r>
              <a:rPr lang="en-US" sz="1400" b="1" dirty="0">
                <a:latin typeface="Consolas"/>
                <a:ea typeface="Consolas"/>
                <a:cs typeface="Consolas"/>
                <a:sym typeface="Consolas"/>
              </a:rPr>
              <a:t>) {</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launch(</a:t>
            </a:r>
            <a:r>
              <a:rPr lang="en-US" sz="1400" b="1" dirty="0" err="1">
                <a:latin typeface="Consolas"/>
                <a:ea typeface="Consolas"/>
                <a:cs typeface="Consolas"/>
                <a:sym typeface="Consolas"/>
              </a:rPr>
              <a:t>args</a:t>
            </a:r>
            <a:r>
              <a:rPr lang="en-US" sz="1400" b="1" dirty="0">
                <a:latin typeface="Consolas"/>
                <a:ea typeface="Consolas"/>
                <a:cs typeface="Consolas"/>
                <a:sym typeface="Consolas"/>
              </a:rPr>
              <a:t>);</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a:t>
            </a:r>
            <a:endParaRPr dirty="0"/>
          </a:p>
          <a:p>
            <a:pPr marL="0" lvl="0" indent="0" algn="l" rtl="0">
              <a:lnSpc>
                <a:spcPct val="100000"/>
              </a:lnSpc>
              <a:spcBef>
                <a:spcPts val="0"/>
              </a:spcBef>
              <a:spcAft>
                <a:spcPts val="0"/>
              </a:spcAft>
              <a:buSzPts val="1400"/>
              <a:buNone/>
            </a:pPr>
            <a:endParaRPr sz="1400" b="1" dirty="0">
              <a:latin typeface="Consolas"/>
              <a:ea typeface="Consolas"/>
              <a:cs typeface="Consolas"/>
              <a:sym typeface="Consolas"/>
            </a:endParaRPr>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@Override</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public void start(Stage </a:t>
            </a:r>
            <a:r>
              <a:rPr lang="en-US" sz="1400" b="1" dirty="0" err="1">
                <a:latin typeface="Consolas"/>
                <a:ea typeface="Consolas"/>
                <a:cs typeface="Consolas"/>
                <a:sym typeface="Consolas"/>
              </a:rPr>
              <a:t>primaryStage</a:t>
            </a:r>
            <a:r>
              <a:rPr lang="en-US" sz="1400" b="1" dirty="0">
                <a:latin typeface="Consolas"/>
                <a:ea typeface="Consolas"/>
                <a:cs typeface="Consolas"/>
                <a:sym typeface="Consolas"/>
              </a:rPr>
              <a:t>) {</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a:t>
            </a:r>
            <a:r>
              <a:rPr lang="en-US" sz="1400" b="1" dirty="0" err="1">
                <a:latin typeface="Consolas"/>
                <a:ea typeface="Consolas"/>
                <a:cs typeface="Consolas"/>
                <a:sym typeface="Consolas"/>
              </a:rPr>
              <a:t>primaryStage.setTitle</a:t>
            </a:r>
            <a:r>
              <a:rPr lang="en-US" sz="1400" b="1" dirty="0">
                <a:latin typeface="Consolas"/>
                <a:ea typeface="Consolas"/>
                <a:cs typeface="Consolas"/>
                <a:sym typeface="Consolas"/>
              </a:rPr>
              <a:t>("Hello World!");</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final Button </a:t>
            </a:r>
            <a:r>
              <a:rPr lang="en-US" sz="1400" b="1" dirty="0" err="1">
                <a:latin typeface="Consolas"/>
                <a:ea typeface="Consolas"/>
                <a:cs typeface="Consolas"/>
                <a:sym typeface="Consolas"/>
              </a:rPr>
              <a:t>btn</a:t>
            </a:r>
            <a:r>
              <a:rPr lang="en-US" sz="1400" b="1" dirty="0">
                <a:latin typeface="Consolas"/>
                <a:ea typeface="Consolas"/>
                <a:cs typeface="Consolas"/>
                <a:sym typeface="Consolas"/>
              </a:rPr>
              <a:t> = new Button();</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a:t>
            </a:r>
            <a:r>
              <a:rPr lang="en-US" sz="1400" b="1" dirty="0" err="1">
                <a:latin typeface="Consolas"/>
                <a:ea typeface="Consolas"/>
                <a:cs typeface="Consolas"/>
                <a:sym typeface="Consolas"/>
              </a:rPr>
              <a:t>btn.setText</a:t>
            </a:r>
            <a:r>
              <a:rPr lang="en-US" sz="1400" b="1" dirty="0">
                <a:latin typeface="Consolas"/>
                <a:ea typeface="Consolas"/>
                <a:cs typeface="Consolas"/>
                <a:sym typeface="Consolas"/>
              </a:rPr>
              <a:t>("Click Me!");</a:t>
            </a:r>
            <a:endParaRPr dirty="0"/>
          </a:p>
          <a:p>
            <a:pPr marL="0" lvl="0" indent="0" algn="l" rtl="0">
              <a:lnSpc>
                <a:spcPct val="100000"/>
              </a:lnSpc>
              <a:spcBef>
                <a:spcPts val="0"/>
              </a:spcBef>
              <a:spcAft>
                <a:spcPts val="0"/>
              </a:spcAft>
              <a:buSzPts val="1400"/>
              <a:buNone/>
            </a:pPr>
            <a:endParaRPr sz="1400" b="1" dirty="0">
              <a:latin typeface="Consolas"/>
              <a:ea typeface="Consolas"/>
              <a:cs typeface="Consolas"/>
              <a:sym typeface="Consolas"/>
            </a:endParaRPr>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final </a:t>
            </a:r>
            <a:r>
              <a:rPr lang="en-US" sz="1400" b="1" dirty="0" err="1">
                <a:latin typeface="Consolas"/>
                <a:ea typeface="Consolas"/>
                <a:cs typeface="Consolas"/>
                <a:sym typeface="Consolas"/>
              </a:rPr>
              <a:t>StackPane</a:t>
            </a:r>
            <a:r>
              <a:rPr lang="en-US" sz="1400" b="1" dirty="0">
                <a:latin typeface="Consolas"/>
                <a:ea typeface="Consolas"/>
                <a:cs typeface="Consolas"/>
                <a:sym typeface="Consolas"/>
              </a:rPr>
              <a:t> root = new </a:t>
            </a:r>
            <a:r>
              <a:rPr lang="en-US" sz="1400" b="1" dirty="0" err="1">
                <a:latin typeface="Consolas"/>
                <a:ea typeface="Consolas"/>
                <a:cs typeface="Consolas"/>
                <a:sym typeface="Consolas"/>
              </a:rPr>
              <a:t>StackPane</a:t>
            </a:r>
            <a:r>
              <a:rPr lang="en-US" sz="1400" b="1" dirty="0">
                <a:latin typeface="Consolas"/>
                <a:ea typeface="Consolas"/>
                <a:cs typeface="Consolas"/>
                <a:sym typeface="Consolas"/>
              </a:rPr>
              <a:t>();</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a:t>
            </a:r>
            <a:r>
              <a:rPr lang="en-US" sz="1400" b="1" dirty="0" err="1">
                <a:latin typeface="Consolas"/>
                <a:ea typeface="Consolas"/>
                <a:cs typeface="Consolas"/>
                <a:sym typeface="Consolas"/>
              </a:rPr>
              <a:t>root.getChildren</a:t>
            </a:r>
            <a:r>
              <a:rPr lang="en-US" sz="1400" b="1" dirty="0">
                <a:latin typeface="Consolas"/>
                <a:ea typeface="Consolas"/>
                <a:cs typeface="Consolas"/>
                <a:sym typeface="Consolas"/>
              </a:rPr>
              <a:t>().add(</a:t>
            </a:r>
            <a:r>
              <a:rPr lang="en-US" sz="1400" b="1" dirty="0" err="1">
                <a:latin typeface="Consolas"/>
                <a:ea typeface="Consolas"/>
                <a:cs typeface="Consolas"/>
                <a:sym typeface="Consolas"/>
              </a:rPr>
              <a:t>btn</a:t>
            </a:r>
            <a:r>
              <a:rPr lang="en-US" sz="1400" b="1" dirty="0">
                <a:latin typeface="Consolas"/>
                <a:ea typeface="Consolas"/>
                <a:cs typeface="Consolas"/>
                <a:sym typeface="Consolas"/>
              </a:rPr>
              <a:t>);</a:t>
            </a:r>
            <a:endParaRPr dirty="0"/>
          </a:p>
          <a:p>
            <a:pPr marL="0" lvl="0" indent="0" algn="l" rtl="0">
              <a:lnSpc>
                <a:spcPct val="100000"/>
              </a:lnSpc>
              <a:spcBef>
                <a:spcPts val="0"/>
              </a:spcBef>
              <a:spcAft>
                <a:spcPts val="0"/>
              </a:spcAft>
              <a:buSzPts val="1400"/>
              <a:buNone/>
            </a:pPr>
            <a:endParaRPr sz="1400" b="1" dirty="0">
              <a:latin typeface="Consolas"/>
              <a:ea typeface="Consolas"/>
              <a:cs typeface="Consolas"/>
              <a:sym typeface="Consolas"/>
            </a:endParaRPr>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a:t>
            </a:r>
            <a:r>
              <a:rPr lang="en-US" sz="1400" b="1" dirty="0" err="1">
                <a:latin typeface="Consolas"/>
                <a:ea typeface="Consolas"/>
                <a:cs typeface="Consolas"/>
                <a:sym typeface="Consolas"/>
              </a:rPr>
              <a:t>primaryStage.setScene</a:t>
            </a:r>
            <a:r>
              <a:rPr lang="en-US" sz="1400" b="1" dirty="0">
                <a:latin typeface="Consolas"/>
                <a:ea typeface="Consolas"/>
                <a:cs typeface="Consolas"/>
                <a:sym typeface="Consolas"/>
              </a:rPr>
              <a:t>(new Scene(root, 300, 250));</a:t>
            </a:r>
            <a:endParaRPr sz="1400" b="1" dirty="0">
              <a:latin typeface="Consolas"/>
              <a:ea typeface="Consolas"/>
              <a:cs typeface="Consolas"/>
              <a:sym typeface="Consolas"/>
            </a:endParaRPr>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a:t>
            </a:r>
            <a:r>
              <a:rPr lang="en-US" sz="1400" b="1" dirty="0" err="1">
                <a:latin typeface="Consolas"/>
                <a:ea typeface="Consolas"/>
                <a:cs typeface="Consolas"/>
                <a:sym typeface="Consolas"/>
              </a:rPr>
              <a:t>primaryStage.show</a:t>
            </a:r>
            <a:r>
              <a:rPr lang="en-US" sz="1400" b="1" dirty="0">
                <a:latin typeface="Consolas"/>
                <a:ea typeface="Consolas"/>
                <a:cs typeface="Consolas"/>
                <a:sym typeface="Consolas"/>
              </a:rPr>
              <a:t>();</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	}</a:t>
            </a:r>
            <a:endParaRPr dirty="0"/>
          </a:p>
          <a:p>
            <a:pPr marL="0" lvl="0" indent="0" algn="l" rtl="0">
              <a:lnSpc>
                <a:spcPct val="100000"/>
              </a:lnSpc>
              <a:spcBef>
                <a:spcPts val="0"/>
              </a:spcBef>
              <a:spcAft>
                <a:spcPts val="0"/>
              </a:spcAft>
              <a:buSzPts val="1400"/>
              <a:buNone/>
            </a:pPr>
            <a:r>
              <a:rPr lang="en-US" sz="1400" b="1" dirty="0">
                <a:latin typeface="Consolas"/>
                <a:ea typeface="Consolas"/>
                <a:cs typeface="Consolas"/>
                <a:sym typeface="Consolas"/>
              </a:rPr>
              <a:t>}</a:t>
            </a:r>
            <a:endParaRPr sz="1400" b="1" dirty="0">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3"/>
          <p:cNvSpPr txBox="1">
            <a:spLocks noGrp="1"/>
          </p:cNvSpPr>
          <p:nvPr>
            <p:ph type="title"/>
          </p:nvPr>
        </p:nvSpPr>
        <p:spPr>
          <a:xfrm>
            <a:off x="1230312" y="309562"/>
            <a:ext cx="7772401" cy="1260475"/>
          </a:xfrm>
          <a:prstGeom prst="rect">
            <a:avLst/>
          </a:prstGeom>
          <a:noFill/>
          <a:ln>
            <a:noFill/>
          </a:ln>
        </p:spPr>
        <p:txBody>
          <a:bodyPr spcFirstLastPara="1" wrap="square" lIns="0" tIns="0" rIns="0" bIns="0" anchor="ctr" anchorCtr="0">
            <a:normAutofit/>
          </a:bodyPr>
          <a:lstStyle/>
          <a:p>
            <a:pPr marL="0" lvl="0" indent="0" algn="ctr" rtl="0">
              <a:lnSpc>
                <a:spcPct val="117000"/>
              </a:lnSpc>
              <a:spcBef>
                <a:spcPts val="0"/>
              </a:spcBef>
              <a:spcAft>
                <a:spcPts val="0"/>
              </a:spcAft>
              <a:buNone/>
            </a:pPr>
            <a:r>
              <a:rPr lang="en-US"/>
              <a:t>Multiple Windows</a:t>
            </a:r>
            <a:endParaRPr/>
          </a:p>
        </p:txBody>
      </p:sp>
      <p:sp>
        <p:nvSpPr>
          <p:cNvPr id="218" name="Google Shape;218;p13"/>
          <p:cNvSpPr txBox="1">
            <a:spLocks noGrp="1"/>
          </p:cNvSpPr>
          <p:nvPr>
            <p:ph type="body" idx="1"/>
          </p:nvPr>
        </p:nvSpPr>
        <p:spPr>
          <a:xfrm>
            <a:off x="315912" y="3932237"/>
            <a:ext cx="7696200" cy="5353063"/>
          </a:xfrm>
          <a:prstGeom prst="rect">
            <a:avLst/>
          </a:prstGeom>
          <a:noFill/>
          <a:ln>
            <a:noFill/>
          </a:ln>
        </p:spPr>
        <p:txBody>
          <a:bodyPr spcFirstLastPara="1" wrap="square" lIns="0" tIns="0" rIns="0" bIns="0" anchor="t" anchorCtr="0">
            <a:normAutofit/>
          </a:bodyPr>
          <a:lstStyle/>
          <a:p>
            <a:pPr marL="0" lvl="0" indent="0" algn="l" rtl="0">
              <a:lnSpc>
                <a:spcPct val="120000"/>
              </a:lnSpc>
              <a:spcBef>
                <a:spcPts val="0"/>
              </a:spcBef>
              <a:spcAft>
                <a:spcPts val="0"/>
              </a:spcAft>
              <a:buSzPts val="1600"/>
              <a:buNone/>
            </a:pPr>
            <a:r>
              <a:rPr lang="en-US" sz="1600" b="1" dirty="0">
                <a:latin typeface="Consolas"/>
                <a:ea typeface="Consolas"/>
                <a:cs typeface="Consolas"/>
                <a:sym typeface="Consolas"/>
              </a:rPr>
              <a:t>public void start(Stage </a:t>
            </a:r>
            <a:r>
              <a:rPr lang="en-US" sz="1600" b="1" dirty="0" err="1">
                <a:latin typeface="Consolas"/>
                <a:ea typeface="Consolas"/>
                <a:cs typeface="Consolas"/>
                <a:sym typeface="Consolas"/>
              </a:rPr>
              <a:t>primaryStage</a:t>
            </a:r>
            <a:r>
              <a:rPr lang="en-US" sz="1600" b="1" dirty="0">
                <a:latin typeface="Consolas"/>
                <a:ea typeface="Consolas"/>
                <a:cs typeface="Consolas"/>
                <a:sym typeface="Consolas"/>
              </a:rPr>
              <a:t>) {</a:t>
            </a:r>
            <a:endParaRPr dirty="0"/>
          </a:p>
          <a:p>
            <a:pPr marL="0" lvl="0" indent="0" algn="l" rtl="0">
              <a:lnSpc>
                <a:spcPct val="120000"/>
              </a:lnSpc>
              <a:spcBef>
                <a:spcPts val="0"/>
              </a:spcBef>
              <a:spcAft>
                <a:spcPts val="0"/>
              </a:spcAft>
              <a:buSzPts val="1600"/>
              <a:buNone/>
            </a:pPr>
            <a:r>
              <a:rPr lang="en-US" sz="1600" b="1" dirty="0">
                <a:latin typeface="Consolas"/>
                <a:ea typeface="Consolas"/>
                <a:cs typeface="Consolas"/>
                <a:sym typeface="Consolas"/>
              </a:rPr>
              <a:t>	Scene </a:t>
            </a:r>
            <a:r>
              <a:rPr lang="en-US" sz="1600" b="1" dirty="0" err="1">
                <a:latin typeface="Consolas"/>
                <a:ea typeface="Consolas"/>
                <a:cs typeface="Consolas"/>
                <a:sym typeface="Consolas"/>
              </a:rPr>
              <a:t>scene</a:t>
            </a:r>
            <a:r>
              <a:rPr lang="en-US" sz="1600" b="1" dirty="0">
                <a:latin typeface="Consolas"/>
                <a:ea typeface="Consolas"/>
                <a:cs typeface="Consolas"/>
                <a:sym typeface="Consolas"/>
              </a:rPr>
              <a:t> = new Scene(new Button("OK"), 200, 250);</a:t>
            </a:r>
            <a:endParaRPr dirty="0"/>
          </a:p>
          <a:p>
            <a:pPr marL="0" lvl="0" indent="0" algn="l" rtl="0">
              <a:lnSpc>
                <a:spcPct val="120000"/>
              </a:lnSpc>
              <a:spcBef>
                <a:spcPts val="0"/>
              </a:spcBef>
              <a:spcAft>
                <a:spcPts val="0"/>
              </a:spcAft>
              <a:buSzPts val="1600"/>
              <a:buNone/>
            </a:pPr>
            <a:r>
              <a:rPr lang="en-US" sz="1600" b="1" dirty="0">
                <a:latin typeface="Consolas"/>
                <a:ea typeface="Consolas"/>
                <a:cs typeface="Consolas"/>
                <a:sym typeface="Consolas"/>
              </a:rPr>
              <a:t>	</a:t>
            </a:r>
            <a:r>
              <a:rPr lang="en-US" sz="1600" b="1" dirty="0" err="1">
                <a:latin typeface="Consolas"/>
                <a:ea typeface="Consolas"/>
                <a:cs typeface="Consolas"/>
                <a:sym typeface="Consolas"/>
              </a:rPr>
              <a:t>primaryStage.setTitle</a:t>
            </a:r>
            <a:r>
              <a:rPr lang="en-US" sz="1600" b="1" dirty="0">
                <a:latin typeface="Consolas"/>
                <a:ea typeface="Consolas"/>
                <a:cs typeface="Consolas"/>
                <a:sym typeface="Consolas"/>
              </a:rPr>
              <a:t>("</a:t>
            </a:r>
            <a:r>
              <a:rPr lang="en-US" sz="1600" b="1" dirty="0" err="1">
                <a:latin typeface="Consolas"/>
                <a:ea typeface="Consolas"/>
                <a:cs typeface="Consolas"/>
                <a:sym typeface="Consolas"/>
              </a:rPr>
              <a:t>MyJavaFX</a:t>
            </a:r>
            <a:r>
              <a:rPr lang="en-US" sz="1600" b="1" dirty="0">
                <a:latin typeface="Consolas"/>
                <a:ea typeface="Consolas"/>
                <a:cs typeface="Consolas"/>
                <a:sym typeface="Consolas"/>
              </a:rPr>
              <a:t>");</a:t>
            </a:r>
            <a:endParaRPr dirty="0"/>
          </a:p>
          <a:p>
            <a:pPr marL="0" lvl="0" indent="0" algn="l" rtl="0">
              <a:lnSpc>
                <a:spcPct val="120000"/>
              </a:lnSpc>
              <a:spcBef>
                <a:spcPts val="0"/>
              </a:spcBef>
              <a:spcAft>
                <a:spcPts val="0"/>
              </a:spcAft>
              <a:buSzPts val="1600"/>
              <a:buNone/>
            </a:pPr>
            <a:r>
              <a:rPr lang="en-US" sz="1600" b="1" dirty="0">
                <a:latin typeface="Consolas"/>
                <a:ea typeface="Consolas"/>
                <a:cs typeface="Consolas"/>
                <a:sym typeface="Consolas"/>
              </a:rPr>
              <a:t>	</a:t>
            </a:r>
            <a:r>
              <a:rPr lang="en-US" sz="1600" b="1" dirty="0" err="1">
                <a:latin typeface="Consolas"/>
                <a:ea typeface="Consolas"/>
                <a:cs typeface="Consolas"/>
                <a:sym typeface="Consolas"/>
              </a:rPr>
              <a:t>primaryStage.setScene</a:t>
            </a:r>
            <a:r>
              <a:rPr lang="en-US" sz="1600" b="1" dirty="0">
                <a:latin typeface="Consolas"/>
                <a:ea typeface="Consolas"/>
                <a:cs typeface="Consolas"/>
                <a:sym typeface="Consolas"/>
              </a:rPr>
              <a:t>(scene);</a:t>
            </a:r>
            <a:endParaRPr dirty="0"/>
          </a:p>
          <a:p>
            <a:pPr marL="0" lvl="0" indent="0" algn="l" rtl="0">
              <a:lnSpc>
                <a:spcPct val="120000"/>
              </a:lnSpc>
              <a:spcBef>
                <a:spcPts val="0"/>
              </a:spcBef>
              <a:spcAft>
                <a:spcPts val="0"/>
              </a:spcAft>
              <a:buSzPts val="1600"/>
              <a:buNone/>
            </a:pPr>
            <a:r>
              <a:rPr lang="en-US" sz="1600" b="1" dirty="0">
                <a:latin typeface="Consolas"/>
                <a:ea typeface="Consolas"/>
                <a:cs typeface="Consolas"/>
                <a:sym typeface="Consolas"/>
              </a:rPr>
              <a:t>	</a:t>
            </a:r>
            <a:r>
              <a:rPr lang="en-US" sz="1600" b="1" dirty="0" err="1">
                <a:latin typeface="Consolas"/>
                <a:ea typeface="Consolas"/>
                <a:cs typeface="Consolas"/>
                <a:sym typeface="Consolas"/>
              </a:rPr>
              <a:t>primaryStage.show</a:t>
            </a:r>
            <a:r>
              <a:rPr lang="en-US" sz="1600" b="1" dirty="0">
                <a:latin typeface="Consolas"/>
                <a:ea typeface="Consolas"/>
                <a:cs typeface="Consolas"/>
                <a:sym typeface="Consolas"/>
              </a:rPr>
              <a:t>();</a:t>
            </a:r>
            <a:endParaRPr dirty="0"/>
          </a:p>
          <a:p>
            <a:pPr marL="0" lvl="0" indent="0" algn="l" rtl="0">
              <a:lnSpc>
                <a:spcPct val="120000"/>
              </a:lnSpc>
              <a:spcBef>
                <a:spcPts val="0"/>
              </a:spcBef>
              <a:spcAft>
                <a:spcPts val="0"/>
              </a:spcAft>
              <a:buSzPts val="1600"/>
              <a:buNone/>
            </a:pPr>
            <a:endParaRPr sz="1600" b="1" dirty="0">
              <a:latin typeface="Consolas"/>
              <a:ea typeface="Consolas"/>
              <a:cs typeface="Consolas"/>
              <a:sym typeface="Consolas"/>
            </a:endParaRPr>
          </a:p>
          <a:p>
            <a:pPr marL="0" lvl="0" indent="0" algn="l" rtl="0">
              <a:lnSpc>
                <a:spcPct val="120000"/>
              </a:lnSpc>
              <a:spcBef>
                <a:spcPts val="0"/>
              </a:spcBef>
              <a:spcAft>
                <a:spcPts val="0"/>
              </a:spcAft>
              <a:buSzPts val="1600"/>
              <a:buNone/>
            </a:pPr>
            <a:r>
              <a:rPr lang="en-US" sz="1600" b="1" dirty="0">
                <a:latin typeface="Consolas"/>
                <a:ea typeface="Consolas"/>
                <a:cs typeface="Consolas"/>
                <a:sym typeface="Consolas"/>
              </a:rPr>
              <a:t>	Stage </a:t>
            </a:r>
            <a:r>
              <a:rPr lang="en-US" sz="1600" b="1" dirty="0" err="1">
                <a:latin typeface="Consolas"/>
                <a:ea typeface="Consolas"/>
                <a:cs typeface="Consolas"/>
                <a:sym typeface="Consolas"/>
              </a:rPr>
              <a:t>stage</a:t>
            </a:r>
            <a:r>
              <a:rPr lang="en-US" sz="1600" b="1" dirty="0">
                <a:latin typeface="Consolas"/>
                <a:ea typeface="Consolas"/>
                <a:cs typeface="Consolas"/>
                <a:sym typeface="Consolas"/>
              </a:rPr>
              <a:t> = new Stage();</a:t>
            </a:r>
            <a:endParaRPr dirty="0"/>
          </a:p>
          <a:p>
            <a:pPr marL="0" lvl="0" indent="0" algn="l" rtl="0">
              <a:lnSpc>
                <a:spcPct val="120000"/>
              </a:lnSpc>
              <a:spcBef>
                <a:spcPts val="0"/>
              </a:spcBef>
              <a:spcAft>
                <a:spcPts val="0"/>
              </a:spcAft>
              <a:buSzPts val="1600"/>
              <a:buNone/>
            </a:pPr>
            <a:r>
              <a:rPr lang="en-US" sz="1600" b="1" dirty="0">
                <a:latin typeface="Consolas"/>
                <a:ea typeface="Consolas"/>
                <a:cs typeface="Consolas"/>
                <a:sym typeface="Consolas"/>
              </a:rPr>
              <a:t>	</a:t>
            </a:r>
            <a:r>
              <a:rPr lang="en-US" sz="1600" b="1" dirty="0" err="1">
                <a:latin typeface="Consolas"/>
                <a:ea typeface="Consolas"/>
                <a:cs typeface="Consolas"/>
                <a:sym typeface="Consolas"/>
              </a:rPr>
              <a:t>stage.setTitle</a:t>
            </a:r>
            <a:r>
              <a:rPr lang="en-US" sz="1600" b="1" dirty="0">
                <a:latin typeface="Consolas"/>
                <a:ea typeface="Consolas"/>
                <a:cs typeface="Consolas"/>
                <a:sym typeface="Consolas"/>
              </a:rPr>
              <a:t>("Second Stage");</a:t>
            </a:r>
            <a:endParaRPr dirty="0"/>
          </a:p>
          <a:p>
            <a:pPr marL="0" lvl="0" indent="0" algn="l" rtl="0">
              <a:lnSpc>
                <a:spcPct val="120000"/>
              </a:lnSpc>
              <a:spcBef>
                <a:spcPts val="0"/>
              </a:spcBef>
              <a:spcAft>
                <a:spcPts val="0"/>
              </a:spcAft>
              <a:buSzPts val="1600"/>
              <a:buNone/>
            </a:pPr>
            <a:r>
              <a:rPr lang="en-US" sz="1600" b="1" dirty="0">
                <a:latin typeface="Consolas"/>
                <a:ea typeface="Consolas"/>
                <a:cs typeface="Consolas"/>
                <a:sym typeface="Consolas"/>
              </a:rPr>
              <a:t>	</a:t>
            </a:r>
            <a:r>
              <a:rPr lang="en-US" sz="1600" b="1" dirty="0" err="1">
                <a:latin typeface="Consolas"/>
                <a:ea typeface="Consolas"/>
                <a:cs typeface="Consolas"/>
                <a:sym typeface="Consolas"/>
              </a:rPr>
              <a:t>stage.setScene</a:t>
            </a:r>
            <a:r>
              <a:rPr lang="en-US" sz="1600" b="1" dirty="0">
                <a:latin typeface="Consolas"/>
                <a:ea typeface="Consolas"/>
                <a:cs typeface="Consolas"/>
                <a:sym typeface="Consolas"/>
              </a:rPr>
              <a:t>(new Scene(new Button("New Stage"), 100, 100));</a:t>
            </a:r>
            <a:endParaRPr dirty="0"/>
          </a:p>
          <a:p>
            <a:pPr marL="0" lvl="0" indent="0" algn="l" rtl="0">
              <a:lnSpc>
                <a:spcPct val="120000"/>
              </a:lnSpc>
              <a:spcBef>
                <a:spcPts val="0"/>
              </a:spcBef>
              <a:spcAft>
                <a:spcPts val="0"/>
              </a:spcAft>
              <a:buSzPts val="1600"/>
              <a:buNone/>
            </a:pPr>
            <a:r>
              <a:rPr lang="en-US" sz="1600" b="1" dirty="0">
                <a:latin typeface="Consolas"/>
                <a:ea typeface="Consolas"/>
                <a:cs typeface="Consolas"/>
                <a:sym typeface="Consolas"/>
              </a:rPr>
              <a:t>	</a:t>
            </a:r>
            <a:r>
              <a:rPr lang="en-US" sz="1600" b="1" dirty="0" err="1">
                <a:latin typeface="Consolas"/>
                <a:ea typeface="Consolas"/>
                <a:cs typeface="Consolas"/>
                <a:sym typeface="Consolas"/>
              </a:rPr>
              <a:t>stage.show</a:t>
            </a:r>
            <a:r>
              <a:rPr lang="en-US" sz="1600" b="1" dirty="0">
                <a:latin typeface="Consolas"/>
                <a:ea typeface="Consolas"/>
                <a:cs typeface="Consolas"/>
                <a:sym typeface="Consolas"/>
              </a:rPr>
              <a:t>();</a:t>
            </a:r>
            <a:endParaRPr dirty="0"/>
          </a:p>
          <a:p>
            <a:pPr marL="0" lvl="0" indent="0" algn="l" rtl="0">
              <a:lnSpc>
                <a:spcPct val="120000"/>
              </a:lnSpc>
              <a:spcBef>
                <a:spcPts val="0"/>
              </a:spcBef>
              <a:spcAft>
                <a:spcPts val="0"/>
              </a:spcAft>
              <a:buSzPts val="1600"/>
              <a:buNone/>
            </a:pPr>
            <a:r>
              <a:rPr lang="en-US" sz="1600" b="1" dirty="0">
                <a:latin typeface="Consolas"/>
                <a:ea typeface="Consolas"/>
                <a:cs typeface="Consolas"/>
                <a:sym typeface="Consolas"/>
              </a:rPr>
              <a:t>}</a:t>
            </a:r>
            <a:endParaRPr sz="1600" b="1" dirty="0">
              <a:latin typeface="Consolas"/>
              <a:ea typeface="Consolas"/>
              <a:cs typeface="Consolas"/>
              <a:sym typeface="Consolas"/>
            </a:endParaRPr>
          </a:p>
        </p:txBody>
      </p:sp>
      <p:pic>
        <p:nvPicPr>
          <p:cNvPr id="219" name="Google Shape;219;p13"/>
          <p:cNvPicPr preferRelativeResize="0"/>
          <p:nvPr/>
        </p:nvPicPr>
        <p:blipFill rotWithShape="1">
          <a:blip r:embed="rId3">
            <a:alphaModFix/>
          </a:blip>
          <a:srcRect/>
          <a:stretch/>
        </p:blipFill>
        <p:spPr>
          <a:xfrm>
            <a:off x="5787297" y="1541166"/>
            <a:ext cx="3909960" cy="2694949"/>
          </a:xfrm>
          <a:prstGeom prst="rect">
            <a:avLst/>
          </a:prstGeom>
          <a:noFill/>
          <a:ln>
            <a:noFill/>
          </a:ln>
        </p:spPr>
      </p:pic>
    </p:spTree>
    <p:extLst>
      <p:ext uri="{BB962C8B-B14F-4D97-AF65-F5344CB8AC3E}">
        <p14:creationId xmlns:p14="http://schemas.microsoft.com/office/powerpoint/2010/main" val="3777480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title"/>
          </p:nvPr>
        </p:nvSpPr>
        <p:spPr>
          <a:xfrm>
            <a:off x="1230312" y="309562"/>
            <a:ext cx="7772401" cy="1260475"/>
          </a:xfrm>
          <a:prstGeom prst="rect">
            <a:avLst/>
          </a:prstGeom>
          <a:noFill/>
          <a:ln>
            <a:noFill/>
          </a:ln>
        </p:spPr>
        <p:txBody>
          <a:bodyPr spcFirstLastPara="1" wrap="square" lIns="0" tIns="0" rIns="0" bIns="0" anchor="ctr" anchorCtr="0">
            <a:normAutofit/>
          </a:bodyPr>
          <a:lstStyle/>
          <a:p>
            <a:pPr marL="0" lvl="0" indent="0" algn="ctr" rtl="0">
              <a:lnSpc>
                <a:spcPct val="117000"/>
              </a:lnSpc>
              <a:spcBef>
                <a:spcPts val="0"/>
              </a:spcBef>
              <a:spcAft>
                <a:spcPts val="0"/>
              </a:spcAft>
              <a:buNone/>
            </a:pPr>
            <a:r>
              <a:rPr lang="en-US"/>
              <a:t>UML Relationships</a:t>
            </a:r>
            <a:endParaRPr/>
          </a:p>
        </p:txBody>
      </p:sp>
      <p:pic>
        <p:nvPicPr>
          <p:cNvPr id="225" name="Google Shape;225;p14"/>
          <p:cNvPicPr preferRelativeResize="0">
            <a:picLocks noGrp="1"/>
          </p:cNvPicPr>
          <p:nvPr>
            <p:ph type="body" idx="4294967295"/>
          </p:nvPr>
        </p:nvPicPr>
        <p:blipFill rotWithShape="1">
          <a:blip r:embed="rId3">
            <a:alphaModFix/>
          </a:blip>
          <a:srcRect b="4375"/>
          <a:stretch/>
        </p:blipFill>
        <p:spPr>
          <a:xfrm>
            <a:off x="1077912" y="1560932"/>
            <a:ext cx="8495055" cy="4123905"/>
          </a:xfrm>
          <a:prstGeom prst="rect">
            <a:avLst/>
          </a:prstGeom>
          <a:noFill/>
          <a:ln>
            <a:noFill/>
          </a:ln>
        </p:spPr>
      </p:pic>
      <p:sp>
        <p:nvSpPr>
          <p:cNvPr id="226" name="Google Shape;226;p14"/>
          <p:cNvSpPr txBox="1">
            <a:spLocks noGrp="1"/>
          </p:cNvSpPr>
          <p:nvPr>
            <p:ph type="sldNum" idx="12"/>
          </p:nvPr>
        </p:nvSpPr>
        <p:spPr>
          <a:xfrm>
            <a:off x="8372372" y="7309524"/>
            <a:ext cx="1203745" cy="250151"/>
          </a:xfrm>
          <a:prstGeom prst="rect">
            <a:avLst/>
          </a:prstGeom>
          <a:noFill/>
          <a:ln>
            <a:noFill/>
          </a:ln>
        </p:spPr>
        <p:txBody>
          <a:bodyPr spcFirstLastPara="1" wrap="square" lIns="91425" tIns="45700" rIns="91425" bIns="45700" anchor="t" anchorCtr="0">
            <a:noAutofit/>
          </a:bodyPr>
          <a:lstStyle/>
          <a:p>
            <a:pPr marL="0" marR="0" lvl="0" indent="0" algn="l" rtl="0">
              <a:lnSpc>
                <a:spcPct val="98000"/>
              </a:lnSpc>
              <a:spcBef>
                <a:spcPts val="0"/>
              </a:spcBef>
              <a:spcAft>
                <a:spcPts val="0"/>
              </a:spcAft>
              <a:buNone/>
            </a:pPr>
            <a:fld id="{00000000-1234-1234-1234-123412341234}" type="slidenum">
              <a:rPr lang="en-US" sz="2400">
                <a:solidFill>
                  <a:schemeClr val="dk1"/>
                </a:solidFill>
                <a:latin typeface="Arial"/>
                <a:ea typeface="Arial"/>
                <a:cs typeface="Arial"/>
                <a:sym typeface="Arial"/>
              </a:rPr>
              <a:t>16</a:t>
            </a:fld>
            <a:endParaRPr sz="2400">
              <a:solidFill>
                <a:schemeClr val="dk1"/>
              </a:solidFill>
              <a:latin typeface="Arial"/>
              <a:ea typeface="Arial"/>
              <a:cs typeface="Arial"/>
              <a:sym typeface="Arial"/>
            </a:endParaRPr>
          </a:p>
        </p:txBody>
      </p:sp>
      <p:pic>
        <p:nvPicPr>
          <p:cNvPr id="2" name="Picture 1">
            <a:extLst>
              <a:ext uri="{FF2B5EF4-FFF2-40B4-BE49-F238E27FC236}">
                <a16:creationId xmlns:a16="http://schemas.microsoft.com/office/drawing/2014/main" id="{09B43FC7-D4D1-4ABC-A6D5-6046A51FDE03}"/>
              </a:ext>
            </a:extLst>
          </p:cNvPr>
          <p:cNvPicPr>
            <a:picLocks noChangeAspect="1"/>
          </p:cNvPicPr>
          <p:nvPr/>
        </p:nvPicPr>
        <p:blipFill>
          <a:blip r:embed="rId4"/>
          <a:stretch>
            <a:fillRect/>
          </a:stretch>
        </p:blipFill>
        <p:spPr>
          <a:xfrm>
            <a:off x="863619" y="1428241"/>
            <a:ext cx="2601567" cy="2351596"/>
          </a:xfrm>
          <a:prstGeom prst="rect">
            <a:avLst/>
          </a:prstGeom>
        </p:spPr>
      </p:pic>
      <p:sp>
        <p:nvSpPr>
          <p:cNvPr id="3" name="Rectangle 2">
            <a:extLst>
              <a:ext uri="{FF2B5EF4-FFF2-40B4-BE49-F238E27FC236}">
                <a16:creationId xmlns:a16="http://schemas.microsoft.com/office/drawing/2014/main" id="{74E58D21-E707-4425-B2BB-56868B4C1F00}"/>
              </a:ext>
            </a:extLst>
          </p:cNvPr>
          <p:cNvSpPr/>
          <p:nvPr/>
        </p:nvSpPr>
        <p:spPr>
          <a:xfrm>
            <a:off x="363219" y="5541460"/>
            <a:ext cx="9717406" cy="816249"/>
          </a:xfrm>
          <a:prstGeom prst="rect">
            <a:avLst/>
          </a:prstGeom>
        </p:spPr>
        <p:txBody>
          <a:bodyPr wrap="square">
            <a:spAutoFit/>
          </a:bodyPr>
          <a:lstStyle/>
          <a:p>
            <a:r>
              <a:rPr lang="en-US" b="1" dirty="0" err="1"/>
              <a:t>JavaFx</a:t>
            </a:r>
            <a:r>
              <a:rPr lang="en-US" b="1" dirty="0"/>
              <a:t> Package hierarchy:</a:t>
            </a:r>
          </a:p>
          <a:p>
            <a:r>
              <a:rPr lang="en-US" dirty="0">
                <a:hlinkClick r:id="rId5"/>
              </a:rPr>
              <a:t>https://docs.oracle.com/javase/8/javafx/api/overview-tree.html</a:t>
            </a:r>
            <a:endParaRPr lang="en-US" dirty="0"/>
          </a:p>
        </p:txBody>
      </p:sp>
      <p:sp>
        <p:nvSpPr>
          <p:cNvPr id="4" name="Rectangle 3">
            <a:extLst>
              <a:ext uri="{FF2B5EF4-FFF2-40B4-BE49-F238E27FC236}">
                <a16:creationId xmlns:a16="http://schemas.microsoft.com/office/drawing/2014/main" id="{96AE9DC7-0482-0908-0666-BE1D27657DE3}"/>
              </a:ext>
            </a:extLst>
          </p:cNvPr>
          <p:cNvSpPr/>
          <p:nvPr/>
        </p:nvSpPr>
        <p:spPr>
          <a:xfrm>
            <a:off x="363219" y="6228527"/>
            <a:ext cx="9717406" cy="816249"/>
          </a:xfrm>
          <a:prstGeom prst="rect">
            <a:avLst/>
          </a:prstGeom>
        </p:spPr>
        <p:txBody>
          <a:bodyPr wrap="square">
            <a:spAutoFit/>
          </a:bodyPr>
          <a:lstStyle/>
          <a:p>
            <a:r>
              <a:rPr lang="en-US" b="1" dirty="0"/>
              <a:t>JavaFX All Classes:</a:t>
            </a:r>
          </a:p>
          <a:p>
            <a:r>
              <a:rPr lang="en-US" dirty="0">
                <a:hlinkClick r:id="rId6"/>
              </a:rPr>
              <a:t>https://docs.oracle.com/javase/8/javafx/api/allclasses-noframe.html</a:t>
            </a:r>
            <a:r>
              <a:rPr lang="en-US"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4D762-99BA-A70A-567D-184224B323AE}"/>
              </a:ext>
            </a:extLst>
          </p:cNvPr>
          <p:cNvSpPr>
            <a:spLocks noGrp="1"/>
          </p:cNvSpPr>
          <p:nvPr>
            <p:ph type="title"/>
          </p:nvPr>
        </p:nvSpPr>
        <p:spPr/>
        <p:txBody>
          <a:bodyPr/>
          <a:lstStyle/>
          <a:p>
            <a:r>
              <a:rPr lang="en-US" dirty="0"/>
              <a:t>JavaFX Pane Examples</a:t>
            </a:r>
          </a:p>
        </p:txBody>
      </p:sp>
      <p:sp>
        <p:nvSpPr>
          <p:cNvPr id="3" name="Text Placeholder 2">
            <a:extLst>
              <a:ext uri="{FF2B5EF4-FFF2-40B4-BE49-F238E27FC236}">
                <a16:creationId xmlns:a16="http://schemas.microsoft.com/office/drawing/2014/main" id="{FDEF1FA8-C335-1B80-7D5C-82D1395F4BDD}"/>
              </a:ext>
            </a:extLst>
          </p:cNvPr>
          <p:cNvSpPr>
            <a:spLocks noGrp="1"/>
          </p:cNvSpPr>
          <p:nvPr>
            <p:ph type="body" idx="1"/>
          </p:nvPr>
        </p:nvSpPr>
        <p:spPr/>
        <p:txBody>
          <a:bodyPr/>
          <a:lstStyle/>
          <a:p>
            <a:endParaRPr lang="en-US" dirty="0"/>
          </a:p>
        </p:txBody>
      </p:sp>
      <p:sp>
        <p:nvSpPr>
          <p:cNvPr id="5" name="TextBox 4">
            <a:extLst>
              <a:ext uri="{FF2B5EF4-FFF2-40B4-BE49-F238E27FC236}">
                <a16:creationId xmlns:a16="http://schemas.microsoft.com/office/drawing/2014/main" id="{804BC988-9EEE-5B2A-49F6-A2549D845E12}"/>
              </a:ext>
            </a:extLst>
          </p:cNvPr>
          <p:cNvSpPr txBox="1"/>
          <p:nvPr/>
        </p:nvSpPr>
        <p:spPr>
          <a:xfrm>
            <a:off x="595533" y="2769935"/>
            <a:ext cx="4444779" cy="3892989"/>
          </a:xfrm>
          <a:prstGeom prst="rect">
            <a:avLst/>
          </a:prstGeom>
          <a:noFill/>
        </p:spPr>
        <p:txBody>
          <a:bodyPr wrap="square">
            <a:spAutoFit/>
          </a:bodyPr>
          <a:lstStyle/>
          <a:p>
            <a:pPr marL="0" marR="0"/>
            <a:r>
              <a:rPr lang="en-US" sz="1400" dirty="0">
                <a:solidFill>
                  <a:srgbClr val="3F7F5F"/>
                </a:solidFill>
                <a:effectLst/>
                <a:latin typeface="Consolas" panose="020B0609020204030204" pitchFamily="49" charset="0"/>
              </a:rPr>
              <a:t>// </a:t>
            </a:r>
            <a:r>
              <a:rPr lang="en-US" sz="1400" dirty="0" err="1">
                <a:solidFill>
                  <a:srgbClr val="3F7F5F"/>
                </a:solidFill>
                <a:effectLst/>
                <a:latin typeface="Consolas" panose="020B0609020204030204" pitchFamily="49" charset="0"/>
              </a:rPr>
              <a:t>BorderPane</a:t>
            </a:r>
            <a:endParaRPr lang="en-US" sz="1400" dirty="0">
              <a:solidFill>
                <a:srgbClr val="000000"/>
              </a:solidFill>
              <a:effectLst/>
              <a:latin typeface="Consolas" panose="020B0609020204030204" pitchFamily="49" charset="0"/>
            </a:endParaRPr>
          </a:p>
          <a:p>
            <a:pPr marL="0" marR="0"/>
            <a:r>
              <a:rPr lang="en-US" sz="1400" dirty="0" err="1">
                <a:solidFill>
                  <a:srgbClr val="000000"/>
                </a:solidFill>
                <a:effectLst/>
                <a:latin typeface="Consolas" panose="020B0609020204030204" pitchFamily="49" charset="0"/>
              </a:rPr>
              <a:t>BorderPane</a:t>
            </a:r>
            <a:r>
              <a:rPr lang="en-US" sz="1400" dirty="0">
                <a:solidFill>
                  <a:srgbClr val="000000"/>
                </a:solidFill>
                <a:effectLst/>
                <a:latin typeface="Consolas" panose="020B0609020204030204" pitchFamily="49" charset="0"/>
              </a:rPr>
              <a:t> </a:t>
            </a:r>
            <a:r>
              <a:rPr lang="en-US" sz="1400" dirty="0" err="1">
                <a:solidFill>
                  <a:srgbClr val="6A3E3E"/>
                </a:solidFill>
                <a:effectLst/>
                <a:latin typeface="Consolas" panose="020B0609020204030204" pitchFamily="49" charset="0"/>
              </a:rPr>
              <a:t>borderPane</a:t>
            </a:r>
            <a:r>
              <a:rPr lang="en-US" sz="1400" dirty="0">
                <a:solidFill>
                  <a:srgbClr val="000000"/>
                </a:solidFill>
                <a:effectLst/>
                <a:latin typeface="Consolas" panose="020B0609020204030204" pitchFamily="49" charset="0"/>
              </a:rPr>
              <a:t> =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BorderPane</a:t>
            </a:r>
            <a:r>
              <a:rPr lang="en-US" sz="1400" dirty="0">
                <a:solidFill>
                  <a:srgbClr val="000000"/>
                </a:solidFill>
                <a:effectLst/>
                <a:latin typeface="Consolas" panose="020B0609020204030204" pitchFamily="49" charset="0"/>
              </a:rPr>
              <a:t>();</a:t>
            </a:r>
          </a:p>
          <a:p>
            <a:pPr marL="0" marR="0"/>
            <a:r>
              <a:rPr lang="en-US" sz="1400" dirty="0" err="1">
                <a:solidFill>
                  <a:srgbClr val="6A3E3E"/>
                </a:solidFill>
                <a:effectLst/>
                <a:latin typeface="Consolas" panose="020B0609020204030204" pitchFamily="49" charset="0"/>
              </a:rPr>
              <a:t>borderPane</a:t>
            </a:r>
            <a:r>
              <a:rPr lang="en-US" sz="1400" dirty="0" err="1">
                <a:solidFill>
                  <a:srgbClr val="000000"/>
                </a:solidFill>
                <a:effectLst/>
                <a:latin typeface="Consolas" panose="020B0609020204030204" pitchFamily="49" charset="0"/>
              </a:rPr>
              <a:t>.setTop</a:t>
            </a:r>
            <a:r>
              <a:rPr lang="en-US" sz="1400" dirty="0">
                <a:solidFill>
                  <a:srgbClr val="000000"/>
                </a:solidFill>
                <a:effectLst/>
                <a:latin typeface="Consolas" panose="020B0609020204030204" pitchFamily="49" charset="0"/>
              </a:rPr>
              <a:t>(</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Label(</a:t>
            </a:r>
            <a:r>
              <a:rPr lang="en-US" sz="1400" dirty="0">
                <a:solidFill>
                  <a:srgbClr val="2A00FF"/>
                </a:solidFill>
                <a:effectLst/>
                <a:latin typeface="Consolas" panose="020B0609020204030204" pitchFamily="49" charset="0"/>
              </a:rPr>
              <a:t>"</a:t>
            </a:r>
            <a:r>
              <a:rPr lang="en-US" sz="1400" dirty="0" err="1">
                <a:solidFill>
                  <a:srgbClr val="2A00FF"/>
                </a:solidFill>
                <a:effectLst/>
                <a:latin typeface="Consolas" panose="020B0609020204030204" pitchFamily="49" charset="0"/>
              </a:rPr>
              <a:t>BorderPane</a:t>
            </a:r>
            <a:r>
              <a:rPr lang="en-US" sz="1400" dirty="0">
                <a:solidFill>
                  <a:srgbClr val="2A00FF"/>
                </a:solidFill>
                <a:effectLst/>
                <a:latin typeface="Consolas" panose="020B0609020204030204" pitchFamily="49" charset="0"/>
              </a:rPr>
              <a:t> - Top"</a:t>
            </a:r>
            <a:r>
              <a:rPr lang="en-US" sz="1400" dirty="0">
                <a:solidFill>
                  <a:srgbClr val="000000"/>
                </a:solidFill>
                <a:effectLst/>
                <a:latin typeface="Consolas" panose="020B0609020204030204" pitchFamily="49" charset="0"/>
              </a:rPr>
              <a:t>));</a:t>
            </a:r>
          </a:p>
          <a:p>
            <a:pPr marL="0" marR="0"/>
            <a:r>
              <a:rPr lang="en-US" sz="1400" dirty="0" err="1">
                <a:solidFill>
                  <a:srgbClr val="6A3E3E"/>
                </a:solidFill>
                <a:effectLst/>
                <a:latin typeface="Consolas" panose="020B0609020204030204" pitchFamily="49" charset="0"/>
              </a:rPr>
              <a:t>borderPane</a:t>
            </a:r>
            <a:r>
              <a:rPr lang="en-US" sz="1400" dirty="0" err="1">
                <a:solidFill>
                  <a:srgbClr val="000000"/>
                </a:solidFill>
                <a:effectLst/>
                <a:latin typeface="Consolas" panose="020B0609020204030204" pitchFamily="49" charset="0"/>
              </a:rPr>
              <a:t>.setCenter</a:t>
            </a:r>
            <a:r>
              <a:rPr lang="en-US" sz="1400" dirty="0">
                <a:solidFill>
                  <a:srgbClr val="000000"/>
                </a:solidFill>
                <a:effectLst/>
                <a:latin typeface="Consolas" panose="020B0609020204030204" pitchFamily="49" charset="0"/>
              </a:rPr>
              <a:t>(</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Button(</a:t>
            </a:r>
            <a:r>
              <a:rPr lang="en-US" sz="1400" dirty="0">
                <a:solidFill>
                  <a:srgbClr val="2A00FF"/>
                </a:solidFill>
                <a:effectLst/>
                <a:latin typeface="Consolas" panose="020B0609020204030204" pitchFamily="49" charset="0"/>
              </a:rPr>
              <a:t>"Center"</a:t>
            </a:r>
            <a:r>
              <a:rPr lang="en-US" sz="1400" dirty="0">
                <a:solidFill>
                  <a:srgbClr val="000000"/>
                </a:solidFill>
                <a:effectLst/>
                <a:latin typeface="Consolas" panose="020B0609020204030204" pitchFamily="49" charset="0"/>
              </a:rPr>
              <a:t>));</a:t>
            </a:r>
          </a:p>
          <a:p>
            <a:pPr marL="0" marR="0"/>
            <a:endParaRPr lang="en-US" sz="1400" dirty="0">
              <a:solidFill>
                <a:srgbClr val="000000"/>
              </a:solidFill>
              <a:effectLst/>
              <a:latin typeface="Consolas" panose="020B0609020204030204" pitchFamily="49" charset="0"/>
            </a:endParaRPr>
          </a:p>
          <a:p>
            <a:pPr marL="0" marR="0"/>
            <a:r>
              <a:rPr lang="en-US" sz="1400" dirty="0">
                <a:solidFill>
                  <a:srgbClr val="3F7F5F"/>
                </a:solidFill>
                <a:effectLst/>
                <a:latin typeface="Consolas" panose="020B0609020204030204" pitchFamily="49" charset="0"/>
              </a:rPr>
              <a:t>// </a:t>
            </a:r>
            <a:r>
              <a:rPr lang="en-US" sz="1400" dirty="0" err="1">
                <a:solidFill>
                  <a:srgbClr val="3F7F5F"/>
                </a:solidFill>
                <a:effectLst/>
                <a:latin typeface="Consolas" panose="020B0609020204030204" pitchFamily="49" charset="0"/>
              </a:rPr>
              <a:t>HBox</a:t>
            </a:r>
            <a:endParaRPr lang="en-US" sz="1400" dirty="0">
              <a:solidFill>
                <a:srgbClr val="000000"/>
              </a:solidFill>
              <a:effectLst/>
              <a:latin typeface="Consolas" panose="020B0609020204030204" pitchFamily="49" charset="0"/>
            </a:endParaRPr>
          </a:p>
          <a:p>
            <a:pPr marL="0" marR="0"/>
            <a:r>
              <a:rPr lang="en-US" sz="1400" dirty="0" err="1">
                <a:solidFill>
                  <a:srgbClr val="000000"/>
                </a:solidFill>
                <a:effectLst/>
                <a:latin typeface="Consolas" panose="020B0609020204030204" pitchFamily="49" charset="0"/>
              </a:rPr>
              <a:t>HBox</a:t>
            </a:r>
            <a:r>
              <a:rPr lang="en-US" sz="1400" dirty="0">
                <a:solidFill>
                  <a:srgbClr val="000000"/>
                </a:solidFill>
                <a:effectLst/>
                <a:latin typeface="Consolas" panose="020B0609020204030204" pitchFamily="49" charset="0"/>
              </a:rPr>
              <a:t> </a:t>
            </a:r>
            <a:r>
              <a:rPr lang="en-US" sz="1400" dirty="0" err="1">
                <a:solidFill>
                  <a:srgbClr val="6A3E3E"/>
                </a:solidFill>
                <a:effectLst/>
                <a:latin typeface="Consolas" panose="020B0609020204030204" pitchFamily="49" charset="0"/>
              </a:rPr>
              <a:t>hBox</a:t>
            </a:r>
            <a:r>
              <a:rPr lang="en-US" sz="1400" dirty="0">
                <a:solidFill>
                  <a:srgbClr val="000000"/>
                </a:solidFill>
                <a:effectLst/>
                <a:latin typeface="Consolas" panose="020B0609020204030204" pitchFamily="49" charset="0"/>
              </a:rPr>
              <a:t> =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HBox</a:t>
            </a:r>
            <a:r>
              <a:rPr lang="en-US" sz="1400" dirty="0">
                <a:solidFill>
                  <a:srgbClr val="000000"/>
                </a:solidFill>
                <a:effectLst/>
                <a:latin typeface="Consolas" panose="020B0609020204030204" pitchFamily="49" charset="0"/>
              </a:rPr>
              <a:t>(10,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Button(</a:t>
            </a:r>
            <a:r>
              <a:rPr lang="en-US" sz="1400" dirty="0">
                <a:solidFill>
                  <a:srgbClr val="2A00FF"/>
                </a:solidFill>
                <a:effectLst/>
                <a:latin typeface="Consolas" panose="020B0609020204030204" pitchFamily="49" charset="0"/>
              </a:rPr>
              <a:t>"</a:t>
            </a:r>
            <a:r>
              <a:rPr lang="en-US" sz="1400" dirty="0" err="1">
                <a:solidFill>
                  <a:srgbClr val="2A00FF"/>
                </a:solidFill>
                <a:effectLst/>
                <a:latin typeface="Consolas" panose="020B0609020204030204" pitchFamily="49" charset="0"/>
              </a:rPr>
              <a:t>HBox</a:t>
            </a:r>
            <a:r>
              <a:rPr lang="en-US" sz="1400" dirty="0">
                <a:solidFill>
                  <a:srgbClr val="2A00FF"/>
                </a:solidFill>
                <a:effectLst/>
                <a:latin typeface="Consolas" panose="020B0609020204030204" pitchFamily="49" charset="0"/>
              </a:rPr>
              <a:t> 1"</a:t>
            </a:r>
            <a:r>
              <a:rPr lang="en-US" sz="1400" dirty="0">
                <a:solidFill>
                  <a:srgbClr val="000000"/>
                </a:solidFill>
                <a:effectLst/>
                <a:latin typeface="Consolas" panose="020B0609020204030204" pitchFamily="49" charset="0"/>
              </a:rPr>
              <a:t>),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Button(</a:t>
            </a:r>
            <a:r>
              <a:rPr lang="en-US" sz="1400" dirty="0">
                <a:solidFill>
                  <a:srgbClr val="2A00FF"/>
                </a:solidFill>
                <a:effectLst/>
                <a:latin typeface="Consolas" panose="020B0609020204030204" pitchFamily="49" charset="0"/>
              </a:rPr>
              <a:t>"</a:t>
            </a:r>
            <a:r>
              <a:rPr lang="en-US" sz="1400" dirty="0" err="1">
                <a:solidFill>
                  <a:srgbClr val="2A00FF"/>
                </a:solidFill>
                <a:effectLst/>
                <a:latin typeface="Consolas" panose="020B0609020204030204" pitchFamily="49" charset="0"/>
              </a:rPr>
              <a:t>HBox</a:t>
            </a:r>
            <a:r>
              <a:rPr lang="en-US" sz="1400" dirty="0">
                <a:solidFill>
                  <a:srgbClr val="2A00FF"/>
                </a:solidFill>
                <a:effectLst/>
                <a:latin typeface="Consolas" panose="020B0609020204030204" pitchFamily="49" charset="0"/>
              </a:rPr>
              <a:t> 2"</a:t>
            </a:r>
            <a:r>
              <a:rPr lang="en-US" sz="1400" dirty="0">
                <a:solidFill>
                  <a:srgbClr val="000000"/>
                </a:solidFill>
                <a:effectLst/>
                <a:latin typeface="Consolas" panose="020B0609020204030204" pitchFamily="49" charset="0"/>
              </a:rPr>
              <a:t>));</a:t>
            </a:r>
          </a:p>
          <a:p>
            <a:pPr marL="0" marR="0"/>
            <a:endParaRPr lang="en-US" sz="1400" dirty="0">
              <a:solidFill>
                <a:srgbClr val="3F7F5F"/>
              </a:solidFill>
              <a:effectLst/>
              <a:latin typeface="Consolas" panose="020B0609020204030204" pitchFamily="49" charset="0"/>
            </a:endParaRPr>
          </a:p>
          <a:p>
            <a:pPr marL="0" marR="0"/>
            <a:r>
              <a:rPr lang="en-US" sz="1400" dirty="0">
                <a:solidFill>
                  <a:srgbClr val="3F7F5F"/>
                </a:solidFill>
                <a:effectLst/>
                <a:latin typeface="Consolas" panose="020B0609020204030204" pitchFamily="49" charset="0"/>
              </a:rPr>
              <a:t>// </a:t>
            </a:r>
            <a:r>
              <a:rPr lang="en-US" sz="1400" dirty="0" err="1">
                <a:solidFill>
                  <a:srgbClr val="3F7F5F"/>
                </a:solidFill>
                <a:effectLst/>
                <a:latin typeface="Consolas" panose="020B0609020204030204" pitchFamily="49" charset="0"/>
              </a:rPr>
              <a:t>VBox</a:t>
            </a:r>
            <a:endParaRPr lang="en-US" sz="1400" dirty="0">
              <a:solidFill>
                <a:srgbClr val="000000"/>
              </a:solidFill>
              <a:effectLst/>
              <a:latin typeface="Consolas" panose="020B0609020204030204" pitchFamily="49" charset="0"/>
            </a:endParaRPr>
          </a:p>
          <a:p>
            <a:pPr marL="0" marR="0"/>
            <a:r>
              <a:rPr lang="en-US" sz="1400" dirty="0" err="1">
                <a:solidFill>
                  <a:srgbClr val="000000"/>
                </a:solidFill>
                <a:effectLst/>
                <a:latin typeface="Consolas" panose="020B0609020204030204" pitchFamily="49" charset="0"/>
              </a:rPr>
              <a:t>VBox</a:t>
            </a:r>
            <a:r>
              <a:rPr lang="en-US" sz="1400" dirty="0">
                <a:solidFill>
                  <a:srgbClr val="000000"/>
                </a:solidFill>
                <a:effectLst/>
                <a:latin typeface="Consolas" panose="020B0609020204030204" pitchFamily="49" charset="0"/>
              </a:rPr>
              <a:t> </a:t>
            </a:r>
            <a:r>
              <a:rPr lang="en-US" sz="1400" dirty="0" err="1">
                <a:solidFill>
                  <a:srgbClr val="6A3E3E"/>
                </a:solidFill>
                <a:effectLst/>
                <a:latin typeface="Consolas" panose="020B0609020204030204" pitchFamily="49" charset="0"/>
              </a:rPr>
              <a:t>vBox</a:t>
            </a:r>
            <a:r>
              <a:rPr lang="en-US" sz="1400" dirty="0">
                <a:solidFill>
                  <a:srgbClr val="000000"/>
                </a:solidFill>
                <a:effectLst/>
                <a:latin typeface="Consolas" panose="020B0609020204030204" pitchFamily="49" charset="0"/>
              </a:rPr>
              <a:t> =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VBox</a:t>
            </a:r>
            <a:r>
              <a:rPr lang="en-US" sz="1400" dirty="0">
                <a:solidFill>
                  <a:srgbClr val="000000"/>
                </a:solidFill>
                <a:effectLst/>
                <a:latin typeface="Consolas" panose="020B0609020204030204" pitchFamily="49" charset="0"/>
              </a:rPr>
              <a:t>(10,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Label(</a:t>
            </a:r>
            <a:r>
              <a:rPr lang="en-US" sz="1400" dirty="0">
                <a:solidFill>
                  <a:srgbClr val="2A00FF"/>
                </a:solidFill>
                <a:effectLst/>
                <a:latin typeface="Consolas" panose="020B0609020204030204" pitchFamily="49" charset="0"/>
              </a:rPr>
              <a:t>"</a:t>
            </a:r>
            <a:r>
              <a:rPr lang="en-US" sz="1400" dirty="0" err="1">
                <a:solidFill>
                  <a:srgbClr val="2A00FF"/>
                </a:solidFill>
                <a:effectLst/>
                <a:latin typeface="Consolas" panose="020B0609020204030204" pitchFamily="49" charset="0"/>
              </a:rPr>
              <a:t>VBox</a:t>
            </a:r>
            <a:r>
              <a:rPr lang="en-US" sz="1400" dirty="0">
                <a:solidFill>
                  <a:srgbClr val="2A00FF"/>
                </a:solidFill>
                <a:effectLst/>
                <a:latin typeface="Consolas" panose="020B0609020204030204" pitchFamily="49" charset="0"/>
              </a:rPr>
              <a:t> 1"</a:t>
            </a:r>
            <a:r>
              <a:rPr lang="en-US" sz="1400" dirty="0">
                <a:solidFill>
                  <a:srgbClr val="000000"/>
                </a:solidFill>
                <a:effectLst/>
                <a:latin typeface="Consolas" panose="020B0609020204030204" pitchFamily="49" charset="0"/>
              </a:rPr>
              <a:t>),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Label(</a:t>
            </a:r>
            <a:r>
              <a:rPr lang="en-US" sz="1400" dirty="0">
                <a:solidFill>
                  <a:srgbClr val="2A00FF"/>
                </a:solidFill>
                <a:effectLst/>
                <a:latin typeface="Consolas" panose="020B0609020204030204" pitchFamily="49" charset="0"/>
              </a:rPr>
              <a:t>"</a:t>
            </a:r>
            <a:r>
              <a:rPr lang="en-US" sz="1400" dirty="0" err="1">
                <a:solidFill>
                  <a:srgbClr val="2A00FF"/>
                </a:solidFill>
                <a:effectLst/>
                <a:latin typeface="Consolas" panose="020B0609020204030204" pitchFamily="49" charset="0"/>
              </a:rPr>
              <a:t>VBox</a:t>
            </a:r>
            <a:r>
              <a:rPr lang="en-US" sz="1400" dirty="0">
                <a:solidFill>
                  <a:srgbClr val="2A00FF"/>
                </a:solidFill>
                <a:effectLst/>
                <a:latin typeface="Consolas" panose="020B0609020204030204" pitchFamily="49" charset="0"/>
              </a:rPr>
              <a:t> 2"</a:t>
            </a:r>
            <a:r>
              <a:rPr lang="en-US" sz="1400" dirty="0">
                <a:solidFill>
                  <a:srgbClr val="000000"/>
                </a:solidFill>
                <a:effectLst/>
                <a:latin typeface="Consolas" panose="020B0609020204030204" pitchFamily="49" charset="0"/>
              </a:rPr>
              <a:t>));</a:t>
            </a:r>
          </a:p>
          <a:p>
            <a:pPr marL="0" marR="0"/>
            <a:endParaRPr lang="en-US" sz="1400" dirty="0">
              <a:solidFill>
                <a:srgbClr val="000000"/>
              </a:solidFill>
              <a:effectLst/>
              <a:latin typeface="Consolas" panose="020B0609020204030204" pitchFamily="49" charset="0"/>
            </a:endParaRPr>
          </a:p>
          <a:p>
            <a:pPr marL="0" marR="0"/>
            <a:r>
              <a:rPr lang="en-US" sz="1400" dirty="0">
                <a:solidFill>
                  <a:srgbClr val="3F7F5F"/>
                </a:solidFill>
                <a:effectLst/>
                <a:latin typeface="Consolas" panose="020B0609020204030204" pitchFamily="49" charset="0"/>
              </a:rPr>
              <a:t>// </a:t>
            </a:r>
            <a:r>
              <a:rPr lang="en-US" sz="1400" dirty="0" err="1">
                <a:solidFill>
                  <a:srgbClr val="3F7F5F"/>
                </a:solidFill>
                <a:effectLst/>
                <a:latin typeface="Consolas" panose="020B0609020204030204" pitchFamily="49" charset="0"/>
              </a:rPr>
              <a:t>StackPane</a:t>
            </a:r>
            <a:endParaRPr lang="en-US" sz="1400" dirty="0">
              <a:solidFill>
                <a:srgbClr val="000000"/>
              </a:solidFill>
              <a:effectLst/>
              <a:latin typeface="Consolas" panose="020B0609020204030204" pitchFamily="49" charset="0"/>
            </a:endParaRPr>
          </a:p>
          <a:p>
            <a:pPr marL="0" marR="0"/>
            <a:r>
              <a:rPr lang="en-US" sz="1400" dirty="0" err="1">
                <a:solidFill>
                  <a:srgbClr val="000000"/>
                </a:solidFill>
                <a:effectLst/>
                <a:latin typeface="Consolas" panose="020B0609020204030204" pitchFamily="49" charset="0"/>
              </a:rPr>
              <a:t>StackPane</a:t>
            </a:r>
            <a:r>
              <a:rPr lang="en-US" sz="1400" dirty="0">
                <a:solidFill>
                  <a:srgbClr val="000000"/>
                </a:solidFill>
                <a:effectLst/>
                <a:latin typeface="Consolas" panose="020B0609020204030204" pitchFamily="49" charset="0"/>
              </a:rPr>
              <a:t> </a:t>
            </a:r>
            <a:r>
              <a:rPr lang="en-US" sz="1400" dirty="0" err="1">
                <a:solidFill>
                  <a:srgbClr val="6A3E3E"/>
                </a:solidFill>
                <a:effectLst/>
                <a:latin typeface="Consolas" panose="020B0609020204030204" pitchFamily="49" charset="0"/>
              </a:rPr>
              <a:t>stackPane</a:t>
            </a:r>
            <a:r>
              <a:rPr lang="en-US" sz="1400" dirty="0">
                <a:solidFill>
                  <a:srgbClr val="000000"/>
                </a:solidFill>
                <a:effectLst/>
                <a:latin typeface="Consolas" panose="020B0609020204030204" pitchFamily="49" charset="0"/>
              </a:rPr>
              <a:t> =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StackPane</a:t>
            </a:r>
            <a:r>
              <a:rPr lang="en-US" sz="1400" dirty="0">
                <a:solidFill>
                  <a:srgbClr val="000000"/>
                </a:solidFill>
                <a:effectLst/>
                <a:latin typeface="Consolas" panose="020B0609020204030204" pitchFamily="49" charset="0"/>
              </a:rPr>
              <a:t>(</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Label(</a:t>
            </a:r>
            <a:r>
              <a:rPr lang="en-US" sz="1400" dirty="0">
                <a:solidFill>
                  <a:srgbClr val="2A00FF"/>
                </a:solidFill>
                <a:effectLst/>
                <a:latin typeface="Consolas" panose="020B0609020204030204" pitchFamily="49" charset="0"/>
              </a:rPr>
              <a:t>"</a:t>
            </a:r>
            <a:r>
              <a:rPr lang="en-US" sz="1400" dirty="0" err="1">
                <a:solidFill>
                  <a:srgbClr val="2A00FF"/>
                </a:solidFill>
                <a:effectLst/>
                <a:latin typeface="Consolas" panose="020B0609020204030204" pitchFamily="49" charset="0"/>
              </a:rPr>
              <a:t>StackPane</a:t>
            </a:r>
            <a:r>
              <a:rPr lang="en-US" sz="1400" dirty="0">
                <a:solidFill>
                  <a:srgbClr val="2A00FF"/>
                </a:solidFill>
                <a:effectLst/>
                <a:latin typeface="Consolas" panose="020B0609020204030204" pitchFamily="49" charset="0"/>
              </a:rPr>
              <a:t> Layer"</a:t>
            </a:r>
            <a:r>
              <a:rPr lang="en-US" sz="1400" dirty="0">
                <a:solidFill>
                  <a:srgbClr val="000000"/>
                </a:solidFill>
                <a:effectLst/>
                <a:latin typeface="Consolas" panose="020B0609020204030204" pitchFamily="49" charset="0"/>
              </a:rPr>
              <a:t>));</a:t>
            </a:r>
          </a:p>
          <a:p>
            <a:pPr marL="0" marR="0"/>
            <a:endParaRPr lang="en-US" sz="1400" dirty="0">
              <a:solidFill>
                <a:srgbClr val="000000"/>
              </a:solidFill>
              <a:effectLst/>
              <a:latin typeface="Consolas" panose="020B0609020204030204" pitchFamily="49" charset="0"/>
            </a:endParaRPr>
          </a:p>
        </p:txBody>
      </p:sp>
      <p:sp>
        <p:nvSpPr>
          <p:cNvPr id="6" name="TextBox 5">
            <a:extLst>
              <a:ext uri="{FF2B5EF4-FFF2-40B4-BE49-F238E27FC236}">
                <a16:creationId xmlns:a16="http://schemas.microsoft.com/office/drawing/2014/main" id="{356634AB-BB26-7A93-2F84-F4993B3302DF}"/>
              </a:ext>
            </a:extLst>
          </p:cNvPr>
          <p:cNvSpPr txBox="1"/>
          <p:nvPr/>
        </p:nvSpPr>
        <p:spPr>
          <a:xfrm>
            <a:off x="5148679" y="1673670"/>
            <a:ext cx="4444779" cy="4737579"/>
          </a:xfrm>
          <a:prstGeom prst="rect">
            <a:avLst/>
          </a:prstGeom>
          <a:noFill/>
        </p:spPr>
        <p:txBody>
          <a:bodyPr wrap="square">
            <a:spAutoFit/>
          </a:bodyPr>
          <a:lstStyle/>
          <a:p>
            <a:pPr marL="0" marR="0"/>
            <a:r>
              <a:rPr lang="en-US" sz="1400" dirty="0">
                <a:solidFill>
                  <a:srgbClr val="3F7F5F"/>
                </a:solidFill>
                <a:effectLst/>
                <a:latin typeface="Consolas" panose="020B0609020204030204" pitchFamily="49" charset="0"/>
              </a:rPr>
              <a:t>// </a:t>
            </a:r>
            <a:r>
              <a:rPr lang="en-US" sz="1400" dirty="0" err="1">
                <a:solidFill>
                  <a:srgbClr val="3F7F5F"/>
                </a:solidFill>
                <a:effectLst/>
                <a:latin typeface="Consolas" panose="020B0609020204030204" pitchFamily="49" charset="0"/>
              </a:rPr>
              <a:t>GridPane</a:t>
            </a:r>
            <a:endParaRPr lang="en-US" sz="1400" dirty="0">
              <a:solidFill>
                <a:srgbClr val="000000"/>
              </a:solidFill>
              <a:effectLst/>
              <a:latin typeface="Consolas" panose="020B0609020204030204" pitchFamily="49" charset="0"/>
            </a:endParaRPr>
          </a:p>
          <a:p>
            <a:pPr marL="0" marR="0"/>
            <a:r>
              <a:rPr lang="en-US" sz="1400" dirty="0" err="1">
                <a:solidFill>
                  <a:srgbClr val="000000"/>
                </a:solidFill>
                <a:effectLst/>
                <a:latin typeface="Consolas" panose="020B0609020204030204" pitchFamily="49" charset="0"/>
              </a:rPr>
              <a:t>GridPane</a:t>
            </a:r>
            <a:r>
              <a:rPr lang="en-US" sz="1400" dirty="0">
                <a:solidFill>
                  <a:srgbClr val="000000"/>
                </a:solidFill>
                <a:effectLst/>
                <a:latin typeface="Consolas" panose="020B0609020204030204" pitchFamily="49" charset="0"/>
              </a:rPr>
              <a:t> </a:t>
            </a:r>
            <a:r>
              <a:rPr lang="en-US" sz="1400" dirty="0" err="1">
                <a:solidFill>
                  <a:srgbClr val="6A3E3E"/>
                </a:solidFill>
                <a:effectLst/>
                <a:latin typeface="Consolas" panose="020B0609020204030204" pitchFamily="49" charset="0"/>
              </a:rPr>
              <a:t>gridPane</a:t>
            </a:r>
            <a:r>
              <a:rPr lang="en-US" sz="1400" dirty="0">
                <a:solidFill>
                  <a:srgbClr val="000000"/>
                </a:solidFill>
                <a:effectLst/>
                <a:latin typeface="Consolas" panose="020B0609020204030204" pitchFamily="49" charset="0"/>
              </a:rPr>
              <a:t> =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GridPane</a:t>
            </a:r>
            <a:r>
              <a:rPr lang="en-US" sz="1400" dirty="0">
                <a:solidFill>
                  <a:srgbClr val="000000"/>
                </a:solidFill>
                <a:effectLst/>
                <a:latin typeface="Consolas" panose="020B0609020204030204" pitchFamily="49" charset="0"/>
              </a:rPr>
              <a:t>();</a:t>
            </a:r>
          </a:p>
          <a:p>
            <a:pPr marL="0" marR="0"/>
            <a:r>
              <a:rPr lang="en-US" sz="1400" dirty="0" err="1">
                <a:solidFill>
                  <a:srgbClr val="6A3E3E"/>
                </a:solidFill>
                <a:effectLst/>
                <a:latin typeface="Consolas" panose="020B0609020204030204" pitchFamily="49" charset="0"/>
              </a:rPr>
              <a:t>gridPane</a:t>
            </a:r>
            <a:r>
              <a:rPr lang="en-US" sz="1400" dirty="0" err="1">
                <a:solidFill>
                  <a:srgbClr val="000000"/>
                </a:solidFill>
                <a:effectLst/>
                <a:latin typeface="Consolas" panose="020B0609020204030204" pitchFamily="49" charset="0"/>
              </a:rPr>
              <a:t>.add</a:t>
            </a:r>
            <a:r>
              <a:rPr lang="en-US" sz="1400" dirty="0">
                <a:solidFill>
                  <a:srgbClr val="000000"/>
                </a:solidFill>
                <a:effectLst/>
                <a:latin typeface="Consolas" panose="020B0609020204030204" pitchFamily="49" charset="0"/>
              </a:rPr>
              <a:t>(</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Label(</a:t>
            </a:r>
            <a:r>
              <a:rPr lang="en-US" sz="1400" dirty="0">
                <a:solidFill>
                  <a:srgbClr val="2A00FF"/>
                </a:solidFill>
                <a:effectLst/>
                <a:latin typeface="Consolas" panose="020B0609020204030204" pitchFamily="49" charset="0"/>
              </a:rPr>
              <a:t>"Grid 0,0"</a:t>
            </a:r>
            <a:r>
              <a:rPr lang="en-US" sz="1400" dirty="0">
                <a:solidFill>
                  <a:srgbClr val="000000"/>
                </a:solidFill>
                <a:effectLst/>
                <a:latin typeface="Consolas" panose="020B0609020204030204" pitchFamily="49" charset="0"/>
              </a:rPr>
              <a:t>), 0, 0);</a:t>
            </a:r>
          </a:p>
          <a:p>
            <a:pPr marL="0" marR="0"/>
            <a:r>
              <a:rPr lang="en-US" sz="1400" dirty="0" err="1">
                <a:solidFill>
                  <a:srgbClr val="6A3E3E"/>
                </a:solidFill>
                <a:effectLst/>
                <a:latin typeface="Consolas" panose="020B0609020204030204" pitchFamily="49" charset="0"/>
              </a:rPr>
              <a:t>gridPane</a:t>
            </a:r>
            <a:r>
              <a:rPr lang="en-US" sz="1400" dirty="0" err="1">
                <a:solidFill>
                  <a:srgbClr val="000000"/>
                </a:solidFill>
                <a:effectLst/>
                <a:latin typeface="Consolas" panose="020B0609020204030204" pitchFamily="49" charset="0"/>
              </a:rPr>
              <a:t>.add</a:t>
            </a:r>
            <a:r>
              <a:rPr lang="en-US" sz="1400" dirty="0">
                <a:solidFill>
                  <a:srgbClr val="000000"/>
                </a:solidFill>
                <a:effectLst/>
                <a:latin typeface="Consolas" panose="020B0609020204030204" pitchFamily="49" charset="0"/>
              </a:rPr>
              <a:t>(</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Button(</a:t>
            </a:r>
            <a:r>
              <a:rPr lang="en-US" sz="1400" dirty="0">
                <a:solidFill>
                  <a:srgbClr val="2A00FF"/>
                </a:solidFill>
                <a:effectLst/>
                <a:latin typeface="Consolas" panose="020B0609020204030204" pitchFamily="49" charset="0"/>
              </a:rPr>
              <a:t>"Grid 1,1"</a:t>
            </a:r>
            <a:r>
              <a:rPr lang="en-US" sz="1400" dirty="0">
                <a:solidFill>
                  <a:srgbClr val="000000"/>
                </a:solidFill>
                <a:effectLst/>
                <a:latin typeface="Consolas" panose="020B0609020204030204" pitchFamily="49" charset="0"/>
              </a:rPr>
              <a:t>), 1, 1);</a:t>
            </a:r>
          </a:p>
          <a:p>
            <a:pPr marL="0" marR="0"/>
            <a:endParaRPr lang="en-US" sz="1400" dirty="0">
              <a:solidFill>
                <a:srgbClr val="3F7F5F"/>
              </a:solidFill>
              <a:effectLst/>
              <a:latin typeface="Consolas" panose="020B0609020204030204" pitchFamily="49" charset="0"/>
            </a:endParaRPr>
          </a:p>
          <a:p>
            <a:pPr marL="0" marR="0"/>
            <a:r>
              <a:rPr lang="en-US" sz="1400" dirty="0">
                <a:solidFill>
                  <a:srgbClr val="3F7F5F"/>
                </a:solidFill>
                <a:effectLst/>
                <a:latin typeface="Consolas" panose="020B0609020204030204" pitchFamily="49" charset="0"/>
              </a:rPr>
              <a:t>// </a:t>
            </a:r>
            <a:r>
              <a:rPr lang="en-US" sz="1400" dirty="0" err="1">
                <a:solidFill>
                  <a:srgbClr val="3F7F5F"/>
                </a:solidFill>
                <a:effectLst/>
                <a:latin typeface="Consolas" panose="020B0609020204030204" pitchFamily="49" charset="0"/>
              </a:rPr>
              <a:t>FlowPane</a:t>
            </a:r>
            <a:endParaRPr lang="en-US" sz="1400" dirty="0">
              <a:solidFill>
                <a:srgbClr val="000000"/>
              </a:solidFill>
              <a:effectLst/>
              <a:latin typeface="Consolas" panose="020B0609020204030204" pitchFamily="49" charset="0"/>
            </a:endParaRPr>
          </a:p>
          <a:p>
            <a:pPr marL="0" marR="0"/>
            <a:r>
              <a:rPr lang="en-US" sz="1400" dirty="0" err="1">
                <a:solidFill>
                  <a:srgbClr val="000000"/>
                </a:solidFill>
                <a:effectLst/>
                <a:latin typeface="Consolas" panose="020B0609020204030204" pitchFamily="49" charset="0"/>
              </a:rPr>
              <a:t>FlowPane</a:t>
            </a:r>
            <a:r>
              <a:rPr lang="en-US" sz="1400" dirty="0">
                <a:solidFill>
                  <a:srgbClr val="000000"/>
                </a:solidFill>
                <a:effectLst/>
                <a:latin typeface="Consolas" panose="020B0609020204030204" pitchFamily="49" charset="0"/>
              </a:rPr>
              <a:t> </a:t>
            </a:r>
            <a:r>
              <a:rPr lang="en-US" sz="1400" dirty="0" err="1">
                <a:solidFill>
                  <a:srgbClr val="6A3E3E"/>
                </a:solidFill>
                <a:effectLst/>
                <a:latin typeface="Consolas" panose="020B0609020204030204" pitchFamily="49" charset="0"/>
              </a:rPr>
              <a:t>flowPane</a:t>
            </a:r>
            <a:r>
              <a:rPr lang="en-US" sz="1400" dirty="0">
                <a:solidFill>
                  <a:srgbClr val="000000"/>
                </a:solidFill>
                <a:effectLst/>
                <a:latin typeface="Consolas" panose="020B0609020204030204" pitchFamily="49" charset="0"/>
              </a:rPr>
              <a:t> =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FlowPane</a:t>
            </a:r>
            <a:r>
              <a:rPr lang="en-US" sz="1400" dirty="0">
                <a:solidFill>
                  <a:srgbClr val="000000"/>
                </a:solidFill>
                <a:effectLst/>
                <a:latin typeface="Consolas" panose="020B0609020204030204" pitchFamily="49" charset="0"/>
              </a:rPr>
              <a:t>(10, 10,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Button(</a:t>
            </a:r>
            <a:r>
              <a:rPr lang="en-US" sz="1400" dirty="0">
                <a:solidFill>
                  <a:srgbClr val="2A00FF"/>
                </a:solidFill>
                <a:effectLst/>
                <a:latin typeface="Consolas" panose="020B0609020204030204" pitchFamily="49" charset="0"/>
              </a:rPr>
              <a:t>"Flow 1"</a:t>
            </a:r>
            <a:r>
              <a:rPr lang="en-US" sz="1400" dirty="0">
                <a:solidFill>
                  <a:srgbClr val="000000"/>
                </a:solidFill>
                <a:effectLst/>
                <a:latin typeface="Consolas" panose="020B0609020204030204" pitchFamily="49" charset="0"/>
              </a:rPr>
              <a:t>),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Button(</a:t>
            </a:r>
            <a:r>
              <a:rPr lang="en-US" sz="1400" dirty="0">
                <a:solidFill>
                  <a:srgbClr val="2A00FF"/>
                </a:solidFill>
                <a:effectLst/>
                <a:latin typeface="Consolas" panose="020B0609020204030204" pitchFamily="49" charset="0"/>
              </a:rPr>
              <a:t>"Flow 2"</a:t>
            </a:r>
            <a:r>
              <a:rPr lang="en-US" sz="1400" dirty="0">
                <a:solidFill>
                  <a:srgbClr val="000000"/>
                </a:solidFill>
                <a:effectLst/>
                <a:latin typeface="Consolas" panose="020B0609020204030204" pitchFamily="49" charset="0"/>
              </a:rPr>
              <a:t>));</a:t>
            </a:r>
            <a:br>
              <a:rPr lang="en-US" sz="1400" dirty="0">
                <a:solidFill>
                  <a:srgbClr val="000000"/>
                </a:solidFill>
                <a:effectLst/>
                <a:latin typeface="Consolas" panose="020B0609020204030204" pitchFamily="49" charset="0"/>
              </a:rPr>
            </a:br>
            <a:endParaRPr lang="en-US" sz="1400" dirty="0">
              <a:solidFill>
                <a:srgbClr val="000000"/>
              </a:solidFill>
              <a:effectLst/>
              <a:latin typeface="Consolas" panose="020B0609020204030204" pitchFamily="49" charset="0"/>
            </a:endParaRPr>
          </a:p>
          <a:p>
            <a:pPr marL="0" marR="0"/>
            <a:r>
              <a:rPr lang="en-US" sz="1400" dirty="0">
                <a:solidFill>
                  <a:srgbClr val="3F7F5F"/>
                </a:solidFill>
                <a:effectLst/>
                <a:latin typeface="Consolas" panose="020B0609020204030204" pitchFamily="49" charset="0"/>
              </a:rPr>
              <a:t>// Combine all panes</a:t>
            </a:r>
            <a:endParaRPr lang="en-US" sz="1400" dirty="0">
              <a:solidFill>
                <a:srgbClr val="000000"/>
              </a:solidFill>
              <a:effectLst/>
              <a:latin typeface="Consolas" panose="020B0609020204030204" pitchFamily="49" charset="0"/>
            </a:endParaRPr>
          </a:p>
          <a:p>
            <a:pPr marL="0" marR="0"/>
            <a:r>
              <a:rPr lang="en-US" sz="1400" dirty="0" err="1">
                <a:solidFill>
                  <a:srgbClr val="000000"/>
                </a:solidFill>
                <a:effectLst/>
                <a:latin typeface="Consolas" panose="020B0609020204030204" pitchFamily="49" charset="0"/>
              </a:rPr>
              <a:t>VBox</a:t>
            </a:r>
            <a:r>
              <a:rPr lang="en-US" sz="1400" dirty="0">
                <a:solidFill>
                  <a:srgbClr val="000000"/>
                </a:solidFill>
                <a:effectLst/>
                <a:latin typeface="Consolas" panose="020B0609020204030204" pitchFamily="49" charset="0"/>
              </a:rPr>
              <a:t> </a:t>
            </a:r>
            <a:r>
              <a:rPr lang="en-US" sz="1400" dirty="0" err="1">
                <a:solidFill>
                  <a:srgbClr val="6A3E3E"/>
                </a:solidFill>
                <a:effectLst/>
                <a:latin typeface="Consolas" panose="020B0609020204030204" pitchFamily="49" charset="0"/>
              </a:rPr>
              <a:t>mainLayout</a:t>
            </a:r>
            <a:r>
              <a:rPr lang="en-US" sz="1400" dirty="0">
                <a:solidFill>
                  <a:srgbClr val="000000"/>
                </a:solidFill>
                <a:effectLst/>
                <a:latin typeface="Consolas" panose="020B0609020204030204" pitchFamily="49" charset="0"/>
              </a:rPr>
              <a:t> =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VBox</a:t>
            </a:r>
            <a:r>
              <a:rPr lang="en-US" sz="1400" dirty="0">
                <a:solidFill>
                  <a:srgbClr val="000000"/>
                </a:solidFill>
                <a:effectLst/>
                <a:latin typeface="Consolas" panose="020B0609020204030204" pitchFamily="49" charset="0"/>
              </a:rPr>
              <a:t>(20, </a:t>
            </a:r>
            <a:r>
              <a:rPr lang="en-US" sz="1400" dirty="0" err="1">
                <a:solidFill>
                  <a:srgbClr val="6A3E3E"/>
                </a:solidFill>
                <a:effectLst/>
                <a:latin typeface="Consolas" panose="020B0609020204030204" pitchFamily="49" charset="0"/>
              </a:rPr>
              <a:t>borderPane</a:t>
            </a:r>
            <a:r>
              <a:rPr lang="en-US" sz="1400" dirty="0">
                <a:solidFill>
                  <a:srgbClr val="6A3E3E"/>
                </a:solidFill>
                <a:effectLst/>
                <a:latin typeface="Consolas" panose="020B0609020204030204" pitchFamily="49" charset="0"/>
              </a:rPr>
              <a:t>, </a:t>
            </a:r>
            <a:r>
              <a:rPr lang="en-US" sz="1400" u="sng" dirty="0" err="1">
                <a:solidFill>
                  <a:srgbClr val="000000"/>
                </a:solidFill>
                <a:effectLst/>
                <a:latin typeface="Consolas" panose="020B0609020204030204" pitchFamily="49" charset="0"/>
              </a:rPr>
              <a:t>hBox</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vBox</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stackPane</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gridPane</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flowPane</a:t>
            </a:r>
            <a:r>
              <a:rPr lang="en-US" sz="1400" dirty="0">
                <a:solidFill>
                  <a:srgbClr val="000000"/>
                </a:solidFill>
                <a:effectLst/>
                <a:latin typeface="Consolas" panose="020B0609020204030204" pitchFamily="49" charset="0"/>
              </a:rPr>
              <a:t>);</a:t>
            </a:r>
          </a:p>
          <a:p>
            <a:pPr marL="0" marR="0"/>
            <a:br>
              <a:rPr lang="en-US" sz="1400" dirty="0">
                <a:solidFill>
                  <a:srgbClr val="000000"/>
                </a:solidFill>
                <a:effectLst/>
                <a:latin typeface="Consolas" panose="020B0609020204030204" pitchFamily="49" charset="0"/>
              </a:rPr>
            </a:br>
            <a:endParaRPr lang="en-US" sz="1400" dirty="0">
              <a:solidFill>
                <a:srgbClr val="000000"/>
              </a:solidFill>
              <a:effectLst/>
              <a:latin typeface="Consolas" panose="020B0609020204030204" pitchFamily="49" charset="0"/>
            </a:endParaRPr>
          </a:p>
          <a:p>
            <a:pPr marL="0" marR="0"/>
            <a:r>
              <a:rPr lang="en-US" sz="1400" dirty="0">
                <a:solidFill>
                  <a:srgbClr val="3F7F5F"/>
                </a:solidFill>
                <a:effectLst/>
                <a:latin typeface="Consolas" panose="020B0609020204030204" pitchFamily="49" charset="0"/>
              </a:rPr>
              <a:t>// Set scene and show stage</a:t>
            </a:r>
            <a:endParaRPr lang="en-US" sz="1400" dirty="0">
              <a:solidFill>
                <a:srgbClr val="000000"/>
              </a:solidFill>
              <a:effectLst/>
              <a:latin typeface="Consolas" panose="020B0609020204030204" pitchFamily="49" charset="0"/>
            </a:endParaRPr>
          </a:p>
          <a:p>
            <a:pPr marL="0" marR="0"/>
            <a:r>
              <a:rPr lang="en-US" sz="1400" dirty="0">
                <a:solidFill>
                  <a:srgbClr val="000000"/>
                </a:solidFill>
                <a:effectLst/>
                <a:latin typeface="Consolas" panose="020B0609020204030204" pitchFamily="49" charset="0"/>
              </a:rPr>
              <a:t>Scene </a:t>
            </a:r>
            <a:r>
              <a:rPr lang="en-US" sz="1400" dirty="0" err="1">
                <a:solidFill>
                  <a:srgbClr val="6A3E3E"/>
                </a:solidFill>
                <a:effectLst/>
                <a:latin typeface="Consolas" panose="020B0609020204030204" pitchFamily="49" charset="0"/>
              </a:rPr>
              <a:t>scene</a:t>
            </a:r>
            <a:r>
              <a:rPr lang="en-US" sz="1400" dirty="0">
                <a:solidFill>
                  <a:srgbClr val="000000"/>
                </a:solidFill>
                <a:effectLst/>
                <a:latin typeface="Consolas" panose="020B0609020204030204" pitchFamily="49" charset="0"/>
              </a:rPr>
              <a:t> =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Scene(</a:t>
            </a:r>
            <a:r>
              <a:rPr lang="en-US" sz="1400" dirty="0" err="1">
                <a:solidFill>
                  <a:srgbClr val="6A3E3E"/>
                </a:solidFill>
                <a:effectLst/>
                <a:latin typeface="Consolas" panose="020B0609020204030204" pitchFamily="49" charset="0"/>
              </a:rPr>
              <a:t>mainLayout</a:t>
            </a:r>
            <a:r>
              <a:rPr lang="en-US" sz="1400" dirty="0">
                <a:solidFill>
                  <a:srgbClr val="000000"/>
                </a:solidFill>
                <a:effectLst/>
                <a:latin typeface="Consolas" panose="020B0609020204030204" pitchFamily="49" charset="0"/>
              </a:rPr>
              <a:t>, 600, 600);</a:t>
            </a:r>
          </a:p>
          <a:p>
            <a:pPr marL="0" marR="0"/>
            <a:r>
              <a:rPr lang="en-US" sz="1400" dirty="0" err="1">
                <a:solidFill>
                  <a:srgbClr val="6A3E3E"/>
                </a:solidFill>
                <a:effectLst/>
                <a:latin typeface="Consolas" panose="020B0609020204030204" pitchFamily="49" charset="0"/>
              </a:rPr>
              <a:t>primaryStage</a:t>
            </a:r>
            <a:r>
              <a:rPr lang="en-US" sz="1400" dirty="0" err="1">
                <a:solidFill>
                  <a:srgbClr val="000000"/>
                </a:solidFill>
                <a:effectLst/>
                <a:latin typeface="Consolas" panose="020B0609020204030204" pitchFamily="49" charset="0"/>
              </a:rPr>
              <a:t>.setTitle</a:t>
            </a:r>
            <a:r>
              <a:rPr lang="en-US" sz="1400" dirty="0">
                <a:solidFill>
                  <a:srgbClr val="000000"/>
                </a:solidFill>
                <a:effectLst/>
                <a:latin typeface="Consolas" panose="020B0609020204030204" pitchFamily="49" charset="0"/>
              </a:rPr>
              <a:t>(</a:t>
            </a:r>
            <a:r>
              <a:rPr lang="en-US" sz="1400" dirty="0">
                <a:solidFill>
                  <a:srgbClr val="2A00FF"/>
                </a:solidFill>
                <a:effectLst/>
                <a:latin typeface="Consolas" panose="020B0609020204030204" pitchFamily="49" charset="0"/>
              </a:rPr>
              <a:t>"Short Pane Example"</a:t>
            </a:r>
            <a:r>
              <a:rPr lang="en-US" sz="1400" dirty="0">
                <a:solidFill>
                  <a:srgbClr val="000000"/>
                </a:solidFill>
                <a:effectLst/>
                <a:latin typeface="Consolas" panose="020B0609020204030204" pitchFamily="49" charset="0"/>
              </a:rPr>
              <a:t>);</a:t>
            </a:r>
          </a:p>
          <a:p>
            <a:pPr marL="0" marR="0"/>
            <a:r>
              <a:rPr lang="en-US" sz="1400" dirty="0" err="1">
                <a:solidFill>
                  <a:srgbClr val="6A3E3E"/>
                </a:solidFill>
                <a:effectLst/>
                <a:latin typeface="Consolas" panose="020B0609020204030204" pitchFamily="49" charset="0"/>
              </a:rPr>
              <a:t>primaryStage</a:t>
            </a:r>
            <a:r>
              <a:rPr lang="en-US" sz="1400" dirty="0" err="1">
                <a:solidFill>
                  <a:srgbClr val="000000"/>
                </a:solidFill>
                <a:effectLst/>
                <a:latin typeface="Consolas" panose="020B0609020204030204" pitchFamily="49" charset="0"/>
              </a:rPr>
              <a:t>.setScene</a:t>
            </a:r>
            <a:r>
              <a:rPr lang="en-US" sz="1400" dirty="0">
                <a:solidFill>
                  <a:srgbClr val="000000"/>
                </a:solidFill>
                <a:effectLst/>
                <a:latin typeface="Consolas" panose="020B0609020204030204" pitchFamily="49" charset="0"/>
              </a:rPr>
              <a:t>(</a:t>
            </a:r>
            <a:r>
              <a:rPr lang="en-US" sz="1400" dirty="0">
                <a:solidFill>
                  <a:srgbClr val="6A3E3E"/>
                </a:solidFill>
                <a:effectLst/>
                <a:latin typeface="Consolas" panose="020B0609020204030204" pitchFamily="49" charset="0"/>
              </a:rPr>
              <a:t>scene</a:t>
            </a:r>
            <a:r>
              <a:rPr lang="en-US" sz="1400" dirty="0">
                <a:solidFill>
                  <a:srgbClr val="000000"/>
                </a:solidFill>
                <a:effectLst/>
                <a:latin typeface="Consolas" panose="020B0609020204030204" pitchFamily="49" charset="0"/>
              </a:rPr>
              <a:t>);</a:t>
            </a:r>
          </a:p>
          <a:p>
            <a:pPr marL="0" marR="0"/>
            <a:r>
              <a:rPr lang="en-US" sz="1400" dirty="0" err="1">
                <a:solidFill>
                  <a:srgbClr val="6A3E3E"/>
                </a:solidFill>
                <a:effectLst/>
                <a:latin typeface="Consolas" panose="020B0609020204030204" pitchFamily="49" charset="0"/>
              </a:rPr>
              <a:t>primaryStage</a:t>
            </a:r>
            <a:r>
              <a:rPr lang="en-US" sz="1400" dirty="0" err="1">
                <a:solidFill>
                  <a:srgbClr val="000000"/>
                </a:solidFill>
                <a:effectLst/>
                <a:latin typeface="Consolas" panose="020B0609020204030204" pitchFamily="49" charset="0"/>
              </a:rPr>
              <a:t>.show</a:t>
            </a:r>
            <a:r>
              <a:rPr lang="en-US" sz="140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459466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1"/>
          <p:cNvSpPr txBox="1">
            <a:spLocks noGrp="1"/>
          </p:cNvSpPr>
          <p:nvPr>
            <p:ph type="title"/>
          </p:nvPr>
        </p:nvSpPr>
        <p:spPr>
          <a:xfrm>
            <a:off x="1230312" y="309562"/>
            <a:ext cx="7772401" cy="1260475"/>
          </a:xfrm>
          <a:prstGeom prst="rect">
            <a:avLst/>
          </a:prstGeom>
          <a:noFill/>
          <a:ln>
            <a:noFill/>
          </a:ln>
        </p:spPr>
        <p:txBody>
          <a:bodyPr spcFirstLastPara="1" wrap="square" lIns="0" tIns="0" rIns="0" bIns="0" anchor="ctr" anchorCtr="0">
            <a:normAutofit/>
          </a:bodyPr>
          <a:lstStyle/>
          <a:p>
            <a:pPr marL="0" lvl="0" indent="0" algn="ctr" rtl="0">
              <a:lnSpc>
                <a:spcPct val="117000"/>
              </a:lnSpc>
              <a:spcBef>
                <a:spcPts val="0"/>
              </a:spcBef>
              <a:spcAft>
                <a:spcPts val="0"/>
              </a:spcAft>
              <a:buNone/>
            </a:pPr>
            <a:r>
              <a:rPr lang="en-US"/>
              <a:t>Layout Panes</a:t>
            </a:r>
            <a:endParaRPr/>
          </a:p>
        </p:txBody>
      </p:sp>
      <p:sp>
        <p:nvSpPr>
          <p:cNvPr id="340" name="Google Shape;340;p31"/>
          <p:cNvSpPr txBox="1">
            <a:spLocks noGrp="1"/>
          </p:cNvSpPr>
          <p:nvPr>
            <p:ph type="body" idx="4294967295"/>
          </p:nvPr>
        </p:nvSpPr>
        <p:spPr>
          <a:xfrm>
            <a:off x="504507" y="1409292"/>
            <a:ext cx="9071610" cy="5343668"/>
          </a:xfrm>
          <a:prstGeom prst="rect">
            <a:avLst/>
          </a:prstGeom>
          <a:noFill/>
          <a:ln>
            <a:noFill/>
          </a:ln>
        </p:spPr>
        <p:txBody>
          <a:bodyPr spcFirstLastPara="1" wrap="square" lIns="0" tIns="0" rIns="0" bIns="0" anchor="t" anchorCtr="0">
            <a:normAutofit/>
          </a:bodyPr>
          <a:lstStyle/>
          <a:p>
            <a:pPr marL="457200" lvl="0" indent="-274319" algn="l" rtl="0">
              <a:lnSpc>
                <a:spcPct val="97000"/>
              </a:lnSpc>
              <a:spcBef>
                <a:spcPts val="0"/>
              </a:spcBef>
              <a:spcAft>
                <a:spcPts val="0"/>
              </a:spcAft>
              <a:buSzPts val="2960"/>
              <a:buChar char="▪"/>
            </a:pPr>
            <a:r>
              <a:rPr lang="en-US" sz="2960" dirty="0"/>
              <a:t>JavaFX provides many types of panes for organizing nodes in a container</a:t>
            </a:r>
            <a:endParaRPr sz="2960" dirty="0"/>
          </a:p>
        </p:txBody>
      </p:sp>
      <p:graphicFrame>
        <p:nvGraphicFramePr>
          <p:cNvPr id="2" name="Table 1">
            <a:extLst>
              <a:ext uri="{FF2B5EF4-FFF2-40B4-BE49-F238E27FC236}">
                <a16:creationId xmlns:a16="http://schemas.microsoft.com/office/drawing/2014/main" id="{2CD2E734-8877-B0B4-4201-07B0CE3E76B0}"/>
              </a:ext>
            </a:extLst>
          </p:cNvPr>
          <p:cNvGraphicFramePr>
            <a:graphicFrameLocks noGrp="1"/>
          </p:cNvGraphicFramePr>
          <p:nvPr>
            <p:extLst>
              <p:ext uri="{D42A27DB-BD31-4B8C-83A1-F6EECF244321}">
                <p14:modId xmlns:p14="http://schemas.microsoft.com/office/powerpoint/2010/main" val="4010401859"/>
              </p:ext>
            </p:extLst>
          </p:nvPr>
        </p:nvGraphicFramePr>
        <p:xfrm>
          <a:off x="454984" y="2377288"/>
          <a:ext cx="9323055" cy="4129114"/>
        </p:xfrm>
        <a:graphic>
          <a:graphicData uri="http://schemas.openxmlformats.org/drawingml/2006/table">
            <a:tbl>
              <a:tblPr/>
              <a:tblGrid>
                <a:gridCol w="1276337">
                  <a:extLst>
                    <a:ext uri="{9D8B030D-6E8A-4147-A177-3AD203B41FA5}">
                      <a16:colId xmlns:a16="http://schemas.microsoft.com/office/drawing/2014/main" val="3487127809"/>
                    </a:ext>
                  </a:extLst>
                </a:gridCol>
                <a:gridCol w="4357314">
                  <a:extLst>
                    <a:ext uri="{9D8B030D-6E8A-4147-A177-3AD203B41FA5}">
                      <a16:colId xmlns:a16="http://schemas.microsoft.com/office/drawing/2014/main" val="981749693"/>
                    </a:ext>
                  </a:extLst>
                </a:gridCol>
                <a:gridCol w="3689404">
                  <a:extLst>
                    <a:ext uri="{9D8B030D-6E8A-4147-A177-3AD203B41FA5}">
                      <a16:colId xmlns:a16="http://schemas.microsoft.com/office/drawing/2014/main" val="1592653717"/>
                    </a:ext>
                  </a:extLst>
                </a:gridCol>
              </a:tblGrid>
              <a:tr h="204387">
                <a:tc>
                  <a:txBody>
                    <a:bodyPr/>
                    <a:lstStyle/>
                    <a:p>
                      <a:r>
                        <a:rPr lang="en-US" sz="1400" b="1"/>
                        <a:t>Pane Type</a:t>
                      </a:r>
                      <a:endParaRPr lang="en-US" sz="1400"/>
                    </a:p>
                  </a:txBody>
                  <a:tcPr marL="0" marR="0" marT="0" marB="0" anchor="ctr">
                    <a:lnL>
                      <a:noFill/>
                    </a:lnL>
                    <a:lnR>
                      <a:noFill/>
                    </a:lnR>
                    <a:lnT>
                      <a:noFill/>
                    </a:lnT>
                    <a:lnB>
                      <a:noFill/>
                    </a:lnB>
                    <a:noFill/>
                  </a:tcPr>
                </a:tc>
                <a:tc>
                  <a:txBody>
                    <a:bodyPr/>
                    <a:lstStyle/>
                    <a:p>
                      <a:r>
                        <a:rPr lang="en-US" sz="1400" b="1" dirty="0"/>
                        <a:t>Description</a:t>
                      </a:r>
                      <a:endParaRPr lang="en-US" sz="1400" dirty="0"/>
                    </a:p>
                  </a:txBody>
                  <a:tcPr marL="0" marR="0" marT="0" marB="0" anchor="ctr">
                    <a:lnL>
                      <a:noFill/>
                    </a:lnL>
                    <a:lnR>
                      <a:noFill/>
                    </a:lnR>
                    <a:lnT>
                      <a:noFill/>
                    </a:lnT>
                    <a:lnB>
                      <a:noFill/>
                    </a:lnB>
                    <a:noFill/>
                  </a:tcPr>
                </a:tc>
                <a:tc>
                  <a:txBody>
                    <a:bodyPr/>
                    <a:lstStyle/>
                    <a:p>
                      <a:r>
                        <a:rPr lang="en-US" sz="1400" b="1" dirty="0"/>
                        <a:t>Best Use Case</a:t>
                      </a:r>
                      <a:endParaRPr lang="en-US" sz="1400" dirty="0"/>
                    </a:p>
                  </a:txBody>
                  <a:tcPr marL="0" marR="0" marT="0" marB="0" anchor="ctr">
                    <a:lnL>
                      <a:noFill/>
                    </a:lnL>
                    <a:lnR>
                      <a:noFill/>
                    </a:lnR>
                    <a:lnT>
                      <a:noFill/>
                    </a:lnT>
                    <a:lnB>
                      <a:noFill/>
                    </a:lnB>
                    <a:noFill/>
                  </a:tcPr>
                </a:tc>
                <a:extLst>
                  <a:ext uri="{0D108BD9-81ED-4DB2-BD59-A6C34878D82A}">
                    <a16:rowId xmlns:a16="http://schemas.microsoft.com/office/drawing/2014/main" val="953211861"/>
                  </a:ext>
                </a:extLst>
              </a:tr>
              <a:tr h="284336">
                <a:tc>
                  <a:txBody>
                    <a:bodyPr/>
                    <a:lstStyle/>
                    <a:p>
                      <a:r>
                        <a:rPr lang="en-US" sz="1400" b="1" dirty="0"/>
                        <a:t>Pane</a:t>
                      </a:r>
                      <a:endParaRPr lang="en-US" sz="1400" dirty="0"/>
                    </a:p>
                  </a:txBody>
                  <a:tcPr marL="0" marR="0" marT="0" marB="0" anchor="ctr">
                    <a:lnL>
                      <a:noFill/>
                    </a:lnL>
                    <a:lnR>
                      <a:noFill/>
                    </a:lnR>
                    <a:lnT>
                      <a:noFill/>
                    </a:lnT>
                    <a:lnB>
                      <a:noFill/>
                    </a:lnB>
                    <a:noFill/>
                  </a:tcPr>
                </a:tc>
                <a:tc>
                  <a:txBody>
                    <a:bodyPr/>
                    <a:lstStyle/>
                    <a:p>
                      <a:r>
                        <a:rPr lang="en-US" sz="1400" dirty="0"/>
                        <a:t>Base class for all Pane layouts, allows free positioning.</a:t>
                      </a:r>
                    </a:p>
                  </a:txBody>
                  <a:tcPr marL="0" marR="0" marT="0" marB="0" anchor="ctr">
                    <a:lnL>
                      <a:noFill/>
                    </a:lnL>
                    <a:lnR>
                      <a:noFill/>
                    </a:lnR>
                    <a:lnT>
                      <a:noFill/>
                    </a:lnT>
                    <a:lnB>
                      <a:noFill/>
                    </a:lnB>
                    <a:noFill/>
                  </a:tcPr>
                </a:tc>
                <a:tc>
                  <a:txBody>
                    <a:bodyPr/>
                    <a:lstStyle/>
                    <a:p>
                      <a:r>
                        <a:rPr lang="en-US" sz="1400" dirty="0"/>
                        <a:t>Custom layouts or absolute positioning.</a:t>
                      </a:r>
                    </a:p>
                  </a:txBody>
                  <a:tcPr marL="0" marR="0" marT="0" marB="0" anchor="ctr">
                    <a:lnL>
                      <a:noFill/>
                    </a:lnL>
                    <a:lnR>
                      <a:noFill/>
                    </a:lnR>
                    <a:lnT>
                      <a:noFill/>
                    </a:lnT>
                    <a:lnB>
                      <a:noFill/>
                    </a:lnB>
                    <a:noFill/>
                  </a:tcPr>
                </a:tc>
                <a:extLst>
                  <a:ext uri="{0D108BD9-81ED-4DB2-BD59-A6C34878D82A}">
                    <a16:rowId xmlns:a16="http://schemas.microsoft.com/office/drawing/2014/main" val="1937818208"/>
                  </a:ext>
                </a:extLst>
              </a:tr>
              <a:tr h="284336">
                <a:tc>
                  <a:txBody>
                    <a:bodyPr/>
                    <a:lstStyle/>
                    <a:p>
                      <a:r>
                        <a:rPr lang="en-US" sz="1400" b="1" dirty="0" err="1"/>
                        <a:t>BorderPane</a:t>
                      </a:r>
                      <a:endParaRPr lang="en-US" sz="1400" dirty="0"/>
                    </a:p>
                  </a:txBody>
                  <a:tcPr marL="0" marR="0" marT="0" marB="0" anchor="ctr">
                    <a:lnL>
                      <a:noFill/>
                    </a:lnL>
                    <a:lnR>
                      <a:noFill/>
                    </a:lnR>
                    <a:lnT>
                      <a:noFill/>
                    </a:lnT>
                    <a:lnB>
                      <a:noFill/>
                    </a:lnB>
                    <a:noFill/>
                  </a:tcPr>
                </a:tc>
                <a:tc>
                  <a:txBody>
                    <a:bodyPr/>
                    <a:lstStyle/>
                    <a:p>
                      <a:r>
                        <a:rPr lang="en-US" sz="1400" dirty="0"/>
                        <a:t>Divides layout into five regions: Top, Bottom, Left, Right, Center.</a:t>
                      </a:r>
                    </a:p>
                  </a:txBody>
                  <a:tcPr marL="0" marR="0" marT="0" marB="0" anchor="ctr">
                    <a:lnL>
                      <a:noFill/>
                    </a:lnL>
                    <a:lnR>
                      <a:noFill/>
                    </a:lnR>
                    <a:lnT>
                      <a:noFill/>
                    </a:lnT>
                    <a:lnB>
                      <a:noFill/>
                    </a:lnB>
                    <a:noFill/>
                  </a:tcPr>
                </a:tc>
                <a:tc>
                  <a:txBody>
                    <a:bodyPr/>
                    <a:lstStyle/>
                    <a:p>
                      <a:r>
                        <a:rPr lang="en-US" sz="1400" dirty="0"/>
                        <a:t>Dashboards, menus with content sections.</a:t>
                      </a:r>
                    </a:p>
                  </a:txBody>
                  <a:tcPr marL="0" marR="0" marT="0" marB="0" anchor="ctr">
                    <a:lnL>
                      <a:noFill/>
                    </a:lnL>
                    <a:lnR>
                      <a:noFill/>
                    </a:lnR>
                    <a:lnT>
                      <a:noFill/>
                    </a:lnT>
                    <a:lnB>
                      <a:noFill/>
                    </a:lnB>
                    <a:noFill/>
                  </a:tcPr>
                </a:tc>
                <a:extLst>
                  <a:ext uri="{0D108BD9-81ED-4DB2-BD59-A6C34878D82A}">
                    <a16:rowId xmlns:a16="http://schemas.microsoft.com/office/drawing/2014/main" val="3096999878"/>
                  </a:ext>
                </a:extLst>
              </a:tr>
              <a:tr h="0">
                <a:tc>
                  <a:txBody>
                    <a:bodyPr/>
                    <a:lstStyle/>
                    <a:p>
                      <a:r>
                        <a:rPr lang="en-US" sz="1400" b="1" dirty="0" err="1"/>
                        <a:t>HBox</a:t>
                      </a:r>
                      <a:endParaRPr lang="en-US" sz="1400" dirty="0"/>
                    </a:p>
                  </a:txBody>
                  <a:tcPr marL="0" marR="0" marT="0" marB="0" anchor="ctr">
                    <a:lnL>
                      <a:noFill/>
                    </a:lnL>
                    <a:lnR>
                      <a:noFill/>
                    </a:lnR>
                    <a:lnT>
                      <a:noFill/>
                    </a:lnT>
                    <a:lnB>
                      <a:noFill/>
                    </a:lnB>
                    <a:noFill/>
                  </a:tcPr>
                </a:tc>
                <a:tc>
                  <a:txBody>
                    <a:bodyPr/>
                    <a:lstStyle/>
                    <a:p>
                      <a:r>
                        <a:rPr lang="en-US" sz="1400" dirty="0"/>
                        <a:t>Arranges children horizontally in a single row.</a:t>
                      </a:r>
                    </a:p>
                  </a:txBody>
                  <a:tcPr marL="0" marR="0" marT="0" marB="0" anchor="ctr">
                    <a:lnL>
                      <a:noFill/>
                    </a:lnL>
                    <a:lnR>
                      <a:noFill/>
                    </a:lnR>
                    <a:lnT>
                      <a:noFill/>
                    </a:lnT>
                    <a:lnB>
                      <a:noFill/>
                    </a:lnB>
                    <a:noFill/>
                  </a:tcPr>
                </a:tc>
                <a:tc>
                  <a:txBody>
                    <a:bodyPr/>
                    <a:lstStyle/>
                    <a:p>
                      <a:r>
                        <a:rPr lang="en-US" sz="1400" dirty="0"/>
                        <a:t>Toolbars, navigation bars, horizontal layouts.</a:t>
                      </a:r>
                    </a:p>
                  </a:txBody>
                  <a:tcPr marL="0" marR="0" marT="0" marB="0" anchor="ctr">
                    <a:lnL>
                      <a:noFill/>
                    </a:lnL>
                    <a:lnR>
                      <a:noFill/>
                    </a:lnR>
                    <a:lnT>
                      <a:noFill/>
                    </a:lnT>
                    <a:lnB>
                      <a:noFill/>
                    </a:lnB>
                    <a:noFill/>
                  </a:tcPr>
                </a:tc>
                <a:extLst>
                  <a:ext uri="{0D108BD9-81ED-4DB2-BD59-A6C34878D82A}">
                    <a16:rowId xmlns:a16="http://schemas.microsoft.com/office/drawing/2014/main" val="3153999214"/>
                  </a:ext>
                </a:extLst>
              </a:tr>
              <a:tr h="0">
                <a:tc>
                  <a:txBody>
                    <a:bodyPr/>
                    <a:lstStyle/>
                    <a:p>
                      <a:r>
                        <a:rPr lang="en-US" sz="1400" b="1"/>
                        <a:t>VBox</a:t>
                      </a:r>
                      <a:endParaRPr lang="en-US" sz="1400"/>
                    </a:p>
                  </a:txBody>
                  <a:tcPr marL="0" marR="0" marT="0" marB="0" anchor="ctr">
                    <a:lnL>
                      <a:noFill/>
                    </a:lnL>
                    <a:lnR>
                      <a:noFill/>
                    </a:lnR>
                    <a:lnT>
                      <a:noFill/>
                    </a:lnT>
                    <a:lnB>
                      <a:noFill/>
                    </a:lnB>
                    <a:noFill/>
                  </a:tcPr>
                </a:tc>
                <a:tc>
                  <a:txBody>
                    <a:bodyPr/>
                    <a:lstStyle/>
                    <a:p>
                      <a:r>
                        <a:rPr lang="en-US" sz="1400"/>
                        <a:t>Arranges children vertically in a single column.</a:t>
                      </a:r>
                    </a:p>
                  </a:txBody>
                  <a:tcPr marL="0" marR="0" marT="0" marB="0" anchor="ctr">
                    <a:lnL>
                      <a:noFill/>
                    </a:lnL>
                    <a:lnR>
                      <a:noFill/>
                    </a:lnR>
                    <a:lnT>
                      <a:noFill/>
                    </a:lnT>
                    <a:lnB>
                      <a:noFill/>
                    </a:lnB>
                    <a:noFill/>
                  </a:tcPr>
                </a:tc>
                <a:tc>
                  <a:txBody>
                    <a:bodyPr/>
                    <a:lstStyle/>
                    <a:p>
                      <a:r>
                        <a:rPr lang="en-US" sz="1400" dirty="0"/>
                        <a:t>Menus, form fields, or stacked layouts.</a:t>
                      </a:r>
                    </a:p>
                  </a:txBody>
                  <a:tcPr marL="0" marR="0" marT="0" marB="0" anchor="ctr">
                    <a:lnL>
                      <a:noFill/>
                    </a:lnL>
                    <a:lnR>
                      <a:noFill/>
                    </a:lnR>
                    <a:lnT>
                      <a:noFill/>
                    </a:lnT>
                    <a:lnB>
                      <a:noFill/>
                    </a:lnB>
                    <a:noFill/>
                  </a:tcPr>
                </a:tc>
                <a:extLst>
                  <a:ext uri="{0D108BD9-81ED-4DB2-BD59-A6C34878D82A}">
                    <a16:rowId xmlns:a16="http://schemas.microsoft.com/office/drawing/2014/main" val="2316563543"/>
                  </a:ext>
                </a:extLst>
              </a:tr>
              <a:tr h="0">
                <a:tc>
                  <a:txBody>
                    <a:bodyPr/>
                    <a:lstStyle/>
                    <a:p>
                      <a:r>
                        <a:rPr lang="en-US" sz="1400" b="1"/>
                        <a:t>StackPane</a:t>
                      </a:r>
                      <a:endParaRPr lang="en-US" sz="1400"/>
                    </a:p>
                  </a:txBody>
                  <a:tcPr marL="0" marR="0" marT="0" marB="0" anchor="ctr">
                    <a:lnL>
                      <a:noFill/>
                    </a:lnL>
                    <a:lnR>
                      <a:noFill/>
                    </a:lnR>
                    <a:lnT>
                      <a:noFill/>
                    </a:lnT>
                    <a:lnB>
                      <a:noFill/>
                    </a:lnB>
                    <a:noFill/>
                  </a:tcPr>
                </a:tc>
                <a:tc>
                  <a:txBody>
                    <a:bodyPr/>
                    <a:lstStyle/>
                    <a:p>
                      <a:r>
                        <a:rPr lang="en-US" sz="1400"/>
                        <a:t>Overlays nodes in a stack, with the last on top.</a:t>
                      </a:r>
                    </a:p>
                  </a:txBody>
                  <a:tcPr marL="0" marR="0" marT="0" marB="0" anchor="ctr">
                    <a:lnL>
                      <a:noFill/>
                    </a:lnL>
                    <a:lnR>
                      <a:noFill/>
                    </a:lnR>
                    <a:lnT>
                      <a:noFill/>
                    </a:lnT>
                    <a:lnB>
                      <a:noFill/>
                    </a:lnB>
                    <a:noFill/>
                  </a:tcPr>
                </a:tc>
                <a:tc>
                  <a:txBody>
                    <a:bodyPr/>
                    <a:lstStyle/>
                    <a:p>
                      <a:r>
                        <a:rPr lang="en-US" sz="1400" dirty="0"/>
                        <a:t>Layered elements, overlays, or centered items.</a:t>
                      </a:r>
                    </a:p>
                  </a:txBody>
                  <a:tcPr marL="0" marR="0" marT="0" marB="0" anchor="ctr">
                    <a:lnL>
                      <a:noFill/>
                    </a:lnL>
                    <a:lnR>
                      <a:noFill/>
                    </a:lnR>
                    <a:lnT>
                      <a:noFill/>
                    </a:lnT>
                    <a:lnB>
                      <a:noFill/>
                    </a:lnB>
                    <a:noFill/>
                  </a:tcPr>
                </a:tc>
                <a:extLst>
                  <a:ext uri="{0D108BD9-81ED-4DB2-BD59-A6C34878D82A}">
                    <a16:rowId xmlns:a16="http://schemas.microsoft.com/office/drawing/2014/main" val="4079025517"/>
                  </a:ext>
                </a:extLst>
              </a:tr>
              <a:tr h="0">
                <a:tc>
                  <a:txBody>
                    <a:bodyPr/>
                    <a:lstStyle/>
                    <a:p>
                      <a:r>
                        <a:rPr lang="en-US" sz="1400" b="1"/>
                        <a:t>GridPane</a:t>
                      </a:r>
                      <a:endParaRPr lang="en-US" sz="1400"/>
                    </a:p>
                  </a:txBody>
                  <a:tcPr marL="0" marR="0" marT="0" marB="0" anchor="ctr">
                    <a:lnL>
                      <a:noFill/>
                    </a:lnL>
                    <a:lnR>
                      <a:noFill/>
                    </a:lnR>
                    <a:lnT>
                      <a:noFill/>
                    </a:lnT>
                    <a:lnB>
                      <a:noFill/>
                    </a:lnB>
                    <a:noFill/>
                  </a:tcPr>
                </a:tc>
                <a:tc>
                  <a:txBody>
                    <a:bodyPr/>
                    <a:lstStyle/>
                    <a:p>
                      <a:r>
                        <a:rPr lang="en-US" sz="1400" dirty="0"/>
                        <a:t>Divides layout into rows and columns.</a:t>
                      </a:r>
                    </a:p>
                  </a:txBody>
                  <a:tcPr marL="0" marR="0" marT="0" marB="0" anchor="ctr">
                    <a:lnL>
                      <a:noFill/>
                    </a:lnL>
                    <a:lnR>
                      <a:noFill/>
                    </a:lnR>
                    <a:lnT>
                      <a:noFill/>
                    </a:lnT>
                    <a:lnB>
                      <a:noFill/>
                    </a:lnB>
                    <a:noFill/>
                  </a:tcPr>
                </a:tc>
                <a:tc>
                  <a:txBody>
                    <a:bodyPr/>
                    <a:lstStyle/>
                    <a:p>
                      <a:r>
                        <a:rPr lang="en-US" sz="1400"/>
                        <a:t>Forms, tables, or grids.</a:t>
                      </a:r>
                    </a:p>
                  </a:txBody>
                  <a:tcPr marL="0" marR="0" marT="0" marB="0" anchor="ctr">
                    <a:lnL>
                      <a:noFill/>
                    </a:lnL>
                    <a:lnR>
                      <a:noFill/>
                    </a:lnR>
                    <a:lnT>
                      <a:noFill/>
                    </a:lnT>
                    <a:lnB>
                      <a:noFill/>
                    </a:lnB>
                    <a:noFill/>
                  </a:tcPr>
                </a:tc>
                <a:extLst>
                  <a:ext uri="{0D108BD9-81ED-4DB2-BD59-A6C34878D82A}">
                    <a16:rowId xmlns:a16="http://schemas.microsoft.com/office/drawing/2014/main" val="2820503938"/>
                  </a:ext>
                </a:extLst>
              </a:tr>
              <a:tr h="0">
                <a:tc>
                  <a:txBody>
                    <a:bodyPr/>
                    <a:lstStyle/>
                    <a:p>
                      <a:r>
                        <a:rPr lang="en-US" sz="1400" b="1"/>
                        <a:t>FlowPane</a:t>
                      </a:r>
                      <a:endParaRPr lang="en-US" sz="1400"/>
                    </a:p>
                  </a:txBody>
                  <a:tcPr marL="0" marR="0" marT="0" marB="0" anchor="ctr">
                    <a:lnL>
                      <a:noFill/>
                    </a:lnL>
                    <a:lnR>
                      <a:noFill/>
                    </a:lnR>
                    <a:lnT>
                      <a:noFill/>
                    </a:lnT>
                    <a:lnB>
                      <a:noFill/>
                    </a:lnB>
                    <a:noFill/>
                  </a:tcPr>
                </a:tc>
                <a:tc>
                  <a:txBody>
                    <a:bodyPr/>
                    <a:lstStyle/>
                    <a:p>
                      <a:r>
                        <a:rPr lang="en-US" sz="1400"/>
                        <a:t>Arranges nodes in a flow-like manner with wrapping.</a:t>
                      </a:r>
                    </a:p>
                  </a:txBody>
                  <a:tcPr marL="0" marR="0" marT="0" marB="0" anchor="ctr">
                    <a:lnL>
                      <a:noFill/>
                    </a:lnL>
                    <a:lnR>
                      <a:noFill/>
                    </a:lnR>
                    <a:lnT>
                      <a:noFill/>
                    </a:lnT>
                    <a:lnB>
                      <a:noFill/>
                    </a:lnB>
                    <a:noFill/>
                  </a:tcPr>
                </a:tc>
                <a:tc>
                  <a:txBody>
                    <a:bodyPr/>
                    <a:lstStyle/>
                    <a:p>
                      <a:r>
                        <a:rPr lang="en-US" sz="1400" dirty="0"/>
                        <a:t>Dynamic layouts with varying node sizes.</a:t>
                      </a:r>
                    </a:p>
                  </a:txBody>
                  <a:tcPr marL="0" marR="0" marT="0" marB="0" anchor="ctr">
                    <a:lnL>
                      <a:noFill/>
                    </a:lnL>
                    <a:lnR>
                      <a:noFill/>
                    </a:lnR>
                    <a:lnT>
                      <a:noFill/>
                    </a:lnT>
                    <a:lnB>
                      <a:noFill/>
                    </a:lnB>
                    <a:noFill/>
                  </a:tcPr>
                </a:tc>
                <a:extLst>
                  <a:ext uri="{0D108BD9-81ED-4DB2-BD59-A6C34878D82A}">
                    <a16:rowId xmlns:a16="http://schemas.microsoft.com/office/drawing/2014/main" val="3860611971"/>
                  </a:ext>
                </a:extLst>
              </a:tr>
              <a:tr h="0">
                <a:tc>
                  <a:txBody>
                    <a:bodyPr/>
                    <a:lstStyle/>
                    <a:p>
                      <a:r>
                        <a:rPr lang="en-US" sz="1400" b="1"/>
                        <a:t>AnchorPane</a:t>
                      </a:r>
                      <a:endParaRPr lang="en-US" sz="1400"/>
                    </a:p>
                  </a:txBody>
                  <a:tcPr marL="0" marR="0" marT="0" marB="0" anchor="ctr">
                    <a:lnL>
                      <a:noFill/>
                    </a:lnL>
                    <a:lnR>
                      <a:noFill/>
                    </a:lnR>
                    <a:lnT>
                      <a:noFill/>
                    </a:lnT>
                    <a:lnB>
                      <a:noFill/>
                    </a:lnB>
                    <a:noFill/>
                  </a:tcPr>
                </a:tc>
                <a:tc>
                  <a:txBody>
                    <a:bodyPr/>
                    <a:lstStyle/>
                    <a:p>
                      <a:r>
                        <a:rPr lang="en-US" sz="1400" dirty="0"/>
                        <a:t>Positions children relative to edges.</a:t>
                      </a:r>
                    </a:p>
                  </a:txBody>
                  <a:tcPr marL="0" marR="0" marT="0" marB="0" anchor="ctr">
                    <a:lnL>
                      <a:noFill/>
                    </a:lnL>
                    <a:lnR>
                      <a:noFill/>
                    </a:lnR>
                    <a:lnT>
                      <a:noFill/>
                    </a:lnT>
                    <a:lnB>
                      <a:noFill/>
                    </a:lnB>
                    <a:noFill/>
                  </a:tcPr>
                </a:tc>
                <a:tc>
                  <a:txBody>
                    <a:bodyPr/>
                    <a:lstStyle/>
                    <a:p>
                      <a:r>
                        <a:rPr lang="en-US" sz="1400" dirty="0"/>
                        <a:t>Precise positioning (e.g., forms or dialogs).</a:t>
                      </a:r>
                    </a:p>
                  </a:txBody>
                  <a:tcPr marL="0" marR="0" marT="0" marB="0" anchor="ctr">
                    <a:lnL>
                      <a:noFill/>
                    </a:lnL>
                    <a:lnR>
                      <a:noFill/>
                    </a:lnR>
                    <a:lnT>
                      <a:noFill/>
                    </a:lnT>
                    <a:lnB>
                      <a:noFill/>
                    </a:lnB>
                    <a:noFill/>
                  </a:tcPr>
                </a:tc>
                <a:extLst>
                  <a:ext uri="{0D108BD9-81ED-4DB2-BD59-A6C34878D82A}">
                    <a16:rowId xmlns:a16="http://schemas.microsoft.com/office/drawing/2014/main" val="602812450"/>
                  </a:ext>
                </a:extLst>
              </a:tr>
              <a:tr h="0">
                <a:tc>
                  <a:txBody>
                    <a:bodyPr/>
                    <a:lstStyle/>
                    <a:p>
                      <a:r>
                        <a:rPr lang="en-US" sz="1400" b="1"/>
                        <a:t>TilePane</a:t>
                      </a:r>
                      <a:endParaRPr lang="en-US" sz="1400"/>
                    </a:p>
                  </a:txBody>
                  <a:tcPr marL="0" marR="0" marT="0" marB="0" anchor="ctr">
                    <a:lnL>
                      <a:noFill/>
                    </a:lnL>
                    <a:lnR>
                      <a:noFill/>
                    </a:lnR>
                    <a:lnT>
                      <a:noFill/>
                    </a:lnT>
                    <a:lnB>
                      <a:noFill/>
                    </a:lnB>
                    <a:noFill/>
                  </a:tcPr>
                </a:tc>
                <a:tc>
                  <a:txBody>
                    <a:bodyPr/>
                    <a:lstStyle/>
                    <a:p>
                      <a:r>
                        <a:rPr lang="en-US" sz="1400"/>
                        <a:t>Arranges children in equally sized tiles.</a:t>
                      </a:r>
                    </a:p>
                  </a:txBody>
                  <a:tcPr marL="0" marR="0" marT="0" marB="0" anchor="ctr">
                    <a:lnL>
                      <a:noFill/>
                    </a:lnL>
                    <a:lnR>
                      <a:noFill/>
                    </a:lnR>
                    <a:lnT>
                      <a:noFill/>
                    </a:lnT>
                    <a:lnB>
                      <a:noFill/>
                    </a:lnB>
                    <a:noFill/>
                  </a:tcPr>
                </a:tc>
                <a:tc>
                  <a:txBody>
                    <a:bodyPr/>
                    <a:lstStyle/>
                    <a:p>
                      <a:r>
                        <a:rPr lang="en-US" sz="1400" dirty="0"/>
                        <a:t>Icon grids, tool palettes, or tiled layouts.</a:t>
                      </a:r>
                    </a:p>
                  </a:txBody>
                  <a:tcPr marL="0" marR="0" marT="0" marB="0" anchor="ctr">
                    <a:lnL>
                      <a:noFill/>
                    </a:lnL>
                    <a:lnR>
                      <a:noFill/>
                    </a:lnR>
                    <a:lnT>
                      <a:noFill/>
                    </a:lnT>
                    <a:lnB>
                      <a:noFill/>
                    </a:lnB>
                    <a:noFill/>
                  </a:tcPr>
                </a:tc>
                <a:extLst>
                  <a:ext uri="{0D108BD9-81ED-4DB2-BD59-A6C34878D82A}">
                    <a16:rowId xmlns:a16="http://schemas.microsoft.com/office/drawing/2014/main" val="3168973093"/>
                  </a:ext>
                </a:extLst>
              </a:tr>
              <a:tr h="357677">
                <a:tc>
                  <a:txBody>
                    <a:bodyPr/>
                    <a:lstStyle/>
                    <a:p>
                      <a:r>
                        <a:rPr lang="en-US" sz="1400" b="1"/>
                        <a:t>Region</a:t>
                      </a:r>
                      <a:endParaRPr lang="en-US" sz="1400"/>
                    </a:p>
                  </a:txBody>
                  <a:tcPr marL="0" marR="0" marT="0" marB="0" anchor="ctr">
                    <a:lnL>
                      <a:noFill/>
                    </a:lnL>
                    <a:lnR>
                      <a:noFill/>
                    </a:lnR>
                    <a:lnT>
                      <a:noFill/>
                    </a:lnT>
                    <a:lnB>
                      <a:noFill/>
                    </a:lnB>
                    <a:noFill/>
                  </a:tcPr>
                </a:tc>
                <a:tc>
                  <a:txBody>
                    <a:bodyPr/>
                    <a:lstStyle/>
                    <a:p>
                      <a:r>
                        <a:rPr lang="en-US" sz="1400"/>
                        <a:t>Resizable container with customizable backgrounds.</a:t>
                      </a:r>
                    </a:p>
                  </a:txBody>
                  <a:tcPr marL="0" marR="0" marT="0" marB="0" anchor="ctr">
                    <a:lnL>
                      <a:noFill/>
                    </a:lnL>
                    <a:lnR>
                      <a:noFill/>
                    </a:lnR>
                    <a:lnT>
                      <a:noFill/>
                    </a:lnT>
                    <a:lnB>
                      <a:noFill/>
                    </a:lnB>
                    <a:noFill/>
                  </a:tcPr>
                </a:tc>
                <a:tc>
                  <a:txBody>
                    <a:bodyPr/>
                    <a:lstStyle/>
                    <a:p>
                      <a:r>
                        <a:rPr lang="en-US" sz="1400" dirty="0"/>
                        <a:t>Base for custom layout containers or effects.</a:t>
                      </a:r>
                    </a:p>
                  </a:txBody>
                  <a:tcPr marL="0" marR="0" marT="0" marB="0" anchor="ctr">
                    <a:lnL>
                      <a:noFill/>
                    </a:lnL>
                    <a:lnR>
                      <a:noFill/>
                    </a:lnR>
                    <a:lnT>
                      <a:noFill/>
                    </a:lnT>
                    <a:lnB>
                      <a:noFill/>
                    </a:lnB>
                    <a:noFill/>
                  </a:tcPr>
                </a:tc>
                <a:extLst>
                  <a:ext uri="{0D108BD9-81ED-4DB2-BD59-A6C34878D82A}">
                    <a16:rowId xmlns:a16="http://schemas.microsoft.com/office/drawing/2014/main" val="3002949716"/>
                  </a:ext>
                </a:extLst>
              </a:tr>
              <a:tr h="357677">
                <a:tc>
                  <a:txBody>
                    <a:bodyPr/>
                    <a:lstStyle/>
                    <a:p>
                      <a:r>
                        <a:rPr lang="en-US" sz="1400" b="1"/>
                        <a:t>ScrollPane</a:t>
                      </a:r>
                      <a:endParaRPr lang="en-US" sz="1400"/>
                    </a:p>
                  </a:txBody>
                  <a:tcPr marL="0" marR="0" marT="0" marB="0" anchor="ctr">
                    <a:lnL>
                      <a:noFill/>
                    </a:lnL>
                    <a:lnR>
                      <a:noFill/>
                    </a:lnR>
                    <a:lnT>
                      <a:noFill/>
                    </a:lnT>
                    <a:lnB>
                      <a:noFill/>
                    </a:lnB>
                    <a:noFill/>
                  </a:tcPr>
                </a:tc>
                <a:tc>
                  <a:txBody>
                    <a:bodyPr/>
                    <a:lstStyle/>
                    <a:p>
                      <a:r>
                        <a:rPr lang="en-US" sz="1400" dirty="0"/>
                        <a:t>Provides scrollable view for large content.</a:t>
                      </a:r>
                    </a:p>
                  </a:txBody>
                  <a:tcPr marL="0" marR="0" marT="0" marB="0" anchor="ctr">
                    <a:lnL>
                      <a:noFill/>
                    </a:lnL>
                    <a:lnR>
                      <a:noFill/>
                    </a:lnR>
                    <a:lnT>
                      <a:noFill/>
                    </a:lnT>
                    <a:lnB>
                      <a:noFill/>
                    </a:lnB>
                    <a:noFill/>
                  </a:tcPr>
                </a:tc>
                <a:tc>
                  <a:txBody>
                    <a:bodyPr/>
                    <a:lstStyle/>
                    <a:p>
                      <a:r>
                        <a:rPr lang="en-US" sz="1400" dirty="0"/>
                        <a:t>Lists, images, or dynamic, large content.</a:t>
                      </a:r>
                    </a:p>
                  </a:txBody>
                  <a:tcPr marL="0" marR="0" marT="0" marB="0" anchor="ctr">
                    <a:lnL>
                      <a:noFill/>
                    </a:lnL>
                    <a:lnR>
                      <a:noFill/>
                    </a:lnR>
                    <a:lnT>
                      <a:noFill/>
                    </a:lnT>
                    <a:lnB>
                      <a:noFill/>
                    </a:lnB>
                    <a:noFill/>
                  </a:tcPr>
                </a:tc>
                <a:extLst>
                  <a:ext uri="{0D108BD9-81ED-4DB2-BD59-A6C34878D82A}">
                    <a16:rowId xmlns:a16="http://schemas.microsoft.com/office/drawing/2014/main" val="769173523"/>
                  </a:ext>
                </a:extLst>
              </a:tr>
              <a:tr h="357677">
                <a:tc>
                  <a:txBody>
                    <a:bodyPr/>
                    <a:lstStyle/>
                    <a:p>
                      <a:r>
                        <a:rPr lang="en-US" sz="1400" b="1" dirty="0"/>
                        <a:t>Group</a:t>
                      </a:r>
                      <a:endParaRPr lang="en-US" sz="1400" dirty="0"/>
                    </a:p>
                  </a:txBody>
                  <a:tcPr marL="0" marR="0" marT="0" marB="0" anchor="ctr">
                    <a:lnL>
                      <a:noFill/>
                    </a:lnL>
                    <a:lnR>
                      <a:noFill/>
                    </a:lnR>
                    <a:lnT>
                      <a:noFill/>
                    </a:lnT>
                    <a:lnB>
                      <a:noFill/>
                    </a:lnB>
                    <a:noFill/>
                  </a:tcPr>
                </a:tc>
                <a:tc>
                  <a:txBody>
                    <a:bodyPr/>
                    <a:lstStyle/>
                    <a:p>
                      <a:r>
                        <a:rPr lang="en-US" sz="1400" dirty="0"/>
                        <a:t>Groups nodes without layout management.</a:t>
                      </a:r>
                    </a:p>
                  </a:txBody>
                  <a:tcPr marL="0" marR="0" marT="0" marB="0" anchor="ctr">
                    <a:lnL>
                      <a:noFill/>
                    </a:lnL>
                    <a:lnR>
                      <a:noFill/>
                    </a:lnR>
                    <a:lnT>
                      <a:noFill/>
                    </a:lnT>
                    <a:lnB>
                      <a:noFill/>
                    </a:lnB>
                    <a:noFill/>
                  </a:tcPr>
                </a:tc>
                <a:tc>
                  <a:txBody>
                    <a:bodyPr/>
                    <a:lstStyle/>
                    <a:p>
                      <a:r>
                        <a:rPr lang="en-US" sz="1400" dirty="0"/>
                        <a:t>Combining shapes or simple visual grouping.</a:t>
                      </a:r>
                    </a:p>
                  </a:txBody>
                  <a:tcPr marL="0" marR="0" marT="0" marB="0" anchor="ctr">
                    <a:lnL>
                      <a:noFill/>
                    </a:lnL>
                    <a:lnR>
                      <a:noFill/>
                    </a:lnR>
                    <a:lnT>
                      <a:noFill/>
                    </a:lnT>
                    <a:lnB>
                      <a:noFill/>
                    </a:lnB>
                    <a:noFill/>
                  </a:tcPr>
                </a:tc>
                <a:extLst>
                  <a:ext uri="{0D108BD9-81ED-4DB2-BD59-A6C34878D82A}">
                    <a16:rowId xmlns:a16="http://schemas.microsoft.com/office/drawing/2014/main" val="758040210"/>
                  </a:ext>
                </a:extLst>
              </a:tr>
            </a:tbl>
          </a:graphicData>
        </a:graphic>
      </p:graphicFrame>
      <p:sp>
        <p:nvSpPr>
          <p:cNvPr id="3" name="TextBox 2">
            <a:extLst>
              <a:ext uri="{FF2B5EF4-FFF2-40B4-BE49-F238E27FC236}">
                <a16:creationId xmlns:a16="http://schemas.microsoft.com/office/drawing/2014/main" id="{5D8901A9-B48B-78F2-6DA7-4A64E89080E6}"/>
              </a:ext>
            </a:extLst>
          </p:cNvPr>
          <p:cNvSpPr txBox="1"/>
          <p:nvPr/>
        </p:nvSpPr>
        <p:spPr>
          <a:xfrm>
            <a:off x="691763" y="6613838"/>
            <a:ext cx="8418291" cy="333617"/>
          </a:xfrm>
          <a:prstGeom prst="rect">
            <a:avLst/>
          </a:prstGeom>
          <a:noFill/>
        </p:spPr>
        <p:txBody>
          <a:bodyPr wrap="square">
            <a:spAutoFit/>
          </a:bodyPr>
          <a:lstStyle/>
          <a:p>
            <a:r>
              <a:rPr lang="en-US" sz="1600" b="1" dirty="0"/>
              <a:t>Usage: https://docs.oracle.com/javase/8/javafx/api/javafx/scene/layout/Pane.html</a:t>
            </a:r>
          </a:p>
        </p:txBody>
      </p:sp>
    </p:spTree>
    <p:extLst>
      <p:ext uri="{BB962C8B-B14F-4D97-AF65-F5344CB8AC3E}">
        <p14:creationId xmlns:p14="http://schemas.microsoft.com/office/powerpoint/2010/main" val="3715418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36"/>
          <p:cNvSpPr txBox="1">
            <a:spLocks noGrp="1"/>
          </p:cNvSpPr>
          <p:nvPr>
            <p:ph type="title"/>
          </p:nvPr>
        </p:nvSpPr>
        <p:spPr>
          <a:xfrm>
            <a:off x="1230312" y="309562"/>
            <a:ext cx="7772401" cy="1260475"/>
          </a:xfrm>
          <a:prstGeom prst="rect">
            <a:avLst/>
          </a:prstGeom>
          <a:noFill/>
          <a:ln>
            <a:noFill/>
          </a:ln>
        </p:spPr>
        <p:txBody>
          <a:bodyPr spcFirstLastPara="1" wrap="square" lIns="0" tIns="0" rIns="0" bIns="0" anchor="ctr" anchorCtr="0">
            <a:normAutofit/>
          </a:bodyPr>
          <a:lstStyle/>
          <a:p>
            <a:pPr marL="0" lvl="0" indent="0" algn="ctr" rtl="0">
              <a:lnSpc>
                <a:spcPct val="117000"/>
              </a:lnSpc>
              <a:spcBef>
                <a:spcPts val="0"/>
              </a:spcBef>
              <a:spcAft>
                <a:spcPts val="0"/>
              </a:spcAft>
              <a:buNone/>
            </a:pPr>
            <a:r>
              <a:rPr lang="en-US"/>
              <a:t>Shapes</a:t>
            </a:r>
            <a:endParaRPr/>
          </a:p>
        </p:txBody>
      </p:sp>
      <p:pic>
        <p:nvPicPr>
          <p:cNvPr id="371" name="Google Shape;371;p36"/>
          <p:cNvPicPr preferRelativeResize="0">
            <a:picLocks noGrp="1"/>
          </p:cNvPicPr>
          <p:nvPr>
            <p:ph type="body" idx="4294967295"/>
          </p:nvPr>
        </p:nvPicPr>
        <p:blipFill rotWithShape="1">
          <a:blip r:embed="rId3">
            <a:alphaModFix/>
          </a:blip>
          <a:srcRect/>
          <a:stretch/>
        </p:blipFill>
        <p:spPr>
          <a:xfrm>
            <a:off x="2394426" y="2134908"/>
            <a:ext cx="5291773" cy="3891833"/>
          </a:xfrm>
          <a:prstGeom prst="rect">
            <a:avLst/>
          </a:prstGeom>
          <a:noFill/>
          <a:ln>
            <a:noFill/>
          </a:ln>
        </p:spPr>
      </p:pic>
    </p:spTree>
    <p:extLst>
      <p:ext uri="{BB962C8B-B14F-4D97-AF65-F5344CB8AC3E}">
        <p14:creationId xmlns:p14="http://schemas.microsoft.com/office/powerpoint/2010/main" val="3968942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6"/>
          <p:cNvSpPr txBox="1">
            <a:spLocks noGrp="1"/>
          </p:cNvSpPr>
          <p:nvPr>
            <p:ph type="title"/>
          </p:nvPr>
        </p:nvSpPr>
        <p:spPr>
          <a:xfrm>
            <a:off x="1230312" y="309562"/>
            <a:ext cx="7772401" cy="1260475"/>
          </a:xfrm>
          <a:prstGeom prst="rect">
            <a:avLst/>
          </a:prstGeom>
          <a:noFill/>
          <a:ln>
            <a:noFill/>
          </a:ln>
        </p:spPr>
        <p:txBody>
          <a:bodyPr spcFirstLastPara="1" wrap="square" lIns="0" tIns="0" rIns="0" bIns="0" anchor="ctr" anchorCtr="0">
            <a:normAutofit/>
          </a:bodyPr>
          <a:lstStyle/>
          <a:p>
            <a:pPr marL="0" lvl="0" indent="0" algn="ctr" rtl="0">
              <a:lnSpc>
                <a:spcPct val="117000"/>
              </a:lnSpc>
              <a:spcBef>
                <a:spcPts val="0"/>
              </a:spcBef>
              <a:spcAft>
                <a:spcPts val="0"/>
              </a:spcAft>
              <a:buNone/>
            </a:pPr>
            <a:r>
              <a:rPr lang="en-US"/>
              <a:t>Another Example</a:t>
            </a:r>
            <a:endParaRPr/>
          </a:p>
        </p:txBody>
      </p:sp>
      <p:sp>
        <p:nvSpPr>
          <p:cNvPr id="238" name="Google Shape;238;p16"/>
          <p:cNvSpPr txBox="1">
            <a:spLocks noGrp="1"/>
          </p:cNvSpPr>
          <p:nvPr>
            <p:ph type="body" idx="1"/>
          </p:nvPr>
        </p:nvSpPr>
        <p:spPr>
          <a:xfrm>
            <a:off x="504031" y="1399897"/>
            <a:ext cx="4452276" cy="5353063"/>
          </a:xfrm>
          <a:prstGeom prst="rect">
            <a:avLst/>
          </a:prstGeom>
          <a:noFill/>
          <a:ln>
            <a:noFill/>
          </a:ln>
        </p:spPr>
        <p:txBody>
          <a:bodyPr spcFirstLastPara="1" wrap="square" lIns="0" tIns="0" rIns="0" bIns="0" anchor="t" anchorCtr="0">
            <a:normAutofit/>
          </a:bodyPr>
          <a:lstStyle/>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public void start(Stage </a:t>
            </a:r>
            <a:r>
              <a:rPr lang="en-US" sz="1543" b="1" dirty="0" err="1">
                <a:latin typeface="Consolas"/>
                <a:ea typeface="Consolas"/>
                <a:cs typeface="Consolas"/>
                <a:sym typeface="Consolas"/>
              </a:rPr>
              <a:t>primaryStage</a:t>
            </a:r>
            <a:r>
              <a:rPr lang="en-US" sz="1543" b="1" dirty="0">
                <a:latin typeface="Consolas"/>
                <a:ea typeface="Consolas"/>
                <a:cs typeface="Consolas"/>
                <a:sym typeface="Consolas"/>
              </a:rPr>
              <a:t>) {</a:t>
            </a:r>
            <a:endParaRPr dirty="0"/>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final Circle c = new Circle();</a:t>
            </a:r>
            <a:endParaRPr dirty="0"/>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a:t>
            </a:r>
            <a:r>
              <a:rPr lang="en-US" sz="1543" b="1" dirty="0" err="1">
                <a:latin typeface="Consolas"/>
                <a:ea typeface="Consolas"/>
                <a:cs typeface="Consolas"/>
                <a:sym typeface="Consolas"/>
              </a:rPr>
              <a:t>c.setCenterX</a:t>
            </a:r>
            <a:r>
              <a:rPr lang="en-US" sz="1543" b="1" dirty="0">
                <a:latin typeface="Consolas"/>
                <a:ea typeface="Consolas"/>
                <a:cs typeface="Consolas"/>
                <a:sym typeface="Consolas"/>
              </a:rPr>
              <a:t>(100);</a:t>
            </a:r>
            <a:endParaRPr dirty="0"/>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a:t>
            </a:r>
            <a:r>
              <a:rPr lang="en-US" sz="1543" b="1" dirty="0" err="1">
                <a:latin typeface="Consolas"/>
                <a:ea typeface="Consolas"/>
                <a:cs typeface="Consolas"/>
                <a:sym typeface="Consolas"/>
              </a:rPr>
              <a:t>c.setCenterY</a:t>
            </a:r>
            <a:r>
              <a:rPr lang="en-US" sz="1543" b="1" dirty="0">
                <a:latin typeface="Consolas"/>
                <a:ea typeface="Consolas"/>
                <a:cs typeface="Consolas"/>
                <a:sym typeface="Consolas"/>
              </a:rPr>
              <a:t>(100);</a:t>
            </a:r>
            <a:endParaRPr dirty="0"/>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a:t>
            </a:r>
            <a:r>
              <a:rPr lang="en-US" sz="1543" b="1" dirty="0" err="1">
                <a:latin typeface="Consolas"/>
                <a:ea typeface="Consolas"/>
                <a:cs typeface="Consolas"/>
                <a:sym typeface="Consolas"/>
              </a:rPr>
              <a:t>c.setRadius</a:t>
            </a:r>
            <a:r>
              <a:rPr lang="en-US" sz="1543" b="1" dirty="0">
                <a:latin typeface="Consolas"/>
                <a:ea typeface="Consolas"/>
                <a:cs typeface="Consolas"/>
                <a:sym typeface="Consolas"/>
              </a:rPr>
              <a:t>(50);</a:t>
            </a:r>
            <a:endParaRPr dirty="0"/>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a:t>
            </a:r>
            <a:r>
              <a:rPr lang="en-US" sz="1543" b="1" dirty="0" err="1">
                <a:latin typeface="Consolas"/>
                <a:ea typeface="Consolas"/>
                <a:cs typeface="Consolas"/>
                <a:sym typeface="Consolas"/>
              </a:rPr>
              <a:t>c.setStroke</a:t>
            </a:r>
            <a:r>
              <a:rPr lang="en-US" sz="1543" b="1" dirty="0">
                <a:latin typeface="Consolas"/>
                <a:ea typeface="Consolas"/>
                <a:cs typeface="Consolas"/>
                <a:sym typeface="Consolas"/>
              </a:rPr>
              <a:t>(</a:t>
            </a:r>
            <a:r>
              <a:rPr lang="en-US" sz="1543" b="1" dirty="0" err="1">
                <a:latin typeface="Consolas"/>
                <a:ea typeface="Consolas"/>
                <a:cs typeface="Consolas"/>
                <a:sym typeface="Consolas"/>
              </a:rPr>
              <a:t>Color.BLACK</a:t>
            </a:r>
            <a:r>
              <a:rPr lang="en-US" sz="1543" b="1" dirty="0">
                <a:latin typeface="Consolas"/>
                <a:ea typeface="Consolas"/>
                <a:cs typeface="Consolas"/>
                <a:sym typeface="Consolas"/>
              </a:rPr>
              <a:t>);</a:t>
            </a:r>
            <a:endParaRPr dirty="0"/>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a:t>
            </a:r>
            <a:r>
              <a:rPr lang="en-US" sz="1543" b="1" dirty="0" err="1">
                <a:latin typeface="Consolas"/>
                <a:ea typeface="Consolas"/>
                <a:cs typeface="Consolas"/>
                <a:sym typeface="Consolas"/>
              </a:rPr>
              <a:t>c.setFill</a:t>
            </a:r>
            <a:r>
              <a:rPr lang="en-US" sz="1543" b="1" dirty="0">
                <a:latin typeface="Consolas"/>
                <a:ea typeface="Consolas"/>
                <a:cs typeface="Consolas"/>
                <a:sym typeface="Consolas"/>
              </a:rPr>
              <a:t>(</a:t>
            </a:r>
            <a:r>
              <a:rPr lang="en-US" sz="1543" b="1" dirty="0" err="1">
                <a:latin typeface="Consolas"/>
                <a:ea typeface="Consolas"/>
                <a:cs typeface="Consolas"/>
                <a:sym typeface="Consolas"/>
              </a:rPr>
              <a:t>Color.WHITE</a:t>
            </a:r>
            <a:r>
              <a:rPr lang="en-US" sz="1543" b="1" dirty="0">
                <a:latin typeface="Consolas"/>
                <a:ea typeface="Consolas"/>
                <a:cs typeface="Consolas"/>
                <a:sym typeface="Consolas"/>
              </a:rPr>
              <a:t>);</a:t>
            </a:r>
            <a:endParaRPr dirty="0"/>
          </a:p>
          <a:p>
            <a:pPr marL="0" lvl="0" indent="0" algn="l" rtl="0">
              <a:lnSpc>
                <a:spcPct val="120000"/>
              </a:lnSpc>
              <a:spcBef>
                <a:spcPts val="0"/>
              </a:spcBef>
              <a:spcAft>
                <a:spcPts val="0"/>
              </a:spcAft>
              <a:buSzPts val="1543"/>
              <a:buNone/>
            </a:pPr>
            <a:endParaRPr sz="1543" b="1" dirty="0">
              <a:latin typeface="Consolas"/>
              <a:ea typeface="Consolas"/>
              <a:cs typeface="Consolas"/>
              <a:sym typeface="Consolas"/>
            </a:endParaRPr>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Pane </a:t>
            </a:r>
            <a:r>
              <a:rPr lang="en-US" sz="1543" b="1" dirty="0" err="1">
                <a:latin typeface="Consolas"/>
                <a:ea typeface="Consolas"/>
                <a:cs typeface="Consolas"/>
                <a:sym typeface="Consolas"/>
              </a:rPr>
              <a:t>pane</a:t>
            </a:r>
            <a:r>
              <a:rPr lang="en-US" sz="1543" b="1" dirty="0">
                <a:latin typeface="Consolas"/>
                <a:ea typeface="Consolas"/>
                <a:cs typeface="Consolas"/>
                <a:sym typeface="Consolas"/>
              </a:rPr>
              <a:t> = new Pane();</a:t>
            </a:r>
            <a:endParaRPr dirty="0"/>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a:t>
            </a:r>
            <a:r>
              <a:rPr lang="en-US" sz="1543" b="1" dirty="0" err="1">
                <a:latin typeface="Consolas"/>
                <a:ea typeface="Consolas"/>
                <a:cs typeface="Consolas"/>
                <a:sym typeface="Consolas"/>
              </a:rPr>
              <a:t>pane.getChildren</a:t>
            </a:r>
            <a:r>
              <a:rPr lang="en-US" sz="1543" b="1" dirty="0">
                <a:latin typeface="Consolas"/>
                <a:ea typeface="Consolas"/>
                <a:cs typeface="Consolas"/>
                <a:sym typeface="Consolas"/>
              </a:rPr>
              <a:t>().add(c);</a:t>
            </a:r>
            <a:endParaRPr dirty="0"/>
          </a:p>
          <a:p>
            <a:pPr marL="0" lvl="0" indent="0" algn="l" rtl="0">
              <a:lnSpc>
                <a:spcPct val="120000"/>
              </a:lnSpc>
              <a:spcBef>
                <a:spcPts val="0"/>
              </a:spcBef>
              <a:spcAft>
                <a:spcPts val="0"/>
              </a:spcAft>
              <a:buSzPts val="1543"/>
              <a:buNone/>
            </a:pPr>
            <a:endParaRPr sz="1543" b="1" dirty="0">
              <a:latin typeface="Consolas"/>
              <a:ea typeface="Consolas"/>
              <a:cs typeface="Consolas"/>
              <a:sym typeface="Consolas"/>
            </a:endParaRPr>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Scene </a:t>
            </a:r>
            <a:r>
              <a:rPr lang="en-US" sz="1543" b="1" dirty="0" err="1">
                <a:latin typeface="Consolas"/>
                <a:ea typeface="Consolas"/>
                <a:cs typeface="Consolas"/>
                <a:sym typeface="Consolas"/>
              </a:rPr>
              <a:t>scene</a:t>
            </a:r>
            <a:r>
              <a:rPr lang="en-US" sz="1543" b="1" dirty="0">
                <a:latin typeface="Consolas"/>
                <a:ea typeface="Consolas"/>
                <a:cs typeface="Consolas"/>
                <a:sym typeface="Consolas"/>
              </a:rPr>
              <a:t> = new Scene(</a:t>
            </a:r>
            <a:endParaRPr dirty="0"/>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pane, 200, 200);</a:t>
            </a:r>
            <a:endParaRPr dirty="0"/>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a:t>
            </a:r>
            <a:r>
              <a:rPr lang="en-US" sz="1543" b="1" dirty="0" err="1">
                <a:latin typeface="Consolas"/>
                <a:ea typeface="Consolas"/>
                <a:cs typeface="Consolas"/>
                <a:sym typeface="Consolas"/>
              </a:rPr>
              <a:t>primaryStage.setTitle</a:t>
            </a:r>
            <a:r>
              <a:rPr lang="en-US" sz="1543" b="1" dirty="0">
                <a:latin typeface="Consolas"/>
                <a:ea typeface="Consolas"/>
                <a:cs typeface="Consolas"/>
                <a:sym typeface="Consolas"/>
              </a:rPr>
              <a:t>("Circle!");</a:t>
            </a:r>
            <a:endParaRPr dirty="0"/>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a:t>
            </a:r>
            <a:r>
              <a:rPr lang="en-US" sz="1543" b="1" dirty="0" err="1">
                <a:latin typeface="Consolas"/>
                <a:ea typeface="Consolas"/>
                <a:cs typeface="Consolas"/>
                <a:sym typeface="Consolas"/>
              </a:rPr>
              <a:t>primaryStage.setScene</a:t>
            </a:r>
            <a:r>
              <a:rPr lang="en-US" sz="1543" b="1" dirty="0">
                <a:latin typeface="Consolas"/>
                <a:ea typeface="Consolas"/>
                <a:cs typeface="Consolas"/>
                <a:sym typeface="Consolas"/>
              </a:rPr>
              <a:t>(scene);</a:t>
            </a:r>
            <a:endParaRPr dirty="0"/>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	</a:t>
            </a:r>
            <a:r>
              <a:rPr lang="en-US" sz="1543" b="1" dirty="0" err="1">
                <a:latin typeface="Consolas"/>
                <a:ea typeface="Consolas"/>
                <a:cs typeface="Consolas"/>
                <a:sym typeface="Consolas"/>
              </a:rPr>
              <a:t>primaryStage.show</a:t>
            </a:r>
            <a:r>
              <a:rPr lang="en-US" sz="1543" b="1" dirty="0">
                <a:latin typeface="Consolas"/>
                <a:ea typeface="Consolas"/>
                <a:cs typeface="Consolas"/>
                <a:sym typeface="Consolas"/>
              </a:rPr>
              <a:t>();</a:t>
            </a:r>
            <a:endParaRPr dirty="0"/>
          </a:p>
          <a:p>
            <a:pPr marL="0" lvl="0" indent="0" algn="l" rtl="0">
              <a:lnSpc>
                <a:spcPct val="120000"/>
              </a:lnSpc>
              <a:spcBef>
                <a:spcPts val="0"/>
              </a:spcBef>
              <a:spcAft>
                <a:spcPts val="0"/>
              </a:spcAft>
              <a:buSzPts val="1543"/>
              <a:buNone/>
            </a:pPr>
            <a:r>
              <a:rPr lang="en-US" sz="1543" b="1" dirty="0">
                <a:latin typeface="Consolas"/>
                <a:ea typeface="Consolas"/>
                <a:cs typeface="Consolas"/>
                <a:sym typeface="Consolas"/>
              </a:rPr>
              <a:t>}</a:t>
            </a:r>
            <a:endParaRPr sz="1543" b="1" dirty="0">
              <a:latin typeface="Consolas"/>
              <a:ea typeface="Consolas"/>
              <a:cs typeface="Consolas"/>
              <a:sym typeface="Consolas"/>
            </a:endParaRPr>
          </a:p>
        </p:txBody>
      </p:sp>
      <p:pic>
        <p:nvPicPr>
          <p:cNvPr id="239" name="Google Shape;239;p16"/>
          <p:cNvPicPr preferRelativeResize="0">
            <a:picLocks noGrp="1"/>
          </p:cNvPicPr>
          <p:nvPr>
            <p:ph type="body" idx="2"/>
          </p:nvPr>
        </p:nvPicPr>
        <p:blipFill rotWithShape="1">
          <a:blip r:embed="rId3">
            <a:alphaModFix/>
          </a:blip>
          <a:srcRect/>
          <a:stretch/>
        </p:blipFill>
        <p:spPr>
          <a:xfrm>
            <a:off x="5124308" y="1583436"/>
            <a:ext cx="4451809" cy="49860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big missing piece: interaction</a:t>
            </a:r>
          </a:p>
        </p:txBody>
      </p:sp>
      <p:sp>
        <p:nvSpPr>
          <p:cNvPr id="3" name="Content Placeholder 2"/>
          <p:cNvSpPr>
            <a:spLocks noGrp="1"/>
          </p:cNvSpPr>
          <p:nvPr>
            <p:ph idx="4294967295"/>
          </p:nvPr>
        </p:nvSpPr>
        <p:spPr>
          <a:xfrm>
            <a:off x="504507" y="1409292"/>
            <a:ext cx="9071610" cy="5343668"/>
          </a:xfrm>
          <a:prstGeom prst="rect">
            <a:avLst/>
          </a:prstGeom>
        </p:spPr>
        <p:txBody>
          <a:bodyPr>
            <a:normAutofit/>
          </a:bodyPr>
          <a:lstStyle/>
          <a:p>
            <a:r>
              <a:rPr lang="en-US" dirty="0"/>
              <a:t>To have a GUI interact with a user, we have elements respond to user actions, or </a:t>
            </a:r>
            <a:r>
              <a:rPr lang="en-US" b="1" dirty="0"/>
              <a:t>event-driven programming</a:t>
            </a:r>
            <a:endParaRPr lang="en-US" dirty="0"/>
          </a:p>
        </p:txBody>
      </p:sp>
    </p:spTree>
    <p:extLst>
      <p:ext uri="{BB962C8B-B14F-4D97-AF65-F5344CB8AC3E}">
        <p14:creationId xmlns:p14="http://schemas.microsoft.com/office/powerpoint/2010/main" val="3444650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Big Picture</a:t>
            </a:r>
          </a:p>
        </p:txBody>
      </p:sp>
      <p:sp>
        <p:nvSpPr>
          <p:cNvPr id="3" name="Content Placeholder 2"/>
          <p:cNvSpPr>
            <a:spLocks noGrp="1"/>
          </p:cNvSpPr>
          <p:nvPr>
            <p:ph idx="4294967295"/>
          </p:nvPr>
        </p:nvSpPr>
        <p:spPr>
          <a:xfrm>
            <a:off x="504507" y="1409292"/>
            <a:ext cx="9071610" cy="5343668"/>
          </a:xfrm>
          <a:prstGeom prst="rect">
            <a:avLst/>
          </a:prstGeom>
        </p:spPr>
        <p:txBody>
          <a:bodyPr>
            <a:normAutofit/>
          </a:bodyPr>
          <a:lstStyle/>
          <a:p>
            <a:r>
              <a:rPr lang="en-US" dirty="0"/>
              <a:t>When GUI elements want to implement event-driven programming, they will offer ways to "handle" an event via a class that implements an interface</a:t>
            </a:r>
          </a:p>
          <a:p>
            <a:r>
              <a:rPr lang="en-US" dirty="0"/>
              <a:t>Typical sequence:</a:t>
            </a:r>
          </a:p>
          <a:p>
            <a:pPr marL="1070940" lvl="1" indent="-566968">
              <a:buFont typeface="+mj-lt"/>
              <a:buAutoNum type="arabicPeriod"/>
            </a:pPr>
            <a:r>
              <a:rPr lang="en-US" dirty="0"/>
              <a:t>Create GUI</a:t>
            </a:r>
          </a:p>
          <a:p>
            <a:pPr marL="1070940" lvl="1" indent="-566968">
              <a:buFont typeface="+mj-lt"/>
              <a:buAutoNum type="arabicPeriod"/>
            </a:pPr>
            <a:r>
              <a:rPr lang="en-US" dirty="0"/>
              <a:t>"Register" a class to handle event(s), sometimes referred to as a "listener"</a:t>
            </a:r>
          </a:p>
          <a:p>
            <a:pPr marL="1070940" lvl="1" indent="-566968">
              <a:buFont typeface="+mj-lt"/>
              <a:buAutoNum type="arabicPeriod"/>
            </a:pPr>
            <a:r>
              <a:rPr lang="en-US" dirty="0"/>
              <a:t>Implement handling code in the listener</a:t>
            </a:r>
          </a:p>
        </p:txBody>
      </p:sp>
    </p:spTree>
    <p:extLst>
      <p:ext uri="{BB962C8B-B14F-4D97-AF65-F5344CB8AC3E}">
        <p14:creationId xmlns:p14="http://schemas.microsoft.com/office/powerpoint/2010/main" val="1730773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Simple Example (1)</a:t>
            </a:r>
          </a:p>
        </p:txBody>
      </p:sp>
      <p:sp>
        <p:nvSpPr>
          <p:cNvPr id="3" name="Content Placeholder 2"/>
          <p:cNvSpPr>
            <a:spLocks noGrp="1"/>
          </p:cNvSpPr>
          <p:nvPr>
            <p:ph sz="half" idx="1"/>
          </p:nvPr>
        </p:nvSpPr>
        <p:spPr>
          <a:xfrm>
            <a:off x="207036" y="1387632"/>
            <a:ext cx="4452276" cy="5353063"/>
          </a:xfrm>
        </p:spPr>
        <p:txBody>
          <a:bodyPr>
            <a:normAutofit/>
          </a:bodyPr>
          <a:lstStyle/>
          <a:p>
            <a:pPr marL="566968" indent="-566968">
              <a:buFont typeface="+mj-lt"/>
              <a:buAutoNum type="arabicPeriod"/>
            </a:pPr>
            <a:r>
              <a:rPr lang="en-US" dirty="0"/>
              <a:t>Make a new JavaFX project</a:t>
            </a:r>
          </a:p>
          <a:p>
            <a:pPr marL="566968" indent="-566968">
              <a:buFont typeface="+mj-lt"/>
              <a:buAutoNum type="arabicPeriod"/>
            </a:pPr>
            <a:r>
              <a:rPr lang="en-US" dirty="0"/>
              <a:t>Create a GUI with three buttons</a:t>
            </a:r>
          </a:p>
        </p:txBody>
      </p:sp>
      <p:sp>
        <p:nvSpPr>
          <p:cNvPr id="7" name="Content Placeholder 6"/>
          <p:cNvSpPr>
            <a:spLocks noGrp="1"/>
          </p:cNvSpPr>
          <p:nvPr>
            <p:ph sz="half" idx="2"/>
          </p:nvPr>
        </p:nvSpPr>
        <p:spPr>
          <a:xfrm>
            <a:off x="2306640" y="4064163"/>
            <a:ext cx="7180659" cy="5353063"/>
          </a:xfrm>
        </p:spPr>
        <p:txBody>
          <a:bodyPr>
            <a:normAutofit/>
          </a:bodyPr>
          <a:lstStyle/>
          <a:p>
            <a:pPr marL="0" indent="0">
              <a:lnSpc>
                <a:spcPct val="100000"/>
              </a:lnSpc>
              <a:spcAft>
                <a:spcPts val="0"/>
              </a:spcAft>
              <a:buNone/>
            </a:pPr>
            <a:r>
              <a:rPr lang="en-US" sz="1600" b="1" dirty="0">
                <a:latin typeface="Consolas" charset="0"/>
                <a:ea typeface="Consolas" charset="0"/>
                <a:cs typeface="Consolas" charset="0"/>
              </a:rPr>
              <a:t>final </a:t>
            </a:r>
            <a:r>
              <a:rPr lang="en-US" sz="1600" b="1" dirty="0" err="1">
                <a:latin typeface="Consolas" charset="0"/>
                <a:ea typeface="Consolas" charset="0"/>
                <a:cs typeface="Consolas" charset="0"/>
              </a:rPr>
              <a:t>HBox</a:t>
            </a:r>
            <a:r>
              <a:rPr lang="en-US" sz="1600" b="1" dirty="0">
                <a:latin typeface="Consolas" charset="0"/>
                <a:ea typeface="Consolas" charset="0"/>
                <a:cs typeface="Consolas" charset="0"/>
              </a:rPr>
              <a:t> pane = new </a:t>
            </a:r>
            <a:r>
              <a:rPr lang="en-US" sz="1600" b="1" dirty="0" err="1">
                <a:latin typeface="Consolas" charset="0"/>
                <a:ea typeface="Consolas" charset="0"/>
                <a:cs typeface="Consolas" charset="0"/>
              </a:rPr>
              <a:t>HBox</a:t>
            </a:r>
            <a:r>
              <a:rPr lang="en-US" sz="1600" b="1" dirty="0">
                <a:latin typeface="Consolas" charset="0"/>
                <a:ea typeface="Consolas" charset="0"/>
                <a:cs typeface="Consolas" charset="0"/>
              </a:rPr>
              <a:t>(100); </a:t>
            </a:r>
          </a:p>
          <a:p>
            <a:pPr marL="0" indent="0">
              <a:lnSpc>
                <a:spcPct val="100000"/>
              </a:lnSpc>
              <a:spcAft>
                <a:spcPts val="0"/>
              </a:spcAft>
              <a:buNone/>
            </a:pPr>
            <a:r>
              <a:rPr lang="en-US" sz="1600" b="1" dirty="0" err="1">
                <a:latin typeface="Consolas" charset="0"/>
                <a:ea typeface="Consolas" charset="0"/>
                <a:cs typeface="Consolas" charset="0"/>
              </a:rPr>
              <a:t>pane.setAlignment</a:t>
            </a:r>
            <a:r>
              <a:rPr lang="en-US" sz="1600" b="1" dirty="0">
                <a:latin typeface="Consolas" charset="0"/>
                <a:ea typeface="Consolas" charset="0"/>
                <a:cs typeface="Consolas" charset="0"/>
              </a:rPr>
              <a:t>(</a:t>
            </a:r>
            <a:r>
              <a:rPr lang="en-US" sz="1600" b="1" dirty="0" err="1">
                <a:latin typeface="Consolas" charset="0"/>
                <a:ea typeface="Consolas" charset="0"/>
                <a:cs typeface="Consolas" charset="0"/>
              </a:rPr>
              <a:t>Pos.CENTER</a:t>
            </a:r>
            <a:r>
              <a:rPr lang="en-US" sz="1600" b="1" dirty="0">
                <a:latin typeface="Consolas" charset="0"/>
                <a:ea typeface="Consolas" charset="0"/>
                <a:cs typeface="Consolas" charset="0"/>
              </a:rPr>
              <a:t>);</a:t>
            </a:r>
          </a:p>
          <a:p>
            <a:pPr marL="0" indent="0">
              <a:lnSpc>
                <a:spcPct val="100000"/>
              </a:lnSpc>
              <a:spcAft>
                <a:spcPts val="0"/>
              </a:spcAft>
              <a:buNone/>
            </a:pPr>
            <a:r>
              <a:rPr lang="en-US" sz="1600" b="1" dirty="0">
                <a:latin typeface="Consolas" charset="0"/>
                <a:ea typeface="Consolas" charset="0"/>
                <a:cs typeface="Consolas" charset="0"/>
              </a:rPr>
              <a:t>final Button </a:t>
            </a:r>
            <a:r>
              <a:rPr lang="en-US" sz="1600" b="1" dirty="0" err="1">
                <a:latin typeface="Consolas" charset="0"/>
                <a:ea typeface="Consolas" charset="0"/>
                <a:cs typeface="Consolas" charset="0"/>
              </a:rPr>
              <a:t>btnP</a:t>
            </a:r>
            <a:r>
              <a:rPr lang="en-US" sz="1600" b="1" dirty="0">
                <a:latin typeface="Consolas" charset="0"/>
                <a:ea typeface="Consolas" charset="0"/>
                <a:cs typeface="Consolas" charset="0"/>
              </a:rPr>
              <a:t> = new Button("Papa");</a:t>
            </a:r>
          </a:p>
          <a:p>
            <a:pPr marL="0" indent="0">
              <a:lnSpc>
                <a:spcPct val="100000"/>
              </a:lnSpc>
              <a:spcAft>
                <a:spcPts val="0"/>
              </a:spcAft>
              <a:buNone/>
            </a:pPr>
            <a:r>
              <a:rPr lang="en-US" sz="1600" b="1" dirty="0">
                <a:latin typeface="Consolas" charset="0"/>
                <a:ea typeface="Consolas" charset="0"/>
                <a:cs typeface="Consolas" charset="0"/>
              </a:rPr>
              <a:t>final Button </a:t>
            </a:r>
            <a:r>
              <a:rPr lang="en-US" sz="1600" b="1" dirty="0" err="1">
                <a:latin typeface="Consolas" charset="0"/>
                <a:ea typeface="Consolas" charset="0"/>
                <a:cs typeface="Consolas" charset="0"/>
              </a:rPr>
              <a:t>btnM</a:t>
            </a:r>
            <a:r>
              <a:rPr lang="en-US" sz="1600" b="1" dirty="0">
                <a:latin typeface="Consolas" charset="0"/>
                <a:ea typeface="Consolas" charset="0"/>
                <a:cs typeface="Consolas" charset="0"/>
              </a:rPr>
              <a:t> = new Button("Mama");</a:t>
            </a:r>
          </a:p>
          <a:p>
            <a:pPr marL="0" indent="0">
              <a:lnSpc>
                <a:spcPct val="100000"/>
              </a:lnSpc>
              <a:spcAft>
                <a:spcPts val="0"/>
              </a:spcAft>
              <a:buNone/>
            </a:pPr>
            <a:r>
              <a:rPr lang="en-US" sz="1600" b="1" dirty="0">
                <a:latin typeface="Consolas" charset="0"/>
                <a:ea typeface="Consolas" charset="0"/>
                <a:cs typeface="Consolas" charset="0"/>
              </a:rPr>
              <a:t>final Button </a:t>
            </a:r>
            <a:r>
              <a:rPr lang="en-US" sz="1600" b="1" dirty="0" err="1">
                <a:latin typeface="Consolas" charset="0"/>
                <a:ea typeface="Consolas" charset="0"/>
                <a:cs typeface="Consolas" charset="0"/>
              </a:rPr>
              <a:t>btnB</a:t>
            </a:r>
            <a:r>
              <a:rPr lang="en-US" sz="1600" b="1" dirty="0">
                <a:latin typeface="Consolas" charset="0"/>
                <a:ea typeface="Consolas" charset="0"/>
                <a:cs typeface="Consolas" charset="0"/>
              </a:rPr>
              <a:t> = new Button("Baby");</a:t>
            </a:r>
          </a:p>
          <a:p>
            <a:pPr marL="0" indent="0">
              <a:lnSpc>
                <a:spcPct val="100000"/>
              </a:lnSpc>
              <a:spcAft>
                <a:spcPts val="0"/>
              </a:spcAft>
              <a:buNone/>
            </a:pPr>
            <a:endParaRPr lang="en-US" sz="1600" b="1" dirty="0">
              <a:latin typeface="Consolas" charset="0"/>
              <a:ea typeface="Consolas" charset="0"/>
              <a:cs typeface="Consolas" charset="0"/>
            </a:endParaRPr>
          </a:p>
          <a:p>
            <a:pPr marL="0" indent="0">
              <a:lnSpc>
                <a:spcPct val="100000"/>
              </a:lnSpc>
              <a:spcAft>
                <a:spcPts val="0"/>
              </a:spcAft>
              <a:buNone/>
            </a:pPr>
            <a:r>
              <a:rPr lang="en-US" sz="1600" b="1" dirty="0" err="1">
                <a:latin typeface="Consolas" charset="0"/>
                <a:ea typeface="Consolas" charset="0"/>
                <a:cs typeface="Consolas" charset="0"/>
              </a:rPr>
              <a:t>pane.getChildren</a:t>
            </a:r>
            <a:r>
              <a:rPr lang="en-US" sz="1600" b="1" dirty="0">
                <a:latin typeface="Consolas" charset="0"/>
                <a:ea typeface="Consolas" charset="0"/>
                <a:cs typeface="Consolas" charset="0"/>
              </a:rPr>
              <a:t>().</a:t>
            </a:r>
            <a:r>
              <a:rPr lang="en-US" sz="1600" b="1" dirty="0" err="1">
                <a:latin typeface="Consolas" charset="0"/>
                <a:ea typeface="Consolas" charset="0"/>
                <a:cs typeface="Consolas" charset="0"/>
              </a:rPr>
              <a:t>addAll</a:t>
            </a:r>
            <a:r>
              <a:rPr lang="en-US" sz="1600" b="1" dirty="0">
                <a:latin typeface="Consolas" charset="0"/>
                <a:ea typeface="Consolas" charset="0"/>
                <a:cs typeface="Consolas" charset="0"/>
              </a:rPr>
              <a:t>(</a:t>
            </a:r>
            <a:r>
              <a:rPr lang="en-US" sz="1600" b="1" dirty="0" err="1">
                <a:latin typeface="Consolas" charset="0"/>
                <a:ea typeface="Consolas" charset="0"/>
                <a:cs typeface="Consolas" charset="0"/>
              </a:rPr>
              <a:t>btnP</a:t>
            </a:r>
            <a:r>
              <a:rPr lang="en-US" sz="1600" b="1" dirty="0">
                <a:latin typeface="Consolas" charset="0"/>
                <a:ea typeface="Consolas" charset="0"/>
                <a:cs typeface="Consolas" charset="0"/>
              </a:rPr>
              <a:t>, </a:t>
            </a:r>
            <a:r>
              <a:rPr lang="en-US" sz="1600" b="1" dirty="0" err="1">
                <a:latin typeface="Consolas" charset="0"/>
                <a:ea typeface="Consolas" charset="0"/>
                <a:cs typeface="Consolas" charset="0"/>
              </a:rPr>
              <a:t>btnM</a:t>
            </a:r>
            <a:r>
              <a:rPr lang="en-US" sz="1600" b="1" dirty="0">
                <a:latin typeface="Consolas" charset="0"/>
                <a:ea typeface="Consolas" charset="0"/>
                <a:cs typeface="Consolas" charset="0"/>
              </a:rPr>
              <a:t>, </a:t>
            </a:r>
            <a:r>
              <a:rPr lang="en-US" sz="1600" b="1" dirty="0" err="1">
                <a:latin typeface="Consolas" charset="0"/>
                <a:ea typeface="Consolas" charset="0"/>
                <a:cs typeface="Consolas" charset="0"/>
              </a:rPr>
              <a:t>btnB</a:t>
            </a:r>
            <a:r>
              <a:rPr lang="en-US" sz="1600" b="1" dirty="0">
                <a:latin typeface="Consolas" charset="0"/>
                <a:ea typeface="Consolas" charset="0"/>
                <a:cs typeface="Consolas" charset="0"/>
              </a:rPr>
              <a:t>);</a:t>
            </a:r>
          </a:p>
          <a:p>
            <a:pPr marL="0" indent="0">
              <a:lnSpc>
                <a:spcPct val="100000"/>
              </a:lnSpc>
              <a:spcAft>
                <a:spcPts val="0"/>
              </a:spcAft>
              <a:buNone/>
            </a:pPr>
            <a:endParaRPr lang="en-US" sz="1600" b="1" dirty="0">
              <a:latin typeface="Consolas" charset="0"/>
              <a:ea typeface="Consolas" charset="0"/>
              <a:cs typeface="Consolas" charset="0"/>
            </a:endParaRPr>
          </a:p>
          <a:p>
            <a:pPr marL="0" indent="0">
              <a:lnSpc>
                <a:spcPct val="100000"/>
              </a:lnSpc>
              <a:spcAft>
                <a:spcPts val="0"/>
              </a:spcAft>
              <a:buNone/>
            </a:pPr>
            <a:r>
              <a:rPr lang="en-US" sz="1600" b="1" dirty="0" err="1">
                <a:latin typeface="Consolas" charset="0"/>
                <a:ea typeface="Consolas" charset="0"/>
                <a:cs typeface="Consolas" charset="0"/>
              </a:rPr>
              <a:t>primaryStage.setTitle</a:t>
            </a:r>
            <a:r>
              <a:rPr lang="en-US" sz="1600" b="1" dirty="0">
                <a:latin typeface="Consolas" charset="0"/>
                <a:ea typeface="Consolas" charset="0"/>
                <a:cs typeface="Consolas" charset="0"/>
              </a:rPr>
              <a:t>("Goldilocks and the Three Buttons");</a:t>
            </a:r>
          </a:p>
          <a:p>
            <a:pPr marL="0" indent="0">
              <a:lnSpc>
                <a:spcPct val="100000"/>
              </a:lnSpc>
              <a:spcAft>
                <a:spcPts val="0"/>
              </a:spcAft>
              <a:buNone/>
            </a:pPr>
            <a:r>
              <a:rPr lang="en-US" sz="1600" b="1" dirty="0" err="1">
                <a:latin typeface="Consolas" charset="0"/>
                <a:ea typeface="Consolas" charset="0"/>
                <a:cs typeface="Consolas" charset="0"/>
              </a:rPr>
              <a:t>primaryStage.setScene</a:t>
            </a:r>
            <a:r>
              <a:rPr lang="en-US" sz="1600" b="1" dirty="0">
                <a:latin typeface="Consolas" charset="0"/>
                <a:ea typeface="Consolas" charset="0"/>
                <a:cs typeface="Consolas" charset="0"/>
              </a:rPr>
              <a:t>(new Scene(pane));</a:t>
            </a:r>
          </a:p>
          <a:p>
            <a:pPr marL="0" indent="0">
              <a:lnSpc>
                <a:spcPct val="100000"/>
              </a:lnSpc>
              <a:spcAft>
                <a:spcPts val="0"/>
              </a:spcAft>
              <a:buNone/>
            </a:pPr>
            <a:r>
              <a:rPr lang="en-US" sz="1600" b="1" dirty="0" err="1">
                <a:latin typeface="Consolas" charset="0"/>
                <a:ea typeface="Consolas" charset="0"/>
                <a:cs typeface="Consolas" charset="0"/>
              </a:rPr>
              <a:t>primaryStage.show</a:t>
            </a:r>
            <a:r>
              <a:rPr lang="en-US" sz="1600" b="1" dirty="0">
                <a:latin typeface="Consolas" charset="0"/>
                <a:ea typeface="Consolas" charset="0"/>
                <a:cs typeface="Consolas" charset="0"/>
              </a:rPr>
              <a:t>();</a:t>
            </a:r>
          </a:p>
        </p:txBody>
      </p:sp>
      <p:pic>
        <p:nvPicPr>
          <p:cNvPr id="9" name="Picture 8"/>
          <p:cNvPicPr>
            <a:picLocks noChangeAspect="1"/>
          </p:cNvPicPr>
          <p:nvPr/>
        </p:nvPicPr>
        <p:blipFill>
          <a:blip r:embed="rId2"/>
          <a:stretch>
            <a:fillRect/>
          </a:stretch>
        </p:blipFill>
        <p:spPr>
          <a:xfrm>
            <a:off x="4135757" y="2033640"/>
            <a:ext cx="5823750" cy="1595931"/>
          </a:xfrm>
          <a:prstGeom prst="rect">
            <a:avLst/>
          </a:prstGeom>
        </p:spPr>
      </p:pic>
    </p:spTree>
    <p:extLst>
      <p:ext uri="{BB962C8B-B14F-4D97-AF65-F5344CB8AC3E}">
        <p14:creationId xmlns:p14="http://schemas.microsoft.com/office/powerpoint/2010/main" val="1881015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stretch>
            <a:fillRect/>
          </a:stretch>
        </p:blipFill>
        <p:spPr>
          <a:xfrm>
            <a:off x="599070" y="5762437"/>
            <a:ext cx="5954376" cy="1185231"/>
          </a:xfrm>
          <a:prstGeom prst="rect">
            <a:avLst/>
          </a:prstGeom>
        </p:spPr>
      </p:pic>
      <p:sp>
        <p:nvSpPr>
          <p:cNvPr id="2" name="Title 1"/>
          <p:cNvSpPr>
            <a:spLocks noGrp="1"/>
          </p:cNvSpPr>
          <p:nvPr>
            <p:ph type="title"/>
          </p:nvPr>
        </p:nvSpPr>
        <p:spPr/>
        <p:txBody>
          <a:bodyPr>
            <a:normAutofit/>
          </a:bodyPr>
          <a:lstStyle/>
          <a:p>
            <a:r>
              <a:rPr lang="en-US" dirty="0"/>
              <a:t>A Simple Example (2)</a:t>
            </a:r>
          </a:p>
        </p:txBody>
      </p:sp>
      <p:sp>
        <p:nvSpPr>
          <p:cNvPr id="3" name="Content Placeholder 2"/>
          <p:cNvSpPr>
            <a:spLocks noGrp="1"/>
          </p:cNvSpPr>
          <p:nvPr>
            <p:ph sz="half" idx="1"/>
          </p:nvPr>
        </p:nvSpPr>
        <p:spPr>
          <a:xfrm>
            <a:off x="504507" y="1399897"/>
            <a:ext cx="4619801" cy="5353063"/>
          </a:xfrm>
        </p:spPr>
        <p:txBody>
          <a:bodyPr>
            <a:noAutofit/>
          </a:bodyPr>
          <a:lstStyle/>
          <a:p>
            <a:pPr marL="566968" indent="-566968">
              <a:lnSpc>
                <a:spcPct val="120000"/>
              </a:lnSpc>
              <a:spcAft>
                <a:spcPts val="0"/>
              </a:spcAft>
              <a:buFont typeface="+mj-lt"/>
              <a:buAutoNum type="arabicPeriod" startAt="3"/>
            </a:pPr>
            <a:r>
              <a:rPr lang="en-US" sz="2400" dirty="0"/>
              <a:t>Handle event: Any class that implements the appropriate interface can be used, including anonymous inner classes and Lambda’s</a:t>
            </a:r>
          </a:p>
        </p:txBody>
      </p:sp>
      <p:sp>
        <p:nvSpPr>
          <p:cNvPr id="4" name="Content Placeholder 3"/>
          <p:cNvSpPr>
            <a:spLocks noGrp="1"/>
          </p:cNvSpPr>
          <p:nvPr>
            <p:ph sz="half" idx="2"/>
          </p:nvPr>
        </p:nvSpPr>
        <p:spPr>
          <a:xfrm>
            <a:off x="5124308" y="1399895"/>
            <a:ext cx="4604210" cy="4437341"/>
          </a:xfrm>
        </p:spPr>
        <p:txBody>
          <a:bodyPr>
            <a:noAutofit/>
          </a:bodyPr>
          <a:lstStyle/>
          <a:p>
            <a:pPr marL="0" indent="0">
              <a:lnSpc>
                <a:spcPct val="120000"/>
              </a:lnSpc>
              <a:spcAft>
                <a:spcPts val="0"/>
              </a:spcAft>
              <a:buNone/>
            </a:pPr>
            <a:r>
              <a:rPr lang="en-US" sz="1200" b="1" dirty="0">
                <a:latin typeface="Consolas" charset="0"/>
                <a:ea typeface="Consolas" charset="0"/>
                <a:cs typeface="Consolas" charset="0"/>
              </a:rPr>
              <a:t>private static class </a:t>
            </a:r>
            <a:r>
              <a:rPr lang="en-US" sz="1200" b="1" dirty="0" err="1">
                <a:latin typeface="Consolas" charset="0"/>
                <a:ea typeface="Consolas" charset="0"/>
                <a:cs typeface="Consolas" charset="0"/>
              </a:rPr>
              <a:t>JustRight</a:t>
            </a:r>
            <a:r>
              <a:rPr lang="en-US" sz="1200" b="1" dirty="0">
                <a:latin typeface="Consolas" charset="0"/>
                <a:ea typeface="Consolas" charset="0"/>
                <a:cs typeface="Consolas" charset="0"/>
              </a:rPr>
              <a:t> implements </a:t>
            </a:r>
          </a:p>
          <a:p>
            <a:pPr marL="0" indent="0">
              <a:lnSpc>
                <a:spcPct val="120000"/>
              </a:lnSpc>
              <a:spcAft>
                <a:spcPts val="0"/>
              </a:spcAft>
              <a:buNone/>
            </a:pPr>
            <a:r>
              <a:rPr lang="en-US" sz="1200" b="1" dirty="0">
                <a:latin typeface="Consolas" charset="0"/>
                <a:ea typeface="Consolas" charset="0"/>
                <a:cs typeface="Consolas" charset="0"/>
              </a:rPr>
              <a:t>				</a:t>
            </a:r>
            <a:r>
              <a:rPr lang="en-US" sz="1200" b="1" dirty="0" err="1">
                <a:latin typeface="Consolas" charset="0"/>
                <a:ea typeface="Consolas" charset="0"/>
                <a:cs typeface="Consolas" charset="0"/>
              </a:rPr>
              <a:t>EventHandler</a:t>
            </a:r>
            <a:r>
              <a:rPr lang="en-US" sz="1200" b="1" dirty="0">
                <a:latin typeface="Consolas" charset="0"/>
                <a:ea typeface="Consolas" charset="0"/>
                <a:cs typeface="Consolas" charset="0"/>
              </a:rPr>
              <a:t>&lt;</a:t>
            </a:r>
            <a:r>
              <a:rPr lang="en-US" sz="1200" b="1" dirty="0" err="1">
                <a:latin typeface="Consolas" charset="0"/>
                <a:ea typeface="Consolas" charset="0"/>
                <a:cs typeface="Consolas" charset="0"/>
              </a:rPr>
              <a:t>ActionEvent</a:t>
            </a:r>
            <a:r>
              <a:rPr lang="en-US" sz="1200" b="1" dirty="0">
                <a:latin typeface="Consolas" charset="0"/>
                <a:ea typeface="Consolas" charset="0"/>
                <a:cs typeface="Consolas" charset="0"/>
              </a:rPr>
              <a:t>&gt; {</a:t>
            </a:r>
          </a:p>
          <a:p>
            <a:pPr marL="0" indent="0">
              <a:lnSpc>
                <a:spcPct val="120000"/>
              </a:lnSpc>
              <a:spcAft>
                <a:spcPts val="0"/>
              </a:spcAft>
              <a:buNone/>
            </a:pPr>
            <a:r>
              <a:rPr lang="en-US" sz="1200" b="1" dirty="0">
                <a:latin typeface="Consolas" charset="0"/>
                <a:ea typeface="Consolas" charset="0"/>
                <a:cs typeface="Consolas" charset="0"/>
              </a:rPr>
              <a:t>	@Override</a:t>
            </a:r>
          </a:p>
          <a:p>
            <a:pPr marL="0" indent="0">
              <a:lnSpc>
                <a:spcPct val="120000"/>
              </a:lnSpc>
              <a:spcAft>
                <a:spcPts val="0"/>
              </a:spcAft>
              <a:buNone/>
            </a:pPr>
            <a:r>
              <a:rPr lang="en-US" sz="1200" b="1" dirty="0">
                <a:latin typeface="Consolas" charset="0"/>
                <a:ea typeface="Consolas" charset="0"/>
                <a:cs typeface="Consolas" charset="0"/>
              </a:rPr>
              <a:t>	public void handle(</a:t>
            </a:r>
            <a:r>
              <a:rPr lang="en-US" sz="1200" b="1" dirty="0" err="1">
                <a:latin typeface="Consolas" charset="0"/>
                <a:ea typeface="Consolas" charset="0"/>
                <a:cs typeface="Consolas" charset="0"/>
              </a:rPr>
              <a:t>ActionEvent</a:t>
            </a:r>
            <a:r>
              <a:rPr lang="en-US" sz="1200" b="1" dirty="0">
                <a:latin typeface="Consolas" charset="0"/>
                <a:ea typeface="Consolas" charset="0"/>
                <a:cs typeface="Consolas" charset="0"/>
              </a:rPr>
              <a:t> event) {</a:t>
            </a:r>
          </a:p>
          <a:p>
            <a:pPr marL="0" indent="0">
              <a:lnSpc>
                <a:spcPct val="120000"/>
              </a:lnSpc>
              <a:spcAft>
                <a:spcPts val="0"/>
              </a:spcAft>
              <a:buNone/>
            </a:pPr>
            <a:r>
              <a:rPr lang="en-US" sz="1200" b="1" dirty="0">
                <a:latin typeface="Consolas" charset="0"/>
                <a:ea typeface="Consolas" charset="0"/>
                <a:cs typeface="Consolas" charset="0"/>
              </a:rPr>
              <a:t>		</a:t>
            </a:r>
            <a:r>
              <a:rPr lang="en-US" sz="1200" b="1" dirty="0" err="1">
                <a:latin typeface="Consolas" charset="0"/>
                <a:ea typeface="Consolas" charset="0"/>
                <a:cs typeface="Consolas" charset="0"/>
              </a:rPr>
              <a:t>System.out.printf</a:t>
            </a:r>
            <a:r>
              <a:rPr lang="en-US" sz="1200" b="1" dirty="0">
                <a:latin typeface="Consolas" charset="0"/>
                <a:ea typeface="Consolas" charset="0"/>
                <a:cs typeface="Consolas" charset="0"/>
              </a:rPr>
              <a:t>("Just right :)%n");</a:t>
            </a:r>
          </a:p>
          <a:p>
            <a:pPr marL="0" indent="0">
              <a:lnSpc>
                <a:spcPct val="120000"/>
              </a:lnSpc>
              <a:spcAft>
                <a:spcPts val="0"/>
              </a:spcAft>
              <a:buNone/>
            </a:pPr>
            <a:r>
              <a:rPr lang="en-US" sz="1200" b="1" dirty="0">
                <a:latin typeface="Consolas" charset="0"/>
                <a:ea typeface="Consolas" charset="0"/>
                <a:cs typeface="Consolas" charset="0"/>
              </a:rPr>
              <a:t>	}</a:t>
            </a:r>
          </a:p>
          <a:p>
            <a:pPr marL="0" indent="0">
              <a:lnSpc>
                <a:spcPct val="120000"/>
              </a:lnSpc>
              <a:spcAft>
                <a:spcPts val="0"/>
              </a:spcAft>
              <a:buNone/>
            </a:pPr>
            <a:r>
              <a:rPr lang="en-US" sz="1200" b="1" dirty="0">
                <a:latin typeface="Consolas" charset="0"/>
                <a:ea typeface="Consolas" charset="0"/>
                <a:cs typeface="Consolas" charset="0"/>
              </a:rPr>
              <a:t>}</a:t>
            </a:r>
          </a:p>
          <a:p>
            <a:pPr marL="0" indent="0">
              <a:lnSpc>
                <a:spcPct val="120000"/>
              </a:lnSpc>
              <a:spcAft>
                <a:spcPts val="0"/>
              </a:spcAft>
              <a:buNone/>
            </a:pPr>
            <a:endParaRPr lang="en-US" sz="1200" b="1" dirty="0">
              <a:latin typeface="Consolas" charset="0"/>
              <a:ea typeface="Consolas" charset="0"/>
              <a:cs typeface="Consolas" charset="0"/>
            </a:endParaRPr>
          </a:p>
          <a:p>
            <a:pPr marL="0" indent="0">
              <a:lnSpc>
                <a:spcPct val="120000"/>
              </a:lnSpc>
              <a:spcAft>
                <a:spcPts val="0"/>
              </a:spcAft>
              <a:buNone/>
            </a:pPr>
            <a:r>
              <a:rPr lang="en-US" sz="1200" b="1" dirty="0" err="1">
                <a:latin typeface="Consolas" charset="0"/>
                <a:ea typeface="Consolas" charset="0"/>
                <a:cs typeface="Consolas" charset="0"/>
              </a:rPr>
              <a:t>btnP.setOnAction</a:t>
            </a:r>
            <a:r>
              <a:rPr lang="en-US" sz="1200" b="1" dirty="0">
                <a:latin typeface="Consolas" charset="0"/>
                <a:ea typeface="Consolas" charset="0"/>
                <a:cs typeface="Consolas" charset="0"/>
              </a:rPr>
              <a:t>(new </a:t>
            </a:r>
            <a:r>
              <a:rPr lang="en-US" sz="1200" b="1" dirty="0" err="1">
                <a:latin typeface="Consolas" charset="0"/>
                <a:ea typeface="Consolas" charset="0"/>
                <a:cs typeface="Consolas" charset="0"/>
              </a:rPr>
              <a:t>EventHandler</a:t>
            </a:r>
            <a:r>
              <a:rPr lang="en-US" sz="1200" b="1" dirty="0">
                <a:latin typeface="Consolas" charset="0"/>
                <a:ea typeface="Consolas" charset="0"/>
                <a:cs typeface="Consolas" charset="0"/>
              </a:rPr>
              <a:t>&lt;</a:t>
            </a:r>
            <a:r>
              <a:rPr lang="en-US" sz="1200" b="1" dirty="0" err="1">
                <a:latin typeface="Consolas" charset="0"/>
                <a:ea typeface="Consolas" charset="0"/>
                <a:cs typeface="Consolas" charset="0"/>
              </a:rPr>
              <a:t>ActionEvent</a:t>
            </a:r>
            <a:r>
              <a:rPr lang="en-US" sz="1200" b="1" dirty="0">
                <a:latin typeface="Consolas" charset="0"/>
                <a:ea typeface="Consolas" charset="0"/>
                <a:cs typeface="Consolas" charset="0"/>
              </a:rPr>
              <a:t>&gt;() {</a:t>
            </a:r>
          </a:p>
          <a:p>
            <a:pPr marL="0" indent="0">
              <a:lnSpc>
                <a:spcPct val="120000"/>
              </a:lnSpc>
              <a:spcAft>
                <a:spcPts val="0"/>
              </a:spcAft>
              <a:buNone/>
            </a:pPr>
            <a:r>
              <a:rPr lang="en-US" sz="1200" b="1" dirty="0">
                <a:latin typeface="Consolas" charset="0"/>
                <a:ea typeface="Consolas" charset="0"/>
                <a:cs typeface="Consolas" charset="0"/>
              </a:rPr>
              <a:t>	@Override</a:t>
            </a:r>
          </a:p>
          <a:p>
            <a:pPr marL="0" indent="0">
              <a:lnSpc>
                <a:spcPct val="120000"/>
              </a:lnSpc>
              <a:spcAft>
                <a:spcPts val="0"/>
              </a:spcAft>
              <a:buNone/>
            </a:pPr>
            <a:r>
              <a:rPr lang="en-US" sz="1200" b="1" dirty="0">
                <a:latin typeface="Consolas" charset="0"/>
                <a:ea typeface="Consolas" charset="0"/>
                <a:cs typeface="Consolas" charset="0"/>
              </a:rPr>
              <a:t>	public void handle(</a:t>
            </a:r>
            <a:r>
              <a:rPr lang="en-US" sz="1200" b="1" dirty="0" err="1">
                <a:latin typeface="Consolas" charset="0"/>
                <a:ea typeface="Consolas" charset="0"/>
                <a:cs typeface="Consolas" charset="0"/>
              </a:rPr>
              <a:t>ActionEvent</a:t>
            </a:r>
            <a:r>
              <a:rPr lang="en-US" sz="1200" b="1" dirty="0">
                <a:latin typeface="Consolas" charset="0"/>
                <a:ea typeface="Consolas" charset="0"/>
                <a:cs typeface="Consolas" charset="0"/>
              </a:rPr>
              <a:t> event) {</a:t>
            </a:r>
          </a:p>
          <a:p>
            <a:pPr marL="0" indent="0">
              <a:lnSpc>
                <a:spcPct val="120000"/>
              </a:lnSpc>
              <a:spcAft>
                <a:spcPts val="0"/>
              </a:spcAft>
              <a:buNone/>
            </a:pPr>
            <a:r>
              <a:rPr lang="en-US" sz="1200" b="1" dirty="0">
                <a:latin typeface="Consolas" charset="0"/>
                <a:ea typeface="Consolas" charset="0"/>
                <a:cs typeface="Consolas" charset="0"/>
              </a:rPr>
              <a:t>		</a:t>
            </a:r>
            <a:r>
              <a:rPr lang="en-US" sz="1200" b="1" dirty="0" err="1">
                <a:latin typeface="Consolas" charset="0"/>
                <a:ea typeface="Consolas" charset="0"/>
                <a:cs typeface="Consolas" charset="0"/>
              </a:rPr>
              <a:t>System.out.printf</a:t>
            </a:r>
            <a:r>
              <a:rPr lang="en-US" sz="1200" b="1" dirty="0">
                <a:latin typeface="Consolas" charset="0"/>
                <a:ea typeface="Consolas" charset="0"/>
                <a:cs typeface="Consolas" charset="0"/>
              </a:rPr>
              <a:t>("Too Hot!%n");</a:t>
            </a:r>
          </a:p>
          <a:p>
            <a:pPr marL="0" indent="0">
              <a:lnSpc>
                <a:spcPct val="120000"/>
              </a:lnSpc>
              <a:spcAft>
                <a:spcPts val="0"/>
              </a:spcAft>
              <a:buNone/>
            </a:pPr>
            <a:r>
              <a:rPr lang="en-US" sz="1200" b="1" dirty="0">
                <a:latin typeface="Consolas" charset="0"/>
                <a:ea typeface="Consolas" charset="0"/>
                <a:cs typeface="Consolas" charset="0"/>
              </a:rPr>
              <a:t>	}</a:t>
            </a:r>
          </a:p>
          <a:p>
            <a:pPr marL="0" indent="0">
              <a:lnSpc>
                <a:spcPct val="120000"/>
              </a:lnSpc>
              <a:spcAft>
                <a:spcPts val="0"/>
              </a:spcAft>
              <a:buNone/>
            </a:pPr>
            <a:r>
              <a:rPr lang="en-US" sz="1200" b="1" dirty="0">
                <a:latin typeface="Consolas" charset="0"/>
                <a:ea typeface="Consolas" charset="0"/>
                <a:cs typeface="Consolas" charset="0"/>
              </a:rPr>
              <a:t>});</a:t>
            </a:r>
          </a:p>
          <a:p>
            <a:pPr marL="0" indent="0">
              <a:lnSpc>
                <a:spcPct val="120000"/>
              </a:lnSpc>
              <a:spcAft>
                <a:spcPts val="0"/>
              </a:spcAft>
              <a:buNone/>
            </a:pPr>
            <a:endParaRPr lang="en-US" sz="1200" b="1" dirty="0">
              <a:latin typeface="Consolas" charset="0"/>
              <a:ea typeface="Consolas" charset="0"/>
              <a:cs typeface="Consolas" charset="0"/>
            </a:endParaRPr>
          </a:p>
          <a:p>
            <a:pPr marL="0" indent="0">
              <a:lnSpc>
                <a:spcPct val="120000"/>
              </a:lnSpc>
              <a:spcAft>
                <a:spcPts val="0"/>
              </a:spcAft>
              <a:buNone/>
            </a:pPr>
            <a:r>
              <a:rPr lang="en-US" sz="1200" b="1" dirty="0">
                <a:latin typeface="Consolas" charset="0"/>
                <a:ea typeface="Consolas" charset="0"/>
                <a:cs typeface="Consolas" charset="0"/>
              </a:rPr>
              <a:t>btnM.setOnAction(e-&gt;{	</a:t>
            </a:r>
            <a:r>
              <a:rPr lang="en-US" sz="1200" b="1" dirty="0" err="1">
                <a:latin typeface="Consolas" charset="0"/>
                <a:ea typeface="Consolas" charset="0"/>
                <a:cs typeface="Consolas" charset="0"/>
              </a:rPr>
              <a:t>System.out.printf</a:t>
            </a:r>
            <a:r>
              <a:rPr lang="en-US" sz="1200" b="1" dirty="0">
                <a:latin typeface="Consolas" charset="0"/>
                <a:ea typeface="Consolas" charset="0"/>
                <a:cs typeface="Consolas" charset="0"/>
              </a:rPr>
              <a:t>("Too Cold!%n");</a:t>
            </a:r>
          </a:p>
          <a:p>
            <a:pPr marL="0" indent="0">
              <a:lnSpc>
                <a:spcPct val="120000"/>
              </a:lnSpc>
              <a:spcAft>
                <a:spcPts val="0"/>
              </a:spcAft>
              <a:buNone/>
            </a:pPr>
            <a:r>
              <a:rPr lang="en-US" sz="1200" b="1" dirty="0">
                <a:latin typeface="Consolas" charset="0"/>
                <a:ea typeface="Consolas" charset="0"/>
                <a:cs typeface="Consolas" charset="0"/>
              </a:rPr>
              <a:t>});</a:t>
            </a:r>
          </a:p>
          <a:p>
            <a:pPr marL="0" indent="0">
              <a:lnSpc>
                <a:spcPct val="120000"/>
              </a:lnSpc>
              <a:spcAft>
                <a:spcPts val="0"/>
              </a:spcAft>
              <a:buNone/>
            </a:pPr>
            <a:endParaRPr lang="en-US" sz="1200" b="1" dirty="0">
              <a:latin typeface="Consolas" charset="0"/>
              <a:ea typeface="Consolas" charset="0"/>
              <a:cs typeface="Consolas" charset="0"/>
            </a:endParaRPr>
          </a:p>
          <a:p>
            <a:pPr marL="0" indent="0">
              <a:lnSpc>
                <a:spcPct val="120000"/>
              </a:lnSpc>
              <a:spcAft>
                <a:spcPts val="0"/>
              </a:spcAft>
              <a:buNone/>
            </a:pPr>
            <a:r>
              <a:rPr lang="en-US" sz="1200" b="1" dirty="0" err="1">
                <a:latin typeface="Consolas" charset="0"/>
                <a:ea typeface="Consolas" charset="0"/>
                <a:cs typeface="Consolas" charset="0"/>
              </a:rPr>
              <a:t>btnB.setOnAction</a:t>
            </a:r>
            <a:r>
              <a:rPr lang="en-US" sz="1200" b="1" dirty="0">
                <a:latin typeface="Consolas" charset="0"/>
                <a:ea typeface="Consolas" charset="0"/>
                <a:cs typeface="Consolas" charset="0"/>
              </a:rPr>
              <a:t>(new </a:t>
            </a:r>
            <a:r>
              <a:rPr lang="en-US" sz="1200" b="1" dirty="0" err="1">
                <a:latin typeface="Consolas" charset="0"/>
                <a:ea typeface="Consolas" charset="0"/>
                <a:cs typeface="Consolas" charset="0"/>
              </a:rPr>
              <a:t>JustRight</a:t>
            </a:r>
            <a:r>
              <a:rPr lang="en-US" sz="1200" b="1" dirty="0">
                <a:latin typeface="Consolas" charset="0"/>
                <a:ea typeface="Consolas" charset="0"/>
                <a:cs typeface="Consolas" charset="0"/>
              </a:rPr>
              <a:t>());</a:t>
            </a:r>
          </a:p>
        </p:txBody>
      </p:sp>
    </p:spTree>
    <p:extLst>
      <p:ext uri="{BB962C8B-B14F-4D97-AF65-F5344CB8AC3E}">
        <p14:creationId xmlns:p14="http://schemas.microsoft.com/office/powerpoint/2010/main" val="1121362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Exercise</a:t>
            </a:r>
          </a:p>
        </p:txBody>
      </p:sp>
      <p:sp>
        <p:nvSpPr>
          <p:cNvPr id="3" name="Content Placeholder 2"/>
          <p:cNvSpPr>
            <a:spLocks noGrp="1"/>
          </p:cNvSpPr>
          <p:nvPr>
            <p:ph idx="4294967295"/>
          </p:nvPr>
        </p:nvSpPr>
        <p:spPr>
          <a:xfrm>
            <a:off x="504507" y="1409292"/>
            <a:ext cx="9071610" cy="5343668"/>
          </a:xfrm>
          <a:prstGeom prst="rect">
            <a:avLst/>
          </a:prstGeom>
        </p:spPr>
        <p:txBody>
          <a:bodyPr/>
          <a:lstStyle/>
          <a:p>
            <a:r>
              <a:rPr lang="en-US" dirty="0"/>
              <a:t>Create a JavaFX application that allows you to grow/shrink a circle via buttons</a:t>
            </a:r>
          </a:p>
        </p:txBody>
      </p:sp>
      <p:pic>
        <p:nvPicPr>
          <p:cNvPr id="7" name="Picture 6"/>
          <p:cNvPicPr>
            <a:picLocks noChangeAspect="1"/>
          </p:cNvPicPr>
          <p:nvPr/>
        </p:nvPicPr>
        <p:blipFill>
          <a:blip r:embed="rId2"/>
          <a:stretch>
            <a:fillRect/>
          </a:stretch>
        </p:blipFill>
        <p:spPr>
          <a:xfrm>
            <a:off x="3290387" y="3140336"/>
            <a:ext cx="3499850" cy="3107866"/>
          </a:xfrm>
          <a:prstGeom prst="rect">
            <a:avLst/>
          </a:prstGeom>
        </p:spPr>
      </p:pic>
    </p:spTree>
    <p:extLst>
      <p:ext uri="{BB962C8B-B14F-4D97-AF65-F5344CB8AC3E}">
        <p14:creationId xmlns:p14="http://schemas.microsoft.com/office/powerpoint/2010/main" val="429303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Solution</a:t>
            </a:r>
          </a:p>
        </p:txBody>
      </p:sp>
      <p:sp>
        <p:nvSpPr>
          <p:cNvPr id="3" name="Content Placeholder 2"/>
          <p:cNvSpPr>
            <a:spLocks noGrp="1"/>
          </p:cNvSpPr>
          <p:nvPr>
            <p:ph idx="4294967295"/>
          </p:nvPr>
        </p:nvSpPr>
        <p:spPr>
          <a:xfrm>
            <a:off x="580707" y="1417637"/>
            <a:ext cx="9071610" cy="5343668"/>
          </a:xfrm>
          <a:prstGeom prst="rect">
            <a:avLst/>
          </a:prstGeom>
        </p:spPr>
        <p:txBody>
          <a:bodyPr>
            <a:noAutofit/>
          </a:bodyPr>
          <a:lstStyle/>
          <a:p>
            <a:pPr marL="182880" indent="0">
              <a:lnSpc>
                <a:spcPct val="100000"/>
              </a:lnSpc>
              <a:spcAft>
                <a:spcPts val="0"/>
              </a:spcAft>
              <a:buNone/>
            </a:pPr>
            <a:r>
              <a:rPr lang="en-US" sz="1050" b="1" dirty="0">
                <a:solidFill>
                  <a:schemeClr val="tx1"/>
                </a:solidFill>
                <a:latin typeface="Consolas" charset="0"/>
                <a:ea typeface="Consolas" charset="0"/>
                <a:cs typeface="Consolas" charset="0"/>
              </a:rPr>
              <a:t>		Circle c = new Circle(50);</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c.setStroke</a:t>
            </a:r>
            <a:r>
              <a:rPr lang="en-US" sz="1050" b="1" dirty="0">
                <a:solidFill>
                  <a:schemeClr val="tx1"/>
                </a:solidFill>
                <a:latin typeface="Consolas" charset="0"/>
                <a:ea typeface="Consolas" charset="0"/>
                <a:cs typeface="Consolas" charset="0"/>
              </a:rPr>
              <a:t>(</a:t>
            </a:r>
            <a:r>
              <a:rPr lang="en-US" sz="1050" b="1" dirty="0" err="1">
                <a:solidFill>
                  <a:schemeClr val="tx1"/>
                </a:solidFill>
                <a:latin typeface="Consolas" charset="0"/>
                <a:ea typeface="Consolas" charset="0"/>
                <a:cs typeface="Consolas" charset="0"/>
              </a:rPr>
              <a:t>Color.BLACK</a:t>
            </a:r>
            <a:r>
              <a:rPr lang="en-US" sz="1050" b="1" dirty="0">
                <a:solidFill>
                  <a:schemeClr val="tx1"/>
                </a:solidFill>
                <a:latin typeface="Consolas" charset="0"/>
                <a:ea typeface="Consolas" charset="0"/>
                <a:cs typeface="Consolas" charset="0"/>
              </a:rPr>
              <a:t>);</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c.setFill</a:t>
            </a:r>
            <a:r>
              <a:rPr lang="en-US" sz="1050" b="1" dirty="0">
                <a:solidFill>
                  <a:schemeClr val="tx1"/>
                </a:solidFill>
                <a:latin typeface="Consolas" charset="0"/>
                <a:ea typeface="Consolas" charset="0"/>
                <a:cs typeface="Consolas" charset="0"/>
              </a:rPr>
              <a:t>(</a:t>
            </a:r>
            <a:r>
              <a:rPr lang="en-US" sz="1050" b="1" dirty="0" err="1">
                <a:solidFill>
                  <a:schemeClr val="tx1"/>
                </a:solidFill>
                <a:latin typeface="Consolas" charset="0"/>
                <a:ea typeface="Consolas" charset="0"/>
                <a:cs typeface="Consolas" charset="0"/>
              </a:rPr>
              <a:t>Color.</a:t>
            </a:r>
            <a:r>
              <a:rPr lang="en-US" sz="1050" b="1" dirty="0" err="1">
                <a:solidFill>
                  <a:schemeClr val="tx1"/>
                </a:solidFill>
                <a:highlight>
                  <a:srgbClr val="D4D4D4"/>
                </a:highlight>
                <a:latin typeface="Consolas" charset="0"/>
                <a:ea typeface="Consolas" charset="0"/>
                <a:cs typeface="Consolas" charset="0"/>
              </a:rPr>
              <a:t>WHITE</a:t>
            </a:r>
            <a:r>
              <a:rPr lang="en-US" sz="1050" b="1" dirty="0">
                <a:solidFill>
                  <a:schemeClr val="tx1"/>
                </a:solidFill>
                <a:highlight>
                  <a:srgbClr val="D4D4D4"/>
                </a:highlight>
                <a:latin typeface="Consolas" charset="0"/>
                <a:ea typeface="Consolas" charset="0"/>
                <a:cs typeface="Consolas" charset="0"/>
              </a:rPr>
              <a:t>);</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Button grow = new Button("Grow");</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grow.setOnAction</a:t>
            </a:r>
            <a:r>
              <a:rPr lang="en-US" sz="1050" b="1" dirty="0">
                <a:solidFill>
                  <a:schemeClr val="tx1"/>
                </a:solidFill>
                <a:latin typeface="Consolas" charset="0"/>
                <a:ea typeface="Consolas" charset="0"/>
                <a:cs typeface="Consolas" charset="0"/>
              </a:rPr>
              <a:t>(new </a:t>
            </a:r>
            <a:r>
              <a:rPr lang="en-US" sz="1050" b="1" dirty="0" err="1">
                <a:solidFill>
                  <a:schemeClr val="tx1"/>
                </a:solidFill>
                <a:latin typeface="Consolas" charset="0"/>
                <a:ea typeface="Consolas" charset="0"/>
                <a:cs typeface="Consolas" charset="0"/>
              </a:rPr>
              <a:t>EventHandler</a:t>
            </a:r>
            <a:r>
              <a:rPr lang="en-US" sz="1050" b="1" dirty="0">
                <a:solidFill>
                  <a:schemeClr val="tx1"/>
                </a:solidFill>
                <a:latin typeface="Consolas" charset="0"/>
                <a:ea typeface="Consolas" charset="0"/>
                <a:cs typeface="Consolas" charset="0"/>
              </a:rPr>
              <a:t>&lt;</a:t>
            </a:r>
            <a:r>
              <a:rPr lang="en-US" sz="1050" b="1" dirty="0" err="1">
                <a:solidFill>
                  <a:schemeClr val="tx1"/>
                </a:solidFill>
                <a:latin typeface="Consolas" charset="0"/>
                <a:ea typeface="Consolas" charset="0"/>
                <a:cs typeface="Consolas" charset="0"/>
              </a:rPr>
              <a:t>ActionEvent</a:t>
            </a:r>
            <a:r>
              <a:rPr lang="en-US" sz="1050" b="1" dirty="0">
                <a:solidFill>
                  <a:schemeClr val="tx1"/>
                </a:solidFill>
                <a:latin typeface="Consolas" charset="0"/>
                <a:ea typeface="Consolas" charset="0"/>
                <a:cs typeface="Consolas" charset="0"/>
              </a:rPr>
              <a:t>&gt;() {</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@Override</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public void handle(</a:t>
            </a:r>
            <a:r>
              <a:rPr lang="en-US" sz="1050" b="1" dirty="0" err="1">
                <a:solidFill>
                  <a:schemeClr val="tx1"/>
                </a:solidFill>
                <a:latin typeface="Consolas" charset="0"/>
                <a:ea typeface="Consolas" charset="0"/>
                <a:cs typeface="Consolas" charset="0"/>
              </a:rPr>
              <a:t>ActionEvent</a:t>
            </a:r>
            <a:r>
              <a:rPr lang="en-US" sz="1050" b="1" dirty="0">
                <a:solidFill>
                  <a:schemeClr val="tx1"/>
                </a:solidFill>
                <a:latin typeface="Consolas" charset="0"/>
                <a:ea typeface="Consolas" charset="0"/>
                <a:cs typeface="Consolas" charset="0"/>
              </a:rPr>
              <a:t> event) {</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c.setRadius</a:t>
            </a:r>
            <a:r>
              <a:rPr lang="en-US" sz="1050" b="1" dirty="0">
                <a:solidFill>
                  <a:schemeClr val="tx1"/>
                </a:solidFill>
                <a:latin typeface="Consolas" charset="0"/>
                <a:ea typeface="Consolas" charset="0"/>
                <a:cs typeface="Consolas" charset="0"/>
              </a:rPr>
              <a:t>(</a:t>
            </a:r>
            <a:r>
              <a:rPr lang="en-US" sz="1050" b="1" dirty="0" err="1">
                <a:solidFill>
                  <a:schemeClr val="tx1"/>
                </a:solidFill>
                <a:latin typeface="Consolas" charset="0"/>
                <a:ea typeface="Consolas" charset="0"/>
                <a:cs typeface="Consolas" charset="0"/>
              </a:rPr>
              <a:t>c.getRadius</a:t>
            </a:r>
            <a:r>
              <a:rPr lang="en-US" sz="1050" b="1" dirty="0">
                <a:solidFill>
                  <a:schemeClr val="tx1"/>
                </a:solidFill>
                <a:latin typeface="Consolas" charset="0"/>
                <a:ea typeface="Consolas" charset="0"/>
                <a:cs typeface="Consolas" charset="0"/>
              </a:rPr>
              <a:t>()+3);</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Button shrink = new Button("Shrink");</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shrink.setOnAction</a:t>
            </a:r>
            <a:r>
              <a:rPr lang="en-US" sz="1050" b="1" dirty="0">
                <a:solidFill>
                  <a:schemeClr val="tx1"/>
                </a:solidFill>
                <a:latin typeface="Consolas" charset="0"/>
                <a:ea typeface="Consolas" charset="0"/>
                <a:cs typeface="Consolas" charset="0"/>
              </a:rPr>
              <a:t>(new </a:t>
            </a:r>
            <a:r>
              <a:rPr lang="en-US" sz="1050" b="1" dirty="0" err="1">
                <a:solidFill>
                  <a:schemeClr val="tx1"/>
                </a:solidFill>
                <a:latin typeface="Consolas" charset="0"/>
                <a:ea typeface="Consolas" charset="0"/>
                <a:cs typeface="Consolas" charset="0"/>
              </a:rPr>
              <a:t>EventHandler</a:t>
            </a:r>
            <a:r>
              <a:rPr lang="en-US" sz="1050" b="1" dirty="0">
                <a:solidFill>
                  <a:schemeClr val="tx1"/>
                </a:solidFill>
                <a:latin typeface="Consolas" charset="0"/>
                <a:ea typeface="Consolas" charset="0"/>
                <a:cs typeface="Consolas" charset="0"/>
              </a:rPr>
              <a:t>&lt;</a:t>
            </a:r>
            <a:r>
              <a:rPr lang="en-US" sz="1050" b="1" dirty="0" err="1">
                <a:solidFill>
                  <a:schemeClr val="tx1"/>
                </a:solidFill>
                <a:latin typeface="Consolas" charset="0"/>
                <a:ea typeface="Consolas" charset="0"/>
                <a:cs typeface="Consolas" charset="0"/>
              </a:rPr>
              <a:t>ActionEvent</a:t>
            </a:r>
            <a:r>
              <a:rPr lang="en-US" sz="1050" b="1" dirty="0">
                <a:solidFill>
                  <a:schemeClr val="tx1"/>
                </a:solidFill>
                <a:latin typeface="Consolas" charset="0"/>
                <a:ea typeface="Consolas" charset="0"/>
                <a:cs typeface="Consolas" charset="0"/>
              </a:rPr>
              <a:t>&gt;() {</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@Override</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public void handle(</a:t>
            </a:r>
            <a:r>
              <a:rPr lang="en-US" sz="1050" b="1" dirty="0" err="1">
                <a:solidFill>
                  <a:schemeClr val="tx1"/>
                </a:solidFill>
                <a:latin typeface="Consolas" charset="0"/>
                <a:ea typeface="Consolas" charset="0"/>
                <a:cs typeface="Consolas" charset="0"/>
              </a:rPr>
              <a:t>ActionEvent</a:t>
            </a:r>
            <a:r>
              <a:rPr lang="en-US" sz="1050" b="1" dirty="0">
                <a:solidFill>
                  <a:schemeClr val="tx1"/>
                </a:solidFill>
                <a:latin typeface="Consolas" charset="0"/>
                <a:ea typeface="Consolas" charset="0"/>
                <a:cs typeface="Consolas" charset="0"/>
              </a:rPr>
              <a:t> event) {</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c.setRadius</a:t>
            </a:r>
            <a:r>
              <a:rPr lang="en-US" sz="1050" b="1" dirty="0">
                <a:solidFill>
                  <a:schemeClr val="tx1"/>
                </a:solidFill>
                <a:latin typeface="Consolas" charset="0"/>
                <a:ea typeface="Consolas" charset="0"/>
                <a:cs typeface="Consolas" charset="0"/>
              </a:rPr>
              <a:t>(</a:t>
            </a:r>
            <a:r>
              <a:rPr lang="en-US" sz="1050" b="1" dirty="0" err="1">
                <a:solidFill>
                  <a:schemeClr val="tx1"/>
                </a:solidFill>
                <a:latin typeface="Consolas" charset="0"/>
                <a:ea typeface="Consolas" charset="0"/>
                <a:cs typeface="Consolas" charset="0"/>
              </a:rPr>
              <a:t>c.getRadius</a:t>
            </a:r>
            <a:r>
              <a:rPr lang="en-US" sz="1050" b="1" dirty="0">
                <a:solidFill>
                  <a:schemeClr val="tx1"/>
                </a:solidFill>
                <a:latin typeface="Consolas" charset="0"/>
                <a:ea typeface="Consolas" charset="0"/>
                <a:cs typeface="Consolas" charset="0"/>
              </a:rPr>
              <a:t>()-3);</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p>
          <a:p>
            <a:pPr marL="182880" indent="0">
              <a:lnSpc>
                <a:spcPct val="100000"/>
              </a:lnSpc>
              <a:spcAft>
                <a:spcPts val="0"/>
              </a:spcAft>
              <a:buNone/>
            </a:pPr>
            <a:endParaRPr lang="en-US" sz="1050" b="1" dirty="0">
              <a:solidFill>
                <a:schemeClr val="tx1"/>
              </a:solidFill>
              <a:latin typeface="Consolas" charset="0"/>
              <a:ea typeface="Consolas" charset="0"/>
              <a:cs typeface="Consolas" charset="0"/>
            </a:endParaRP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HBox</a:t>
            </a: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hb</a:t>
            </a:r>
            <a:r>
              <a:rPr lang="en-US" sz="1050" b="1" dirty="0">
                <a:solidFill>
                  <a:schemeClr val="tx1"/>
                </a:solidFill>
                <a:latin typeface="Consolas" charset="0"/>
                <a:ea typeface="Consolas" charset="0"/>
                <a:cs typeface="Consolas" charset="0"/>
              </a:rPr>
              <a:t> = new </a:t>
            </a:r>
            <a:r>
              <a:rPr lang="en-US" sz="1050" b="1" dirty="0" err="1">
                <a:solidFill>
                  <a:schemeClr val="tx1"/>
                </a:solidFill>
                <a:latin typeface="Consolas" charset="0"/>
                <a:ea typeface="Consolas" charset="0"/>
                <a:cs typeface="Consolas" charset="0"/>
              </a:rPr>
              <a:t>HBox</a:t>
            </a:r>
            <a:r>
              <a:rPr lang="en-US" sz="1050" b="1" dirty="0">
                <a:solidFill>
                  <a:schemeClr val="tx1"/>
                </a:solidFill>
                <a:latin typeface="Consolas" charset="0"/>
                <a:ea typeface="Consolas" charset="0"/>
                <a:cs typeface="Consolas" charset="0"/>
              </a:rPr>
              <a:t>();</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hb.getChildren</a:t>
            </a:r>
            <a:r>
              <a:rPr lang="en-US" sz="1050" b="1" dirty="0">
                <a:solidFill>
                  <a:schemeClr val="tx1"/>
                </a:solidFill>
                <a:latin typeface="Consolas" charset="0"/>
                <a:ea typeface="Consolas" charset="0"/>
                <a:cs typeface="Consolas" charset="0"/>
              </a:rPr>
              <a:t>().add(grow);</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hb.getChildren</a:t>
            </a:r>
            <a:r>
              <a:rPr lang="en-US" sz="1050" b="1" dirty="0">
                <a:solidFill>
                  <a:schemeClr val="tx1"/>
                </a:solidFill>
                <a:latin typeface="Consolas" charset="0"/>
                <a:ea typeface="Consolas" charset="0"/>
                <a:cs typeface="Consolas" charset="0"/>
              </a:rPr>
              <a:t>().add(shrink);</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hb.setSpacing</a:t>
            </a:r>
            <a:r>
              <a:rPr lang="en-US" sz="1050" b="1" dirty="0">
                <a:solidFill>
                  <a:schemeClr val="tx1"/>
                </a:solidFill>
                <a:latin typeface="Consolas" charset="0"/>
                <a:ea typeface="Consolas" charset="0"/>
                <a:cs typeface="Consolas" charset="0"/>
              </a:rPr>
              <a:t>(10);</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hb.setPadding</a:t>
            </a:r>
            <a:r>
              <a:rPr lang="en-US" sz="1050" b="1" dirty="0">
                <a:solidFill>
                  <a:schemeClr val="tx1"/>
                </a:solidFill>
                <a:latin typeface="Consolas" charset="0"/>
                <a:ea typeface="Consolas" charset="0"/>
                <a:cs typeface="Consolas" charset="0"/>
              </a:rPr>
              <a:t>(new Insets(10));</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hb.setAlignment</a:t>
            </a:r>
            <a:r>
              <a:rPr lang="en-US" sz="1050" b="1" dirty="0">
                <a:solidFill>
                  <a:schemeClr val="tx1"/>
                </a:solidFill>
                <a:latin typeface="Consolas" charset="0"/>
                <a:ea typeface="Consolas" charset="0"/>
                <a:cs typeface="Consolas" charset="0"/>
              </a:rPr>
              <a:t>(</a:t>
            </a:r>
            <a:r>
              <a:rPr lang="en-US" sz="1050" b="1" dirty="0" err="1">
                <a:solidFill>
                  <a:schemeClr val="tx1"/>
                </a:solidFill>
                <a:latin typeface="Consolas" charset="0"/>
                <a:ea typeface="Consolas" charset="0"/>
                <a:cs typeface="Consolas" charset="0"/>
              </a:rPr>
              <a:t>Pos.CENTER</a:t>
            </a:r>
            <a:r>
              <a:rPr lang="en-US" sz="1050" b="1" dirty="0">
                <a:solidFill>
                  <a:schemeClr val="tx1"/>
                </a:solidFill>
                <a:latin typeface="Consolas" charset="0"/>
                <a:ea typeface="Consolas" charset="0"/>
                <a:cs typeface="Consolas" charset="0"/>
              </a:rPr>
              <a:t>);</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VBox</a:t>
            </a: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vb</a:t>
            </a:r>
            <a:r>
              <a:rPr lang="en-US" sz="1050" b="1" dirty="0">
                <a:solidFill>
                  <a:schemeClr val="tx1"/>
                </a:solidFill>
                <a:latin typeface="Consolas" charset="0"/>
                <a:ea typeface="Consolas" charset="0"/>
                <a:cs typeface="Consolas" charset="0"/>
              </a:rPr>
              <a:t> = new </a:t>
            </a:r>
            <a:r>
              <a:rPr lang="en-US" sz="1050" b="1" dirty="0" err="1">
                <a:solidFill>
                  <a:schemeClr val="tx1"/>
                </a:solidFill>
                <a:latin typeface="Consolas" charset="0"/>
                <a:ea typeface="Consolas" charset="0"/>
                <a:cs typeface="Consolas" charset="0"/>
              </a:rPr>
              <a:t>VBox</a:t>
            </a:r>
            <a:r>
              <a:rPr lang="en-US" sz="1050" b="1" dirty="0">
                <a:solidFill>
                  <a:schemeClr val="tx1"/>
                </a:solidFill>
                <a:latin typeface="Consolas" charset="0"/>
                <a:ea typeface="Consolas" charset="0"/>
                <a:cs typeface="Consolas" charset="0"/>
              </a:rPr>
              <a:t>();</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vb.getChildren</a:t>
            </a:r>
            <a:r>
              <a:rPr lang="en-US" sz="1050" b="1" dirty="0">
                <a:solidFill>
                  <a:schemeClr val="tx1"/>
                </a:solidFill>
                <a:latin typeface="Consolas" charset="0"/>
                <a:ea typeface="Consolas" charset="0"/>
                <a:cs typeface="Consolas" charset="0"/>
              </a:rPr>
              <a:t>().add(c);</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vb.getChildren</a:t>
            </a:r>
            <a:r>
              <a:rPr lang="en-US" sz="1050" b="1" dirty="0">
                <a:solidFill>
                  <a:schemeClr val="tx1"/>
                </a:solidFill>
                <a:latin typeface="Consolas" charset="0"/>
                <a:ea typeface="Consolas" charset="0"/>
                <a:cs typeface="Consolas" charset="0"/>
              </a:rPr>
              <a:t>().add(</a:t>
            </a:r>
            <a:r>
              <a:rPr lang="en-US" sz="1050" b="1" dirty="0" err="1">
                <a:solidFill>
                  <a:schemeClr val="tx1"/>
                </a:solidFill>
                <a:latin typeface="Consolas" charset="0"/>
                <a:ea typeface="Consolas" charset="0"/>
                <a:cs typeface="Consolas" charset="0"/>
              </a:rPr>
              <a:t>hb</a:t>
            </a:r>
            <a:r>
              <a:rPr lang="en-US" sz="1050" b="1" dirty="0">
                <a:solidFill>
                  <a:schemeClr val="tx1"/>
                </a:solidFill>
                <a:latin typeface="Consolas" charset="0"/>
                <a:ea typeface="Consolas" charset="0"/>
                <a:cs typeface="Consolas" charset="0"/>
              </a:rPr>
              <a:t>);</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vb.setAlignment</a:t>
            </a:r>
            <a:r>
              <a:rPr lang="en-US" sz="1050" b="1" dirty="0">
                <a:solidFill>
                  <a:schemeClr val="tx1"/>
                </a:solidFill>
                <a:latin typeface="Consolas" charset="0"/>
                <a:ea typeface="Consolas" charset="0"/>
                <a:cs typeface="Consolas" charset="0"/>
              </a:rPr>
              <a:t>(</a:t>
            </a:r>
            <a:r>
              <a:rPr lang="en-US" sz="1050" b="1" dirty="0" err="1">
                <a:solidFill>
                  <a:schemeClr val="tx1"/>
                </a:solidFill>
                <a:latin typeface="Consolas" charset="0"/>
                <a:ea typeface="Consolas" charset="0"/>
                <a:cs typeface="Consolas" charset="0"/>
              </a:rPr>
              <a:t>Pos.CENTER</a:t>
            </a:r>
            <a:r>
              <a:rPr lang="en-US" sz="1050" b="1" dirty="0">
                <a:solidFill>
                  <a:schemeClr val="tx1"/>
                </a:solidFill>
                <a:latin typeface="Consolas" charset="0"/>
                <a:ea typeface="Consolas" charset="0"/>
                <a:cs typeface="Consolas" charset="0"/>
              </a:rPr>
              <a:t>);</a:t>
            </a:r>
          </a:p>
          <a:p>
            <a:pPr marL="182880" indent="0">
              <a:lnSpc>
                <a:spcPct val="100000"/>
              </a:lnSpc>
              <a:spcAft>
                <a:spcPts val="0"/>
              </a:spcAft>
              <a:buNone/>
            </a:pPr>
            <a:endParaRPr lang="en-US" sz="1050" b="1" dirty="0">
              <a:solidFill>
                <a:schemeClr val="tx1"/>
              </a:solidFill>
              <a:latin typeface="Consolas" charset="0"/>
              <a:ea typeface="Consolas" charset="0"/>
              <a:cs typeface="Consolas" charset="0"/>
            </a:endParaRP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primaryStage.setTitle</a:t>
            </a:r>
            <a:r>
              <a:rPr lang="en-US" sz="1050" b="1" dirty="0">
                <a:solidFill>
                  <a:schemeClr val="tx1"/>
                </a:solidFill>
                <a:latin typeface="Consolas" charset="0"/>
                <a:ea typeface="Consolas" charset="0"/>
                <a:cs typeface="Consolas" charset="0"/>
              </a:rPr>
              <a:t>("Circle");</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primaryStage.setScene</a:t>
            </a:r>
            <a:r>
              <a:rPr lang="en-US" sz="1050" b="1" dirty="0">
                <a:solidFill>
                  <a:schemeClr val="tx1"/>
                </a:solidFill>
                <a:latin typeface="Consolas" charset="0"/>
                <a:ea typeface="Consolas" charset="0"/>
                <a:cs typeface="Consolas" charset="0"/>
              </a:rPr>
              <a:t>(new Scene(</a:t>
            </a:r>
            <a:r>
              <a:rPr lang="en-US" sz="1050" b="1" dirty="0" err="1">
                <a:solidFill>
                  <a:schemeClr val="tx1"/>
                </a:solidFill>
                <a:latin typeface="Consolas" charset="0"/>
                <a:ea typeface="Consolas" charset="0"/>
                <a:cs typeface="Consolas" charset="0"/>
              </a:rPr>
              <a:t>vb</a:t>
            </a:r>
            <a:r>
              <a:rPr lang="en-US" sz="1050" b="1" dirty="0">
                <a:solidFill>
                  <a:schemeClr val="tx1"/>
                </a:solidFill>
                <a:latin typeface="Consolas" charset="0"/>
                <a:ea typeface="Consolas" charset="0"/>
                <a:cs typeface="Consolas" charset="0"/>
              </a:rPr>
              <a:t>, 200, 200));</a:t>
            </a:r>
          </a:p>
          <a:p>
            <a:pPr marL="182880" indent="0">
              <a:lnSpc>
                <a:spcPct val="100000"/>
              </a:lnSpc>
              <a:spcAft>
                <a:spcPts val="0"/>
              </a:spcAft>
              <a:buNone/>
            </a:pPr>
            <a:r>
              <a:rPr lang="en-US" sz="1050" b="1" dirty="0">
                <a:solidFill>
                  <a:schemeClr val="tx1"/>
                </a:solidFill>
                <a:latin typeface="Consolas" charset="0"/>
                <a:ea typeface="Consolas" charset="0"/>
                <a:cs typeface="Consolas" charset="0"/>
              </a:rPr>
              <a:t>		</a:t>
            </a:r>
            <a:r>
              <a:rPr lang="en-US" sz="1050" b="1" dirty="0" err="1">
                <a:solidFill>
                  <a:schemeClr val="tx1"/>
                </a:solidFill>
                <a:latin typeface="Consolas" charset="0"/>
                <a:ea typeface="Consolas" charset="0"/>
                <a:cs typeface="Consolas" charset="0"/>
              </a:rPr>
              <a:t>primaryStage.show</a:t>
            </a:r>
            <a:r>
              <a:rPr lang="en-US" sz="1050" b="1" dirty="0">
                <a:solidFill>
                  <a:schemeClr val="tx1"/>
                </a:solidFill>
                <a:latin typeface="Consolas" charset="0"/>
                <a:ea typeface="Consolas" charset="0"/>
                <a:cs typeface="Consolas" charset="0"/>
              </a:rPr>
              <a:t>();</a:t>
            </a:r>
          </a:p>
        </p:txBody>
      </p:sp>
    </p:spTree>
    <p:extLst>
      <p:ext uri="{BB962C8B-B14F-4D97-AF65-F5344CB8AC3E}">
        <p14:creationId xmlns:p14="http://schemas.microsoft.com/office/powerpoint/2010/main" val="1908572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JavaFX Events</a:t>
            </a:r>
          </a:p>
        </p:txBody>
      </p:sp>
      <p:pic>
        <p:nvPicPr>
          <p:cNvPr id="9" name="Picture 6"/>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504507" y="2415271"/>
            <a:ext cx="9071610" cy="33311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418990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Event Information</a:t>
            </a:r>
          </a:p>
        </p:txBody>
      </p:sp>
      <p:sp>
        <p:nvSpPr>
          <p:cNvPr id="3" name="Content Placeholder 2"/>
          <p:cNvSpPr>
            <a:spLocks noGrp="1"/>
          </p:cNvSpPr>
          <p:nvPr>
            <p:ph idx="4294967295"/>
          </p:nvPr>
        </p:nvSpPr>
        <p:spPr>
          <a:xfrm>
            <a:off x="504507" y="1409292"/>
            <a:ext cx="9071610" cy="5343668"/>
          </a:xfrm>
          <a:prstGeom prst="rect">
            <a:avLst/>
          </a:prstGeom>
        </p:spPr>
        <p:txBody>
          <a:bodyPr>
            <a:normAutofit/>
          </a:bodyPr>
          <a:lstStyle/>
          <a:p>
            <a:r>
              <a:rPr lang="en-US" dirty="0"/>
              <a:t>An event object contains whatever properties are related to the event</a:t>
            </a:r>
          </a:p>
          <a:p>
            <a:r>
              <a:rPr lang="en-US" dirty="0"/>
              <a:t>You can identify the source object of the event using the </a:t>
            </a:r>
            <a:r>
              <a:rPr lang="en-US" b="1" dirty="0" err="1">
                <a:latin typeface="Consolas" charset="0"/>
                <a:ea typeface="Consolas" charset="0"/>
                <a:cs typeface="Consolas" charset="0"/>
              </a:rPr>
              <a:t>getSource</a:t>
            </a:r>
            <a:r>
              <a:rPr lang="en-US" b="1" dirty="0">
                <a:latin typeface="Consolas" charset="0"/>
                <a:ea typeface="Consolas" charset="0"/>
                <a:cs typeface="Consolas" charset="0"/>
              </a:rPr>
              <a:t>()</a:t>
            </a:r>
            <a:r>
              <a:rPr lang="en-US" dirty="0"/>
              <a:t> instance method in the </a:t>
            </a:r>
            <a:r>
              <a:rPr lang="en-US" b="1" dirty="0" err="1">
                <a:latin typeface="Consolas" charset="0"/>
                <a:ea typeface="Consolas" charset="0"/>
                <a:cs typeface="Consolas" charset="0"/>
              </a:rPr>
              <a:t>EventObject</a:t>
            </a:r>
            <a:r>
              <a:rPr lang="en-US" dirty="0"/>
              <a:t> class</a:t>
            </a:r>
          </a:p>
          <a:p>
            <a:r>
              <a:rPr lang="en-US" dirty="0"/>
              <a:t>The subclasses of </a:t>
            </a:r>
            <a:r>
              <a:rPr lang="en-US" b="1" dirty="0" err="1">
                <a:latin typeface="Consolas" charset="0"/>
                <a:ea typeface="Consolas" charset="0"/>
                <a:cs typeface="Consolas" charset="0"/>
              </a:rPr>
              <a:t>EventObject</a:t>
            </a:r>
            <a:r>
              <a:rPr lang="en-US" dirty="0"/>
              <a:t> deal with special types of events, such as button actions, window events, component events, mouse movements, and keystrokes</a:t>
            </a:r>
          </a:p>
          <a:p>
            <a:endParaRPr lang="en-US" dirty="0"/>
          </a:p>
        </p:txBody>
      </p:sp>
    </p:spTree>
    <p:extLst>
      <p:ext uri="{BB962C8B-B14F-4D97-AF65-F5344CB8AC3E}">
        <p14:creationId xmlns:p14="http://schemas.microsoft.com/office/powerpoint/2010/main" val="379799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User Actions &amp; Handlers</a:t>
            </a:r>
          </a:p>
        </p:txBody>
      </p:sp>
      <p:pic>
        <p:nvPicPr>
          <p:cNvPr id="7" name="Picture 5"/>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315912" y="1931698"/>
            <a:ext cx="9529351" cy="45151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9706968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MouseEvent</a:t>
            </a:r>
            <a:endParaRPr lang="en-US" dirty="0"/>
          </a:p>
        </p:txBody>
      </p:sp>
      <p:pic>
        <p:nvPicPr>
          <p:cNvPr id="7" name="Picture 1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504507" y="2149512"/>
            <a:ext cx="9071610" cy="3862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679689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KeyEvent</a:t>
            </a:r>
            <a:endParaRPr lang="en-US" dirty="0"/>
          </a:p>
        </p:txBody>
      </p:sp>
      <p:pic>
        <p:nvPicPr>
          <p:cNvPr id="7" name="Picture 11"/>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504507" y="2711863"/>
            <a:ext cx="9071610" cy="27379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20409983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KeyCode</a:t>
            </a:r>
            <a:r>
              <a:rPr lang="en-US" dirty="0"/>
              <a:t> Constants</a:t>
            </a:r>
          </a:p>
        </p:txBody>
      </p:sp>
      <p:pic>
        <p:nvPicPr>
          <p:cNvPr id="7" name="Picture 7"/>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504507" y="2135364"/>
            <a:ext cx="9071610" cy="38909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1303361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Exercise</a:t>
            </a:r>
          </a:p>
        </p:txBody>
      </p:sp>
      <p:sp>
        <p:nvSpPr>
          <p:cNvPr id="3" name="Content Placeholder 2"/>
          <p:cNvSpPr>
            <a:spLocks noGrp="1"/>
          </p:cNvSpPr>
          <p:nvPr>
            <p:ph idx="4294967295"/>
          </p:nvPr>
        </p:nvSpPr>
        <p:spPr>
          <a:xfrm>
            <a:off x="504507" y="1409293"/>
            <a:ext cx="9071610" cy="1996380"/>
          </a:xfrm>
          <a:prstGeom prst="rect">
            <a:avLst/>
          </a:prstGeom>
        </p:spPr>
        <p:txBody>
          <a:bodyPr>
            <a:normAutofit/>
          </a:bodyPr>
          <a:lstStyle/>
          <a:p>
            <a:pPr indent="-457200"/>
            <a:r>
              <a:rPr lang="en-US" dirty="0"/>
              <a:t>Write a JavaFX program that allows the user to control the position of the text "Waldo" via Left/Down/Up/Right arrow keys</a:t>
            </a:r>
          </a:p>
        </p:txBody>
      </p:sp>
      <p:pic>
        <p:nvPicPr>
          <p:cNvPr id="7" name="Picture 6"/>
          <p:cNvPicPr>
            <a:picLocks noChangeAspect="1"/>
          </p:cNvPicPr>
          <p:nvPr/>
        </p:nvPicPr>
        <p:blipFill>
          <a:blip r:embed="rId2"/>
          <a:stretch>
            <a:fillRect/>
          </a:stretch>
        </p:blipFill>
        <p:spPr>
          <a:xfrm>
            <a:off x="896033" y="3778678"/>
            <a:ext cx="2387662" cy="2650305"/>
          </a:xfrm>
          <a:prstGeom prst="rect">
            <a:avLst/>
          </a:prstGeom>
        </p:spPr>
      </p:pic>
      <p:pic>
        <p:nvPicPr>
          <p:cNvPr id="8" name="Picture 7"/>
          <p:cNvPicPr>
            <a:picLocks noChangeAspect="1"/>
          </p:cNvPicPr>
          <p:nvPr/>
        </p:nvPicPr>
        <p:blipFill>
          <a:blip r:embed="rId3"/>
          <a:stretch>
            <a:fillRect/>
          </a:stretch>
        </p:blipFill>
        <p:spPr>
          <a:xfrm>
            <a:off x="6776237" y="3778119"/>
            <a:ext cx="2388670" cy="2651423"/>
          </a:xfrm>
          <a:prstGeom prst="rect">
            <a:avLst/>
          </a:prstGeom>
        </p:spPr>
      </p:pic>
      <p:sp>
        <p:nvSpPr>
          <p:cNvPr id="9" name="Right Arrow 8"/>
          <p:cNvSpPr/>
          <p:nvPr/>
        </p:nvSpPr>
        <p:spPr>
          <a:xfrm>
            <a:off x="4444702" y="4808809"/>
            <a:ext cx="1191221" cy="5900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46"/>
          </a:p>
        </p:txBody>
      </p:sp>
    </p:spTree>
    <p:extLst>
      <p:ext uri="{BB962C8B-B14F-4D97-AF65-F5344CB8AC3E}">
        <p14:creationId xmlns:p14="http://schemas.microsoft.com/office/powerpoint/2010/main" val="12631949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Solution</a:t>
            </a:r>
          </a:p>
        </p:txBody>
      </p:sp>
      <p:sp>
        <p:nvSpPr>
          <p:cNvPr id="3" name="Content Placeholder 2"/>
          <p:cNvSpPr>
            <a:spLocks noGrp="1"/>
          </p:cNvSpPr>
          <p:nvPr>
            <p:ph idx="4294967295"/>
          </p:nvPr>
        </p:nvSpPr>
        <p:spPr>
          <a:xfrm>
            <a:off x="504507" y="1409292"/>
            <a:ext cx="9071610" cy="5343668"/>
          </a:xfrm>
          <a:prstGeom prst="rect">
            <a:avLst/>
          </a:prstGeom>
        </p:spPr>
        <p:txBody>
          <a:bodyPr>
            <a:noAutofit/>
          </a:bodyPr>
          <a:lstStyle/>
          <a:p>
            <a:pPr marL="182880" indent="0">
              <a:lnSpc>
                <a:spcPct val="100000"/>
              </a:lnSpc>
              <a:spcAft>
                <a:spcPts val="0"/>
              </a:spcAft>
              <a:buNone/>
            </a:pPr>
            <a:r>
              <a:rPr lang="en-US" sz="1400" b="1" dirty="0">
                <a:latin typeface="Consolas" charset="0"/>
                <a:ea typeface="Consolas" charset="0"/>
                <a:cs typeface="Consolas" charset="0"/>
              </a:rPr>
              <a:t>Pane p = new Pane();</a:t>
            </a:r>
          </a:p>
          <a:p>
            <a:pPr marL="182880" indent="0">
              <a:lnSpc>
                <a:spcPct val="100000"/>
              </a:lnSpc>
              <a:spcAft>
                <a:spcPts val="0"/>
              </a:spcAft>
              <a:buNone/>
            </a:pPr>
            <a:r>
              <a:rPr lang="en-US" sz="1400" b="1" dirty="0">
                <a:latin typeface="Consolas" charset="0"/>
                <a:ea typeface="Consolas" charset="0"/>
                <a:cs typeface="Consolas" charset="0"/>
              </a:rPr>
              <a:t>Text </a:t>
            </a:r>
            <a:r>
              <a:rPr lang="en-US" sz="1400" b="1" dirty="0" err="1">
                <a:latin typeface="Consolas" charset="0"/>
                <a:ea typeface="Consolas" charset="0"/>
                <a:cs typeface="Consolas" charset="0"/>
              </a:rPr>
              <a:t>waldo</a:t>
            </a:r>
            <a:r>
              <a:rPr lang="en-US" sz="1400" b="1" dirty="0">
                <a:latin typeface="Consolas" charset="0"/>
                <a:ea typeface="Consolas" charset="0"/>
                <a:cs typeface="Consolas" charset="0"/>
              </a:rPr>
              <a:t> = new Text("Waldo");</a:t>
            </a:r>
          </a:p>
          <a:p>
            <a:pPr marL="182880" indent="0">
              <a:lnSpc>
                <a:spcPct val="100000"/>
              </a:lnSpc>
              <a:spcAft>
                <a:spcPts val="0"/>
              </a:spcAft>
              <a:buNone/>
            </a:pPr>
            <a:r>
              <a:rPr lang="en-US" sz="1400" b="1" dirty="0" err="1">
                <a:latin typeface="Consolas" charset="0"/>
                <a:ea typeface="Consolas" charset="0"/>
                <a:cs typeface="Consolas" charset="0"/>
              </a:rPr>
              <a:t>waldo.setX</a:t>
            </a:r>
            <a:r>
              <a:rPr lang="en-US" sz="1400" b="1" dirty="0">
                <a:latin typeface="Consolas" charset="0"/>
                <a:ea typeface="Consolas" charset="0"/>
                <a:cs typeface="Consolas" charset="0"/>
              </a:rPr>
              <a:t>(100);</a:t>
            </a:r>
          </a:p>
          <a:p>
            <a:pPr marL="182880" indent="0">
              <a:lnSpc>
                <a:spcPct val="100000"/>
              </a:lnSpc>
              <a:spcAft>
                <a:spcPts val="0"/>
              </a:spcAft>
              <a:buNone/>
            </a:pPr>
            <a:r>
              <a:rPr lang="en-US" sz="1400" b="1" dirty="0" err="1">
                <a:latin typeface="Consolas" charset="0"/>
                <a:ea typeface="Consolas" charset="0"/>
                <a:cs typeface="Consolas" charset="0"/>
              </a:rPr>
              <a:t>waldo.setY</a:t>
            </a:r>
            <a:r>
              <a:rPr lang="en-US" sz="1400" b="1" dirty="0">
                <a:latin typeface="Consolas" charset="0"/>
                <a:ea typeface="Consolas" charset="0"/>
                <a:cs typeface="Consolas" charset="0"/>
              </a:rPr>
              <a:t>(100);</a:t>
            </a:r>
          </a:p>
          <a:p>
            <a:pPr marL="182880" indent="0">
              <a:lnSpc>
                <a:spcPct val="100000"/>
              </a:lnSpc>
              <a:spcAft>
                <a:spcPts val="0"/>
              </a:spcAft>
              <a:buNone/>
            </a:pPr>
            <a:r>
              <a:rPr lang="en-US" sz="1400" b="1" dirty="0" err="1">
                <a:latin typeface="Consolas" charset="0"/>
                <a:ea typeface="Consolas" charset="0"/>
                <a:cs typeface="Consolas" charset="0"/>
              </a:rPr>
              <a:t>waldo.setOnKeyPressed</a:t>
            </a:r>
            <a:r>
              <a:rPr lang="en-US" sz="1400" b="1" dirty="0">
                <a:latin typeface="Consolas" charset="0"/>
                <a:ea typeface="Consolas" charset="0"/>
                <a:cs typeface="Consolas" charset="0"/>
              </a:rPr>
              <a:t>(new </a:t>
            </a:r>
            <a:r>
              <a:rPr lang="en-US" sz="1400" b="1" dirty="0" err="1">
                <a:latin typeface="Consolas" charset="0"/>
                <a:ea typeface="Consolas" charset="0"/>
                <a:cs typeface="Consolas" charset="0"/>
              </a:rPr>
              <a:t>EventHandler</a:t>
            </a:r>
            <a:r>
              <a:rPr lang="en-US" sz="1400" b="1" dirty="0">
                <a:latin typeface="Consolas" charset="0"/>
                <a:ea typeface="Consolas" charset="0"/>
                <a:cs typeface="Consolas" charset="0"/>
              </a:rPr>
              <a:t>&lt;</a:t>
            </a:r>
            <a:r>
              <a:rPr lang="en-US" sz="1400" b="1" dirty="0" err="1">
                <a:latin typeface="Consolas" charset="0"/>
                <a:ea typeface="Consolas" charset="0"/>
                <a:cs typeface="Consolas" charset="0"/>
              </a:rPr>
              <a:t>KeyEvent</a:t>
            </a:r>
            <a:r>
              <a:rPr lang="en-US" sz="1400" b="1" dirty="0">
                <a:latin typeface="Consolas" charset="0"/>
                <a:ea typeface="Consolas" charset="0"/>
                <a:cs typeface="Consolas" charset="0"/>
              </a:rPr>
              <a:t>&gt;() {</a:t>
            </a:r>
          </a:p>
          <a:p>
            <a:pPr marL="182880" indent="0">
              <a:lnSpc>
                <a:spcPct val="100000"/>
              </a:lnSpc>
              <a:spcAft>
                <a:spcPts val="0"/>
              </a:spcAft>
              <a:buNone/>
            </a:pPr>
            <a:r>
              <a:rPr lang="en-US" sz="1400" b="1" dirty="0">
                <a:latin typeface="Consolas" charset="0"/>
                <a:ea typeface="Consolas" charset="0"/>
                <a:cs typeface="Consolas" charset="0"/>
              </a:rPr>
              <a:t>	@Override</a:t>
            </a:r>
          </a:p>
          <a:p>
            <a:pPr marL="182880" indent="0">
              <a:lnSpc>
                <a:spcPct val="100000"/>
              </a:lnSpc>
              <a:spcAft>
                <a:spcPts val="0"/>
              </a:spcAft>
              <a:buNone/>
            </a:pPr>
            <a:r>
              <a:rPr lang="en-US" sz="1400" b="1" dirty="0">
                <a:latin typeface="Consolas" charset="0"/>
                <a:ea typeface="Consolas" charset="0"/>
                <a:cs typeface="Consolas" charset="0"/>
              </a:rPr>
              <a:t>	public void handle(</a:t>
            </a:r>
            <a:r>
              <a:rPr lang="en-US" sz="1400" b="1" dirty="0" err="1">
                <a:latin typeface="Consolas" charset="0"/>
                <a:ea typeface="Consolas" charset="0"/>
                <a:cs typeface="Consolas" charset="0"/>
              </a:rPr>
              <a:t>KeyEvent</a:t>
            </a:r>
            <a:r>
              <a:rPr lang="en-US" sz="1400" b="1" dirty="0">
                <a:latin typeface="Consolas" charset="0"/>
                <a:ea typeface="Consolas" charset="0"/>
                <a:cs typeface="Consolas" charset="0"/>
              </a:rPr>
              <a:t> event) {</a:t>
            </a:r>
          </a:p>
          <a:p>
            <a:pPr marL="182880" indent="0">
              <a:lnSpc>
                <a:spcPct val="100000"/>
              </a:lnSpc>
              <a:spcAft>
                <a:spcPts val="0"/>
              </a:spcAft>
              <a:buNone/>
            </a:pPr>
            <a:r>
              <a:rPr lang="en-US" sz="1400" b="1" dirty="0">
                <a:latin typeface="Consolas" charset="0"/>
                <a:ea typeface="Consolas" charset="0"/>
                <a:cs typeface="Consolas" charset="0"/>
              </a:rPr>
              <a:t>		if (</a:t>
            </a:r>
            <a:r>
              <a:rPr lang="en-US" sz="1400" b="1" dirty="0" err="1">
                <a:latin typeface="Consolas" charset="0"/>
                <a:ea typeface="Consolas" charset="0"/>
                <a:cs typeface="Consolas" charset="0"/>
              </a:rPr>
              <a:t>event.getCode</a:t>
            </a:r>
            <a:r>
              <a:rPr lang="en-US" sz="1400" b="1" dirty="0">
                <a:latin typeface="Consolas" charset="0"/>
                <a:ea typeface="Consolas" charset="0"/>
                <a:cs typeface="Consolas" charset="0"/>
              </a:rPr>
              <a:t>() == </a:t>
            </a:r>
            <a:r>
              <a:rPr lang="en-US" sz="1400" b="1" dirty="0" err="1">
                <a:latin typeface="Consolas" charset="0"/>
                <a:ea typeface="Consolas" charset="0"/>
                <a:cs typeface="Consolas" charset="0"/>
              </a:rPr>
              <a:t>KeyCode.UP</a:t>
            </a:r>
            <a:r>
              <a:rPr lang="en-US" sz="1400" b="1" dirty="0">
                <a:latin typeface="Consolas" charset="0"/>
                <a:ea typeface="Consolas" charset="0"/>
                <a:cs typeface="Consolas" charset="0"/>
              </a:rPr>
              <a:t>) {</a:t>
            </a:r>
          </a:p>
          <a:p>
            <a:pPr marL="182880" indent="0">
              <a:lnSpc>
                <a:spcPct val="100000"/>
              </a:lnSpc>
              <a:spcAft>
                <a:spcPts val="0"/>
              </a:spcAft>
              <a:buNone/>
            </a:pPr>
            <a:r>
              <a:rPr lang="en-US" sz="1400" b="1" dirty="0">
                <a:latin typeface="Consolas" charset="0"/>
                <a:ea typeface="Consolas" charset="0"/>
                <a:cs typeface="Consolas" charset="0"/>
              </a:rPr>
              <a:t>			</a:t>
            </a:r>
            <a:r>
              <a:rPr lang="en-US" sz="1400" b="1" dirty="0" err="1">
                <a:latin typeface="Consolas" charset="0"/>
                <a:ea typeface="Consolas" charset="0"/>
                <a:cs typeface="Consolas" charset="0"/>
              </a:rPr>
              <a:t>waldo.setY</a:t>
            </a:r>
            <a:r>
              <a:rPr lang="en-US" sz="1400" b="1" dirty="0">
                <a:latin typeface="Consolas" charset="0"/>
                <a:ea typeface="Consolas" charset="0"/>
                <a:cs typeface="Consolas" charset="0"/>
              </a:rPr>
              <a:t>(</a:t>
            </a:r>
            <a:r>
              <a:rPr lang="en-US" sz="1400" b="1" dirty="0" err="1">
                <a:latin typeface="Consolas" charset="0"/>
                <a:ea typeface="Consolas" charset="0"/>
                <a:cs typeface="Consolas" charset="0"/>
              </a:rPr>
              <a:t>waldo.getY</a:t>
            </a:r>
            <a:r>
              <a:rPr lang="en-US" sz="1400" b="1" dirty="0">
                <a:latin typeface="Consolas" charset="0"/>
                <a:ea typeface="Consolas" charset="0"/>
                <a:cs typeface="Consolas" charset="0"/>
              </a:rPr>
              <a:t>()-2);</a:t>
            </a:r>
          </a:p>
          <a:p>
            <a:pPr marL="182880" indent="0">
              <a:lnSpc>
                <a:spcPct val="100000"/>
              </a:lnSpc>
              <a:spcAft>
                <a:spcPts val="0"/>
              </a:spcAft>
              <a:buNone/>
            </a:pPr>
            <a:r>
              <a:rPr lang="en-US" sz="1400" b="1" dirty="0">
                <a:latin typeface="Consolas" charset="0"/>
                <a:ea typeface="Consolas" charset="0"/>
                <a:cs typeface="Consolas" charset="0"/>
              </a:rPr>
              <a:t>		} else if (</a:t>
            </a:r>
            <a:r>
              <a:rPr lang="en-US" sz="1400" b="1" dirty="0" err="1">
                <a:latin typeface="Consolas" charset="0"/>
                <a:ea typeface="Consolas" charset="0"/>
                <a:cs typeface="Consolas" charset="0"/>
              </a:rPr>
              <a:t>event.getCode</a:t>
            </a:r>
            <a:r>
              <a:rPr lang="en-US" sz="1400" b="1" dirty="0">
                <a:latin typeface="Consolas" charset="0"/>
                <a:ea typeface="Consolas" charset="0"/>
                <a:cs typeface="Consolas" charset="0"/>
              </a:rPr>
              <a:t>() == </a:t>
            </a:r>
            <a:r>
              <a:rPr lang="en-US" sz="1400" b="1" dirty="0" err="1">
                <a:latin typeface="Consolas" charset="0"/>
                <a:ea typeface="Consolas" charset="0"/>
                <a:cs typeface="Consolas" charset="0"/>
              </a:rPr>
              <a:t>KeyCode.DOWN</a:t>
            </a:r>
            <a:r>
              <a:rPr lang="en-US" sz="1400" b="1" dirty="0">
                <a:latin typeface="Consolas" charset="0"/>
                <a:ea typeface="Consolas" charset="0"/>
                <a:cs typeface="Consolas" charset="0"/>
              </a:rPr>
              <a:t>) {</a:t>
            </a:r>
          </a:p>
          <a:p>
            <a:pPr marL="182880" indent="0">
              <a:lnSpc>
                <a:spcPct val="100000"/>
              </a:lnSpc>
              <a:spcAft>
                <a:spcPts val="0"/>
              </a:spcAft>
              <a:buNone/>
            </a:pPr>
            <a:r>
              <a:rPr lang="en-US" sz="1400" b="1" dirty="0">
                <a:latin typeface="Consolas" charset="0"/>
                <a:ea typeface="Consolas" charset="0"/>
                <a:cs typeface="Consolas" charset="0"/>
              </a:rPr>
              <a:t>			</a:t>
            </a:r>
            <a:r>
              <a:rPr lang="en-US" sz="1400" b="1" dirty="0" err="1">
                <a:latin typeface="Consolas" charset="0"/>
                <a:ea typeface="Consolas" charset="0"/>
                <a:cs typeface="Consolas" charset="0"/>
              </a:rPr>
              <a:t>waldo.setY</a:t>
            </a:r>
            <a:r>
              <a:rPr lang="en-US" sz="1400" b="1" dirty="0">
                <a:latin typeface="Consolas" charset="0"/>
                <a:ea typeface="Consolas" charset="0"/>
                <a:cs typeface="Consolas" charset="0"/>
              </a:rPr>
              <a:t>(</a:t>
            </a:r>
            <a:r>
              <a:rPr lang="en-US" sz="1400" b="1" dirty="0" err="1">
                <a:latin typeface="Consolas" charset="0"/>
                <a:ea typeface="Consolas" charset="0"/>
                <a:cs typeface="Consolas" charset="0"/>
              </a:rPr>
              <a:t>waldo.getY</a:t>
            </a:r>
            <a:r>
              <a:rPr lang="en-US" sz="1400" b="1" dirty="0">
                <a:latin typeface="Consolas" charset="0"/>
                <a:ea typeface="Consolas" charset="0"/>
                <a:cs typeface="Consolas" charset="0"/>
              </a:rPr>
              <a:t>()+2);</a:t>
            </a:r>
          </a:p>
          <a:p>
            <a:pPr marL="182880" indent="0">
              <a:lnSpc>
                <a:spcPct val="100000"/>
              </a:lnSpc>
              <a:spcAft>
                <a:spcPts val="0"/>
              </a:spcAft>
              <a:buNone/>
            </a:pPr>
            <a:r>
              <a:rPr lang="en-US" sz="1400" b="1" dirty="0">
                <a:latin typeface="Consolas" charset="0"/>
                <a:ea typeface="Consolas" charset="0"/>
                <a:cs typeface="Consolas" charset="0"/>
              </a:rPr>
              <a:t>		} else if (</a:t>
            </a:r>
            <a:r>
              <a:rPr lang="en-US" sz="1400" b="1" dirty="0" err="1">
                <a:latin typeface="Consolas" charset="0"/>
                <a:ea typeface="Consolas" charset="0"/>
                <a:cs typeface="Consolas" charset="0"/>
              </a:rPr>
              <a:t>event.getCode</a:t>
            </a:r>
            <a:r>
              <a:rPr lang="en-US" sz="1400" b="1" dirty="0">
                <a:latin typeface="Consolas" charset="0"/>
                <a:ea typeface="Consolas" charset="0"/>
                <a:cs typeface="Consolas" charset="0"/>
              </a:rPr>
              <a:t>() == </a:t>
            </a:r>
            <a:r>
              <a:rPr lang="en-US" sz="1400" b="1" dirty="0" err="1">
                <a:latin typeface="Consolas" charset="0"/>
                <a:ea typeface="Consolas" charset="0"/>
                <a:cs typeface="Consolas" charset="0"/>
              </a:rPr>
              <a:t>KeyCode.LEFT</a:t>
            </a:r>
            <a:r>
              <a:rPr lang="en-US" sz="1400" b="1" dirty="0">
                <a:latin typeface="Consolas" charset="0"/>
                <a:ea typeface="Consolas" charset="0"/>
                <a:cs typeface="Consolas" charset="0"/>
              </a:rPr>
              <a:t>) {</a:t>
            </a:r>
          </a:p>
          <a:p>
            <a:pPr marL="182880" indent="0">
              <a:lnSpc>
                <a:spcPct val="100000"/>
              </a:lnSpc>
              <a:spcAft>
                <a:spcPts val="0"/>
              </a:spcAft>
              <a:buNone/>
            </a:pPr>
            <a:r>
              <a:rPr lang="en-US" sz="1400" b="1" dirty="0">
                <a:latin typeface="Consolas" charset="0"/>
                <a:ea typeface="Consolas" charset="0"/>
                <a:cs typeface="Consolas" charset="0"/>
              </a:rPr>
              <a:t>			</a:t>
            </a:r>
            <a:r>
              <a:rPr lang="en-US" sz="1400" b="1" dirty="0" err="1">
                <a:latin typeface="Consolas" charset="0"/>
                <a:ea typeface="Consolas" charset="0"/>
                <a:cs typeface="Consolas" charset="0"/>
              </a:rPr>
              <a:t>waldo.setX</a:t>
            </a:r>
            <a:r>
              <a:rPr lang="en-US" sz="1400" b="1" dirty="0">
                <a:latin typeface="Consolas" charset="0"/>
                <a:ea typeface="Consolas" charset="0"/>
                <a:cs typeface="Consolas" charset="0"/>
              </a:rPr>
              <a:t>(</a:t>
            </a:r>
            <a:r>
              <a:rPr lang="en-US" sz="1400" b="1" dirty="0" err="1">
                <a:latin typeface="Consolas" charset="0"/>
                <a:ea typeface="Consolas" charset="0"/>
                <a:cs typeface="Consolas" charset="0"/>
              </a:rPr>
              <a:t>waldo.getX</a:t>
            </a:r>
            <a:r>
              <a:rPr lang="en-US" sz="1400" b="1" dirty="0">
                <a:latin typeface="Consolas" charset="0"/>
                <a:ea typeface="Consolas" charset="0"/>
                <a:cs typeface="Consolas" charset="0"/>
              </a:rPr>
              <a:t>()-2);</a:t>
            </a:r>
          </a:p>
          <a:p>
            <a:pPr marL="182880" indent="0">
              <a:lnSpc>
                <a:spcPct val="100000"/>
              </a:lnSpc>
              <a:spcAft>
                <a:spcPts val="0"/>
              </a:spcAft>
              <a:buNone/>
            </a:pPr>
            <a:r>
              <a:rPr lang="en-US" sz="1400" b="1" dirty="0">
                <a:latin typeface="Consolas" charset="0"/>
                <a:ea typeface="Consolas" charset="0"/>
                <a:cs typeface="Consolas" charset="0"/>
              </a:rPr>
              <a:t>		} else if (</a:t>
            </a:r>
            <a:r>
              <a:rPr lang="en-US" sz="1400" b="1" dirty="0" err="1">
                <a:latin typeface="Consolas" charset="0"/>
                <a:ea typeface="Consolas" charset="0"/>
                <a:cs typeface="Consolas" charset="0"/>
              </a:rPr>
              <a:t>event.getCode</a:t>
            </a:r>
            <a:r>
              <a:rPr lang="en-US" sz="1400" b="1" dirty="0">
                <a:latin typeface="Consolas" charset="0"/>
                <a:ea typeface="Consolas" charset="0"/>
                <a:cs typeface="Consolas" charset="0"/>
              </a:rPr>
              <a:t>() == </a:t>
            </a:r>
            <a:r>
              <a:rPr lang="en-US" sz="1400" b="1" dirty="0" err="1">
                <a:latin typeface="Consolas" charset="0"/>
                <a:ea typeface="Consolas" charset="0"/>
                <a:cs typeface="Consolas" charset="0"/>
              </a:rPr>
              <a:t>KeyCode.RIGHT</a:t>
            </a:r>
            <a:r>
              <a:rPr lang="en-US" sz="1400" b="1" dirty="0">
                <a:latin typeface="Consolas" charset="0"/>
                <a:ea typeface="Consolas" charset="0"/>
                <a:cs typeface="Consolas" charset="0"/>
              </a:rPr>
              <a:t>) {</a:t>
            </a:r>
          </a:p>
          <a:p>
            <a:pPr marL="182880" indent="0">
              <a:lnSpc>
                <a:spcPct val="100000"/>
              </a:lnSpc>
              <a:spcAft>
                <a:spcPts val="0"/>
              </a:spcAft>
              <a:buNone/>
            </a:pPr>
            <a:r>
              <a:rPr lang="en-US" sz="1400" b="1" dirty="0">
                <a:latin typeface="Consolas" charset="0"/>
                <a:ea typeface="Consolas" charset="0"/>
                <a:cs typeface="Consolas" charset="0"/>
              </a:rPr>
              <a:t>			</a:t>
            </a:r>
            <a:r>
              <a:rPr lang="en-US" sz="1400" b="1" dirty="0" err="1">
                <a:latin typeface="Consolas" charset="0"/>
                <a:ea typeface="Consolas" charset="0"/>
                <a:cs typeface="Consolas" charset="0"/>
              </a:rPr>
              <a:t>waldo.setX</a:t>
            </a:r>
            <a:r>
              <a:rPr lang="en-US" sz="1400" b="1" dirty="0">
                <a:latin typeface="Consolas" charset="0"/>
                <a:ea typeface="Consolas" charset="0"/>
                <a:cs typeface="Consolas" charset="0"/>
              </a:rPr>
              <a:t>(</a:t>
            </a:r>
            <a:r>
              <a:rPr lang="en-US" sz="1400" b="1" dirty="0" err="1">
                <a:latin typeface="Consolas" charset="0"/>
                <a:ea typeface="Consolas" charset="0"/>
                <a:cs typeface="Consolas" charset="0"/>
              </a:rPr>
              <a:t>waldo.getX</a:t>
            </a:r>
            <a:r>
              <a:rPr lang="en-US" sz="1400" b="1" dirty="0">
                <a:latin typeface="Consolas" charset="0"/>
                <a:ea typeface="Consolas" charset="0"/>
                <a:cs typeface="Consolas" charset="0"/>
              </a:rPr>
              <a:t>()+2);</a:t>
            </a:r>
          </a:p>
          <a:p>
            <a:pPr marL="182880" indent="0">
              <a:lnSpc>
                <a:spcPct val="100000"/>
              </a:lnSpc>
              <a:spcAft>
                <a:spcPts val="0"/>
              </a:spcAft>
              <a:buNone/>
            </a:pPr>
            <a:r>
              <a:rPr lang="en-US" sz="1400" b="1" dirty="0">
                <a:latin typeface="Consolas" charset="0"/>
                <a:ea typeface="Consolas" charset="0"/>
                <a:cs typeface="Consolas" charset="0"/>
              </a:rPr>
              <a:t>		} </a:t>
            </a:r>
          </a:p>
          <a:p>
            <a:pPr marL="182880" indent="0">
              <a:lnSpc>
                <a:spcPct val="100000"/>
              </a:lnSpc>
              <a:spcAft>
                <a:spcPts val="0"/>
              </a:spcAft>
              <a:buNone/>
            </a:pPr>
            <a:r>
              <a:rPr lang="en-US" sz="1400" b="1" dirty="0">
                <a:latin typeface="Consolas" charset="0"/>
                <a:ea typeface="Consolas" charset="0"/>
                <a:cs typeface="Consolas" charset="0"/>
              </a:rPr>
              <a:t>	}</a:t>
            </a:r>
          </a:p>
          <a:p>
            <a:pPr marL="182880" indent="0">
              <a:lnSpc>
                <a:spcPct val="100000"/>
              </a:lnSpc>
              <a:spcAft>
                <a:spcPts val="0"/>
              </a:spcAft>
              <a:buNone/>
            </a:pPr>
            <a:r>
              <a:rPr lang="en-US" sz="1400" b="1" dirty="0">
                <a:latin typeface="Consolas" charset="0"/>
                <a:ea typeface="Consolas" charset="0"/>
                <a:cs typeface="Consolas" charset="0"/>
              </a:rPr>
              <a:t>});</a:t>
            </a:r>
          </a:p>
          <a:p>
            <a:pPr marL="182880" indent="0">
              <a:lnSpc>
                <a:spcPct val="100000"/>
              </a:lnSpc>
              <a:spcAft>
                <a:spcPts val="0"/>
              </a:spcAft>
              <a:buNone/>
            </a:pPr>
            <a:r>
              <a:rPr lang="en-US" sz="1400" b="1" dirty="0" err="1">
                <a:latin typeface="Consolas" charset="0"/>
                <a:ea typeface="Consolas" charset="0"/>
                <a:cs typeface="Consolas" charset="0"/>
              </a:rPr>
              <a:t>p.getChildren</a:t>
            </a:r>
            <a:r>
              <a:rPr lang="en-US" sz="1400" b="1" dirty="0">
                <a:latin typeface="Consolas" charset="0"/>
                <a:ea typeface="Consolas" charset="0"/>
                <a:cs typeface="Consolas" charset="0"/>
              </a:rPr>
              <a:t>().add(</a:t>
            </a:r>
            <a:r>
              <a:rPr lang="en-US" sz="1400" b="1" dirty="0" err="1">
                <a:latin typeface="Consolas" charset="0"/>
                <a:ea typeface="Consolas" charset="0"/>
                <a:cs typeface="Consolas" charset="0"/>
              </a:rPr>
              <a:t>waldo</a:t>
            </a:r>
            <a:r>
              <a:rPr lang="en-US" sz="1400" b="1" dirty="0">
                <a:latin typeface="Consolas" charset="0"/>
                <a:ea typeface="Consolas" charset="0"/>
                <a:cs typeface="Consolas" charset="0"/>
              </a:rPr>
              <a:t>);</a:t>
            </a:r>
          </a:p>
          <a:p>
            <a:pPr marL="182880" indent="0">
              <a:lnSpc>
                <a:spcPct val="100000"/>
              </a:lnSpc>
              <a:spcAft>
                <a:spcPts val="0"/>
              </a:spcAft>
              <a:buNone/>
            </a:pPr>
            <a:r>
              <a:rPr lang="en-US" sz="1400" b="1" dirty="0" err="1">
                <a:latin typeface="Consolas" charset="0"/>
                <a:ea typeface="Consolas" charset="0"/>
                <a:cs typeface="Consolas" charset="0"/>
              </a:rPr>
              <a:t>primaryStage.setTitle</a:t>
            </a:r>
            <a:r>
              <a:rPr lang="en-US" sz="1400" b="1" dirty="0">
                <a:latin typeface="Consolas" charset="0"/>
                <a:ea typeface="Consolas" charset="0"/>
                <a:cs typeface="Consolas" charset="0"/>
              </a:rPr>
              <a:t>("Where's Waldo?");</a:t>
            </a:r>
          </a:p>
          <a:p>
            <a:pPr marL="182880" indent="0">
              <a:lnSpc>
                <a:spcPct val="100000"/>
              </a:lnSpc>
              <a:spcAft>
                <a:spcPts val="0"/>
              </a:spcAft>
              <a:buNone/>
            </a:pPr>
            <a:r>
              <a:rPr lang="en-US" sz="1400" b="1" dirty="0" err="1">
                <a:latin typeface="Consolas" charset="0"/>
                <a:ea typeface="Consolas" charset="0"/>
                <a:cs typeface="Consolas" charset="0"/>
              </a:rPr>
              <a:t>primaryStage.setScene</a:t>
            </a:r>
            <a:r>
              <a:rPr lang="en-US" sz="1400" b="1" dirty="0">
                <a:latin typeface="Consolas" charset="0"/>
                <a:ea typeface="Consolas" charset="0"/>
                <a:cs typeface="Consolas" charset="0"/>
              </a:rPr>
              <a:t>(new Scene(p, 200, 200));</a:t>
            </a:r>
          </a:p>
          <a:p>
            <a:pPr marL="182880" indent="0">
              <a:lnSpc>
                <a:spcPct val="100000"/>
              </a:lnSpc>
              <a:spcAft>
                <a:spcPts val="0"/>
              </a:spcAft>
              <a:buNone/>
            </a:pPr>
            <a:r>
              <a:rPr lang="en-US" sz="1400" b="1" dirty="0" err="1">
                <a:latin typeface="Consolas" charset="0"/>
                <a:ea typeface="Consolas" charset="0"/>
                <a:cs typeface="Consolas" charset="0"/>
              </a:rPr>
              <a:t>primaryStage.show</a:t>
            </a:r>
            <a:r>
              <a:rPr lang="en-US" sz="1400" b="1" dirty="0">
                <a:latin typeface="Consolas" charset="0"/>
                <a:ea typeface="Consolas" charset="0"/>
                <a:cs typeface="Consolas" charset="0"/>
              </a:rPr>
              <a:t>();</a:t>
            </a:r>
          </a:p>
          <a:p>
            <a:pPr marL="182880" indent="0">
              <a:lnSpc>
                <a:spcPct val="100000"/>
              </a:lnSpc>
              <a:spcAft>
                <a:spcPts val="0"/>
              </a:spcAft>
              <a:buNone/>
            </a:pPr>
            <a:r>
              <a:rPr lang="en-US" sz="1400" b="1" dirty="0" err="1">
                <a:latin typeface="Consolas" charset="0"/>
                <a:ea typeface="Consolas" charset="0"/>
                <a:cs typeface="Consolas" charset="0"/>
              </a:rPr>
              <a:t>waldo.requestFocus</a:t>
            </a:r>
            <a:r>
              <a:rPr lang="en-US" sz="1400" b="1" dirty="0">
                <a:latin typeface="Consolas" charset="0"/>
                <a:ea typeface="Consolas" charset="0"/>
                <a:cs typeface="Consolas" charset="0"/>
              </a:rPr>
              <a:t>();</a:t>
            </a:r>
          </a:p>
        </p:txBody>
      </p:sp>
    </p:spTree>
    <p:extLst>
      <p:ext uri="{BB962C8B-B14F-4D97-AF65-F5344CB8AC3E}">
        <p14:creationId xmlns:p14="http://schemas.microsoft.com/office/powerpoint/2010/main" val="494358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55DDA-83C8-9CE8-CDFB-F16A1055C6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185B5-1265-1D27-0143-F867673C8C0C}"/>
              </a:ext>
            </a:extLst>
          </p:cNvPr>
          <p:cNvSpPr>
            <a:spLocks noGrp="1"/>
          </p:cNvSpPr>
          <p:nvPr>
            <p:ph type="title"/>
          </p:nvPr>
        </p:nvSpPr>
        <p:spPr/>
        <p:txBody>
          <a:bodyPr>
            <a:normAutofit/>
          </a:bodyPr>
          <a:lstStyle/>
          <a:p>
            <a:r>
              <a:rPr lang="en-US" dirty="0"/>
              <a:t>More JavaFX Examples</a:t>
            </a:r>
          </a:p>
        </p:txBody>
      </p:sp>
      <p:sp>
        <p:nvSpPr>
          <p:cNvPr id="3" name="Content Placeholder 2">
            <a:extLst>
              <a:ext uri="{FF2B5EF4-FFF2-40B4-BE49-F238E27FC236}">
                <a16:creationId xmlns:a16="http://schemas.microsoft.com/office/drawing/2014/main" id="{CBD4FF6F-01A5-3CEE-5899-3FB1CFCD6EA4}"/>
              </a:ext>
            </a:extLst>
          </p:cNvPr>
          <p:cNvSpPr>
            <a:spLocks noGrp="1"/>
          </p:cNvSpPr>
          <p:nvPr>
            <p:ph idx="4294967295"/>
          </p:nvPr>
        </p:nvSpPr>
        <p:spPr>
          <a:xfrm>
            <a:off x="504507" y="1409292"/>
            <a:ext cx="9071610" cy="5343668"/>
          </a:xfrm>
          <a:prstGeom prst="rect">
            <a:avLst/>
          </a:prstGeom>
        </p:spPr>
        <p:txBody>
          <a:bodyPr>
            <a:noAutofit/>
          </a:bodyPr>
          <a:lstStyle/>
          <a:p>
            <a:pPr marL="182880" indent="0">
              <a:lnSpc>
                <a:spcPct val="100000"/>
              </a:lnSpc>
              <a:spcAft>
                <a:spcPts val="0"/>
              </a:spcAft>
              <a:buNone/>
            </a:pPr>
            <a:endParaRPr lang="en-US" sz="1400" b="1" dirty="0">
              <a:latin typeface="Consolas" charset="0"/>
              <a:ea typeface="Consolas" charset="0"/>
              <a:cs typeface="Consolas" charset="0"/>
            </a:endParaRPr>
          </a:p>
        </p:txBody>
      </p:sp>
    </p:spTree>
    <p:extLst>
      <p:ext uri="{BB962C8B-B14F-4D97-AF65-F5344CB8AC3E}">
        <p14:creationId xmlns:p14="http://schemas.microsoft.com/office/powerpoint/2010/main" val="4208292035"/>
      </p:ext>
    </p:extLst>
  </p:cSld>
  <p:clrMapOvr>
    <a:masterClrMapping/>
  </p:clrMapOvr>
</p:sld>
</file>

<file path=ppt/theme/theme1.xml><?xml version="1.0" encoding="utf-8"?>
<a:theme xmlns:a="http://schemas.openxmlformats.org/drawingml/2006/main" name="comp1000 titl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omic Sans MS"/>
        <a:ea typeface="msmincho"/>
        <a:cs typeface="msmincho"/>
      </a:majorFont>
      <a:minorFont>
        <a:latin typeface="Comic Sans MS"/>
        <a:ea typeface="msmincho"/>
        <a:cs typeface="msmincho"/>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defRPr kumimoji="0" lang="en-US" sz="2400" b="0" i="0" u="none" strike="noStrike" cap="none" normalizeH="0" baseline="0" smtClean="0">
            <a:ln>
              <a:noFill/>
            </a:ln>
            <a:effectLst/>
            <a:latin typeface="Bitstream Vera Serif" pitchFamily="16"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defRPr kumimoji="0" lang="en-US" sz="2400" b="0" i="0" u="none" strike="noStrike" cap="none" normalizeH="0" baseline="0" smtClean="0">
            <a:ln>
              <a:noFill/>
            </a:ln>
            <a:effectLst/>
            <a:latin typeface="Bitstream Vera Serif" pitchFamily="16"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omp1050" id="{11D25B1B-902C-4B4C-8A1B-85A2907C13B6}" vid="{F4BC01AD-2D5C-4646-84B3-8A39092DAA06}"/>
    </a:ext>
  </a:extLst>
</a:theme>
</file>

<file path=ppt/theme/theme2.xml><?xml version="1.0" encoding="utf-8"?>
<a:theme xmlns:a="http://schemas.openxmlformats.org/drawingml/2006/main" name="comp1000">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omic Sans MS"/>
        <a:ea typeface="msmincho"/>
        <a:cs typeface="msmincho"/>
      </a:majorFont>
      <a:minorFont>
        <a:latin typeface="Comic Sans MS"/>
        <a:ea typeface="msmincho"/>
        <a:cs typeface="msmincho"/>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defRPr kumimoji="0" lang="en-US" sz="2400" b="0" i="0" u="none" strike="noStrike" cap="none" normalizeH="0" baseline="0" smtClean="0">
            <a:ln>
              <a:noFill/>
            </a:ln>
            <a:effectLst/>
            <a:latin typeface="Bitstream Vera Serif" pitchFamily="16"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8000"/>
          </a:lnSpc>
          <a:spcBef>
            <a:spcPct val="0"/>
          </a:spcBef>
          <a:spcAft>
            <a:spcPct val="0"/>
          </a:spcAft>
          <a:buClr>
            <a:srgbClr val="000000"/>
          </a:buClr>
          <a:buSzPct val="100000"/>
          <a:buFont typeface="Times New Roman" pitchFamily="16" charset="0"/>
          <a:buNone/>
          <a:tabLst/>
          <a:defRPr kumimoji="0" lang="en-US" sz="2400" b="0" i="0" u="none" strike="noStrike" cap="none" normalizeH="0" baseline="0" smtClean="0">
            <a:ln>
              <a:noFill/>
            </a:ln>
            <a:effectLst/>
            <a:latin typeface="Bitstream Vera Serif" pitchFamily="16"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omp1050" id="{11D25B1B-902C-4B4C-8A1B-85A2907C13B6}" vid="{58E7F4CB-296A-CC41-895D-204CB6F6FDE3}"/>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comp1050</Template>
  <TotalTime>8838</TotalTime>
  <Words>3855</Words>
  <Application>Microsoft Office PowerPoint</Application>
  <PresentationFormat>Custom</PresentationFormat>
  <Paragraphs>442</Paragraphs>
  <Slides>35</Slides>
  <Notes>21</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35</vt:i4>
      </vt:variant>
    </vt:vector>
  </HeadingPairs>
  <TitlesOfParts>
    <vt:vector size="48" baseType="lpstr">
      <vt:lpstr>Arial</vt:lpstr>
      <vt:lpstr>Bitstream Vera Serif</vt:lpstr>
      <vt:lpstr>Comic Sans MS</vt:lpstr>
      <vt:lpstr>Consolas</vt:lpstr>
      <vt:lpstr>Georgia</vt:lpstr>
      <vt:lpstr>Merriweather</vt:lpstr>
      <vt:lpstr>Tahoma</vt:lpstr>
      <vt:lpstr>Times New Roman</vt:lpstr>
      <vt:lpstr>Verdana</vt:lpstr>
      <vt:lpstr>Wingdings</vt:lpstr>
      <vt:lpstr>comp1000 title</vt:lpstr>
      <vt:lpstr>comp1000</vt:lpstr>
      <vt:lpstr>Microsoft Word Picture</vt:lpstr>
      <vt:lpstr>Welcome to COMP1050!</vt:lpstr>
      <vt:lpstr>PowerPoint Presentation</vt:lpstr>
      <vt:lpstr>Introduction to JavaFX</vt:lpstr>
      <vt:lpstr>Key Features</vt:lpstr>
      <vt:lpstr>Setting Up JavaFX  in Eclipse</vt:lpstr>
      <vt:lpstr>Configure the JavaFX SDK</vt:lpstr>
      <vt:lpstr>Update JavaFX VM Arguments</vt:lpstr>
      <vt:lpstr>Setting Up JavaFX  with E(fx)clipse</vt:lpstr>
      <vt:lpstr>Basic Structure of JavaFX Application</vt:lpstr>
      <vt:lpstr>My First JavaFX Application</vt:lpstr>
      <vt:lpstr>My First JavaFX Application</vt:lpstr>
      <vt:lpstr>My First JavaFX Application</vt:lpstr>
      <vt:lpstr>My First JavaFX Application (2)</vt:lpstr>
      <vt:lpstr>My First JavaFX Application (3)</vt:lpstr>
      <vt:lpstr>Multiple Windows</vt:lpstr>
      <vt:lpstr>UML Relationships</vt:lpstr>
      <vt:lpstr>JavaFX Pane Examples</vt:lpstr>
      <vt:lpstr>Layout Panes</vt:lpstr>
      <vt:lpstr>Shapes</vt:lpstr>
      <vt:lpstr>Another Example</vt:lpstr>
      <vt:lpstr>A big missing piece: interaction</vt:lpstr>
      <vt:lpstr>Big Picture</vt:lpstr>
      <vt:lpstr>A Simple Example (1)</vt:lpstr>
      <vt:lpstr>A Simple Example (2)</vt:lpstr>
      <vt:lpstr>Exercise</vt:lpstr>
      <vt:lpstr>Solution</vt:lpstr>
      <vt:lpstr>JavaFX Events</vt:lpstr>
      <vt:lpstr>Event Information</vt:lpstr>
      <vt:lpstr>Example User Actions &amp; Handlers</vt:lpstr>
      <vt:lpstr>MouseEvent</vt:lpstr>
      <vt:lpstr>KeyEvent</vt:lpstr>
      <vt:lpstr>KeyCode Constants</vt:lpstr>
      <vt:lpstr>Exercise</vt:lpstr>
      <vt:lpstr>Solution</vt:lpstr>
      <vt:lpstr>More JavaFX 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WIT COMP1050</dc:title>
  <dc:creator>Wiseman, Charles</dc:creator>
  <cp:lastModifiedBy>Folajimi, Yetunde</cp:lastModifiedBy>
  <cp:revision>3</cp:revision>
  <cp:lastPrinted>1601-01-01T00:00:00Z</cp:lastPrinted>
  <dcterms:created xsi:type="dcterms:W3CDTF">2017-09-08T01:15:12Z</dcterms:created>
  <dcterms:modified xsi:type="dcterms:W3CDTF">2025-03-26T17:34:15Z</dcterms:modified>
</cp:coreProperties>
</file>