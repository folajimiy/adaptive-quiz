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x="10083800" cy="7562850"/>
  <p:notesSz cx="100838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75"/>
            <a:ext cx="10081260" cy="1113155"/>
          </a:xfrm>
          <a:custGeom>
            <a:avLst/>
            <a:gdLst/>
            <a:ahLst/>
            <a:cxnLst/>
            <a:rect l="l" t="t" r="r" b="b"/>
            <a:pathLst>
              <a:path w="10081260" h="1113155">
                <a:moveTo>
                  <a:pt x="10080879" y="0"/>
                </a:moveTo>
                <a:lnTo>
                  <a:pt x="0" y="0"/>
                </a:lnTo>
                <a:lnTo>
                  <a:pt x="0" y="1112596"/>
                </a:lnTo>
                <a:lnTo>
                  <a:pt x="10080879" y="1112596"/>
                </a:lnTo>
                <a:lnTo>
                  <a:pt x="10080879" y="0"/>
                </a:lnTo>
                <a:close/>
              </a:path>
            </a:pathLst>
          </a:custGeom>
          <a:solidFill>
            <a:srgbClr val="E2DE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112533"/>
            <a:ext cx="10081260" cy="365125"/>
          </a:xfrm>
          <a:custGeom>
            <a:avLst/>
            <a:gdLst/>
            <a:ahLst/>
            <a:cxnLst/>
            <a:rect l="l" t="t" r="r" b="b"/>
            <a:pathLst>
              <a:path w="10081260" h="365125">
                <a:moveTo>
                  <a:pt x="10080879" y="0"/>
                </a:moveTo>
                <a:lnTo>
                  <a:pt x="0" y="0"/>
                </a:lnTo>
                <a:lnTo>
                  <a:pt x="0" y="364858"/>
                </a:lnTo>
                <a:lnTo>
                  <a:pt x="10080879" y="364858"/>
                </a:lnTo>
                <a:lnTo>
                  <a:pt x="10080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61792" y="1120825"/>
            <a:ext cx="4760214" cy="328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82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2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5128" y="7130478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5"/>
            <a:ext cx="5027295" cy="518159"/>
          </a:xfrm>
          <a:custGeom>
            <a:avLst/>
            <a:gdLst/>
            <a:ahLst/>
            <a:cxnLst/>
            <a:rect l="l" t="t" r="r" b="b"/>
            <a:pathLst>
              <a:path w="5027295" h="518159">
                <a:moveTo>
                  <a:pt x="0" y="518007"/>
                </a:moveTo>
                <a:lnTo>
                  <a:pt x="5026914" y="518007"/>
                </a:lnTo>
                <a:lnTo>
                  <a:pt x="5026914" y="0"/>
                </a:lnTo>
                <a:lnTo>
                  <a:pt x="0" y="0"/>
                </a:lnTo>
                <a:lnTo>
                  <a:pt x="0" y="518007"/>
                </a:lnTo>
                <a:close/>
              </a:path>
            </a:pathLst>
          </a:custGeom>
          <a:solidFill>
            <a:srgbClr val="E2DE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026914" y="0"/>
            <a:ext cx="5053965" cy="513715"/>
          </a:xfrm>
          <a:custGeom>
            <a:avLst/>
            <a:gdLst/>
            <a:ahLst/>
            <a:cxnLst/>
            <a:rect l="l" t="t" r="r" b="b"/>
            <a:pathLst>
              <a:path w="5053965" h="513715">
                <a:moveTo>
                  <a:pt x="5053965" y="0"/>
                </a:moveTo>
                <a:lnTo>
                  <a:pt x="0" y="0"/>
                </a:lnTo>
                <a:lnTo>
                  <a:pt x="0" y="513461"/>
                </a:lnTo>
                <a:lnTo>
                  <a:pt x="5053965" y="513461"/>
                </a:lnTo>
                <a:lnTo>
                  <a:pt x="505396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2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56958" y="1413688"/>
            <a:ext cx="4118610" cy="4838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5128" y="7130478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2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75"/>
            <a:ext cx="10081260" cy="1113155"/>
          </a:xfrm>
          <a:custGeom>
            <a:avLst/>
            <a:gdLst/>
            <a:ahLst/>
            <a:cxnLst/>
            <a:rect l="l" t="t" r="r" b="b"/>
            <a:pathLst>
              <a:path w="10081260" h="1113155">
                <a:moveTo>
                  <a:pt x="10080879" y="0"/>
                </a:moveTo>
                <a:lnTo>
                  <a:pt x="0" y="0"/>
                </a:lnTo>
                <a:lnTo>
                  <a:pt x="0" y="1112596"/>
                </a:lnTo>
                <a:lnTo>
                  <a:pt x="10080879" y="1112596"/>
                </a:lnTo>
                <a:lnTo>
                  <a:pt x="10080879" y="0"/>
                </a:lnTo>
                <a:close/>
              </a:path>
            </a:pathLst>
          </a:custGeom>
          <a:solidFill>
            <a:srgbClr val="E2DE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112533"/>
            <a:ext cx="10081260" cy="365125"/>
          </a:xfrm>
          <a:custGeom>
            <a:avLst/>
            <a:gdLst/>
            <a:ahLst/>
            <a:cxnLst/>
            <a:rect l="l" t="t" r="r" b="b"/>
            <a:pathLst>
              <a:path w="10081260" h="365125">
                <a:moveTo>
                  <a:pt x="10080879" y="0"/>
                </a:moveTo>
                <a:lnTo>
                  <a:pt x="0" y="0"/>
                </a:lnTo>
                <a:lnTo>
                  <a:pt x="0" y="364858"/>
                </a:lnTo>
                <a:lnTo>
                  <a:pt x="10080879" y="364858"/>
                </a:lnTo>
                <a:lnTo>
                  <a:pt x="10080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5128" y="7130478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5128" y="1342263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25"/>
            <a:ext cx="5027295" cy="518159"/>
          </a:xfrm>
          <a:custGeom>
            <a:avLst/>
            <a:gdLst/>
            <a:ahLst/>
            <a:cxnLst/>
            <a:rect l="l" t="t" r="r" b="b"/>
            <a:pathLst>
              <a:path w="5027295" h="518159">
                <a:moveTo>
                  <a:pt x="0" y="518007"/>
                </a:moveTo>
                <a:lnTo>
                  <a:pt x="5026914" y="518007"/>
                </a:lnTo>
                <a:lnTo>
                  <a:pt x="5026914" y="0"/>
                </a:lnTo>
                <a:lnTo>
                  <a:pt x="0" y="0"/>
                </a:lnTo>
                <a:lnTo>
                  <a:pt x="0" y="518007"/>
                </a:lnTo>
                <a:close/>
              </a:path>
            </a:pathLst>
          </a:custGeom>
          <a:solidFill>
            <a:srgbClr val="E2DE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026914" y="0"/>
            <a:ext cx="5053965" cy="513715"/>
          </a:xfrm>
          <a:custGeom>
            <a:avLst/>
            <a:gdLst/>
            <a:ahLst/>
            <a:cxnLst/>
            <a:rect l="l" t="t" r="r" b="b"/>
            <a:pathLst>
              <a:path w="5053965" h="513715">
                <a:moveTo>
                  <a:pt x="5053965" y="0"/>
                </a:moveTo>
                <a:lnTo>
                  <a:pt x="0" y="0"/>
                </a:lnTo>
                <a:lnTo>
                  <a:pt x="0" y="513461"/>
                </a:lnTo>
                <a:lnTo>
                  <a:pt x="5053965" y="513461"/>
                </a:lnTo>
                <a:lnTo>
                  <a:pt x="505396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0165" y="682777"/>
            <a:ext cx="8457565" cy="620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82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2238" y="1413319"/>
            <a:ext cx="8362315" cy="3455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93903" y="7217078"/>
            <a:ext cx="1009650" cy="270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648200" y="7232100"/>
            <a:ext cx="1598295" cy="270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486392" y="7212561"/>
            <a:ext cx="341629" cy="302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1792" y="1120825"/>
            <a:ext cx="4751070" cy="3289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School</a:t>
            </a:r>
            <a:r>
              <a:rPr dirty="0" sz="1950" spc="12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dirty="0" sz="1950" spc="6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Computing</a:t>
            </a:r>
            <a:r>
              <a:rPr dirty="0" sz="1950" spc="12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&amp;</a:t>
            </a:r>
            <a:r>
              <a:rPr dirty="0" sz="1950" spc="10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Data</a:t>
            </a:r>
            <a:r>
              <a:rPr dirty="0" sz="1950" spc="12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spc="-10" b="1">
                <a:solidFill>
                  <a:srgbClr val="FFFFFF"/>
                </a:solidFill>
                <a:latin typeface="Georgia"/>
                <a:cs typeface="Georgia"/>
              </a:rPr>
              <a:t>Science</a:t>
            </a:r>
            <a:endParaRPr sz="195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49541" y="121640"/>
            <a:ext cx="9194165" cy="887730"/>
            <a:chOff x="549541" y="121640"/>
            <a:chExt cx="9194165" cy="88773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4868" y="121640"/>
              <a:ext cx="6707124" cy="8873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3017" y="220726"/>
              <a:ext cx="590080" cy="70269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541" y="198183"/>
              <a:ext cx="585571" cy="70719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5957823" y="6324396"/>
            <a:ext cx="319913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latin typeface="Tahoma"/>
                <a:cs typeface="Tahoma"/>
              </a:rPr>
              <a:t>Professor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Folajimi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5038" y="5944222"/>
            <a:ext cx="4919980" cy="577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00">
                <a:solidFill>
                  <a:srgbClr val="820000"/>
                </a:solidFill>
                <a:latin typeface="Tahoma"/>
                <a:cs typeface="Tahoma"/>
              </a:rPr>
              <a:t>Welcome</a:t>
            </a:r>
            <a:r>
              <a:rPr dirty="0" sz="3600" spc="-70">
                <a:solidFill>
                  <a:srgbClr val="820000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820000"/>
                </a:solidFill>
                <a:latin typeface="Tahoma"/>
                <a:cs typeface="Tahoma"/>
              </a:rPr>
              <a:t>to</a:t>
            </a:r>
            <a:r>
              <a:rPr dirty="0" sz="3600" spc="-60">
                <a:solidFill>
                  <a:srgbClr val="820000"/>
                </a:solidFill>
                <a:latin typeface="Tahoma"/>
                <a:cs typeface="Tahoma"/>
              </a:rPr>
              <a:t> </a:t>
            </a:r>
            <a:r>
              <a:rPr dirty="0" sz="3600" spc="-10">
                <a:solidFill>
                  <a:srgbClr val="820000"/>
                </a:solidFill>
                <a:latin typeface="Tahoma"/>
                <a:cs typeface="Tahoma"/>
              </a:rPr>
              <a:t>COMP1050!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9093" y="2729225"/>
            <a:ext cx="2505212" cy="25621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School</a:t>
            </a:r>
            <a:r>
              <a:rPr dirty="0" sz="1950" spc="12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dirty="0" sz="1950" spc="6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Computing</a:t>
            </a:r>
            <a:r>
              <a:rPr dirty="0" sz="1950" spc="12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&amp;</a:t>
            </a:r>
            <a:r>
              <a:rPr dirty="0" sz="1950" spc="10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b="1">
                <a:solidFill>
                  <a:srgbClr val="FFFFFF"/>
                </a:solidFill>
                <a:latin typeface="Georgia"/>
                <a:cs typeface="Georgia"/>
              </a:rPr>
              <a:t>Data</a:t>
            </a:r>
            <a:r>
              <a:rPr dirty="0" sz="1950" spc="12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950" spc="-10" b="1">
                <a:solidFill>
                  <a:srgbClr val="FFFFFF"/>
                </a:solidFill>
                <a:latin typeface="Georgia"/>
                <a:cs typeface="Georgia"/>
              </a:rPr>
              <a:t>Science</a:t>
            </a:r>
            <a:endParaRPr sz="195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49541" y="121640"/>
            <a:ext cx="9194165" cy="887730"/>
            <a:chOff x="549541" y="121640"/>
            <a:chExt cx="9194165" cy="88773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4868" y="121640"/>
              <a:ext cx="6707124" cy="8873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3017" y="220726"/>
              <a:ext cx="590080" cy="70269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541" y="198183"/>
              <a:ext cx="585571" cy="70719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835276" y="1901977"/>
            <a:ext cx="6715759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0">
                <a:solidFill>
                  <a:srgbClr val="820000"/>
                </a:solidFill>
                <a:latin typeface="Tahoma"/>
                <a:cs typeface="Tahoma"/>
              </a:rPr>
              <a:t>Objects</a:t>
            </a:r>
            <a:r>
              <a:rPr dirty="0" sz="6000" spc="-135">
                <a:solidFill>
                  <a:srgbClr val="820000"/>
                </a:solidFill>
                <a:latin typeface="Tahoma"/>
                <a:cs typeface="Tahoma"/>
              </a:rPr>
              <a:t> </a:t>
            </a:r>
            <a:r>
              <a:rPr dirty="0" sz="6000">
                <a:solidFill>
                  <a:srgbClr val="820000"/>
                </a:solidFill>
                <a:latin typeface="Tahoma"/>
                <a:cs typeface="Tahoma"/>
              </a:rPr>
              <a:t>and</a:t>
            </a:r>
            <a:r>
              <a:rPr dirty="0" sz="6000" spc="-150">
                <a:solidFill>
                  <a:srgbClr val="820000"/>
                </a:solidFill>
                <a:latin typeface="Tahoma"/>
                <a:cs typeface="Tahoma"/>
              </a:rPr>
              <a:t> </a:t>
            </a:r>
            <a:r>
              <a:rPr dirty="0" sz="6000" spc="-10">
                <a:solidFill>
                  <a:srgbClr val="820000"/>
                </a:solidFill>
                <a:latin typeface="Tahoma"/>
                <a:cs typeface="Tahoma"/>
              </a:rPr>
              <a:t>Classes</a:t>
            </a:r>
            <a:endParaRPr sz="6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85109" y="3247606"/>
            <a:ext cx="2901275" cy="39151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802890">
              <a:lnSpc>
                <a:spcPct val="100000"/>
              </a:lnSpc>
              <a:spcBef>
                <a:spcPts val="120"/>
              </a:spcBef>
            </a:pPr>
            <a:r>
              <a:rPr dirty="0"/>
              <a:t>OOP</a:t>
            </a:r>
            <a:r>
              <a:rPr dirty="0" spc="-15"/>
              <a:t> </a:t>
            </a:r>
            <a:r>
              <a:rPr dirty="0" spc="-10"/>
              <a:t>Concepts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31353"/>
            <a:ext cx="8497570" cy="4478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marR="87630" indent="-274955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 spc="-20">
                <a:latin typeface="Tahoma"/>
                <a:cs typeface="Tahoma"/>
              </a:rPr>
              <a:t>Object-</a:t>
            </a:r>
            <a:r>
              <a:rPr dirty="0" sz="3200">
                <a:latin typeface="Tahoma"/>
                <a:cs typeface="Tahoma"/>
              </a:rPr>
              <a:t>oriented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programming</a:t>
            </a:r>
            <a:r>
              <a:rPr dirty="0" sz="3200" spc="-1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(OOP)</a:t>
            </a:r>
            <a:r>
              <a:rPr dirty="0" sz="3200" spc="-15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involves </a:t>
            </a:r>
            <a:r>
              <a:rPr dirty="0" sz="3200">
                <a:latin typeface="Tahoma"/>
                <a:cs typeface="Tahoma"/>
              </a:rPr>
              <a:t>programming</a:t>
            </a:r>
            <a:r>
              <a:rPr dirty="0" sz="3200" spc="-1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using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 spc="-10" b="1">
                <a:latin typeface="Tahoma"/>
                <a:cs typeface="Tahoma"/>
              </a:rPr>
              <a:t>objects</a:t>
            </a:r>
            <a:r>
              <a:rPr dirty="0" sz="3200" spc="-1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742315" marR="5080" indent="-275590">
              <a:lnSpc>
                <a:spcPts val="3370"/>
              </a:lnSpc>
              <a:spcBef>
                <a:spcPts val="100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object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represents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entity</a:t>
            </a:r>
            <a:r>
              <a:rPr dirty="0" sz="2800" spc="-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real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world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distinctly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identified,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such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desk,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a </a:t>
            </a:r>
            <a:r>
              <a:rPr dirty="0" sz="2800">
                <a:latin typeface="Tahoma"/>
                <a:cs typeface="Tahoma"/>
              </a:rPr>
              <a:t>button,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car,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etc.</a:t>
            </a:r>
            <a:endParaRPr sz="2800">
              <a:latin typeface="Tahoma"/>
              <a:cs typeface="Tahoma"/>
            </a:endParaRPr>
          </a:p>
          <a:p>
            <a:pPr marL="287020" indent="-274320">
              <a:lnSpc>
                <a:spcPts val="3695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object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has…</a:t>
            </a:r>
            <a:endParaRPr sz="3200">
              <a:latin typeface="Tahoma"/>
              <a:cs typeface="Tahoma"/>
            </a:endParaRPr>
          </a:p>
          <a:p>
            <a:pPr marL="467359">
              <a:lnSpc>
                <a:spcPts val="3350"/>
              </a:lnSpc>
              <a:spcBef>
                <a:spcPts val="35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Unique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identity</a:t>
            </a:r>
            <a:r>
              <a:rPr dirty="0" sz="2800" spc="-55" b="1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(think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memory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address)</a:t>
            </a:r>
            <a:endParaRPr sz="2800">
              <a:latin typeface="Tahoma"/>
              <a:cs typeface="Tahoma"/>
            </a:endParaRPr>
          </a:p>
          <a:p>
            <a:pPr marL="742315" marR="506095" indent="-275590">
              <a:lnSpc>
                <a:spcPts val="3370"/>
              </a:lnSpc>
              <a:spcBef>
                <a:spcPts val="90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 b="1">
                <a:latin typeface="Tahoma"/>
                <a:cs typeface="Tahoma"/>
              </a:rPr>
              <a:t>State</a:t>
            </a:r>
            <a:r>
              <a:rPr dirty="0" sz="2800">
                <a:latin typeface="Tahoma"/>
                <a:cs typeface="Tahoma"/>
              </a:rPr>
              <a:t>,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consisting</a:t>
            </a:r>
            <a:r>
              <a:rPr dirty="0" sz="2800" spc="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set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fields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(also </a:t>
            </a:r>
            <a:r>
              <a:rPr dirty="0" sz="2800">
                <a:latin typeface="Tahoma"/>
                <a:cs typeface="Tahoma"/>
              </a:rPr>
              <a:t>known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properties)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their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current</a:t>
            </a:r>
            <a:r>
              <a:rPr dirty="0" sz="2800" spc="-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values</a:t>
            </a:r>
            <a:endParaRPr sz="2800">
              <a:latin typeface="Tahoma"/>
              <a:cs typeface="Tahoma"/>
            </a:endParaRPr>
          </a:p>
          <a:p>
            <a:pPr marL="467359">
              <a:lnSpc>
                <a:spcPts val="3260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 b="1">
                <a:latin typeface="Tahoma"/>
                <a:cs typeface="Tahoma"/>
              </a:rPr>
              <a:t>Behavior</a:t>
            </a:r>
            <a:r>
              <a:rPr dirty="0" sz="2800">
                <a:latin typeface="Tahoma"/>
                <a:cs typeface="Tahoma"/>
              </a:rPr>
              <a:t>,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defined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set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methods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505835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Classes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26819"/>
            <a:ext cx="8583930" cy="411734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87020" marR="794385" indent="-274955">
              <a:lnSpc>
                <a:spcPct val="97600"/>
              </a:lnSpc>
              <a:spcBef>
                <a:spcPts val="20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550">
                <a:latin typeface="Tahoma"/>
                <a:cs typeface="Tahoma"/>
              </a:rPr>
              <a:t>A</a:t>
            </a:r>
            <a:r>
              <a:rPr dirty="0" sz="3550" spc="-50">
                <a:latin typeface="Tahoma"/>
                <a:cs typeface="Tahoma"/>
              </a:rPr>
              <a:t> </a:t>
            </a:r>
            <a:r>
              <a:rPr dirty="0" sz="3550" b="1">
                <a:latin typeface="Tahoma"/>
                <a:cs typeface="Tahoma"/>
              </a:rPr>
              <a:t>class</a:t>
            </a:r>
            <a:r>
              <a:rPr dirty="0" sz="3550" spc="70" b="1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is</a:t>
            </a:r>
            <a:r>
              <a:rPr dirty="0" sz="3550" spc="-2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a</a:t>
            </a:r>
            <a:r>
              <a:rPr dirty="0" sz="3550" spc="-4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template,</a:t>
            </a:r>
            <a:r>
              <a:rPr dirty="0" sz="3550" spc="-2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blue-</a:t>
            </a:r>
            <a:r>
              <a:rPr dirty="0" sz="3550">
                <a:latin typeface="Tahoma"/>
                <a:cs typeface="Tahoma"/>
              </a:rPr>
              <a:t>print,</a:t>
            </a:r>
            <a:r>
              <a:rPr dirty="0" sz="3550" spc="-35">
                <a:latin typeface="Tahoma"/>
                <a:cs typeface="Tahoma"/>
              </a:rPr>
              <a:t> </a:t>
            </a:r>
            <a:r>
              <a:rPr dirty="0" sz="3550" spc="-25">
                <a:latin typeface="Tahoma"/>
                <a:cs typeface="Tahoma"/>
              </a:rPr>
              <a:t>or </a:t>
            </a:r>
            <a:r>
              <a:rPr dirty="0" sz="3750" spc="-90" i="1">
                <a:latin typeface="Tahoma"/>
                <a:cs typeface="Tahoma"/>
              </a:rPr>
              <a:t>contract</a:t>
            </a:r>
            <a:r>
              <a:rPr dirty="0" sz="3750" spc="-80" i="1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that</a:t>
            </a:r>
            <a:r>
              <a:rPr dirty="0" sz="3550" spc="-1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defines</a:t>
            </a:r>
            <a:r>
              <a:rPr dirty="0" sz="3550" spc="-13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what</a:t>
            </a:r>
            <a:r>
              <a:rPr dirty="0" sz="3550" spc="-1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an</a:t>
            </a:r>
            <a:r>
              <a:rPr dirty="0" sz="3550" spc="-5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object’s </a:t>
            </a:r>
            <a:r>
              <a:rPr dirty="0" sz="3550">
                <a:latin typeface="Tahoma"/>
                <a:cs typeface="Tahoma"/>
              </a:rPr>
              <a:t>data</a:t>
            </a:r>
            <a:r>
              <a:rPr dirty="0" sz="3550" spc="-2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fields</a:t>
            </a:r>
            <a:r>
              <a:rPr dirty="0" sz="3550" spc="-5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and</a:t>
            </a:r>
            <a:r>
              <a:rPr dirty="0" sz="3550" spc="-4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methods</a:t>
            </a:r>
            <a:r>
              <a:rPr dirty="0" sz="3550" spc="-5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will</a:t>
            </a:r>
            <a:r>
              <a:rPr dirty="0" sz="3550" spc="-65">
                <a:latin typeface="Tahoma"/>
                <a:cs typeface="Tahoma"/>
              </a:rPr>
              <a:t> </a:t>
            </a:r>
            <a:r>
              <a:rPr dirty="0" sz="3550" spc="-25">
                <a:latin typeface="Tahoma"/>
                <a:cs typeface="Tahoma"/>
              </a:rPr>
              <a:t>be</a:t>
            </a:r>
            <a:endParaRPr sz="3550">
              <a:latin typeface="Tahoma"/>
              <a:cs typeface="Tahoma"/>
            </a:endParaRPr>
          </a:p>
          <a:p>
            <a:pPr marL="742315" marR="338455" indent="-275590">
              <a:lnSpc>
                <a:spcPts val="3760"/>
              </a:lnSpc>
              <a:spcBef>
                <a:spcPts val="150"/>
              </a:spcBef>
            </a:pPr>
            <a:r>
              <a:rPr dirty="0" sz="315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3150">
                <a:latin typeface="Tahoma"/>
                <a:cs typeface="Tahoma"/>
              </a:rPr>
              <a:t>Typically</a:t>
            </a:r>
            <a:r>
              <a:rPr dirty="0" sz="3150" spc="1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in</a:t>
            </a:r>
            <a:r>
              <a:rPr dirty="0" sz="3150" spc="-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its</a:t>
            </a:r>
            <a:r>
              <a:rPr dirty="0" sz="3150" spc="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own</a:t>
            </a:r>
            <a:r>
              <a:rPr dirty="0" sz="3150" spc="-10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file</a:t>
            </a:r>
            <a:r>
              <a:rPr dirty="0" sz="3150" spc="-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(name</a:t>
            </a:r>
            <a:r>
              <a:rPr dirty="0" sz="3150" spc="-3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of</a:t>
            </a:r>
            <a:r>
              <a:rPr dirty="0" sz="3150" spc="1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the</a:t>
            </a:r>
            <a:r>
              <a:rPr dirty="0" sz="3150" spc="-40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file</a:t>
            </a:r>
            <a:r>
              <a:rPr dirty="0" sz="3150" spc="-5">
                <a:latin typeface="Tahoma"/>
                <a:cs typeface="Tahoma"/>
              </a:rPr>
              <a:t> </a:t>
            </a:r>
            <a:r>
              <a:rPr dirty="0" sz="3150" spc="-50">
                <a:latin typeface="Tahoma"/>
                <a:cs typeface="Tahoma"/>
              </a:rPr>
              <a:t>= </a:t>
            </a:r>
            <a:r>
              <a:rPr dirty="0" sz="3150">
                <a:latin typeface="Tahoma"/>
                <a:cs typeface="Tahoma"/>
              </a:rPr>
              <a:t>name</a:t>
            </a:r>
            <a:r>
              <a:rPr dirty="0" sz="3150" spc="-3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of</a:t>
            </a:r>
            <a:r>
              <a:rPr dirty="0" sz="3150" spc="-20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the</a:t>
            </a:r>
            <a:r>
              <a:rPr dirty="0" sz="3150" spc="-35">
                <a:latin typeface="Tahoma"/>
                <a:cs typeface="Tahoma"/>
              </a:rPr>
              <a:t> </a:t>
            </a:r>
            <a:r>
              <a:rPr dirty="0" sz="3150" spc="-10">
                <a:latin typeface="Tahoma"/>
                <a:cs typeface="Tahoma"/>
              </a:rPr>
              <a:t>class)</a:t>
            </a:r>
            <a:endParaRPr sz="3150">
              <a:latin typeface="Tahoma"/>
              <a:cs typeface="Tahoma"/>
            </a:endParaRPr>
          </a:p>
          <a:p>
            <a:pPr marL="287020" indent="-274320">
              <a:lnSpc>
                <a:spcPts val="4170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550">
                <a:latin typeface="Tahoma"/>
                <a:cs typeface="Tahoma"/>
              </a:rPr>
              <a:t>Every</a:t>
            </a:r>
            <a:r>
              <a:rPr dirty="0" sz="3550" spc="-8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object</a:t>
            </a:r>
            <a:r>
              <a:rPr dirty="0" sz="3550" spc="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is</a:t>
            </a:r>
            <a:r>
              <a:rPr dirty="0" sz="3550" spc="-4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an</a:t>
            </a:r>
            <a:r>
              <a:rPr dirty="0" sz="3550" spc="-15">
                <a:latin typeface="Tahoma"/>
                <a:cs typeface="Tahoma"/>
              </a:rPr>
              <a:t> </a:t>
            </a:r>
            <a:r>
              <a:rPr dirty="0" sz="3750" spc="-95" i="1">
                <a:latin typeface="Tahoma"/>
                <a:cs typeface="Tahoma"/>
              </a:rPr>
              <a:t>instance</a:t>
            </a:r>
            <a:r>
              <a:rPr dirty="0" sz="3750" spc="-85" i="1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of</a:t>
            </a:r>
            <a:r>
              <a:rPr dirty="0" sz="3550" spc="-2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some</a:t>
            </a:r>
            <a:r>
              <a:rPr dirty="0" sz="3550" spc="-7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class</a:t>
            </a:r>
            <a:endParaRPr sz="3550">
              <a:latin typeface="Tahoma"/>
              <a:cs typeface="Tahoma"/>
            </a:endParaRPr>
          </a:p>
          <a:p>
            <a:pPr marL="742315" marR="5080" indent="-275590">
              <a:lnSpc>
                <a:spcPts val="3800"/>
              </a:lnSpc>
              <a:spcBef>
                <a:spcPts val="65"/>
              </a:spcBef>
            </a:pPr>
            <a:r>
              <a:rPr dirty="0" sz="315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3150">
                <a:latin typeface="Tahoma"/>
                <a:cs typeface="Tahoma"/>
              </a:rPr>
              <a:t>Think</a:t>
            </a:r>
            <a:r>
              <a:rPr dirty="0" sz="3150" spc="-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of</a:t>
            </a:r>
            <a:r>
              <a:rPr dirty="0" sz="3150" spc="-10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the</a:t>
            </a:r>
            <a:r>
              <a:rPr dirty="0" sz="3150" spc="-1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class</a:t>
            </a:r>
            <a:r>
              <a:rPr dirty="0" sz="3150" spc="1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as</a:t>
            </a:r>
            <a:r>
              <a:rPr dirty="0" sz="3150" spc="-20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the</a:t>
            </a:r>
            <a:r>
              <a:rPr dirty="0" sz="3150" spc="-1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data</a:t>
            </a:r>
            <a:r>
              <a:rPr dirty="0" sz="3150" spc="-4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type,</a:t>
            </a:r>
            <a:r>
              <a:rPr dirty="0" sz="3150" spc="20">
                <a:latin typeface="Tahoma"/>
                <a:cs typeface="Tahoma"/>
              </a:rPr>
              <a:t> </a:t>
            </a:r>
            <a:r>
              <a:rPr dirty="0" sz="3150" spc="-10">
                <a:latin typeface="Tahoma"/>
                <a:cs typeface="Tahoma"/>
              </a:rPr>
              <a:t>whereas </a:t>
            </a:r>
            <a:r>
              <a:rPr dirty="0" sz="3150">
                <a:latin typeface="Tahoma"/>
                <a:cs typeface="Tahoma"/>
              </a:rPr>
              <a:t>an</a:t>
            </a:r>
            <a:r>
              <a:rPr dirty="0" sz="3150" spc="-3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object</a:t>
            </a:r>
            <a:r>
              <a:rPr dirty="0" sz="3150" spc="-1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is</a:t>
            </a:r>
            <a:r>
              <a:rPr dirty="0" sz="3150" spc="-1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a</a:t>
            </a:r>
            <a:r>
              <a:rPr dirty="0" sz="3150" spc="-40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variable</a:t>
            </a:r>
            <a:r>
              <a:rPr dirty="0" sz="3150" spc="-15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of</a:t>
            </a:r>
            <a:r>
              <a:rPr dirty="0" sz="3150" spc="-30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that</a:t>
            </a:r>
            <a:r>
              <a:rPr dirty="0" sz="3150" spc="-35">
                <a:latin typeface="Tahoma"/>
                <a:cs typeface="Tahoma"/>
              </a:rPr>
              <a:t> </a:t>
            </a:r>
            <a:r>
              <a:rPr dirty="0" sz="3150" spc="-20">
                <a:latin typeface="Tahoma"/>
                <a:cs typeface="Tahoma"/>
              </a:rPr>
              <a:t>type</a:t>
            </a:r>
            <a:endParaRPr sz="3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586355">
              <a:lnSpc>
                <a:spcPct val="100000"/>
              </a:lnSpc>
              <a:spcBef>
                <a:spcPts val="120"/>
              </a:spcBef>
            </a:pPr>
            <a:r>
              <a:rPr dirty="0"/>
              <a:t>Example:</a:t>
            </a:r>
            <a:r>
              <a:rPr dirty="0" spc="-75"/>
              <a:t> </a:t>
            </a:r>
            <a:r>
              <a:rPr dirty="0" spc="-10"/>
              <a:t>Circles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1641" y="1521523"/>
            <a:ext cx="3553460" cy="3149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indent="-274320">
              <a:lnSpc>
                <a:spcPts val="3665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Class: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Circle</a:t>
            </a:r>
            <a:endParaRPr sz="3200">
              <a:latin typeface="Tahoma"/>
              <a:cs typeface="Tahoma"/>
            </a:endParaRPr>
          </a:p>
          <a:p>
            <a:pPr marL="467359">
              <a:lnSpc>
                <a:spcPts val="3055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All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circles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20" b="1">
                <a:latin typeface="Tahoma"/>
                <a:cs typeface="Tahoma"/>
              </a:rPr>
              <a:t>have</a:t>
            </a:r>
            <a:r>
              <a:rPr dirty="0" sz="2800" spc="-20">
                <a:latin typeface="Tahoma"/>
                <a:cs typeface="Tahoma"/>
              </a:rPr>
              <a:t>…</a:t>
            </a:r>
            <a:endParaRPr sz="2800">
              <a:latin typeface="Tahoma"/>
              <a:cs typeface="Tahoma"/>
            </a:endParaRPr>
          </a:p>
          <a:p>
            <a:pPr lvl="1" marL="1085215" indent="-274955">
              <a:lnSpc>
                <a:spcPts val="2580"/>
              </a:lnSpc>
              <a:buClr>
                <a:srgbClr val="820000"/>
              </a:buClr>
              <a:buFont typeface="Wingdings"/>
              <a:buChar char=""/>
              <a:tabLst>
                <a:tab pos="1085215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radius</a:t>
            </a:r>
            <a:endParaRPr sz="2400">
              <a:latin typeface="Tahoma"/>
              <a:cs typeface="Tahoma"/>
            </a:endParaRPr>
          </a:p>
          <a:p>
            <a:pPr marL="467359">
              <a:lnSpc>
                <a:spcPts val="3045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All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circles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 spc="-20" b="1">
                <a:latin typeface="Tahoma"/>
                <a:cs typeface="Tahoma"/>
              </a:rPr>
              <a:t>can</a:t>
            </a:r>
            <a:r>
              <a:rPr dirty="0" sz="2800" spc="-20">
                <a:latin typeface="Tahoma"/>
                <a:cs typeface="Tahoma"/>
              </a:rPr>
              <a:t>…</a:t>
            </a:r>
            <a:endParaRPr sz="2800">
              <a:latin typeface="Tahoma"/>
              <a:cs typeface="Tahoma"/>
            </a:endParaRPr>
          </a:p>
          <a:p>
            <a:pPr lvl="1" marL="1085215" indent="-274955">
              <a:lnSpc>
                <a:spcPts val="2585"/>
              </a:lnSpc>
              <a:buClr>
                <a:srgbClr val="820000"/>
              </a:buClr>
              <a:buFont typeface="Wingdings"/>
              <a:buChar char=""/>
              <a:tabLst>
                <a:tab pos="1085215" algn="l"/>
              </a:tabLst>
            </a:pPr>
            <a:r>
              <a:rPr dirty="0" sz="2400">
                <a:latin typeface="Tahoma"/>
                <a:cs typeface="Tahoma"/>
              </a:rPr>
              <a:t>Tell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you</a:t>
            </a:r>
            <a:r>
              <a:rPr dirty="0" sz="2400" spc="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their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area</a:t>
            </a:r>
            <a:endParaRPr sz="2400">
              <a:latin typeface="Tahoma"/>
              <a:cs typeface="Tahoma"/>
            </a:endParaRPr>
          </a:p>
          <a:p>
            <a:pPr lvl="1" marL="1085215" indent="-274955">
              <a:lnSpc>
                <a:spcPts val="2545"/>
              </a:lnSpc>
              <a:buClr>
                <a:srgbClr val="820000"/>
              </a:buClr>
              <a:buFont typeface="Wingdings"/>
              <a:buChar char=""/>
              <a:tabLst>
                <a:tab pos="1085215" algn="l"/>
              </a:tabLst>
            </a:pPr>
            <a:r>
              <a:rPr dirty="0" sz="2400">
                <a:latin typeface="Tahoma"/>
                <a:cs typeface="Tahoma"/>
              </a:rPr>
              <a:t>Get/set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radius</a:t>
            </a:r>
            <a:endParaRPr sz="2400">
              <a:latin typeface="Tahoma"/>
              <a:cs typeface="Tahoma"/>
            </a:endParaRPr>
          </a:p>
          <a:p>
            <a:pPr marL="287020" marR="623570" indent="-274955">
              <a:lnSpc>
                <a:spcPts val="3479"/>
              </a:lnSpc>
              <a:spcBef>
                <a:spcPts val="22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Some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example circles…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96886" y="4599775"/>
            <a:ext cx="2865120" cy="19361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105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c1: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radius=5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ts val="3035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c2: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radius=10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ts val="3055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c3: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radius=5</a:t>
            </a:r>
            <a:endParaRPr sz="2800">
              <a:latin typeface="Tahoma"/>
              <a:cs typeface="Tahoma"/>
            </a:endParaRPr>
          </a:p>
          <a:p>
            <a:pPr marL="629920" indent="-274955">
              <a:lnSpc>
                <a:spcPts val="2565"/>
              </a:lnSpc>
              <a:buClr>
                <a:srgbClr val="820000"/>
              </a:buClr>
              <a:buFont typeface="Wingdings"/>
              <a:buChar char=""/>
              <a:tabLst>
                <a:tab pos="629920" algn="l"/>
              </a:tabLst>
            </a:pPr>
            <a:r>
              <a:rPr dirty="0" sz="2400">
                <a:latin typeface="Tahoma"/>
                <a:cs typeface="Tahoma"/>
              </a:rPr>
              <a:t>Distinct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c1!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3195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c4: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radius=1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53022" y="1581023"/>
            <a:ext cx="1468755" cy="226123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355"/>
              </a:spcBef>
            </a:pPr>
            <a:r>
              <a:rPr dirty="0" sz="1550">
                <a:latin typeface="Tahoma"/>
                <a:cs typeface="Tahoma"/>
              </a:rPr>
              <a:t>Class:</a:t>
            </a:r>
            <a:r>
              <a:rPr dirty="0" sz="1550" spc="45">
                <a:latin typeface="Tahoma"/>
                <a:cs typeface="Tahoma"/>
              </a:rPr>
              <a:t> </a:t>
            </a:r>
            <a:r>
              <a:rPr dirty="0" sz="1550" spc="-10">
                <a:latin typeface="Tahoma"/>
                <a:cs typeface="Tahoma"/>
              </a:rPr>
              <a:t>Circle</a:t>
            </a:r>
            <a:endParaRPr sz="1550">
              <a:latin typeface="Tahoma"/>
              <a:cs typeface="Tahoma"/>
            </a:endParaRPr>
          </a:p>
          <a:p>
            <a:pPr marL="93345">
              <a:lnSpc>
                <a:spcPts val="1855"/>
              </a:lnSpc>
              <a:spcBef>
                <a:spcPts val="1870"/>
              </a:spcBef>
            </a:pP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15">
                <a:latin typeface="Tahoma"/>
                <a:cs typeface="Tahoma"/>
              </a:rPr>
              <a:t> </a:t>
            </a:r>
            <a:r>
              <a:rPr dirty="0" sz="1550" spc="-10">
                <a:latin typeface="Tahoma"/>
                <a:cs typeface="Tahoma"/>
              </a:rPr>
              <a:t>Fields:</a:t>
            </a:r>
            <a:endParaRPr sz="1550">
              <a:latin typeface="Tahoma"/>
              <a:cs typeface="Tahoma"/>
            </a:endParaRPr>
          </a:p>
          <a:p>
            <a:pPr marL="227965" indent="-134620">
              <a:lnSpc>
                <a:spcPts val="1855"/>
              </a:lnSpc>
              <a:buChar char="-"/>
              <a:tabLst>
                <a:tab pos="227965" algn="l"/>
              </a:tabLst>
            </a:pPr>
            <a:r>
              <a:rPr dirty="0" sz="1550" spc="-10">
                <a:latin typeface="Tahoma"/>
                <a:cs typeface="Tahoma"/>
              </a:rPr>
              <a:t>radius</a:t>
            </a:r>
            <a:endParaRPr sz="1550">
              <a:latin typeface="Tahoma"/>
              <a:cs typeface="Tahoma"/>
            </a:endParaRPr>
          </a:p>
          <a:p>
            <a:pPr marL="93345">
              <a:lnSpc>
                <a:spcPts val="1850"/>
              </a:lnSpc>
              <a:spcBef>
                <a:spcPts val="1864"/>
              </a:spcBef>
            </a:pPr>
            <a:r>
              <a:rPr dirty="0" sz="1550" spc="-10">
                <a:latin typeface="Tahoma"/>
                <a:cs typeface="Tahoma"/>
              </a:rPr>
              <a:t>Methods:</a:t>
            </a:r>
            <a:endParaRPr sz="1550">
              <a:latin typeface="Tahoma"/>
              <a:cs typeface="Tahoma"/>
            </a:endParaRPr>
          </a:p>
          <a:p>
            <a:pPr marL="228600" indent="-135255">
              <a:lnSpc>
                <a:spcPts val="1845"/>
              </a:lnSpc>
              <a:buChar char="-"/>
              <a:tabLst>
                <a:tab pos="228600" algn="l"/>
              </a:tabLst>
            </a:pPr>
            <a:r>
              <a:rPr dirty="0" sz="1550" spc="-10">
                <a:latin typeface="Tahoma"/>
                <a:cs typeface="Tahoma"/>
              </a:rPr>
              <a:t>getArea()</a:t>
            </a:r>
            <a:endParaRPr sz="1550">
              <a:latin typeface="Tahoma"/>
              <a:cs typeface="Tahoma"/>
            </a:endParaRPr>
          </a:p>
          <a:p>
            <a:pPr marL="227965" indent="-134620">
              <a:lnSpc>
                <a:spcPts val="1845"/>
              </a:lnSpc>
              <a:buChar char="-"/>
              <a:tabLst>
                <a:tab pos="227965" algn="l"/>
              </a:tabLst>
            </a:pPr>
            <a:r>
              <a:rPr dirty="0" sz="1550" spc="-10">
                <a:latin typeface="Tahoma"/>
                <a:cs typeface="Tahoma"/>
              </a:rPr>
              <a:t>getRadius()</a:t>
            </a:r>
            <a:endParaRPr sz="1550">
              <a:latin typeface="Tahoma"/>
              <a:cs typeface="Tahoma"/>
            </a:endParaRPr>
          </a:p>
          <a:p>
            <a:pPr marL="227965" indent="-134620">
              <a:lnSpc>
                <a:spcPts val="1850"/>
              </a:lnSpc>
              <a:buChar char="-"/>
              <a:tabLst>
                <a:tab pos="227965" algn="l"/>
              </a:tabLst>
            </a:pPr>
            <a:r>
              <a:rPr dirty="0" sz="1550" spc="-10">
                <a:latin typeface="Tahoma"/>
                <a:cs typeface="Tahoma"/>
              </a:rPr>
              <a:t>setRadius(r)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61230" y="5108003"/>
            <a:ext cx="1243330" cy="17526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94615">
              <a:lnSpc>
                <a:spcPts val="1610"/>
              </a:lnSpc>
              <a:spcBef>
                <a:spcPts val="365"/>
              </a:spcBef>
            </a:pPr>
            <a:r>
              <a:rPr dirty="0" sz="1350">
                <a:latin typeface="Tahoma"/>
                <a:cs typeface="Tahoma"/>
              </a:rPr>
              <a:t>Object: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c1</a:t>
            </a:r>
            <a:endParaRPr sz="1350">
              <a:latin typeface="Tahoma"/>
              <a:cs typeface="Tahoma"/>
            </a:endParaRPr>
          </a:p>
          <a:p>
            <a:pPr marL="211454" indent="-116839">
              <a:lnSpc>
                <a:spcPts val="1610"/>
              </a:lnSpc>
              <a:buChar char="-"/>
              <a:tabLst>
                <a:tab pos="211454" algn="l"/>
              </a:tabLst>
            </a:pPr>
            <a:r>
              <a:rPr dirty="0" sz="1350">
                <a:latin typeface="Tahoma"/>
                <a:cs typeface="Tahoma"/>
              </a:rPr>
              <a:t>Class: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Circle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ahoma"/>
              <a:buChar char="-"/>
            </a:pPr>
            <a:endParaRPr sz="135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</a:pPr>
            <a:r>
              <a:rPr dirty="0" sz="1350">
                <a:latin typeface="Tahoma"/>
                <a:cs typeface="Tahoma"/>
              </a:rPr>
              <a:t>Data</a:t>
            </a:r>
            <a:r>
              <a:rPr dirty="0" sz="1350" spc="2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Fields:</a:t>
            </a:r>
            <a:endParaRPr sz="1350">
              <a:latin typeface="Tahoma"/>
              <a:cs typeface="Tahoma"/>
            </a:endParaRPr>
          </a:p>
          <a:p>
            <a:pPr marL="211454" indent="-116839">
              <a:lnSpc>
                <a:spcPct val="100000"/>
              </a:lnSpc>
              <a:spcBef>
                <a:spcPts val="15"/>
              </a:spcBef>
              <a:buChar char="-"/>
              <a:tabLst>
                <a:tab pos="211454" algn="l"/>
              </a:tabLst>
            </a:pPr>
            <a:r>
              <a:rPr dirty="0" sz="1350" spc="-10">
                <a:latin typeface="Tahoma"/>
                <a:cs typeface="Tahoma"/>
              </a:rPr>
              <a:t>radius=5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599048" y="5108003"/>
            <a:ext cx="1243330" cy="17526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92710">
              <a:lnSpc>
                <a:spcPts val="1610"/>
              </a:lnSpc>
              <a:spcBef>
                <a:spcPts val="365"/>
              </a:spcBef>
            </a:pPr>
            <a:r>
              <a:rPr dirty="0" sz="1350">
                <a:latin typeface="Tahoma"/>
                <a:cs typeface="Tahoma"/>
              </a:rPr>
              <a:t>Object: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c2</a:t>
            </a:r>
            <a:endParaRPr sz="1350">
              <a:latin typeface="Tahoma"/>
              <a:cs typeface="Tahoma"/>
            </a:endParaRPr>
          </a:p>
          <a:p>
            <a:pPr marL="209550" indent="-116839">
              <a:lnSpc>
                <a:spcPts val="1610"/>
              </a:lnSpc>
              <a:buChar char="-"/>
              <a:tabLst>
                <a:tab pos="209550" algn="l"/>
              </a:tabLst>
            </a:pPr>
            <a:r>
              <a:rPr dirty="0" sz="1350">
                <a:latin typeface="Tahoma"/>
                <a:cs typeface="Tahoma"/>
              </a:rPr>
              <a:t>Class:</a:t>
            </a:r>
            <a:r>
              <a:rPr dirty="0" sz="1350" spc="4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Circle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ahoma"/>
              <a:buChar char="-"/>
            </a:pPr>
            <a:endParaRPr sz="1350">
              <a:latin typeface="Tahoma"/>
              <a:cs typeface="Tahoma"/>
            </a:endParaRPr>
          </a:p>
          <a:p>
            <a:pPr marL="92710">
              <a:lnSpc>
                <a:spcPct val="100000"/>
              </a:lnSpc>
            </a:pPr>
            <a:r>
              <a:rPr dirty="0" sz="1350">
                <a:latin typeface="Tahoma"/>
                <a:cs typeface="Tahoma"/>
              </a:rPr>
              <a:t>Data</a:t>
            </a:r>
            <a:r>
              <a:rPr dirty="0" sz="1350" spc="2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Fields:</a:t>
            </a:r>
            <a:endParaRPr sz="1350">
              <a:latin typeface="Tahoma"/>
              <a:cs typeface="Tahoma"/>
            </a:endParaRPr>
          </a:p>
          <a:p>
            <a:pPr marL="209550" indent="-116839">
              <a:lnSpc>
                <a:spcPct val="100000"/>
              </a:lnSpc>
              <a:spcBef>
                <a:spcPts val="15"/>
              </a:spcBef>
              <a:buChar char="-"/>
              <a:tabLst>
                <a:tab pos="209550" algn="l"/>
              </a:tabLst>
            </a:pPr>
            <a:r>
              <a:rPr dirty="0" sz="1350" spc="-10">
                <a:latin typeface="Tahoma"/>
                <a:cs typeface="Tahoma"/>
              </a:rPr>
              <a:t>radius=10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932294" y="5108003"/>
            <a:ext cx="1243330" cy="17526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94615">
              <a:lnSpc>
                <a:spcPts val="1610"/>
              </a:lnSpc>
              <a:spcBef>
                <a:spcPts val="365"/>
              </a:spcBef>
            </a:pPr>
            <a:r>
              <a:rPr dirty="0" sz="1350">
                <a:latin typeface="Tahoma"/>
                <a:cs typeface="Tahoma"/>
              </a:rPr>
              <a:t>Object:</a:t>
            </a:r>
            <a:r>
              <a:rPr dirty="0" sz="1350" spc="65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c3</a:t>
            </a:r>
            <a:endParaRPr sz="1350">
              <a:latin typeface="Tahoma"/>
              <a:cs typeface="Tahoma"/>
            </a:endParaRPr>
          </a:p>
          <a:p>
            <a:pPr marL="212090" indent="-117475">
              <a:lnSpc>
                <a:spcPts val="1610"/>
              </a:lnSpc>
              <a:buChar char="-"/>
              <a:tabLst>
                <a:tab pos="212090" algn="l"/>
              </a:tabLst>
            </a:pPr>
            <a:r>
              <a:rPr dirty="0" sz="1350">
                <a:latin typeface="Tahoma"/>
                <a:cs typeface="Tahoma"/>
              </a:rPr>
              <a:t>Class: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Circle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ahoma"/>
              <a:buChar char="-"/>
            </a:pPr>
            <a:endParaRPr sz="135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</a:pPr>
            <a:r>
              <a:rPr dirty="0" sz="1350">
                <a:latin typeface="Tahoma"/>
                <a:cs typeface="Tahoma"/>
              </a:rPr>
              <a:t>Data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Fields:</a:t>
            </a:r>
            <a:endParaRPr sz="1350">
              <a:latin typeface="Tahoma"/>
              <a:cs typeface="Tahoma"/>
            </a:endParaRPr>
          </a:p>
          <a:p>
            <a:pPr marL="211454" indent="-116839">
              <a:lnSpc>
                <a:spcPct val="100000"/>
              </a:lnSpc>
              <a:spcBef>
                <a:spcPts val="15"/>
              </a:spcBef>
              <a:buChar char="-"/>
              <a:tabLst>
                <a:tab pos="211454" algn="l"/>
              </a:tabLst>
            </a:pPr>
            <a:r>
              <a:rPr dirty="0" sz="1350" spc="-10">
                <a:latin typeface="Tahoma"/>
                <a:cs typeface="Tahoma"/>
              </a:rPr>
              <a:t>radius=5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265668" y="5108003"/>
            <a:ext cx="1243330" cy="17526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97155">
              <a:lnSpc>
                <a:spcPts val="1610"/>
              </a:lnSpc>
              <a:spcBef>
                <a:spcPts val="365"/>
              </a:spcBef>
            </a:pPr>
            <a:r>
              <a:rPr dirty="0" sz="1350">
                <a:latin typeface="Tahoma"/>
                <a:cs typeface="Tahoma"/>
              </a:rPr>
              <a:t>Object: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c4</a:t>
            </a:r>
            <a:endParaRPr sz="1350">
              <a:latin typeface="Tahoma"/>
              <a:cs typeface="Tahoma"/>
            </a:endParaRPr>
          </a:p>
          <a:p>
            <a:pPr marL="213995" indent="-116839">
              <a:lnSpc>
                <a:spcPts val="1610"/>
              </a:lnSpc>
              <a:buChar char="-"/>
              <a:tabLst>
                <a:tab pos="213995" algn="l"/>
              </a:tabLst>
            </a:pPr>
            <a:r>
              <a:rPr dirty="0" sz="1350">
                <a:latin typeface="Tahoma"/>
                <a:cs typeface="Tahoma"/>
              </a:rPr>
              <a:t>Class: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Circle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ahoma"/>
              <a:buChar char="-"/>
            </a:pPr>
            <a:endParaRPr sz="1350">
              <a:latin typeface="Tahoma"/>
              <a:cs typeface="Tahoma"/>
            </a:endParaRPr>
          </a:p>
          <a:p>
            <a:pPr marL="97155">
              <a:lnSpc>
                <a:spcPct val="100000"/>
              </a:lnSpc>
            </a:pPr>
            <a:r>
              <a:rPr dirty="0" sz="1350">
                <a:latin typeface="Tahoma"/>
                <a:cs typeface="Tahoma"/>
              </a:rPr>
              <a:t>Data</a:t>
            </a:r>
            <a:r>
              <a:rPr dirty="0" sz="1350" spc="2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Fields:</a:t>
            </a:r>
            <a:endParaRPr sz="1350">
              <a:latin typeface="Tahoma"/>
              <a:cs typeface="Tahoma"/>
            </a:endParaRPr>
          </a:p>
          <a:p>
            <a:pPr marL="213995" indent="-116839">
              <a:lnSpc>
                <a:spcPct val="100000"/>
              </a:lnSpc>
              <a:spcBef>
                <a:spcPts val="15"/>
              </a:spcBef>
              <a:buChar char="-"/>
              <a:tabLst>
                <a:tab pos="213995" algn="l"/>
              </a:tabLst>
            </a:pPr>
            <a:r>
              <a:rPr dirty="0" sz="1350" spc="-10">
                <a:latin typeface="Tahoma"/>
                <a:cs typeface="Tahoma"/>
              </a:rPr>
              <a:t>radius=1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128" y="7130478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0081260" cy="518159"/>
            <a:chOff x="0" y="0"/>
            <a:chExt cx="10081260" cy="518159"/>
          </a:xfrm>
        </p:grpSpPr>
        <p:sp>
          <p:nvSpPr>
            <p:cNvPr id="4" name="object 4" descr=""/>
            <p:cNvSpPr/>
            <p:nvPr/>
          </p:nvSpPr>
          <p:spPr>
            <a:xfrm>
              <a:off x="0" y="25"/>
              <a:ext cx="5027295" cy="518159"/>
            </a:xfrm>
            <a:custGeom>
              <a:avLst/>
              <a:gdLst/>
              <a:ahLst/>
              <a:cxnLst/>
              <a:rect l="l" t="t" r="r" b="b"/>
              <a:pathLst>
                <a:path w="5027295" h="518159">
                  <a:moveTo>
                    <a:pt x="0" y="518007"/>
                  </a:moveTo>
                  <a:lnTo>
                    <a:pt x="5026914" y="518007"/>
                  </a:lnTo>
                  <a:lnTo>
                    <a:pt x="5026914" y="0"/>
                  </a:lnTo>
                  <a:lnTo>
                    <a:pt x="0" y="0"/>
                  </a:lnTo>
                  <a:lnTo>
                    <a:pt x="0" y="518007"/>
                  </a:lnTo>
                  <a:close/>
                </a:path>
              </a:pathLst>
            </a:custGeom>
            <a:solidFill>
              <a:srgbClr val="E2DE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26914" y="0"/>
              <a:ext cx="5053965" cy="513715"/>
            </a:xfrm>
            <a:custGeom>
              <a:avLst/>
              <a:gdLst/>
              <a:ahLst/>
              <a:cxnLst/>
              <a:rect l="l" t="t" r="r" b="b"/>
              <a:pathLst>
                <a:path w="5053965" h="513715">
                  <a:moveTo>
                    <a:pt x="5053965" y="0"/>
                  </a:moveTo>
                  <a:lnTo>
                    <a:pt x="0" y="0"/>
                  </a:lnTo>
                  <a:lnTo>
                    <a:pt x="0" y="513461"/>
                  </a:lnTo>
                  <a:lnTo>
                    <a:pt x="5053965" y="513461"/>
                  </a:lnTo>
                  <a:lnTo>
                    <a:pt x="50539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05529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Code:</a:t>
            </a:r>
            <a:r>
              <a:rPr dirty="0" u="sng" spc="-7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Circles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7" name="object 1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557263" y="2159254"/>
            <a:ext cx="3334385" cy="3387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250"/>
              </a:lnSpc>
              <a:spcBef>
                <a:spcPts val="110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3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class</a:t>
            </a:r>
            <a:r>
              <a:rPr dirty="0" sz="1050" spc="-7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Circle</a:t>
            </a:r>
            <a:r>
              <a:rPr dirty="0" sz="1050" spc="-65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ts val="1250"/>
              </a:lnSpc>
            </a:pPr>
            <a:r>
              <a:rPr dirty="0" sz="1050" b="1">
                <a:latin typeface="Consolas"/>
                <a:cs typeface="Consolas"/>
              </a:rPr>
              <a:t>private</a:t>
            </a:r>
            <a:r>
              <a:rPr dirty="0" sz="1050" spc="-3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double</a:t>
            </a:r>
            <a:r>
              <a:rPr dirty="0" sz="1050" spc="-6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radius</a:t>
            </a:r>
            <a:r>
              <a:rPr dirty="0" sz="1050" spc="-3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=</a:t>
            </a:r>
            <a:r>
              <a:rPr dirty="0" sz="1050" spc="-60" b="1">
                <a:latin typeface="Consolas"/>
                <a:cs typeface="Consolas"/>
              </a:rPr>
              <a:t> </a:t>
            </a:r>
            <a:r>
              <a:rPr dirty="0" sz="1050" spc="-20" b="1">
                <a:latin typeface="Consolas"/>
                <a:cs typeface="Consolas"/>
              </a:rPr>
              <a:t>1.0;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5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6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Circle()</a:t>
            </a:r>
            <a:r>
              <a:rPr dirty="0" sz="1050" spc="-55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15"/>
              </a:spcBef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Consolas"/>
              <a:cs typeface="Consolas"/>
            </a:endParaRPr>
          </a:p>
          <a:p>
            <a:pPr marL="913765" marR="1042035" indent="-450850">
              <a:lnSpc>
                <a:spcPct val="101299"/>
              </a:lnSpc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5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Circle(double</a:t>
            </a:r>
            <a:r>
              <a:rPr dirty="0" sz="1050" spc="-5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r)</a:t>
            </a:r>
            <a:r>
              <a:rPr dirty="0" sz="1050" spc="-80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 </a:t>
            </a:r>
            <a:r>
              <a:rPr dirty="0" sz="1050" spc="-10" b="1">
                <a:latin typeface="Consolas"/>
                <a:cs typeface="Consolas"/>
              </a:rPr>
              <a:t>setRadius(r);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ts val="1240"/>
              </a:lnSpc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913765" marR="890269" indent="-450850">
              <a:lnSpc>
                <a:spcPts val="1240"/>
              </a:lnSpc>
              <a:spcBef>
                <a:spcPts val="75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4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double</a:t>
            </a:r>
            <a:r>
              <a:rPr dirty="0" sz="1050" spc="-6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getRadius()</a:t>
            </a:r>
            <a:r>
              <a:rPr dirty="0" sz="1050" spc="-40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 </a:t>
            </a:r>
            <a:r>
              <a:rPr dirty="0" sz="1050" b="1">
                <a:latin typeface="Consolas"/>
                <a:cs typeface="Consolas"/>
              </a:rPr>
              <a:t>return</a:t>
            </a:r>
            <a:r>
              <a:rPr dirty="0" sz="1050" spc="-65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radius;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ts val="1235"/>
              </a:lnSpc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913765" marR="454659" indent="-450850">
              <a:lnSpc>
                <a:spcPts val="1280"/>
              </a:lnSpc>
              <a:spcBef>
                <a:spcPts val="20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4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void</a:t>
            </a:r>
            <a:r>
              <a:rPr dirty="0" sz="1050" spc="-3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setRadius(double</a:t>
            </a:r>
            <a:r>
              <a:rPr dirty="0" sz="1050" spc="-7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r)</a:t>
            </a:r>
            <a:r>
              <a:rPr dirty="0" sz="1050" spc="-70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 </a:t>
            </a:r>
            <a:r>
              <a:rPr dirty="0" sz="1050" b="1">
                <a:latin typeface="Consolas"/>
                <a:cs typeface="Consolas"/>
              </a:rPr>
              <a:t>if</a:t>
            </a:r>
            <a:r>
              <a:rPr dirty="0" sz="1050" spc="-4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(r&gt;0)</a:t>
            </a:r>
            <a:r>
              <a:rPr dirty="0" sz="1050" spc="-40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1360170">
              <a:lnSpc>
                <a:spcPts val="1190"/>
              </a:lnSpc>
            </a:pPr>
            <a:r>
              <a:rPr dirty="0" sz="1050" b="1">
                <a:latin typeface="Consolas"/>
                <a:cs typeface="Consolas"/>
              </a:rPr>
              <a:t>radius</a:t>
            </a:r>
            <a:r>
              <a:rPr dirty="0" sz="1050" spc="-3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=</a:t>
            </a:r>
            <a:r>
              <a:rPr dirty="0" sz="1050" spc="-55" b="1">
                <a:latin typeface="Consolas"/>
                <a:cs typeface="Consolas"/>
              </a:rPr>
              <a:t> </a:t>
            </a:r>
            <a:r>
              <a:rPr dirty="0" sz="1050" spc="-35" b="1">
                <a:latin typeface="Consolas"/>
                <a:cs typeface="Consolas"/>
              </a:rPr>
              <a:t>r;</a:t>
            </a:r>
            <a:endParaRPr sz="1050">
              <a:latin typeface="Consolas"/>
              <a:cs typeface="Consolas"/>
            </a:endParaRPr>
          </a:p>
          <a:p>
            <a:pPr marL="913765">
              <a:lnSpc>
                <a:spcPts val="1250"/>
              </a:lnSpc>
              <a:spcBef>
                <a:spcPts val="20"/>
              </a:spcBef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ts val="1250"/>
              </a:lnSpc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ts val="1250"/>
              </a:lnSpc>
              <a:spcBef>
                <a:spcPts val="15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4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double</a:t>
            </a:r>
            <a:r>
              <a:rPr dirty="0" sz="1050" spc="-6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getArea()</a:t>
            </a:r>
            <a:r>
              <a:rPr dirty="0" sz="1050" spc="-65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913765">
              <a:lnSpc>
                <a:spcPts val="1250"/>
              </a:lnSpc>
            </a:pPr>
            <a:r>
              <a:rPr dirty="0" sz="1050" b="1">
                <a:latin typeface="Consolas"/>
                <a:cs typeface="Consolas"/>
              </a:rPr>
              <a:t>return</a:t>
            </a:r>
            <a:r>
              <a:rPr dirty="0" sz="1050" spc="-2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Math.PI</a:t>
            </a:r>
            <a:r>
              <a:rPr dirty="0" sz="1050" spc="-6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*</a:t>
            </a:r>
            <a:r>
              <a:rPr dirty="0" sz="1050" spc="-2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radius</a:t>
            </a:r>
            <a:r>
              <a:rPr dirty="0" sz="1050" spc="-5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*</a:t>
            </a:r>
            <a:r>
              <a:rPr dirty="0" sz="1050" spc="-2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radius;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ts val="1250"/>
              </a:lnSpc>
              <a:spcBef>
                <a:spcPts val="20"/>
              </a:spcBef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ts val="1250"/>
              </a:lnSpc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5090414" y="1960781"/>
          <a:ext cx="4255770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7430"/>
                <a:gridCol w="454025"/>
                <a:gridCol w="306069"/>
                <a:gridCol w="607694"/>
                <a:gridCol w="1782445"/>
              </a:tblGrid>
              <a:tr h="314960">
                <a:tc>
                  <a:txBody>
                    <a:bodyPr/>
                    <a:lstStyle/>
                    <a:p>
                      <a:pPr algn="ctr" marR="36830">
                        <a:lnSpc>
                          <a:spcPts val="2035"/>
                        </a:lnSpc>
                      </a:pPr>
                      <a:r>
                        <a:rPr dirty="0" sz="2150" spc="-10" b="1">
                          <a:latin typeface="Consolas"/>
                          <a:cs typeface="Consolas"/>
                        </a:rPr>
                        <a:t>Circle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5"/>
                        </a:lnSpc>
                      </a:pPr>
                      <a:r>
                        <a:rPr dirty="0" sz="2150" spc="-25" b="1">
                          <a:latin typeface="Consolas"/>
                          <a:cs typeface="Consolas"/>
                        </a:rPr>
                        <a:t>c1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5"/>
                        </a:lnSpc>
                      </a:pPr>
                      <a:r>
                        <a:rPr dirty="0" sz="2150" spc="-50" b="1">
                          <a:latin typeface="Consolas"/>
                          <a:cs typeface="Consolas"/>
                        </a:rPr>
                        <a:t>=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5"/>
                        </a:lnSpc>
                      </a:pPr>
                      <a:r>
                        <a:rPr dirty="0" sz="2150" spc="-25" b="1">
                          <a:latin typeface="Consolas"/>
                          <a:cs typeface="Consolas"/>
                        </a:rPr>
                        <a:t>new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2035"/>
                        </a:lnSpc>
                      </a:pPr>
                      <a:r>
                        <a:rPr dirty="0" sz="2150" spc="-10" b="1">
                          <a:latin typeface="Consolas"/>
                          <a:cs typeface="Consolas"/>
                        </a:rPr>
                        <a:t>Circle(5);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355600">
                <a:tc>
                  <a:txBody>
                    <a:bodyPr/>
                    <a:lstStyle/>
                    <a:p>
                      <a:pPr algn="ctr" marR="36830">
                        <a:lnSpc>
                          <a:spcPts val="2355"/>
                        </a:lnSpc>
                      </a:pPr>
                      <a:r>
                        <a:rPr dirty="0" sz="2150" spc="-10" b="1">
                          <a:latin typeface="Consolas"/>
                          <a:cs typeface="Consolas"/>
                        </a:rPr>
                        <a:t>Circle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dirty="0" sz="2150" spc="-25" b="1">
                          <a:latin typeface="Consolas"/>
                          <a:cs typeface="Consolas"/>
                        </a:rPr>
                        <a:t>c2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dirty="0" sz="2150" spc="-50" b="1">
                          <a:latin typeface="Consolas"/>
                          <a:cs typeface="Consolas"/>
                        </a:rPr>
                        <a:t>=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dirty="0" sz="2150" spc="-25" b="1">
                          <a:latin typeface="Consolas"/>
                          <a:cs typeface="Consolas"/>
                        </a:rPr>
                        <a:t>new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2355"/>
                        </a:lnSpc>
                      </a:pPr>
                      <a:r>
                        <a:rPr dirty="0" sz="2150" spc="-10" b="1">
                          <a:latin typeface="Consolas"/>
                          <a:cs typeface="Consolas"/>
                        </a:rPr>
                        <a:t>Circle(10);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355600">
                <a:tc>
                  <a:txBody>
                    <a:bodyPr/>
                    <a:lstStyle/>
                    <a:p>
                      <a:pPr algn="ctr" marR="36830">
                        <a:lnSpc>
                          <a:spcPts val="2355"/>
                        </a:lnSpc>
                      </a:pPr>
                      <a:r>
                        <a:rPr dirty="0" sz="2150" spc="-10" b="1">
                          <a:latin typeface="Consolas"/>
                          <a:cs typeface="Consolas"/>
                        </a:rPr>
                        <a:t>Circle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dirty="0" sz="2150" spc="-25" b="1">
                          <a:latin typeface="Consolas"/>
                          <a:cs typeface="Consolas"/>
                        </a:rPr>
                        <a:t>c3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dirty="0" sz="2150" spc="-50" b="1">
                          <a:latin typeface="Consolas"/>
                          <a:cs typeface="Consolas"/>
                        </a:rPr>
                        <a:t>=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dirty="0" sz="2150" spc="-25" b="1">
                          <a:latin typeface="Consolas"/>
                          <a:cs typeface="Consolas"/>
                        </a:rPr>
                        <a:t>new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2355"/>
                        </a:lnSpc>
                      </a:pPr>
                      <a:r>
                        <a:rPr dirty="0" sz="2150" spc="-10" b="1">
                          <a:latin typeface="Consolas"/>
                          <a:cs typeface="Consolas"/>
                        </a:rPr>
                        <a:t>Circle(5);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314960">
                <a:tc>
                  <a:txBody>
                    <a:bodyPr/>
                    <a:lstStyle/>
                    <a:p>
                      <a:pPr algn="ctr" marR="36830">
                        <a:lnSpc>
                          <a:spcPts val="2355"/>
                        </a:lnSpc>
                      </a:pPr>
                      <a:r>
                        <a:rPr dirty="0" sz="2150" spc="-10" b="1">
                          <a:latin typeface="Consolas"/>
                          <a:cs typeface="Consolas"/>
                        </a:rPr>
                        <a:t>Circle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dirty="0" sz="2150" spc="-25" b="1">
                          <a:latin typeface="Consolas"/>
                          <a:cs typeface="Consolas"/>
                        </a:rPr>
                        <a:t>c4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dirty="0" sz="2150" spc="-50" b="1">
                          <a:latin typeface="Consolas"/>
                          <a:cs typeface="Consolas"/>
                        </a:rPr>
                        <a:t>=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dirty="0" sz="2150" spc="-25" b="1">
                          <a:latin typeface="Consolas"/>
                          <a:cs typeface="Consolas"/>
                        </a:rPr>
                        <a:t>new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2355"/>
                        </a:lnSpc>
                      </a:pPr>
                      <a:r>
                        <a:rPr dirty="0" sz="2150" spc="-10" b="1">
                          <a:latin typeface="Consolas"/>
                          <a:cs typeface="Consolas"/>
                        </a:rPr>
                        <a:t>Circle();</a:t>
                      </a:r>
                      <a:endParaRPr sz="21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556958" y="1413688"/>
            <a:ext cx="17786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Circle.java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09464" y="1432865"/>
            <a:ext cx="170942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Anywhere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744470">
              <a:lnSpc>
                <a:spcPct val="100000"/>
              </a:lnSpc>
              <a:spcBef>
                <a:spcPts val="120"/>
              </a:spcBef>
            </a:pPr>
            <a:r>
              <a:rPr dirty="0"/>
              <a:t>Output:</a:t>
            </a:r>
            <a:r>
              <a:rPr dirty="0" spc="-80"/>
              <a:t> </a:t>
            </a:r>
            <a:r>
              <a:rPr dirty="0" spc="-10"/>
              <a:t>Circles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277253" y="1794916"/>
          <a:ext cx="3092450" cy="918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045"/>
                <a:gridCol w="326389"/>
                <a:gridCol w="218440"/>
                <a:gridCol w="438785"/>
                <a:gridCol w="1290955"/>
              </a:tblGrid>
              <a:tr h="218440">
                <a:tc>
                  <a:txBody>
                    <a:bodyPr/>
                    <a:lstStyle/>
                    <a:p>
                      <a:pPr algn="ctr" marR="15875">
                        <a:lnSpc>
                          <a:spcPts val="147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Circle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470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c1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dirty="0" sz="1550" spc="-50" b="1">
                          <a:latin typeface="Consolas"/>
                          <a:cs typeface="Consolas"/>
                        </a:rPr>
                        <a:t>=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470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new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7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Circle(5);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40665">
                <a:tc>
                  <a:txBody>
                    <a:bodyPr/>
                    <a:lstStyle/>
                    <a:p>
                      <a:pPr algn="ctr" marR="16510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Circle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30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c2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550" spc="-50" b="1">
                          <a:latin typeface="Consolas"/>
                          <a:cs typeface="Consolas"/>
                        </a:rPr>
                        <a:t>=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new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Circle(10);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40665">
                <a:tc>
                  <a:txBody>
                    <a:bodyPr/>
                    <a:lstStyle/>
                    <a:p>
                      <a:pPr algn="ctr" marR="15875">
                        <a:lnSpc>
                          <a:spcPts val="1645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Circle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645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c3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dirty="0" sz="1550" spc="-50" b="1">
                          <a:latin typeface="Consolas"/>
                          <a:cs typeface="Consolas"/>
                        </a:rPr>
                        <a:t>=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645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new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645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Circle(5);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18440">
                <a:tc>
                  <a:txBody>
                    <a:bodyPr/>
                    <a:lstStyle/>
                    <a:p>
                      <a:pPr algn="ctr" marR="16510">
                        <a:lnSpc>
                          <a:spcPts val="162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Circle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20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c4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550" spc="-50" b="1">
                          <a:latin typeface="Consolas"/>
                          <a:cs typeface="Consolas"/>
                        </a:rPr>
                        <a:t>=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new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62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Circle();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277253" y="2998721"/>
          <a:ext cx="9554210" cy="917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3210"/>
                <a:gridCol w="218439"/>
                <a:gridCol w="655320"/>
                <a:gridCol w="767714"/>
                <a:gridCol w="1202055"/>
                <a:gridCol w="438785"/>
                <a:gridCol w="1750694"/>
                <a:gridCol w="1622425"/>
              </a:tblGrid>
              <a:tr h="217804">
                <a:tc>
                  <a:txBody>
                    <a:bodyPr/>
                    <a:lstStyle/>
                    <a:p>
                      <a:pPr algn="ctr" marR="16510">
                        <a:lnSpc>
                          <a:spcPts val="147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System.out.printf("Circle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470"/>
                        </a:lnSpc>
                      </a:pPr>
                      <a:r>
                        <a:rPr dirty="0" sz="1550" spc="-50" b="1">
                          <a:latin typeface="Consolas"/>
                          <a:cs typeface="Consolas"/>
                        </a:rPr>
                        <a:t>1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(%s):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r=%.2f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A=%.2f%n",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c1,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c1.getRadius(),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47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c1.getArea());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38125">
                <a:tc>
                  <a:txBody>
                    <a:bodyPr/>
                    <a:lstStyle/>
                    <a:p>
                      <a:pPr algn="ctr" marR="16510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System.out.printf("Circle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30"/>
                        </a:lnSpc>
                      </a:pPr>
                      <a:r>
                        <a:rPr dirty="0" sz="1550" spc="-50" b="1">
                          <a:latin typeface="Consolas"/>
                          <a:cs typeface="Consolas"/>
                        </a:rPr>
                        <a:t>2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(%s):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r=%.2f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A=%.2f%n",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c2,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c2.getRadius(),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c2.getArea());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41300">
                <a:tc>
                  <a:txBody>
                    <a:bodyPr/>
                    <a:lstStyle/>
                    <a:p>
                      <a:pPr algn="ctr" marR="16510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System.out.printf("Circle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630"/>
                        </a:lnSpc>
                      </a:pPr>
                      <a:r>
                        <a:rPr dirty="0" sz="1550" spc="-50" b="1">
                          <a:latin typeface="Consolas"/>
                          <a:cs typeface="Consolas"/>
                        </a:rPr>
                        <a:t>3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(%s):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r=%.2f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A=%.2f%n",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630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c3,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c3.getRadius(),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630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c3.getArea());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20345">
                <a:tc>
                  <a:txBody>
                    <a:bodyPr/>
                    <a:lstStyle/>
                    <a:p>
                      <a:pPr algn="ctr" marR="16510">
                        <a:lnSpc>
                          <a:spcPts val="1639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System.out.printf("Circle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39"/>
                        </a:lnSpc>
                      </a:pPr>
                      <a:r>
                        <a:rPr dirty="0" sz="1550" spc="-50" b="1">
                          <a:latin typeface="Consolas"/>
                          <a:cs typeface="Consolas"/>
                        </a:rPr>
                        <a:t>4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(%s):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r=%.2f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A=%.2f%n",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dirty="0" sz="1550" spc="-25" b="1">
                          <a:latin typeface="Consolas"/>
                          <a:cs typeface="Consolas"/>
                        </a:rPr>
                        <a:t>c4,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c4.getRadius(),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639"/>
                        </a:lnSpc>
                      </a:pPr>
                      <a:r>
                        <a:rPr dirty="0" sz="1550" spc="-10" b="1">
                          <a:latin typeface="Consolas"/>
                          <a:cs typeface="Consolas"/>
                        </a:rPr>
                        <a:t>c4.getArea());</a:t>
                      </a:r>
                      <a:endParaRPr sz="15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79773" y="633463"/>
            <a:ext cx="2517775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UML:</a:t>
            </a:r>
            <a:r>
              <a:rPr dirty="0" spc="-55"/>
              <a:t> </a:t>
            </a:r>
            <a:r>
              <a:rPr dirty="0" spc="-10"/>
              <a:t>Circles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3950335" y="1941334"/>
            <a:ext cx="2180590" cy="1892300"/>
          </a:xfrm>
          <a:custGeom>
            <a:avLst/>
            <a:gdLst/>
            <a:ahLst/>
            <a:cxnLst/>
            <a:rect l="l" t="t" r="r" b="b"/>
            <a:pathLst>
              <a:path w="2180590" h="1892300">
                <a:moveTo>
                  <a:pt x="2180209" y="0"/>
                </a:moveTo>
                <a:lnTo>
                  <a:pt x="0" y="0"/>
                </a:lnTo>
                <a:lnTo>
                  <a:pt x="0" y="499999"/>
                </a:lnTo>
                <a:lnTo>
                  <a:pt x="0" y="509003"/>
                </a:lnTo>
                <a:lnTo>
                  <a:pt x="0" y="1891906"/>
                </a:lnTo>
                <a:lnTo>
                  <a:pt x="2180209" y="1891906"/>
                </a:lnTo>
                <a:lnTo>
                  <a:pt x="2180209" y="509003"/>
                </a:lnTo>
                <a:lnTo>
                  <a:pt x="2180209" y="499999"/>
                </a:lnTo>
                <a:lnTo>
                  <a:pt x="21802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3937634" y="1649349"/>
          <a:ext cx="2282190" cy="2169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9955"/>
              </a:tblGrid>
              <a:tr h="278765">
                <a:tc>
                  <a:txBody>
                    <a:bodyPr/>
                    <a:lstStyle/>
                    <a:p>
                      <a:pPr marL="727710">
                        <a:lnSpc>
                          <a:spcPts val="2025"/>
                        </a:lnSpc>
                      </a:pPr>
                      <a:r>
                        <a:rPr dirty="0" sz="1700" spc="-10" b="1">
                          <a:latin typeface="Consolas"/>
                          <a:cs typeface="Consolas"/>
                        </a:rPr>
                        <a:t>Circle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dirty="0" sz="1200">
                          <a:latin typeface="Consolas"/>
                          <a:cs typeface="Consolas"/>
                        </a:rPr>
                        <a:t>radius:</a:t>
                      </a:r>
                      <a:r>
                        <a:rPr dirty="0" sz="12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latin typeface="Consolas"/>
                          <a:cs typeface="Consolas"/>
                        </a:rPr>
                        <a:t>double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1543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1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 marR="645795">
                        <a:lnSpc>
                          <a:spcPts val="1420"/>
                        </a:lnSpc>
                      </a:pPr>
                      <a:r>
                        <a:rPr dirty="0" sz="1200" spc="-10">
                          <a:latin typeface="Consolas"/>
                          <a:cs typeface="Consolas"/>
                        </a:rPr>
                        <a:t>Circle() </a:t>
                      </a:r>
                      <a:r>
                        <a:rPr dirty="0" sz="1200">
                          <a:latin typeface="Consolas"/>
                          <a:cs typeface="Consolas"/>
                        </a:rPr>
                        <a:t>Circle(r:</a:t>
                      </a:r>
                      <a:r>
                        <a:rPr dirty="0" sz="12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latin typeface="Consolas"/>
                          <a:cs typeface="Consolas"/>
                        </a:rPr>
                        <a:t>double)</a:t>
                      </a:r>
                      <a:endParaRPr sz="12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ts val="1330"/>
                        </a:lnSpc>
                      </a:pPr>
                      <a:r>
                        <a:rPr dirty="0" sz="1200">
                          <a:latin typeface="Consolas"/>
                          <a:cs typeface="Consolas"/>
                        </a:rPr>
                        <a:t>getRadius():</a:t>
                      </a:r>
                      <a:r>
                        <a:rPr dirty="0" sz="12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latin typeface="Consolas"/>
                          <a:cs typeface="Consolas"/>
                        </a:rPr>
                        <a:t>double</a:t>
                      </a:r>
                      <a:endParaRPr sz="1200">
                        <a:latin typeface="Consolas"/>
                        <a:cs typeface="Consolas"/>
                      </a:endParaRPr>
                    </a:p>
                    <a:p>
                      <a:pPr marL="92075" marR="393700">
                        <a:lnSpc>
                          <a:spcPts val="1380"/>
                        </a:lnSpc>
                        <a:spcBef>
                          <a:spcPts val="90"/>
                        </a:spcBef>
                      </a:pPr>
                      <a:r>
                        <a:rPr dirty="0" sz="1200">
                          <a:latin typeface="Consolas"/>
                          <a:cs typeface="Consolas"/>
                        </a:rPr>
                        <a:t>setRadius(r:</a:t>
                      </a:r>
                      <a:r>
                        <a:rPr dirty="0" sz="12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latin typeface="Consolas"/>
                          <a:cs typeface="Consolas"/>
                        </a:rPr>
                        <a:t>double) </a:t>
                      </a:r>
                      <a:r>
                        <a:rPr dirty="0" sz="1200">
                          <a:latin typeface="Consolas"/>
                          <a:cs typeface="Consolas"/>
                        </a:rPr>
                        <a:t>getArea():</a:t>
                      </a:r>
                      <a:r>
                        <a:rPr dirty="0" sz="12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latin typeface="Consolas"/>
                          <a:cs typeface="Consolas"/>
                        </a:rPr>
                        <a:t>double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567562" y="5044884"/>
            <a:ext cx="2185035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490220">
              <a:lnSpc>
                <a:spcPct val="100000"/>
              </a:lnSpc>
              <a:spcBef>
                <a:spcPts val="10"/>
              </a:spcBef>
            </a:pPr>
            <a:r>
              <a:rPr dirty="0" sz="1700" b="1">
                <a:latin typeface="Consolas"/>
                <a:cs typeface="Consolas"/>
              </a:rPr>
              <a:t>c1:</a:t>
            </a:r>
            <a:r>
              <a:rPr dirty="0" sz="1700" spc="50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67562" y="5328742"/>
            <a:ext cx="2185035" cy="504825"/>
          </a:xfrm>
          <a:custGeom>
            <a:avLst/>
            <a:gdLst/>
            <a:ahLst/>
            <a:cxnLst/>
            <a:rect l="l" t="t" r="r" b="b"/>
            <a:pathLst>
              <a:path w="2185035" h="504825">
                <a:moveTo>
                  <a:pt x="2184654" y="0"/>
                </a:moveTo>
                <a:lnTo>
                  <a:pt x="0" y="0"/>
                </a:lnTo>
                <a:lnTo>
                  <a:pt x="0" y="504494"/>
                </a:lnTo>
                <a:lnTo>
                  <a:pt x="2184654" y="504494"/>
                </a:lnTo>
                <a:lnTo>
                  <a:pt x="2184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67562" y="5328704"/>
            <a:ext cx="2185035" cy="5048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303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12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824226" y="5044884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487680">
              <a:lnSpc>
                <a:spcPct val="100000"/>
              </a:lnSpc>
              <a:spcBef>
                <a:spcPts val="10"/>
              </a:spcBef>
            </a:pPr>
            <a:r>
              <a:rPr dirty="0" sz="1700" b="1">
                <a:latin typeface="Consolas"/>
                <a:cs typeface="Consolas"/>
              </a:rPr>
              <a:t>c2:</a:t>
            </a:r>
            <a:r>
              <a:rPr dirty="0" sz="1700" spc="55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824226" y="5328742"/>
            <a:ext cx="2180590" cy="504825"/>
          </a:xfrm>
          <a:custGeom>
            <a:avLst/>
            <a:gdLst/>
            <a:ahLst/>
            <a:cxnLst/>
            <a:rect l="l" t="t" r="r" b="b"/>
            <a:pathLst>
              <a:path w="2180590" h="504825">
                <a:moveTo>
                  <a:pt x="2180208" y="0"/>
                </a:moveTo>
                <a:lnTo>
                  <a:pt x="0" y="0"/>
                </a:lnTo>
                <a:lnTo>
                  <a:pt x="0" y="504494"/>
                </a:lnTo>
                <a:lnTo>
                  <a:pt x="2180208" y="504494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824226" y="5328704"/>
            <a:ext cx="2180590" cy="5048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30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2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25">
                <a:latin typeface="Consolas"/>
                <a:cs typeface="Consolas"/>
              </a:rPr>
              <a:t>10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76444" y="5044884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489584">
              <a:lnSpc>
                <a:spcPct val="100000"/>
              </a:lnSpc>
              <a:spcBef>
                <a:spcPts val="10"/>
              </a:spcBef>
            </a:pPr>
            <a:r>
              <a:rPr dirty="0" sz="1700" b="1">
                <a:latin typeface="Consolas"/>
                <a:cs typeface="Consolas"/>
              </a:rPr>
              <a:t>c3:</a:t>
            </a:r>
            <a:r>
              <a:rPr dirty="0" sz="1700" spc="50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076444" y="5328742"/>
            <a:ext cx="2180590" cy="504825"/>
          </a:xfrm>
          <a:custGeom>
            <a:avLst/>
            <a:gdLst/>
            <a:ahLst/>
            <a:cxnLst/>
            <a:rect l="l" t="t" r="r" b="b"/>
            <a:pathLst>
              <a:path w="2180590" h="504825">
                <a:moveTo>
                  <a:pt x="2180081" y="0"/>
                </a:moveTo>
                <a:lnTo>
                  <a:pt x="0" y="0"/>
                </a:lnTo>
                <a:lnTo>
                  <a:pt x="0" y="504494"/>
                </a:lnTo>
                <a:lnTo>
                  <a:pt x="2180081" y="504494"/>
                </a:lnTo>
                <a:lnTo>
                  <a:pt x="21800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076444" y="5328704"/>
            <a:ext cx="2180590" cy="5048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303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2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28661" y="5044884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491490">
              <a:lnSpc>
                <a:spcPct val="100000"/>
              </a:lnSpc>
              <a:spcBef>
                <a:spcPts val="10"/>
              </a:spcBef>
            </a:pPr>
            <a:r>
              <a:rPr dirty="0" sz="1700" b="1">
                <a:latin typeface="Consolas"/>
                <a:cs typeface="Consolas"/>
              </a:rPr>
              <a:t>c4:</a:t>
            </a:r>
            <a:r>
              <a:rPr dirty="0" sz="1700" spc="50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328661" y="5328742"/>
            <a:ext cx="2180590" cy="504825"/>
          </a:xfrm>
          <a:custGeom>
            <a:avLst/>
            <a:gdLst/>
            <a:ahLst/>
            <a:cxnLst/>
            <a:rect l="l" t="t" r="r" b="b"/>
            <a:pathLst>
              <a:path w="2180590" h="504825">
                <a:moveTo>
                  <a:pt x="2180208" y="0"/>
                </a:moveTo>
                <a:lnTo>
                  <a:pt x="0" y="0"/>
                </a:lnTo>
                <a:lnTo>
                  <a:pt x="0" y="504494"/>
                </a:lnTo>
                <a:lnTo>
                  <a:pt x="2180208" y="504494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7328661" y="5328704"/>
            <a:ext cx="2180590" cy="5048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303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2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97434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Constructors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31353"/>
            <a:ext cx="8605520" cy="5132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marR="130175" indent="-274955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 b="1">
                <a:latin typeface="Tahoma"/>
                <a:cs typeface="Tahoma"/>
              </a:rPr>
              <a:t>constructor</a:t>
            </a:r>
            <a:r>
              <a:rPr dirty="0" sz="3200" spc="65" b="1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special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type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method </a:t>
            </a:r>
            <a:r>
              <a:rPr dirty="0" sz="3200">
                <a:latin typeface="Tahoma"/>
                <a:cs typeface="Tahoma"/>
              </a:rPr>
              <a:t>that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invoked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construct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object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from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its </a:t>
            </a:r>
            <a:r>
              <a:rPr dirty="0" sz="3200" spc="-10">
                <a:latin typeface="Tahoma"/>
                <a:cs typeface="Tahoma"/>
              </a:rPr>
              <a:t>class</a:t>
            </a:r>
            <a:endParaRPr sz="3200">
              <a:latin typeface="Tahoma"/>
              <a:cs typeface="Tahoma"/>
            </a:endParaRPr>
          </a:p>
          <a:p>
            <a:pPr marL="287020" indent="-274320">
              <a:lnSpc>
                <a:spcPts val="3835"/>
              </a:lnSpc>
              <a:spcBef>
                <a:spcPts val="1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All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classes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have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at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least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one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constructor</a:t>
            </a:r>
            <a:endParaRPr sz="3200">
              <a:latin typeface="Tahoma"/>
              <a:cs typeface="Tahoma"/>
            </a:endParaRPr>
          </a:p>
          <a:p>
            <a:pPr marL="287020" indent="-274320">
              <a:lnSpc>
                <a:spcPts val="3835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All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constructor(s)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for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class…</a:t>
            </a:r>
            <a:endParaRPr sz="3200">
              <a:latin typeface="Tahoma"/>
              <a:cs typeface="Tahoma"/>
            </a:endParaRPr>
          </a:p>
          <a:p>
            <a:pPr marL="467359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Have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same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name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class</a:t>
            </a:r>
            <a:endParaRPr sz="2800">
              <a:latin typeface="Tahoma"/>
              <a:cs typeface="Tahoma"/>
            </a:endParaRPr>
          </a:p>
          <a:p>
            <a:pPr marL="467359">
              <a:lnSpc>
                <a:spcPts val="3350"/>
              </a:lnSpc>
              <a:spcBef>
                <a:spcPts val="10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2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Have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return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type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(not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even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void)</a:t>
            </a:r>
            <a:endParaRPr sz="2800">
              <a:latin typeface="Tahoma"/>
              <a:cs typeface="Tahoma"/>
            </a:endParaRPr>
          </a:p>
          <a:p>
            <a:pPr marL="742315" marR="5080" indent="-275590">
              <a:lnSpc>
                <a:spcPts val="3370"/>
              </a:lnSpc>
              <a:spcBef>
                <a:spcPts val="95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2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constructor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u="sng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</a:t>
            </a:r>
            <a:r>
              <a:rPr dirty="0" u="none" sz="2800" spc="-55">
                <a:latin typeface="Tahoma"/>
                <a:cs typeface="Tahoma"/>
              </a:rPr>
              <a:t> </a:t>
            </a:r>
            <a:r>
              <a:rPr dirty="0" u="none" sz="2800">
                <a:latin typeface="Tahoma"/>
                <a:cs typeface="Tahoma"/>
              </a:rPr>
              <a:t>parameters</a:t>
            </a:r>
            <a:r>
              <a:rPr dirty="0" u="none" sz="2800" spc="-15">
                <a:latin typeface="Tahoma"/>
                <a:cs typeface="Tahoma"/>
              </a:rPr>
              <a:t> </a:t>
            </a:r>
            <a:r>
              <a:rPr dirty="0" u="none" sz="2800">
                <a:latin typeface="Tahoma"/>
                <a:cs typeface="Tahoma"/>
              </a:rPr>
              <a:t>is</a:t>
            </a:r>
            <a:r>
              <a:rPr dirty="0" u="none" sz="2800" spc="-110">
                <a:latin typeface="Tahoma"/>
                <a:cs typeface="Tahoma"/>
              </a:rPr>
              <a:t> </a:t>
            </a:r>
            <a:r>
              <a:rPr dirty="0" u="none" sz="2800">
                <a:latin typeface="Tahoma"/>
                <a:cs typeface="Tahoma"/>
              </a:rPr>
              <a:t>referred</a:t>
            </a:r>
            <a:r>
              <a:rPr dirty="0" u="none" sz="2800" spc="-65">
                <a:latin typeface="Tahoma"/>
                <a:cs typeface="Tahoma"/>
              </a:rPr>
              <a:t> </a:t>
            </a:r>
            <a:r>
              <a:rPr dirty="0" u="none" sz="2800">
                <a:latin typeface="Tahoma"/>
                <a:cs typeface="Tahoma"/>
              </a:rPr>
              <a:t>to</a:t>
            </a:r>
            <a:r>
              <a:rPr dirty="0" u="none" sz="2800" spc="-65">
                <a:latin typeface="Tahoma"/>
                <a:cs typeface="Tahoma"/>
              </a:rPr>
              <a:t> </a:t>
            </a:r>
            <a:r>
              <a:rPr dirty="0" u="none" sz="2800" spc="-25">
                <a:latin typeface="Tahoma"/>
                <a:cs typeface="Tahoma"/>
              </a:rPr>
              <a:t>as </a:t>
            </a:r>
            <a:r>
              <a:rPr dirty="0" u="none" sz="2800">
                <a:latin typeface="Tahoma"/>
                <a:cs typeface="Tahoma"/>
              </a:rPr>
              <a:t>a</a:t>
            </a:r>
            <a:r>
              <a:rPr dirty="0" u="none" sz="2800" spc="-35">
                <a:latin typeface="Tahoma"/>
                <a:cs typeface="Tahoma"/>
              </a:rPr>
              <a:t> </a:t>
            </a:r>
            <a:r>
              <a:rPr dirty="0" u="none" sz="2800" b="1">
                <a:latin typeface="Tahoma"/>
                <a:cs typeface="Tahoma"/>
              </a:rPr>
              <a:t>no-arg</a:t>
            </a:r>
            <a:r>
              <a:rPr dirty="0" u="none" sz="2800" spc="-15" b="1">
                <a:latin typeface="Tahoma"/>
                <a:cs typeface="Tahoma"/>
              </a:rPr>
              <a:t> </a:t>
            </a:r>
            <a:r>
              <a:rPr dirty="0" u="none" sz="2800" spc="-10" b="1">
                <a:latin typeface="Tahoma"/>
                <a:cs typeface="Tahoma"/>
              </a:rPr>
              <a:t>constructor</a:t>
            </a:r>
            <a:endParaRPr sz="2800">
              <a:latin typeface="Tahoma"/>
              <a:cs typeface="Tahoma"/>
            </a:endParaRPr>
          </a:p>
          <a:p>
            <a:pPr marL="287020" marR="471170" indent="-274955">
              <a:lnSpc>
                <a:spcPts val="3729"/>
              </a:lnSpc>
              <a:spcBef>
                <a:spcPts val="9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constructor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invoked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exactly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once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for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an </a:t>
            </a:r>
            <a:r>
              <a:rPr dirty="0" sz="3200">
                <a:latin typeface="Tahoma"/>
                <a:cs typeface="Tahoma"/>
              </a:rPr>
              <a:t>object</a:t>
            </a:r>
            <a:r>
              <a:rPr dirty="0" sz="3200" spc="-10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automatically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via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20">
                <a:latin typeface="Tahoma"/>
                <a:cs typeface="Tahoma"/>
              </a:rPr>
              <a:t> </a:t>
            </a:r>
            <a:r>
              <a:rPr dirty="0" sz="3200" spc="-40" b="1">
                <a:latin typeface="Consolas"/>
                <a:cs typeface="Consolas"/>
              </a:rPr>
              <a:t>new</a:t>
            </a:r>
            <a:r>
              <a:rPr dirty="0" sz="3200" spc="-715" b="1">
                <a:latin typeface="Consolas"/>
                <a:cs typeface="Consolas"/>
              </a:rPr>
              <a:t> </a:t>
            </a:r>
            <a:r>
              <a:rPr dirty="0" sz="3200" spc="-10">
                <a:latin typeface="Tahoma"/>
                <a:cs typeface="Tahoma"/>
              </a:rPr>
              <a:t>operator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176780">
              <a:lnSpc>
                <a:spcPct val="100000"/>
              </a:lnSpc>
              <a:spcBef>
                <a:spcPts val="120"/>
              </a:spcBef>
            </a:pPr>
            <a:r>
              <a:rPr dirty="0"/>
              <a:t>Default</a:t>
            </a:r>
            <a:r>
              <a:rPr dirty="0" spc="-95"/>
              <a:t> </a:t>
            </a:r>
            <a:r>
              <a:rPr dirty="0" spc="-10"/>
              <a:t>Constructors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31353"/>
            <a:ext cx="8100695" cy="3437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marR="1433830" indent="-274955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class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may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be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defined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without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any </a:t>
            </a:r>
            <a:r>
              <a:rPr dirty="0" sz="3200" spc="-10">
                <a:latin typeface="Tahoma"/>
                <a:cs typeface="Tahoma"/>
              </a:rPr>
              <a:t>constructors</a:t>
            </a:r>
            <a:endParaRPr sz="3200">
              <a:latin typeface="Tahoma"/>
              <a:cs typeface="Tahoma"/>
            </a:endParaRPr>
          </a:p>
          <a:p>
            <a:pPr marL="287020" marR="5080" indent="-274955">
              <a:lnSpc>
                <a:spcPts val="3870"/>
              </a:lnSpc>
              <a:spcBef>
                <a:spcPts val="9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In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this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case,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no-</a:t>
            </a:r>
            <a:r>
              <a:rPr dirty="0" sz="3200">
                <a:latin typeface="Tahoma"/>
                <a:cs typeface="Tahoma"/>
              </a:rPr>
              <a:t>arg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constructor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with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an </a:t>
            </a:r>
            <a:r>
              <a:rPr dirty="0" sz="3200">
                <a:latin typeface="Tahoma"/>
                <a:cs typeface="Tahoma"/>
              </a:rPr>
              <a:t>empty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body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implicitly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defined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class</a:t>
            </a:r>
            <a:endParaRPr sz="3200">
              <a:latin typeface="Tahoma"/>
              <a:cs typeface="Tahoma"/>
            </a:endParaRPr>
          </a:p>
          <a:p>
            <a:pPr marL="287020" indent="-274320">
              <a:lnSpc>
                <a:spcPts val="3695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This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 b="1">
                <a:latin typeface="Tahoma"/>
                <a:cs typeface="Tahoma"/>
              </a:rPr>
              <a:t>default</a:t>
            </a:r>
            <a:r>
              <a:rPr dirty="0" sz="3200" spc="-55" b="1">
                <a:latin typeface="Tahoma"/>
                <a:cs typeface="Tahoma"/>
              </a:rPr>
              <a:t> </a:t>
            </a:r>
            <a:r>
              <a:rPr dirty="0" sz="3200" b="1">
                <a:latin typeface="Tahoma"/>
                <a:cs typeface="Tahoma"/>
              </a:rPr>
              <a:t>constructor</a:t>
            </a:r>
            <a:r>
              <a:rPr dirty="0" sz="3200" spc="20" b="1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provided</a:t>
            </a:r>
            <a:endParaRPr sz="3200">
              <a:latin typeface="Tahoma"/>
              <a:cs typeface="Tahoma"/>
            </a:endParaRPr>
          </a:p>
          <a:p>
            <a:pPr marL="287020" marR="615950">
              <a:lnSpc>
                <a:spcPts val="3829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automatically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u="sng" sz="32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only</a:t>
            </a:r>
            <a:r>
              <a:rPr dirty="0" u="none" sz="3200" spc="-95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if</a:t>
            </a:r>
            <a:r>
              <a:rPr dirty="0" u="none" sz="3200" spc="-100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no</a:t>
            </a:r>
            <a:r>
              <a:rPr dirty="0" u="none" sz="3200" spc="-80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constructors</a:t>
            </a:r>
            <a:r>
              <a:rPr dirty="0" u="none" sz="3200" spc="-65">
                <a:latin typeface="Tahoma"/>
                <a:cs typeface="Tahoma"/>
              </a:rPr>
              <a:t> </a:t>
            </a:r>
            <a:r>
              <a:rPr dirty="0" u="none" sz="3200" spc="-25">
                <a:latin typeface="Tahoma"/>
                <a:cs typeface="Tahoma"/>
              </a:rPr>
              <a:t>are </a:t>
            </a:r>
            <a:r>
              <a:rPr dirty="0" u="none" sz="3200">
                <a:latin typeface="Tahoma"/>
                <a:cs typeface="Tahoma"/>
              </a:rPr>
              <a:t>explicitly</a:t>
            </a:r>
            <a:r>
              <a:rPr dirty="0" u="none" sz="3200" spc="-80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defined</a:t>
            </a:r>
            <a:r>
              <a:rPr dirty="0" u="none" sz="3200" spc="-45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in</a:t>
            </a:r>
            <a:r>
              <a:rPr dirty="0" u="none" sz="3200" spc="-60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the</a:t>
            </a:r>
            <a:r>
              <a:rPr dirty="0" u="none" sz="3200" spc="-60">
                <a:latin typeface="Tahoma"/>
                <a:cs typeface="Tahoma"/>
              </a:rPr>
              <a:t> </a:t>
            </a:r>
            <a:r>
              <a:rPr dirty="0" u="none" sz="3200" spc="-10">
                <a:latin typeface="Tahoma"/>
                <a:cs typeface="Tahoma"/>
              </a:rPr>
              <a:t>class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91254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Example</a:t>
            </a:r>
            <a:r>
              <a:rPr dirty="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(1)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109464" y="1378852"/>
            <a:ext cx="4141470" cy="192214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600" spc="-10" b="1">
                <a:latin typeface="Tahoma"/>
                <a:cs typeface="Tahoma"/>
              </a:rPr>
              <a:t>Anywhere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08700"/>
              </a:lnSpc>
              <a:spcBef>
                <a:spcPts val="145"/>
              </a:spcBef>
            </a:pPr>
            <a:r>
              <a:rPr dirty="0" sz="2150" b="1">
                <a:latin typeface="Consolas"/>
                <a:cs typeface="Consolas"/>
              </a:rPr>
              <a:t>Circle</a:t>
            </a:r>
            <a:r>
              <a:rPr dirty="0" sz="2150" spc="55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c1</a:t>
            </a:r>
            <a:r>
              <a:rPr dirty="0" sz="2150" spc="50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=</a:t>
            </a:r>
            <a:r>
              <a:rPr dirty="0" sz="2150" spc="55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new</a:t>
            </a:r>
            <a:r>
              <a:rPr dirty="0" sz="2150" spc="50" b="1">
                <a:latin typeface="Consolas"/>
                <a:cs typeface="Consolas"/>
              </a:rPr>
              <a:t> </a:t>
            </a:r>
            <a:r>
              <a:rPr dirty="0" sz="2150" spc="-10" b="1">
                <a:latin typeface="Consolas"/>
                <a:cs typeface="Consolas"/>
              </a:rPr>
              <a:t>Circle(5); </a:t>
            </a:r>
            <a:r>
              <a:rPr dirty="0" sz="2150" b="1">
                <a:latin typeface="Consolas"/>
                <a:cs typeface="Consolas"/>
              </a:rPr>
              <a:t>Circle</a:t>
            </a:r>
            <a:r>
              <a:rPr dirty="0" sz="2150" spc="55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c2</a:t>
            </a:r>
            <a:r>
              <a:rPr dirty="0" sz="2150" spc="50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=</a:t>
            </a:r>
            <a:r>
              <a:rPr dirty="0" sz="2150" spc="55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new</a:t>
            </a:r>
            <a:r>
              <a:rPr dirty="0" sz="2150" spc="50" b="1">
                <a:latin typeface="Consolas"/>
                <a:cs typeface="Consolas"/>
              </a:rPr>
              <a:t> </a:t>
            </a:r>
            <a:r>
              <a:rPr dirty="0" sz="2150" spc="-10" b="1">
                <a:latin typeface="Consolas"/>
                <a:cs typeface="Consolas"/>
              </a:rPr>
              <a:t>Circle(10); </a:t>
            </a:r>
            <a:r>
              <a:rPr dirty="0" sz="2150" b="1">
                <a:latin typeface="Consolas"/>
                <a:cs typeface="Consolas"/>
              </a:rPr>
              <a:t>Circle</a:t>
            </a:r>
            <a:r>
              <a:rPr dirty="0" sz="2150" spc="50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c3</a:t>
            </a:r>
            <a:r>
              <a:rPr dirty="0" sz="2150" spc="45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=</a:t>
            </a:r>
            <a:r>
              <a:rPr dirty="0" sz="2150" spc="50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new</a:t>
            </a:r>
            <a:r>
              <a:rPr dirty="0" sz="2150" spc="45" b="1">
                <a:latin typeface="Consolas"/>
                <a:cs typeface="Consolas"/>
              </a:rPr>
              <a:t> </a:t>
            </a:r>
            <a:r>
              <a:rPr dirty="0" sz="2150" spc="-10" b="1">
                <a:latin typeface="Consolas"/>
                <a:cs typeface="Consolas"/>
              </a:rPr>
              <a:t>Circle(5);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Circle</a:t>
            </a:r>
            <a:r>
              <a:rPr dirty="0" sz="2150" spc="55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c4</a:t>
            </a:r>
            <a:r>
              <a:rPr dirty="0" sz="2150" spc="50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=</a:t>
            </a:r>
            <a:r>
              <a:rPr dirty="0" sz="2150" spc="55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new</a:t>
            </a:r>
            <a:r>
              <a:rPr dirty="0" sz="2150" spc="50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spc="-10" b="1" strike="sngStrike">
                <a:solidFill>
                  <a:srgbClr val="FF0000"/>
                </a:solidFill>
                <a:latin typeface="Consolas"/>
                <a:cs typeface="Consolas"/>
              </a:rPr>
              <a:t>Circle();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76783" y="1413688"/>
            <a:ext cx="4116704" cy="56248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92710">
              <a:lnSpc>
                <a:spcPts val="2905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Circle.java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ts val="1405"/>
              </a:lnSpc>
            </a:pPr>
            <a:r>
              <a:rPr dirty="0" sz="1350" b="1">
                <a:latin typeface="Consolas"/>
                <a:cs typeface="Consolas"/>
              </a:rPr>
              <a:t>public</a:t>
            </a:r>
            <a:r>
              <a:rPr dirty="0" sz="1350" spc="12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class</a:t>
            </a:r>
            <a:r>
              <a:rPr dirty="0" sz="1350" spc="12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Circle</a:t>
            </a:r>
            <a:r>
              <a:rPr dirty="0" sz="1350" spc="125" b="1">
                <a:latin typeface="Consolas"/>
                <a:cs typeface="Consolas"/>
              </a:rPr>
              <a:t> </a:t>
            </a:r>
            <a:r>
              <a:rPr dirty="0" sz="1350" spc="-50" b="1">
                <a:latin typeface="Consolas"/>
                <a:cs typeface="Consolas"/>
              </a:rPr>
              <a:t>{</a:t>
            </a:r>
            <a:endParaRPr sz="13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65"/>
              </a:spcBef>
            </a:pPr>
            <a:r>
              <a:rPr dirty="0" sz="1350" b="1">
                <a:latin typeface="Consolas"/>
                <a:cs typeface="Consolas"/>
              </a:rPr>
              <a:t>private</a:t>
            </a:r>
            <a:r>
              <a:rPr dirty="0" sz="1350" spc="11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double</a:t>
            </a:r>
            <a:r>
              <a:rPr dirty="0" sz="1350" spc="11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radius</a:t>
            </a:r>
            <a:r>
              <a:rPr dirty="0" sz="1350" spc="114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=</a:t>
            </a:r>
            <a:r>
              <a:rPr dirty="0" sz="1350" spc="110" b="1">
                <a:latin typeface="Consolas"/>
                <a:cs typeface="Consolas"/>
              </a:rPr>
              <a:t> </a:t>
            </a:r>
            <a:r>
              <a:rPr dirty="0" sz="1350" spc="-20" b="1">
                <a:latin typeface="Consolas"/>
                <a:cs typeface="Consolas"/>
              </a:rPr>
              <a:t>1.0;</a:t>
            </a:r>
            <a:endParaRPr sz="13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350">
              <a:latin typeface="Consolas"/>
              <a:cs typeface="Consolas"/>
            </a:endParaRPr>
          </a:p>
          <a:p>
            <a:pPr marL="913765" marR="1231900" indent="-450850">
              <a:lnSpc>
                <a:spcPct val="122600"/>
              </a:lnSpc>
            </a:pPr>
            <a:r>
              <a:rPr dirty="0" sz="1350" b="1">
                <a:latin typeface="Consolas"/>
                <a:cs typeface="Consolas"/>
              </a:rPr>
              <a:t>public</a:t>
            </a:r>
            <a:r>
              <a:rPr dirty="0" sz="1350" spc="14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Circle(double</a:t>
            </a:r>
            <a:r>
              <a:rPr dirty="0" sz="1350" spc="15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r)</a:t>
            </a:r>
            <a:r>
              <a:rPr dirty="0" sz="1350" spc="145" b="1">
                <a:latin typeface="Consolas"/>
                <a:cs typeface="Consolas"/>
              </a:rPr>
              <a:t> </a:t>
            </a:r>
            <a:r>
              <a:rPr dirty="0" sz="1350" spc="-50" b="1">
                <a:latin typeface="Consolas"/>
                <a:cs typeface="Consolas"/>
              </a:rPr>
              <a:t>{ </a:t>
            </a:r>
            <a:r>
              <a:rPr dirty="0" sz="1350" spc="-10" b="1">
                <a:latin typeface="Consolas"/>
                <a:cs typeface="Consolas"/>
              </a:rPr>
              <a:t>setRadius(r);</a:t>
            </a:r>
            <a:endParaRPr sz="13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70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350">
              <a:latin typeface="Consolas"/>
              <a:cs typeface="Consolas"/>
            </a:endParaRPr>
          </a:p>
          <a:p>
            <a:pPr marL="913765" marR="1034415" indent="-450850">
              <a:lnSpc>
                <a:spcPct val="122700"/>
              </a:lnSpc>
            </a:pPr>
            <a:r>
              <a:rPr dirty="0" sz="1350" b="1">
                <a:latin typeface="Consolas"/>
                <a:cs typeface="Consolas"/>
              </a:rPr>
              <a:t>public</a:t>
            </a:r>
            <a:r>
              <a:rPr dirty="0" sz="1350" spc="16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double</a:t>
            </a:r>
            <a:r>
              <a:rPr dirty="0" sz="1350" spc="18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getRadius()</a:t>
            </a:r>
            <a:r>
              <a:rPr dirty="0" sz="1350" spc="165" b="1">
                <a:latin typeface="Consolas"/>
                <a:cs typeface="Consolas"/>
              </a:rPr>
              <a:t> </a:t>
            </a:r>
            <a:r>
              <a:rPr dirty="0" sz="1350" spc="-50" b="1">
                <a:latin typeface="Consolas"/>
                <a:cs typeface="Consolas"/>
              </a:rPr>
              <a:t>{ </a:t>
            </a:r>
            <a:r>
              <a:rPr dirty="0" sz="1350" b="1">
                <a:latin typeface="Consolas"/>
                <a:cs typeface="Consolas"/>
              </a:rPr>
              <a:t>return</a:t>
            </a:r>
            <a:r>
              <a:rPr dirty="0" sz="1350" spc="120" b="1">
                <a:latin typeface="Consolas"/>
                <a:cs typeface="Consolas"/>
              </a:rPr>
              <a:t> </a:t>
            </a:r>
            <a:r>
              <a:rPr dirty="0" sz="1350" spc="-10" b="1">
                <a:latin typeface="Consolas"/>
                <a:cs typeface="Consolas"/>
              </a:rPr>
              <a:t>radius;</a:t>
            </a:r>
            <a:endParaRPr sz="13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65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350">
              <a:latin typeface="Consolas"/>
              <a:cs typeface="Consolas"/>
            </a:endParaRPr>
          </a:p>
          <a:p>
            <a:pPr marL="913765" marR="454659" indent="-450850">
              <a:lnSpc>
                <a:spcPct val="122600"/>
              </a:lnSpc>
            </a:pPr>
            <a:r>
              <a:rPr dirty="0" sz="1350" b="1">
                <a:latin typeface="Consolas"/>
                <a:cs typeface="Consolas"/>
              </a:rPr>
              <a:t>public</a:t>
            </a:r>
            <a:r>
              <a:rPr dirty="0" sz="1350" spc="15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void</a:t>
            </a:r>
            <a:r>
              <a:rPr dirty="0" sz="1350" spc="17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setRadius(double</a:t>
            </a:r>
            <a:r>
              <a:rPr dirty="0" sz="1350" spc="15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r)</a:t>
            </a:r>
            <a:r>
              <a:rPr dirty="0" sz="1350" spc="150" b="1">
                <a:latin typeface="Consolas"/>
                <a:cs typeface="Consolas"/>
              </a:rPr>
              <a:t> </a:t>
            </a:r>
            <a:r>
              <a:rPr dirty="0" sz="1350" spc="-60" b="1">
                <a:latin typeface="Consolas"/>
                <a:cs typeface="Consolas"/>
              </a:rPr>
              <a:t>{ </a:t>
            </a:r>
            <a:r>
              <a:rPr dirty="0" sz="1350" b="1">
                <a:latin typeface="Consolas"/>
                <a:cs typeface="Consolas"/>
              </a:rPr>
              <a:t>if</a:t>
            </a:r>
            <a:r>
              <a:rPr dirty="0" sz="1350" spc="8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(r&gt;0)</a:t>
            </a:r>
            <a:r>
              <a:rPr dirty="0" sz="1350" spc="80" b="1">
                <a:latin typeface="Consolas"/>
                <a:cs typeface="Consolas"/>
              </a:rPr>
              <a:t> </a:t>
            </a:r>
            <a:r>
              <a:rPr dirty="0" sz="1350" spc="-50" b="1">
                <a:latin typeface="Consolas"/>
                <a:cs typeface="Consolas"/>
              </a:rPr>
              <a:t>{</a:t>
            </a:r>
            <a:endParaRPr sz="1350">
              <a:latin typeface="Consolas"/>
              <a:cs typeface="Consolas"/>
            </a:endParaRPr>
          </a:p>
          <a:p>
            <a:pPr marL="1359535">
              <a:lnSpc>
                <a:spcPct val="100000"/>
              </a:lnSpc>
              <a:spcBef>
                <a:spcPts val="370"/>
              </a:spcBef>
            </a:pPr>
            <a:r>
              <a:rPr dirty="0" sz="1350" b="1">
                <a:latin typeface="Consolas"/>
                <a:cs typeface="Consolas"/>
              </a:rPr>
              <a:t>radius</a:t>
            </a:r>
            <a:r>
              <a:rPr dirty="0" sz="1350" spc="8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=</a:t>
            </a:r>
            <a:r>
              <a:rPr dirty="0" sz="1350" spc="80" b="1">
                <a:latin typeface="Consolas"/>
                <a:cs typeface="Consolas"/>
              </a:rPr>
              <a:t> </a:t>
            </a:r>
            <a:r>
              <a:rPr dirty="0" sz="1350" spc="-25" b="1">
                <a:latin typeface="Consolas"/>
                <a:cs typeface="Consolas"/>
              </a:rPr>
              <a:t>r;</a:t>
            </a:r>
            <a:endParaRPr sz="1350">
              <a:latin typeface="Consolas"/>
              <a:cs typeface="Consolas"/>
            </a:endParaRPr>
          </a:p>
          <a:p>
            <a:pPr marL="913765">
              <a:lnSpc>
                <a:spcPct val="100000"/>
              </a:lnSpc>
              <a:spcBef>
                <a:spcPts val="365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70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3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</a:pPr>
            <a:r>
              <a:rPr dirty="0" sz="1350" b="1">
                <a:latin typeface="Consolas"/>
                <a:cs typeface="Consolas"/>
              </a:rPr>
              <a:t>public</a:t>
            </a:r>
            <a:r>
              <a:rPr dirty="0" sz="1350" spc="15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double</a:t>
            </a:r>
            <a:r>
              <a:rPr dirty="0" sz="1350" spc="16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getArea()</a:t>
            </a:r>
            <a:r>
              <a:rPr dirty="0" sz="1350" spc="150" b="1">
                <a:latin typeface="Consolas"/>
                <a:cs typeface="Consolas"/>
              </a:rPr>
              <a:t> </a:t>
            </a:r>
            <a:r>
              <a:rPr dirty="0" sz="1350" spc="-50" b="1">
                <a:latin typeface="Consolas"/>
                <a:cs typeface="Consolas"/>
              </a:rPr>
              <a:t>{</a:t>
            </a:r>
            <a:endParaRPr sz="1350">
              <a:latin typeface="Consolas"/>
              <a:cs typeface="Consolas"/>
            </a:endParaRPr>
          </a:p>
          <a:p>
            <a:pPr marL="913765">
              <a:lnSpc>
                <a:spcPct val="100000"/>
              </a:lnSpc>
              <a:spcBef>
                <a:spcPts val="370"/>
              </a:spcBef>
            </a:pPr>
            <a:r>
              <a:rPr dirty="0" sz="1350" b="1">
                <a:latin typeface="Consolas"/>
                <a:cs typeface="Consolas"/>
              </a:rPr>
              <a:t>return</a:t>
            </a:r>
            <a:r>
              <a:rPr dirty="0" sz="1350" spc="10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Math.PI</a:t>
            </a:r>
            <a:r>
              <a:rPr dirty="0" sz="1350" spc="11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*</a:t>
            </a:r>
            <a:r>
              <a:rPr dirty="0" sz="1350" spc="9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radius</a:t>
            </a:r>
            <a:r>
              <a:rPr dirty="0" sz="1350" spc="10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*</a:t>
            </a:r>
            <a:r>
              <a:rPr dirty="0" sz="1350" spc="95" b="1">
                <a:latin typeface="Consolas"/>
                <a:cs typeface="Consolas"/>
              </a:rPr>
              <a:t> </a:t>
            </a:r>
            <a:r>
              <a:rPr dirty="0" sz="1350" spc="-10" b="1">
                <a:latin typeface="Consolas"/>
                <a:cs typeface="Consolas"/>
              </a:rPr>
              <a:t>radius;</a:t>
            </a:r>
            <a:endParaRPr sz="13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65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91254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Example</a:t>
            </a:r>
            <a:r>
              <a:rPr dirty="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(2)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092953" y="2710457"/>
            <a:ext cx="4141470" cy="1450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5"/>
              </a:spcBef>
            </a:pP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Circle</a:t>
            </a:r>
            <a:r>
              <a:rPr dirty="0" sz="2150" spc="50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c1</a:t>
            </a:r>
            <a:r>
              <a:rPr dirty="0" sz="2150" spc="45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=</a:t>
            </a:r>
            <a:r>
              <a:rPr dirty="0" sz="2150" spc="50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new</a:t>
            </a:r>
            <a:r>
              <a:rPr dirty="0" sz="2150" spc="45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spc="-10" b="1" strike="sngStrike">
                <a:solidFill>
                  <a:srgbClr val="FF0000"/>
                </a:solidFill>
                <a:latin typeface="Consolas"/>
                <a:cs typeface="Consolas"/>
              </a:rPr>
              <a:t>Circle(5);</a:t>
            </a:r>
            <a:r>
              <a:rPr dirty="0" sz="2150" spc="-10" b="1" strike="no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Circle</a:t>
            </a:r>
            <a:r>
              <a:rPr dirty="0" sz="2150" spc="50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c2</a:t>
            </a:r>
            <a:r>
              <a:rPr dirty="0" sz="2150" spc="45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=</a:t>
            </a:r>
            <a:r>
              <a:rPr dirty="0" sz="2150" spc="50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new</a:t>
            </a:r>
            <a:r>
              <a:rPr dirty="0" sz="2150" spc="45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spc="-10" b="1" strike="sngStrike">
                <a:solidFill>
                  <a:srgbClr val="FF0000"/>
                </a:solidFill>
                <a:latin typeface="Consolas"/>
                <a:cs typeface="Consolas"/>
              </a:rPr>
              <a:t>Circle(10);</a:t>
            </a:r>
            <a:r>
              <a:rPr dirty="0" sz="2150" spc="-10" b="1" strike="no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Circle</a:t>
            </a:r>
            <a:r>
              <a:rPr dirty="0" sz="2150" spc="55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c3</a:t>
            </a:r>
            <a:r>
              <a:rPr dirty="0" sz="2150" spc="50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=</a:t>
            </a:r>
            <a:r>
              <a:rPr dirty="0" sz="2150" spc="55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sngStrike">
                <a:solidFill>
                  <a:srgbClr val="FF0000"/>
                </a:solidFill>
                <a:latin typeface="Consolas"/>
                <a:cs typeface="Consolas"/>
              </a:rPr>
              <a:t>new</a:t>
            </a:r>
            <a:r>
              <a:rPr dirty="0" sz="2150" spc="50" b="1" strike="sng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spc="-10" b="1" strike="sngStrike">
                <a:solidFill>
                  <a:srgbClr val="FF0000"/>
                </a:solidFill>
                <a:latin typeface="Consolas"/>
                <a:cs typeface="Consolas"/>
              </a:rPr>
              <a:t>Circle(5);</a:t>
            </a:r>
            <a:r>
              <a:rPr dirty="0" sz="2150" spc="-10" b="1" strike="no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150" b="1" strike="noStrike">
                <a:latin typeface="Consolas"/>
                <a:cs typeface="Consolas"/>
              </a:rPr>
              <a:t>Circle</a:t>
            </a:r>
            <a:r>
              <a:rPr dirty="0" sz="2150" spc="55" b="1" strike="noStrike">
                <a:latin typeface="Consolas"/>
                <a:cs typeface="Consolas"/>
              </a:rPr>
              <a:t> </a:t>
            </a:r>
            <a:r>
              <a:rPr dirty="0" sz="2150" b="1" strike="noStrike">
                <a:latin typeface="Consolas"/>
                <a:cs typeface="Consolas"/>
              </a:rPr>
              <a:t>c4</a:t>
            </a:r>
            <a:r>
              <a:rPr dirty="0" sz="2150" spc="50" b="1" strike="noStrike">
                <a:latin typeface="Consolas"/>
                <a:cs typeface="Consolas"/>
              </a:rPr>
              <a:t> </a:t>
            </a:r>
            <a:r>
              <a:rPr dirty="0" sz="2150" b="1" strike="noStrike">
                <a:latin typeface="Consolas"/>
                <a:cs typeface="Consolas"/>
              </a:rPr>
              <a:t>=</a:t>
            </a:r>
            <a:r>
              <a:rPr dirty="0" sz="2150" spc="55" b="1" strike="noStrike">
                <a:latin typeface="Consolas"/>
                <a:cs typeface="Consolas"/>
              </a:rPr>
              <a:t> </a:t>
            </a:r>
            <a:r>
              <a:rPr dirty="0" sz="2150" b="1" strike="noStrike">
                <a:latin typeface="Consolas"/>
                <a:cs typeface="Consolas"/>
              </a:rPr>
              <a:t>new</a:t>
            </a:r>
            <a:r>
              <a:rPr dirty="0" sz="2150" spc="50" b="1" strike="noStrike">
                <a:latin typeface="Consolas"/>
                <a:cs typeface="Consolas"/>
              </a:rPr>
              <a:t> </a:t>
            </a:r>
            <a:r>
              <a:rPr dirty="0" sz="2150" spc="-10" b="1" strike="noStrike">
                <a:latin typeface="Consolas"/>
                <a:cs typeface="Consolas"/>
              </a:rPr>
              <a:t>Circle();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09464" y="1413688"/>
            <a:ext cx="170942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Anywhere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6958" y="1413688"/>
            <a:ext cx="4118610" cy="4838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Circle.java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b="1">
                <a:latin typeface="Consolas"/>
                <a:cs typeface="Consolas"/>
              </a:rPr>
              <a:t>public</a:t>
            </a:r>
            <a:r>
              <a:rPr dirty="0" sz="1350" spc="12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class</a:t>
            </a:r>
            <a:r>
              <a:rPr dirty="0" sz="1350" spc="12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Circle</a:t>
            </a:r>
            <a:r>
              <a:rPr dirty="0" sz="1350" spc="125" b="1">
                <a:latin typeface="Consolas"/>
                <a:cs typeface="Consolas"/>
              </a:rPr>
              <a:t> </a:t>
            </a:r>
            <a:r>
              <a:rPr dirty="0" sz="1350" spc="-50" b="1">
                <a:latin typeface="Consolas"/>
                <a:cs typeface="Consolas"/>
              </a:rPr>
              <a:t>{</a:t>
            </a:r>
            <a:endParaRPr sz="13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70"/>
              </a:spcBef>
            </a:pPr>
            <a:r>
              <a:rPr dirty="0" sz="1350" b="1">
                <a:latin typeface="Consolas"/>
                <a:cs typeface="Consolas"/>
              </a:rPr>
              <a:t>private</a:t>
            </a:r>
            <a:r>
              <a:rPr dirty="0" sz="1350" spc="11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double</a:t>
            </a:r>
            <a:r>
              <a:rPr dirty="0" sz="1350" spc="11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radius</a:t>
            </a:r>
            <a:r>
              <a:rPr dirty="0" sz="1350" spc="114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=</a:t>
            </a:r>
            <a:r>
              <a:rPr dirty="0" sz="1350" spc="110" b="1">
                <a:latin typeface="Consolas"/>
                <a:cs typeface="Consolas"/>
              </a:rPr>
              <a:t> </a:t>
            </a:r>
            <a:r>
              <a:rPr dirty="0" sz="1350" spc="-20" b="1">
                <a:latin typeface="Consolas"/>
                <a:cs typeface="Consolas"/>
              </a:rPr>
              <a:t>1.0;</a:t>
            </a:r>
            <a:endParaRPr sz="13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3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</a:pPr>
            <a:r>
              <a:rPr dirty="0" sz="1350" b="1">
                <a:latin typeface="Consolas"/>
                <a:cs typeface="Consolas"/>
              </a:rPr>
              <a:t>public</a:t>
            </a:r>
            <a:r>
              <a:rPr dirty="0" sz="1350" spc="16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double</a:t>
            </a:r>
            <a:r>
              <a:rPr dirty="0" sz="1350" spc="18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getRadius()</a:t>
            </a:r>
            <a:r>
              <a:rPr dirty="0" sz="1350" spc="165" b="1">
                <a:latin typeface="Consolas"/>
                <a:cs typeface="Consolas"/>
              </a:rPr>
              <a:t> </a:t>
            </a:r>
            <a:r>
              <a:rPr dirty="0" sz="1350" spc="-50" b="1">
                <a:latin typeface="Consolas"/>
                <a:cs typeface="Consolas"/>
              </a:rPr>
              <a:t>{</a:t>
            </a:r>
            <a:endParaRPr sz="13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65"/>
              </a:spcBef>
            </a:pPr>
            <a:r>
              <a:rPr dirty="0" sz="1350" b="1">
                <a:latin typeface="Consolas"/>
                <a:cs typeface="Consolas"/>
              </a:rPr>
              <a:t>return</a:t>
            </a:r>
            <a:r>
              <a:rPr dirty="0" sz="1350" spc="120" b="1">
                <a:latin typeface="Consolas"/>
                <a:cs typeface="Consolas"/>
              </a:rPr>
              <a:t> </a:t>
            </a:r>
            <a:r>
              <a:rPr dirty="0" sz="1350" spc="-10" b="1">
                <a:latin typeface="Consolas"/>
                <a:cs typeface="Consolas"/>
              </a:rPr>
              <a:t>radius;</a:t>
            </a:r>
            <a:endParaRPr sz="13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70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3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</a:pPr>
            <a:r>
              <a:rPr dirty="0" sz="1350" b="1">
                <a:latin typeface="Consolas"/>
                <a:cs typeface="Consolas"/>
              </a:rPr>
              <a:t>public</a:t>
            </a:r>
            <a:r>
              <a:rPr dirty="0" sz="1350" spc="15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void</a:t>
            </a:r>
            <a:r>
              <a:rPr dirty="0" sz="1350" spc="17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setRadius(double</a:t>
            </a:r>
            <a:r>
              <a:rPr dirty="0" sz="1350" spc="15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r)</a:t>
            </a:r>
            <a:r>
              <a:rPr dirty="0" sz="1350" spc="150" b="1">
                <a:latin typeface="Consolas"/>
                <a:cs typeface="Consolas"/>
              </a:rPr>
              <a:t> </a:t>
            </a:r>
            <a:r>
              <a:rPr dirty="0" sz="1350" spc="-60" b="1">
                <a:latin typeface="Consolas"/>
                <a:cs typeface="Consolas"/>
              </a:rPr>
              <a:t>{</a:t>
            </a:r>
            <a:endParaRPr sz="13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65"/>
              </a:spcBef>
            </a:pPr>
            <a:r>
              <a:rPr dirty="0" sz="1350" b="1">
                <a:latin typeface="Consolas"/>
                <a:cs typeface="Consolas"/>
              </a:rPr>
              <a:t>if</a:t>
            </a:r>
            <a:r>
              <a:rPr dirty="0" sz="1350" spc="8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(r&gt;0)</a:t>
            </a:r>
            <a:r>
              <a:rPr dirty="0" sz="1350" spc="80" b="1">
                <a:latin typeface="Consolas"/>
                <a:cs typeface="Consolas"/>
              </a:rPr>
              <a:t> </a:t>
            </a:r>
            <a:r>
              <a:rPr dirty="0" sz="1350" spc="-50" b="1">
                <a:latin typeface="Consolas"/>
                <a:cs typeface="Consolas"/>
              </a:rPr>
              <a:t>{</a:t>
            </a:r>
            <a:endParaRPr sz="1350">
              <a:latin typeface="Consolas"/>
              <a:cs typeface="Consolas"/>
            </a:endParaRPr>
          </a:p>
          <a:p>
            <a:pPr marL="1360170">
              <a:lnSpc>
                <a:spcPct val="100000"/>
              </a:lnSpc>
              <a:spcBef>
                <a:spcPts val="370"/>
              </a:spcBef>
            </a:pPr>
            <a:r>
              <a:rPr dirty="0" sz="1350" b="1">
                <a:latin typeface="Consolas"/>
                <a:cs typeface="Consolas"/>
              </a:rPr>
              <a:t>radius</a:t>
            </a:r>
            <a:r>
              <a:rPr dirty="0" sz="1350" spc="8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=</a:t>
            </a:r>
            <a:r>
              <a:rPr dirty="0" sz="1350" spc="80" b="1">
                <a:latin typeface="Consolas"/>
                <a:cs typeface="Consolas"/>
              </a:rPr>
              <a:t> </a:t>
            </a:r>
            <a:r>
              <a:rPr dirty="0" sz="1350" spc="-25" b="1">
                <a:latin typeface="Consolas"/>
                <a:cs typeface="Consolas"/>
              </a:rPr>
              <a:t>r;</a:t>
            </a:r>
            <a:endParaRPr sz="13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65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70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3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5"/>
              </a:spcBef>
            </a:pPr>
            <a:r>
              <a:rPr dirty="0" sz="1350" b="1">
                <a:latin typeface="Consolas"/>
                <a:cs typeface="Consolas"/>
              </a:rPr>
              <a:t>public</a:t>
            </a:r>
            <a:r>
              <a:rPr dirty="0" sz="1350" spc="15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double</a:t>
            </a:r>
            <a:r>
              <a:rPr dirty="0" sz="1350" spc="16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getArea()</a:t>
            </a:r>
            <a:r>
              <a:rPr dirty="0" sz="1350" spc="150" b="1">
                <a:latin typeface="Consolas"/>
                <a:cs typeface="Consolas"/>
              </a:rPr>
              <a:t> </a:t>
            </a:r>
            <a:r>
              <a:rPr dirty="0" sz="1350" spc="-50" b="1">
                <a:latin typeface="Consolas"/>
                <a:cs typeface="Consolas"/>
              </a:rPr>
              <a:t>{</a:t>
            </a:r>
            <a:endParaRPr sz="13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65"/>
              </a:spcBef>
            </a:pPr>
            <a:r>
              <a:rPr dirty="0" sz="1350" b="1">
                <a:latin typeface="Consolas"/>
                <a:cs typeface="Consolas"/>
              </a:rPr>
              <a:t>return</a:t>
            </a:r>
            <a:r>
              <a:rPr dirty="0" sz="1350" spc="10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Math.PI</a:t>
            </a:r>
            <a:r>
              <a:rPr dirty="0" sz="1350" spc="10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*</a:t>
            </a:r>
            <a:r>
              <a:rPr dirty="0" sz="1350" spc="95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radius</a:t>
            </a:r>
            <a:r>
              <a:rPr dirty="0" sz="1350" spc="100" b="1">
                <a:latin typeface="Consolas"/>
                <a:cs typeface="Consolas"/>
              </a:rPr>
              <a:t> </a:t>
            </a:r>
            <a:r>
              <a:rPr dirty="0" sz="1350" b="1">
                <a:latin typeface="Consolas"/>
                <a:cs typeface="Consolas"/>
              </a:rPr>
              <a:t>*</a:t>
            </a:r>
            <a:r>
              <a:rPr dirty="0" sz="1350" spc="95" b="1">
                <a:latin typeface="Consolas"/>
                <a:cs typeface="Consolas"/>
              </a:rPr>
              <a:t> </a:t>
            </a:r>
            <a:r>
              <a:rPr dirty="0" sz="1350" spc="-10" b="1">
                <a:latin typeface="Consolas"/>
                <a:cs typeface="Consolas"/>
              </a:rPr>
              <a:t>radius;</a:t>
            </a:r>
            <a:endParaRPr sz="13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65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350" spc="-50" b="1"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244090">
              <a:lnSpc>
                <a:spcPct val="100000"/>
              </a:lnSpc>
              <a:spcBef>
                <a:spcPts val="120"/>
              </a:spcBef>
            </a:pPr>
            <a:r>
              <a:rPr dirty="0"/>
              <a:t>Reference</a:t>
            </a:r>
            <a:r>
              <a:rPr dirty="0" spc="-90"/>
              <a:t> </a:t>
            </a:r>
            <a:r>
              <a:rPr dirty="0" spc="-10"/>
              <a:t>Variables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31353"/>
            <a:ext cx="8494395" cy="2810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indent="-274320">
              <a:lnSpc>
                <a:spcPts val="3835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reference</a:t>
            </a:r>
            <a:r>
              <a:rPr dirty="0" sz="3200" spc="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object,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assign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object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50">
                <a:latin typeface="Tahoma"/>
                <a:cs typeface="Tahoma"/>
              </a:rPr>
              <a:t> a</a:t>
            </a:r>
            <a:endParaRPr sz="3200">
              <a:latin typeface="Tahoma"/>
              <a:cs typeface="Tahoma"/>
            </a:endParaRPr>
          </a:p>
          <a:p>
            <a:pPr marL="287020">
              <a:lnSpc>
                <a:spcPts val="3835"/>
              </a:lnSpc>
            </a:pPr>
            <a:r>
              <a:rPr dirty="0" sz="3200" b="1">
                <a:latin typeface="Tahoma"/>
                <a:cs typeface="Tahoma"/>
              </a:rPr>
              <a:t>reference</a:t>
            </a:r>
            <a:r>
              <a:rPr dirty="0" sz="3200" spc="-160" b="1">
                <a:latin typeface="Tahoma"/>
                <a:cs typeface="Tahoma"/>
              </a:rPr>
              <a:t> </a:t>
            </a:r>
            <a:r>
              <a:rPr dirty="0" sz="3200" spc="-10" b="1">
                <a:latin typeface="Tahoma"/>
                <a:cs typeface="Tahoma"/>
              </a:rPr>
              <a:t>variable</a:t>
            </a:r>
            <a:endParaRPr sz="3200">
              <a:latin typeface="Tahoma"/>
              <a:cs typeface="Tahoma"/>
            </a:endParaRPr>
          </a:p>
          <a:p>
            <a:pPr marL="287020" indent="-274320">
              <a:lnSpc>
                <a:spcPts val="3785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declare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reference</a:t>
            </a:r>
            <a:r>
              <a:rPr dirty="0" sz="3200" spc="-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variable…</a:t>
            </a:r>
            <a:endParaRPr sz="3200">
              <a:latin typeface="Tahoma"/>
              <a:cs typeface="Tahoma"/>
            </a:endParaRPr>
          </a:p>
          <a:p>
            <a:pPr marL="323215">
              <a:lnSpc>
                <a:spcPts val="3310"/>
              </a:lnSpc>
            </a:pPr>
            <a:r>
              <a:rPr dirty="0" sz="2800" b="1">
                <a:latin typeface="Consolas"/>
                <a:cs typeface="Consolas"/>
              </a:rPr>
              <a:t>ClassName</a:t>
            </a:r>
            <a:r>
              <a:rPr dirty="0" sz="2800" spc="-95" b="1">
                <a:latin typeface="Consolas"/>
                <a:cs typeface="Consolas"/>
              </a:rPr>
              <a:t> </a:t>
            </a:r>
            <a:r>
              <a:rPr dirty="0" sz="2800" spc="-10" b="1">
                <a:latin typeface="Consolas"/>
                <a:cs typeface="Consolas"/>
              </a:rPr>
              <a:t>objectRefVar;</a:t>
            </a:r>
            <a:endParaRPr sz="2800">
              <a:latin typeface="Consolas"/>
              <a:cs typeface="Consolas"/>
            </a:endParaRPr>
          </a:p>
          <a:p>
            <a:pPr marL="287020" indent="-274320">
              <a:lnSpc>
                <a:spcPts val="3770"/>
              </a:lnSpc>
              <a:spcBef>
                <a:spcPts val="10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 spc="-10">
                <a:latin typeface="Tahoma"/>
                <a:cs typeface="Tahoma"/>
              </a:rPr>
              <a:t>Example:</a:t>
            </a:r>
            <a:endParaRPr sz="3200">
              <a:latin typeface="Tahoma"/>
              <a:cs typeface="Tahoma"/>
            </a:endParaRPr>
          </a:p>
          <a:p>
            <a:pPr marL="323215">
              <a:lnSpc>
                <a:spcPts val="3290"/>
              </a:lnSpc>
            </a:pPr>
            <a:r>
              <a:rPr dirty="0" sz="2800" b="1">
                <a:latin typeface="Consolas"/>
                <a:cs typeface="Consolas"/>
              </a:rPr>
              <a:t>Circle</a:t>
            </a:r>
            <a:r>
              <a:rPr dirty="0" sz="2800" spc="-65" b="1">
                <a:latin typeface="Consolas"/>
                <a:cs typeface="Consolas"/>
              </a:rPr>
              <a:t> </a:t>
            </a:r>
            <a:r>
              <a:rPr dirty="0" sz="2800" spc="-25" b="1">
                <a:latin typeface="Consolas"/>
                <a:cs typeface="Consolas"/>
              </a:rPr>
              <a:t>c;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3544951" y="6022403"/>
            <a:ext cx="2869565" cy="838200"/>
          </a:xfrm>
          <a:custGeom>
            <a:avLst/>
            <a:gdLst/>
            <a:ahLst/>
            <a:cxnLst/>
            <a:rect l="l" t="t" r="r" b="b"/>
            <a:pathLst>
              <a:path w="2869565" h="838200">
                <a:moveTo>
                  <a:pt x="0" y="837819"/>
                </a:moveTo>
                <a:lnTo>
                  <a:pt x="2869311" y="837819"/>
                </a:lnTo>
                <a:lnTo>
                  <a:pt x="2869311" y="0"/>
                </a:lnTo>
                <a:lnTo>
                  <a:pt x="0" y="0"/>
                </a:lnTo>
                <a:lnTo>
                  <a:pt x="0" y="83781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4100"/>
              <a:t>Referencing</a:t>
            </a:r>
            <a:r>
              <a:rPr dirty="0" sz="4100" spc="10"/>
              <a:t> </a:t>
            </a:r>
            <a:r>
              <a:rPr dirty="0" sz="4100"/>
              <a:t>a</a:t>
            </a:r>
            <a:r>
              <a:rPr dirty="0" sz="4100" spc="5"/>
              <a:t> </a:t>
            </a:r>
            <a:r>
              <a:rPr dirty="0" sz="4100"/>
              <a:t>Newly</a:t>
            </a:r>
            <a:r>
              <a:rPr dirty="0" sz="4100" spc="40"/>
              <a:t> </a:t>
            </a:r>
            <a:r>
              <a:rPr dirty="0" sz="4100"/>
              <a:t>Created</a:t>
            </a:r>
            <a:r>
              <a:rPr dirty="0" sz="4100" spc="50"/>
              <a:t> </a:t>
            </a:r>
            <a:r>
              <a:rPr dirty="0" sz="4100" spc="-10"/>
              <a:t>Object</a:t>
            </a:r>
            <a:endParaRPr sz="4100"/>
          </a:p>
        </p:txBody>
      </p:sp>
      <p:sp>
        <p:nvSpPr>
          <p:cNvPr id="8" name="object 8" descr=""/>
          <p:cNvSpPr txBox="1"/>
          <p:nvPr/>
        </p:nvSpPr>
        <p:spPr>
          <a:xfrm>
            <a:off x="742238" y="1413319"/>
            <a:ext cx="8076565" cy="23609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7020" marR="5080" indent="-274955">
              <a:lnSpc>
                <a:spcPts val="3979"/>
              </a:lnSpc>
              <a:spcBef>
                <a:spcPts val="11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130">
                <a:latin typeface="Tahoma"/>
                <a:cs typeface="Tahoma"/>
              </a:rPr>
              <a:t> </a:t>
            </a:r>
            <a:r>
              <a:rPr dirty="0" sz="3200" spc="-40" b="1">
                <a:latin typeface="Consolas"/>
                <a:cs typeface="Consolas"/>
              </a:rPr>
              <a:t>new</a:t>
            </a:r>
            <a:r>
              <a:rPr dirty="0" sz="3200" spc="-720" b="1">
                <a:latin typeface="Consolas"/>
                <a:cs typeface="Consolas"/>
              </a:rPr>
              <a:t> </a:t>
            </a:r>
            <a:r>
              <a:rPr dirty="0" sz="3200">
                <a:latin typeface="Tahoma"/>
                <a:cs typeface="Tahoma"/>
              </a:rPr>
              <a:t>operator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creates</a:t>
            </a:r>
            <a:r>
              <a:rPr dirty="0" sz="3200" spc="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new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object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and </a:t>
            </a:r>
            <a:r>
              <a:rPr dirty="0" sz="3200">
                <a:latin typeface="Tahoma"/>
                <a:cs typeface="Tahoma"/>
              </a:rPr>
              <a:t>returns</a:t>
            </a:r>
            <a:r>
              <a:rPr dirty="0" sz="3200" spc="-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reference</a:t>
            </a:r>
            <a:endParaRPr sz="3200">
              <a:latin typeface="Tahoma"/>
              <a:cs typeface="Tahoma"/>
            </a:endParaRPr>
          </a:p>
          <a:p>
            <a:pPr marL="728980">
              <a:lnSpc>
                <a:spcPts val="3060"/>
              </a:lnSpc>
            </a:pPr>
            <a:r>
              <a:rPr dirty="0" sz="2800" b="1">
                <a:latin typeface="Consolas"/>
                <a:cs typeface="Consolas"/>
              </a:rPr>
              <a:t>new</a:t>
            </a:r>
            <a:r>
              <a:rPr dirty="0" sz="2800" spc="-40" b="1">
                <a:latin typeface="Consolas"/>
                <a:cs typeface="Consolas"/>
              </a:rPr>
              <a:t> </a:t>
            </a:r>
            <a:r>
              <a:rPr dirty="0" sz="2800" spc="-10" b="1">
                <a:latin typeface="Consolas"/>
                <a:cs typeface="Consolas"/>
              </a:rPr>
              <a:t>Circle();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800">
              <a:latin typeface="Consolas"/>
              <a:cs typeface="Consolas"/>
            </a:endParaRPr>
          </a:p>
          <a:p>
            <a:pPr marL="287020" indent="-274320">
              <a:lnSpc>
                <a:spcPct val="100000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Thus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typical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pattern…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622033" y="5063744"/>
            <a:ext cx="2201545" cy="1172210"/>
            <a:chOff x="6622033" y="5063744"/>
            <a:chExt cx="2201545" cy="1172210"/>
          </a:xfrm>
        </p:grpSpPr>
        <p:sp>
          <p:nvSpPr>
            <p:cNvPr id="10" name="object 10" descr=""/>
            <p:cNvSpPr/>
            <p:nvPr/>
          </p:nvSpPr>
          <p:spPr>
            <a:xfrm>
              <a:off x="6634733" y="5076444"/>
              <a:ext cx="2176145" cy="1146810"/>
            </a:xfrm>
            <a:custGeom>
              <a:avLst/>
              <a:gdLst/>
              <a:ahLst/>
              <a:cxnLst/>
              <a:rect l="l" t="t" r="r" b="b"/>
              <a:pathLst>
                <a:path w="2176145" h="1146810">
                  <a:moveTo>
                    <a:pt x="2175891" y="0"/>
                  </a:moveTo>
                  <a:lnTo>
                    <a:pt x="266065" y="0"/>
                  </a:lnTo>
                  <a:lnTo>
                    <a:pt x="266065" y="833374"/>
                  </a:lnTo>
                  <a:lnTo>
                    <a:pt x="584326" y="833374"/>
                  </a:lnTo>
                  <a:lnTo>
                    <a:pt x="0" y="1146810"/>
                  </a:lnTo>
                  <a:lnTo>
                    <a:pt x="1061847" y="833374"/>
                  </a:lnTo>
                  <a:lnTo>
                    <a:pt x="2175891" y="833374"/>
                  </a:lnTo>
                  <a:lnTo>
                    <a:pt x="2175891" y="0"/>
                  </a:lnTo>
                  <a:close/>
                </a:path>
              </a:pathLst>
            </a:custGeom>
            <a:solidFill>
              <a:srgbClr val="8585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634733" y="5076444"/>
              <a:ext cx="2176145" cy="1146810"/>
            </a:xfrm>
            <a:custGeom>
              <a:avLst/>
              <a:gdLst/>
              <a:ahLst/>
              <a:cxnLst/>
              <a:rect l="l" t="t" r="r" b="b"/>
              <a:pathLst>
                <a:path w="2176145" h="1146810">
                  <a:moveTo>
                    <a:pt x="266065" y="0"/>
                  </a:moveTo>
                  <a:lnTo>
                    <a:pt x="584326" y="0"/>
                  </a:lnTo>
                  <a:lnTo>
                    <a:pt x="1061847" y="0"/>
                  </a:lnTo>
                  <a:lnTo>
                    <a:pt x="2175891" y="0"/>
                  </a:lnTo>
                  <a:lnTo>
                    <a:pt x="2175891" y="486156"/>
                  </a:lnTo>
                  <a:lnTo>
                    <a:pt x="2175891" y="694436"/>
                  </a:lnTo>
                  <a:lnTo>
                    <a:pt x="2175891" y="833374"/>
                  </a:lnTo>
                  <a:lnTo>
                    <a:pt x="1061847" y="833374"/>
                  </a:lnTo>
                  <a:lnTo>
                    <a:pt x="0" y="1146810"/>
                  </a:lnTo>
                  <a:lnTo>
                    <a:pt x="584326" y="833374"/>
                  </a:lnTo>
                  <a:lnTo>
                    <a:pt x="266065" y="833374"/>
                  </a:lnTo>
                  <a:lnTo>
                    <a:pt x="266065" y="694436"/>
                  </a:lnTo>
                  <a:lnTo>
                    <a:pt x="266065" y="486156"/>
                  </a:lnTo>
                  <a:lnTo>
                    <a:pt x="266065" y="0"/>
                  </a:lnTo>
                  <a:close/>
                </a:path>
              </a:pathLst>
            </a:custGeom>
            <a:ln w="25400">
              <a:solidFill>
                <a:srgbClr val="2525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103364" y="5179923"/>
            <a:ext cx="1504950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Create</a:t>
            </a:r>
            <a:r>
              <a:rPr dirty="0" sz="1950" spc="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950" spc="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endParaRPr sz="1950">
              <a:latin typeface="Tahoma"/>
              <a:cs typeface="Tahoma"/>
            </a:endParaRPr>
          </a:p>
          <a:p>
            <a:pPr algn="ctr" marL="1905">
              <a:lnSpc>
                <a:spcPct val="100000"/>
              </a:lnSpc>
            </a:pP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object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98107" y="5194427"/>
            <a:ext cx="2773045" cy="1088390"/>
            <a:chOff x="298107" y="5194427"/>
            <a:chExt cx="2773045" cy="1088390"/>
          </a:xfrm>
        </p:grpSpPr>
        <p:sp>
          <p:nvSpPr>
            <p:cNvPr id="14" name="object 14" descr=""/>
            <p:cNvSpPr/>
            <p:nvPr/>
          </p:nvSpPr>
          <p:spPr>
            <a:xfrm>
              <a:off x="310807" y="5207127"/>
              <a:ext cx="2747645" cy="1062990"/>
            </a:xfrm>
            <a:custGeom>
              <a:avLst/>
              <a:gdLst/>
              <a:ahLst/>
              <a:cxnLst/>
              <a:rect l="l" t="t" r="r" b="b"/>
              <a:pathLst>
                <a:path w="2747645" h="1062989">
                  <a:moveTo>
                    <a:pt x="1909914" y="0"/>
                  </a:moveTo>
                  <a:lnTo>
                    <a:pt x="0" y="0"/>
                  </a:lnTo>
                  <a:lnTo>
                    <a:pt x="0" y="833246"/>
                  </a:lnTo>
                  <a:lnTo>
                    <a:pt x="1909914" y="833246"/>
                  </a:lnTo>
                  <a:lnTo>
                    <a:pt x="1909914" y="694435"/>
                  </a:lnTo>
                  <a:lnTo>
                    <a:pt x="2747479" y="1062862"/>
                  </a:lnTo>
                  <a:lnTo>
                    <a:pt x="1909914" y="486028"/>
                  </a:lnTo>
                  <a:lnTo>
                    <a:pt x="1909914" y="0"/>
                  </a:lnTo>
                  <a:close/>
                </a:path>
              </a:pathLst>
            </a:custGeom>
            <a:solidFill>
              <a:srgbClr val="8585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10807" y="5207127"/>
              <a:ext cx="2747645" cy="1062990"/>
            </a:xfrm>
            <a:custGeom>
              <a:avLst/>
              <a:gdLst/>
              <a:ahLst/>
              <a:cxnLst/>
              <a:rect l="l" t="t" r="r" b="b"/>
              <a:pathLst>
                <a:path w="2747645" h="1062989">
                  <a:moveTo>
                    <a:pt x="0" y="0"/>
                  </a:moveTo>
                  <a:lnTo>
                    <a:pt x="1114132" y="0"/>
                  </a:lnTo>
                  <a:lnTo>
                    <a:pt x="1591525" y="0"/>
                  </a:lnTo>
                  <a:lnTo>
                    <a:pt x="1909914" y="0"/>
                  </a:lnTo>
                  <a:lnTo>
                    <a:pt x="1909914" y="486028"/>
                  </a:lnTo>
                  <a:lnTo>
                    <a:pt x="2747479" y="1062862"/>
                  </a:lnTo>
                  <a:lnTo>
                    <a:pt x="1909914" y="694435"/>
                  </a:lnTo>
                  <a:lnTo>
                    <a:pt x="1909914" y="833246"/>
                  </a:lnTo>
                  <a:lnTo>
                    <a:pt x="1591525" y="833246"/>
                  </a:lnTo>
                  <a:lnTo>
                    <a:pt x="1114132" y="833246"/>
                  </a:lnTo>
                  <a:lnTo>
                    <a:pt x="0" y="833246"/>
                  </a:lnTo>
                  <a:lnTo>
                    <a:pt x="0" y="694435"/>
                  </a:lnTo>
                  <a:lnTo>
                    <a:pt x="0" y="48602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2525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14019" y="4644860"/>
            <a:ext cx="5653405" cy="1291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56944">
              <a:lnSpc>
                <a:spcPct val="100000"/>
              </a:lnSpc>
              <a:spcBef>
                <a:spcPts val="105"/>
              </a:spcBef>
            </a:pPr>
            <a:r>
              <a:rPr dirty="0" sz="2800" b="1">
                <a:latin typeface="Consolas"/>
                <a:cs typeface="Consolas"/>
              </a:rPr>
              <a:t>Circle</a:t>
            </a:r>
            <a:r>
              <a:rPr dirty="0" sz="2800" spc="-35" b="1">
                <a:latin typeface="Consolas"/>
                <a:cs typeface="Consolas"/>
              </a:rPr>
              <a:t> </a:t>
            </a:r>
            <a:r>
              <a:rPr dirty="0" sz="2800" b="1">
                <a:latin typeface="Consolas"/>
                <a:cs typeface="Consolas"/>
              </a:rPr>
              <a:t>c</a:t>
            </a:r>
            <a:r>
              <a:rPr dirty="0" sz="2800" spc="-50" b="1">
                <a:latin typeface="Consolas"/>
                <a:cs typeface="Consolas"/>
              </a:rPr>
              <a:t> </a:t>
            </a:r>
            <a:r>
              <a:rPr dirty="0" sz="2800" b="1">
                <a:latin typeface="Consolas"/>
                <a:cs typeface="Consolas"/>
              </a:rPr>
              <a:t>=</a:t>
            </a:r>
            <a:r>
              <a:rPr dirty="0" sz="2800" spc="-20" b="1">
                <a:latin typeface="Consolas"/>
                <a:cs typeface="Consolas"/>
              </a:rPr>
              <a:t> </a:t>
            </a:r>
            <a:r>
              <a:rPr dirty="0" sz="2800" b="1">
                <a:latin typeface="Consolas"/>
                <a:cs typeface="Consolas"/>
              </a:rPr>
              <a:t>new</a:t>
            </a:r>
            <a:r>
              <a:rPr dirty="0" sz="2800" spc="-20" b="1">
                <a:latin typeface="Consolas"/>
                <a:cs typeface="Consolas"/>
              </a:rPr>
              <a:t> </a:t>
            </a:r>
            <a:r>
              <a:rPr dirty="0" sz="2800" spc="-10" b="1">
                <a:latin typeface="Consolas"/>
                <a:cs typeface="Consolas"/>
              </a:rPr>
              <a:t>Circle();</a:t>
            </a:r>
            <a:endParaRPr sz="2800">
              <a:latin typeface="Consolas"/>
              <a:cs typeface="Consolas"/>
            </a:endParaRPr>
          </a:p>
          <a:p>
            <a:pPr algn="ctr" marR="4140835">
              <a:lnSpc>
                <a:spcPct val="100000"/>
              </a:lnSpc>
              <a:spcBef>
                <a:spcPts val="1910"/>
              </a:spcBef>
            </a:pP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Assign</a:t>
            </a:r>
            <a:r>
              <a:rPr dirty="0" sz="1950" spc="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object</a:t>
            </a:r>
            <a:endParaRPr sz="1950">
              <a:latin typeface="Tahoma"/>
              <a:cs typeface="Tahoma"/>
            </a:endParaRPr>
          </a:p>
          <a:p>
            <a:pPr algn="ctr" marR="4140200">
              <a:lnSpc>
                <a:spcPct val="100000"/>
              </a:lnSpc>
              <a:spcBef>
                <a:spcPts val="5"/>
              </a:spcBef>
            </a:pP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reference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392555">
              <a:lnSpc>
                <a:spcPct val="100000"/>
              </a:lnSpc>
              <a:spcBef>
                <a:spcPts val="120"/>
              </a:spcBef>
            </a:pPr>
            <a:r>
              <a:rPr dirty="0"/>
              <a:t>Accessing</a:t>
            </a:r>
            <a:r>
              <a:rPr dirty="0" spc="-80"/>
              <a:t> </a:t>
            </a:r>
            <a:r>
              <a:rPr dirty="0"/>
              <a:t>Object’s</a:t>
            </a:r>
            <a:r>
              <a:rPr dirty="0" spc="-80"/>
              <a:t> </a:t>
            </a:r>
            <a:r>
              <a:rPr dirty="0" spc="-10"/>
              <a:t>Members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31353"/>
            <a:ext cx="7291070" cy="366649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87020" marR="5080" indent="-274955">
              <a:lnSpc>
                <a:spcPts val="3690"/>
              </a:lnSpc>
              <a:spcBef>
                <a:spcPts val="34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Accessing</a:t>
            </a:r>
            <a:r>
              <a:rPr dirty="0" sz="3200" spc="-1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class/object</a:t>
            </a:r>
            <a:r>
              <a:rPr dirty="0" sz="3200" spc="-1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data/methods</a:t>
            </a:r>
            <a:r>
              <a:rPr dirty="0" sz="3200" spc="-10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is </a:t>
            </a:r>
            <a:r>
              <a:rPr dirty="0" sz="3200">
                <a:latin typeface="Tahoma"/>
                <a:cs typeface="Tahoma"/>
              </a:rPr>
              <a:t>achieved via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dot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</a:t>
            </a:r>
            <a:r>
              <a:rPr dirty="0" sz="3200" b="1">
                <a:latin typeface="Consolas"/>
                <a:cs typeface="Consolas"/>
              </a:rPr>
              <a:t>.</a:t>
            </a:r>
            <a:r>
              <a:rPr dirty="0" sz="3200">
                <a:latin typeface="Tahoma"/>
                <a:cs typeface="Tahoma"/>
              </a:rPr>
              <a:t>)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operator</a:t>
            </a:r>
            <a:endParaRPr sz="3200">
              <a:latin typeface="Tahoma"/>
              <a:cs typeface="Tahoma"/>
            </a:endParaRPr>
          </a:p>
          <a:p>
            <a:pPr marL="287020" indent="-274320">
              <a:lnSpc>
                <a:spcPts val="3770"/>
              </a:lnSpc>
              <a:spcBef>
                <a:spcPts val="4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Member</a:t>
            </a:r>
            <a:r>
              <a:rPr dirty="0" sz="3200" spc="-11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variables</a:t>
            </a:r>
            <a:endParaRPr sz="3200">
              <a:latin typeface="Tahoma"/>
              <a:cs typeface="Tahoma"/>
            </a:endParaRPr>
          </a:p>
          <a:p>
            <a:pPr marL="728980">
              <a:lnSpc>
                <a:spcPts val="3290"/>
              </a:lnSpc>
            </a:pPr>
            <a:r>
              <a:rPr dirty="0" sz="2800" spc="-10" b="1">
                <a:latin typeface="Consolas"/>
                <a:cs typeface="Consolas"/>
              </a:rPr>
              <a:t>objRefVar.data</a:t>
            </a:r>
            <a:endParaRPr sz="2800">
              <a:latin typeface="Consolas"/>
              <a:cs typeface="Consolas"/>
            </a:endParaRPr>
          </a:p>
          <a:p>
            <a:pPr marL="728980">
              <a:lnSpc>
                <a:spcPct val="100000"/>
              </a:lnSpc>
              <a:spcBef>
                <a:spcPts val="45"/>
              </a:spcBef>
            </a:pPr>
            <a:r>
              <a:rPr dirty="0" sz="2800" i="1">
                <a:latin typeface="Consolas"/>
                <a:cs typeface="Consolas"/>
              </a:rPr>
              <a:t>e.g.</a:t>
            </a:r>
            <a:r>
              <a:rPr dirty="0" sz="2800" spc="-55" i="1">
                <a:latin typeface="Consolas"/>
                <a:cs typeface="Consolas"/>
              </a:rPr>
              <a:t> </a:t>
            </a:r>
            <a:r>
              <a:rPr dirty="0" sz="2800" spc="-10" b="1">
                <a:latin typeface="Consolas"/>
                <a:cs typeface="Consolas"/>
              </a:rPr>
              <a:t>c.radius</a:t>
            </a:r>
            <a:endParaRPr sz="2800">
              <a:latin typeface="Consolas"/>
              <a:cs typeface="Consolas"/>
            </a:endParaRPr>
          </a:p>
          <a:p>
            <a:pPr marL="287020" indent="-274320">
              <a:lnSpc>
                <a:spcPts val="3770"/>
              </a:lnSpc>
              <a:spcBef>
                <a:spcPts val="11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Member</a:t>
            </a:r>
            <a:r>
              <a:rPr dirty="0" sz="3200" spc="-11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methods</a:t>
            </a:r>
            <a:endParaRPr sz="3200">
              <a:latin typeface="Tahoma"/>
              <a:cs typeface="Tahoma"/>
            </a:endParaRPr>
          </a:p>
          <a:p>
            <a:pPr marL="728980">
              <a:lnSpc>
                <a:spcPts val="3290"/>
              </a:lnSpc>
            </a:pPr>
            <a:r>
              <a:rPr dirty="0" sz="2800" spc="-10" b="1">
                <a:latin typeface="Consolas"/>
                <a:cs typeface="Consolas"/>
              </a:rPr>
              <a:t>objRefVar.methodName(args)</a:t>
            </a:r>
            <a:endParaRPr sz="2800">
              <a:latin typeface="Consolas"/>
              <a:cs typeface="Consolas"/>
            </a:endParaRPr>
          </a:p>
          <a:p>
            <a:pPr marL="728980">
              <a:lnSpc>
                <a:spcPct val="100000"/>
              </a:lnSpc>
              <a:spcBef>
                <a:spcPts val="10"/>
              </a:spcBef>
            </a:pPr>
            <a:r>
              <a:rPr dirty="0" sz="2800" i="1">
                <a:latin typeface="Consolas"/>
                <a:cs typeface="Consolas"/>
              </a:rPr>
              <a:t>e.g.</a:t>
            </a:r>
            <a:r>
              <a:rPr dirty="0" sz="2800" spc="-55" i="1">
                <a:latin typeface="Consolas"/>
                <a:cs typeface="Consolas"/>
              </a:rPr>
              <a:t> </a:t>
            </a:r>
            <a:r>
              <a:rPr dirty="0" sz="2800" spc="-10" b="1">
                <a:latin typeface="Consolas"/>
                <a:cs typeface="Consolas"/>
              </a:rPr>
              <a:t>c.getArea()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731135">
              <a:lnSpc>
                <a:spcPct val="100000"/>
              </a:lnSpc>
              <a:spcBef>
                <a:spcPts val="120"/>
              </a:spcBef>
            </a:pPr>
            <a:r>
              <a:rPr dirty="0"/>
              <a:t>Trace</a:t>
            </a:r>
            <a:r>
              <a:rPr dirty="0" spc="-110"/>
              <a:t> </a:t>
            </a:r>
            <a:r>
              <a:rPr dirty="0"/>
              <a:t>Code</a:t>
            </a:r>
            <a:r>
              <a:rPr dirty="0" spc="5"/>
              <a:t> </a:t>
            </a:r>
            <a:r>
              <a:rPr dirty="0" spc="-25"/>
              <a:t>(1)</a:t>
            </a: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80681" y="1987588"/>
            <a:ext cx="3844925" cy="1927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cA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1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Circle(5.0); </a:t>
            </a: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cB</a:t>
            </a:r>
            <a:r>
              <a:rPr dirty="0" sz="1950" spc="-5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1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 cB.setRadius(100);</a:t>
            </a:r>
            <a:endParaRPr sz="19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950">
              <a:latin typeface="Consolas"/>
              <a:cs typeface="Consolas"/>
            </a:endParaRPr>
          </a:p>
          <a:p>
            <a:pPr marL="1811020">
              <a:lnSpc>
                <a:spcPct val="100000"/>
              </a:lnSpc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731135">
              <a:lnSpc>
                <a:spcPct val="100000"/>
              </a:lnSpc>
              <a:spcBef>
                <a:spcPts val="120"/>
              </a:spcBef>
            </a:pPr>
            <a:r>
              <a:rPr dirty="0"/>
              <a:t>Trace</a:t>
            </a:r>
            <a:r>
              <a:rPr dirty="0" spc="-110"/>
              <a:t> </a:t>
            </a:r>
            <a:r>
              <a:rPr dirty="0"/>
              <a:t>Code</a:t>
            </a:r>
            <a:r>
              <a:rPr dirty="0" spc="5"/>
              <a:t> </a:t>
            </a:r>
            <a:r>
              <a:rPr dirty="0" spc="-25"/>
              <a:t>(2)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459447" y="1432331"/>
            <a:ext cx="1414780" cy="382905"/>
          </a:xfrm>
          <a:prstGeom prst="rect">
            <a:avLst/>
          </a:prstGeom>
          <a:solidFill>
            <a:srgbClr val="8585DF">
              <a:alpha val="19999"/>
            </a:srgbClr>
          </a:solidFill>
          <a:ln w="25400">
            <a:solidFill>
              <a:srgbClr val="252599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4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90" b="1">
                <a:latin typeface="Consolas"/>
                <a:cs typeface="Consolas"/>
              </a:rPr>
              <a:t> </a:t>
            </a:r>
            <a:r>
              <a:rPr dirty="0" sz="1950" spc="-25" b="1">
                <a:latin typeface="Consolas"/>
                <a:cs typeface="Consolas"/>
              </a:rPr>
              <a:t>cA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92935" y="1437678"/>
            <a:ext cx="248412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= new</a:t>
            </a:r>
            <a:r>
              <a:rPr dirty="0" sz="1950" spc="-3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Circle(5.0);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32041" y="1964982"/>
            <a:ext cx="3435350" cy="2300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cB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1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</a:t>
            </a:r>
            <a:endParaRPr sz="1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1950" spc="-10" b="1">
                <a:latin typeface="Consolas"/>
                <a:cs typeface="Consolas"/>
              </a:rPr>
              <a:t>cB.setRadius(100);</a:t>
            </a:r>
            <a:endParaRPr sz="19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950">
              <a:latin typeface="Consolas"/>
              <a:cs typeface="Consolas"/>
            </a:endParaRPr>
          </a:p>
          <a:p>
            <a:pPr marL="1959610">
              <a:lnSpc>
                <a:spcPts val="2940"/>
              </a:lnSpc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  <a:p>
            <a:pPr marL="775970">
              <a:lnSpc>
                <a:spcPts val="2940"/>
              </a:lnSpc>
            </a:pPr>
            <a:r>
              <a:rPr dirty="0" sz="2600" spc="-25" b="1">
                <a:latin typeface="Consolas"/>
                <a:cs typeface="Consolas"/>
              </a:rPr>
              <a:t>cA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731135">
              <a:lnSpc>
                <a:spcPct val="100000"/>
              </a:lnSpc>
              <a:spcBef>
                <a:spcPts val="120"/>
              </a:spcBef>
            </a:pPr>
            <a:r>
              <a:rPr dirty="0"/>
              <a:t>Trace</a:t>
            </a:r>
            <a:r>
              <a:rPr dirty="0" spc="-110"/>
              <a:t> </a:t>
            </a:r>
            <a:r>
              <a:rPr dirty="0"/>
              <a:t>Code</a:t>
            </a:r>
            <a:r>
              <a:rPr dirty="0" spc="5"/>
              <a:t> </a:t>
            </a:r>
            <a:r>
              <a:rPr dirty="0" spc="-25"/>
              <a:t>(3)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32041" y="1446060"/>
            <a:ext cx="152273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5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cA</a:t>
            </a:r>
            <a:r>
              <a:rPr dirty="0" sz="1950" spc="-60" b="1">
                <a:latin typeface="Consolas"/>
                <a:cs typeface="Consolas"/>
              </a:rPr>
              <a:t> </a:t>
            </a:r>
            <a:r>
              <a:rPr dirty="0" sz="1950" spc="-50" b="1">
                <a:latin typeface="Consolas"/>
                <a:cs typeface="Consolas"/>
              </a:rPr>
              <a:t>=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12517" y="1432331"/>
            <a:ext cx="2333625" cy="382905"/>
          </a:xfrm>
          <a:prstGeom prst="rect">
            <a:avLst/>
          </a:prstGeom>
          <a:solidFill>
            <a:srgbClr val="8585DF">
              <a:alpha val="19999"/>
            </a:srgbClr>
          </a:solidFill>
          <a:ln w="25400">
            <a:solidFill>
              <a:srgbClr val="252599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204"/>
              </a:spcBef>
            </a:pP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Circle(5.0);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2041" y="1923834"/>
            <a:ext cx="3435350" cy="796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cB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1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</a:t>
            </a:r>
            <a:endParaRPr sz="1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950" spc="-10" b="1">
                <a:latin typeface="Consolas"/>
                <a:cs typeface="Consolas"/>
              </a:rPr>
              <a:t>cB.setRadius(100);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295400" y="3839718"/>
            <a:ext cx="39497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25" b="1">
                <a:latin typeface="Consolas"/>
                <a:cs typeface="Consolas"/>
              </a:rPr>
              <a:t>cA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34175" y="3080956"/>
            <a:ext cx="2185035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31520">
              <a:lnSpc>
                <a:spcPts val="2039"/>
              </a:lnSpc>
            </a:pP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734175" y="3364814"/>
            <a:ext cx="2185035" cy="504825"/>
          </a:xfrm>
          <a:custGeom>
            <a:avLst/>
            <a:gdLst/>
            <a:ahLst/>
            <a:cxnLst/>
            <a:rect l="l" t="t" r="r" b="b"/>
            <a:pathLst>
              <a:path w="2185034" h="504825">
                <a:moveTo>
                  <a:pt x="2184654" y="0"/>
                </a:moveTo>
                <a:lnTo>
                  <a:pt x="0" y="0"/>
                </a:lnTo>
                <a:lnTo>
                  <a:pt x="0" y="504494"/>
                </a:lnTo>
                <a:lnTo>
                  <a:pt x="2184654" y="504494"/>
                </a:lnTo>
                <a:lnTo>
                  <a:pt x="2184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734175" y="3364776"/>
            <a:ext cx="2185035" cy="5048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176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19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731135">
              <a:lnSpc>
                <a:spcPct val="100000"/>
              </a:lnSpc>
              <a:spcBef>
                <a:spcPts val="120"/>
              </a:spcBef>
            </a:pPr>
            <a:r>
              <a:rPr dirty="0"/>
              <a:t>Trace</a:t>
            </a:r>
            <a:r>
              <a:rPr dirty="0" spc="-110"/>
              <a:t> </a:t>
            </a:r>
            <a:r>
              <a:rPr dirty="0"/>
              <a:t>Code</a:t>
            </a:r>
            <a:r>
              <a:rPr dirty="0" spc="5"/>
              <a:t> </a:t>
            </a:r>
            <a:r>
              <a:rPr dirty="0" spc="-25"/>
              <a:t>(4)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810766" y="1432331"/>
            <a:ext cx="347345" cy="382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4615">
              <a:lnSpc>
                <a:spcPts val="2250"/>
              </a:lnSpc>
            </a:pPr>
            <a:r>
              <a:rPr dirty="0" sz="1950" spc="-50" b="1">
                <a:latin typeface="Consolas"/>
                <a:cs typeface="Consolas"/>
              </a:rPr>
              <a:t>=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2041" y="1408214"/>
            <a:ext cx="384492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825" algn="l"/>
              </a:tabLst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90" b="1">
                <a:latin typeface="Consolas"/>
                <a:cs typeface="Consolas"/>
              </a:rPr>
              <a:t> </a:t>
            </a:r>
            <a:r>
              <a:rPr dirty="0" sz="1950" spc="-25" b="1">
                <a:latin typeface="Consolas"/>
                <a:cs typeface="Consolas"/>
              </a:rPr>
              <a:t>cA</a:t>
            </a:r>
            <a:r>
              <a:rPr dirty="0" sz="1950" b="1">
                <a:latin typeface="Consolas"/>
                <a:cs typeface="Consolas"/>
              </a:rPr>
              <a:t>	new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Circle(5.0);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2041" y="1705627"/>
            <a:ext cx="3435350" cy="927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7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cB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1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 cB.setRadius(100);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295400" y="3839718"/>
            <a:ext cx="39497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25" b="1">
                <a:latin typeface="Consolas"/>
                <a:cs typeface="Consolas"/>
              </a:rPr>
              <a:t>cA</a:t>
            </a:r>
            <a:endParaRPr sz="2600">
              <a:latin typeface="Consolas"/>
              <a:cs typeface="Consola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798066" y="1419631"/>
            <a:ext cx="372745" cy="408305"/>
            <a:chOff x="1798066" y="1419631"/>
            <a:chExt cx="372745" cy="408305"/>
          </a:xfrm>
        </p:grpSpPr>
        <p:sp>
          <p:nvSpPr>
            <p:cNvPr id="14" name="object 14" descr=""/>
            <p:cNvSpPr/>
            <p:nvPr/>
          </p:nvSpPr>
          <p:spPr>
            <a:xfrm>
              <a:off x="1810766" y="1432331"/>
              <a:ext cx="347345" cy="382905"/>
            </a:xfrm>
            <a:custGeom>
              <a:avLst/>
              <a:gdLst/>
              <a:ahLst/>
              <a:cxnLst/>
              <a:rect l="l" t="t" r="r" b="b"/>
              <a:pathLst>
                <a:path w="347344" h="382905">
                  <a:moveTo>
                    <a:pt x="346837" y="0"/>
                  </a:moveTo>
                  <a:lnTo>
                    <a:pt x="0" y="0"/>
                  </a:lnTo>
                  <a:lnTo>
                    <a:pt x="0" y="382879"/>
                  </a:lnTo>
                  <a:lnTo>
                    <a:pt x="346837" y="382879"/>
                  </a:lnTo>
                  <a:lnTo>
                    <a:pt x="346837" y="0"/>
                  </a:lnTo>
                  <a:close/>
                </a:path>
              </a:pathLst>
            </a:custGeom>
            <a:solidFill>
              <a:srgbClr val="8585D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810766" y="1432331"/>
              <a:ext cx="347345" cy="382905"/>
            </a:xfrm>
            <a:custGeom>
              <a:avLst/>
              <a:gdLst/>
              <a:ahLst/>
              <a:cxnLst/>
              <a:rect l="l" t="t" r="r" b="b"/>
              <a:pathLst>
                <a:path w="347344" h="382905">
                  <a:moveTo>
                    <a:pt x="0" y="382879"/>
                  </a:moveTo>
                  <a:lnTo>
                    <a:pt x="346837" y="382879"/>
                  </a:lnTo>
                  <a:lnTo>
                    <a:pt x="346837" y="0"/>
                  </a:lnTo>
                  <a:lnTo>
                    <a:pt x="0" y="0"/>
                  </a:lnTo>
                  <a:lnTo>
                    <a:pt x="0" y="382879"/>
                  </a:lnTo>
                  <a:close/>
                </a:path>
              </a:pathLst>
            </a:custGeom>
            <a:ln w="25400">
              <a:solidFill>
                <a:srgbClr val="2525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34175" y="3080956"/>
            <a:ext cx="2185035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2759">
              <a:lnSpc>
                <a:spcPts val="2039"/>
              </a:lnSpc>
            </a:pPr>
            <a:r>
              <a:rPr dirty="0" sz="1700" b="1">
                <a:latin typeface="Consolas"/>
                <a:cs typeface="Consolas"/>
              </a:rPr>
              <a:t>cA:</a:t>
            </a:r>
            <a:r>
              <a:rPr dirty="0" sz="1700" spc="45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721475" y="3352114"/>
            <a:ext cx="2210435" cy="530225"/>
            <a:chOff x="6721475" y="3352114"/>
            <a:chExt cx="2210435" cy="530225"/>
          </a:xfrm>
        </p:grpSpPr>
        <p:sp>
          <p:nvSpPr>
            <p:cNvPr id="19" name="object 19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2184654" y="0"/>
                  </a:moveTo>
                  <a:lnTo>
                    <a:pt x="0" y="0"/>
                  </a:lnTo>
                  <a:lnTo>
                    <a:pt x="0" y="504494"/>
                  </a:lnTo>
                  <a:lnTo>
                    <a:pt x="2184654" y="504494"/>
                  </a:lnTo>
                  <a:lnTo>
                    <a:pt x="2184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0" y="504494"/>
                  </a:moveTo>
                  <a:lnTo>
                    <a:pt x="2184654" y="504494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5044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817868" y="3503181"/>
            <a:ext cx="8699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4410202" y="3209798"/>
            <a:ext cx="2326005" cy="833755"/>
          </a:xfrm>
          <a:custGeom>
            <a:avLst/>
            <a:gdLst/>
            <a:ahLst/>
            <a:cxnLst/>
            <a:rect l="l" t="t" r="r" b="b"/>
            <a:pathLst>
              <a:path w="2326004" h="833754">
                <a:moveTo>
                  <a:pt x="2249773" y="23990"/>
                </a:moveTo>
                <a:lnTo>
                  <a:pt x="0" y="809371"/>
                </a:lnTo>
                <a:lnTo>
                  <a:pt x="8382" y="833374"/>
                </a:lnTo>
                <a:lnTo>
                  <a:pt x="2258130" y="48002"/>
                </a:lnTo>
                <a:lnTo>
                  <a:pt x="2249773" y="23990"/>
                </a:lnTo>
                <a:close/>
              </a:path>
              <a:path w="2326004" h="833754">
                <a:moveTo>
                  <a:pt x="2317104" y="19812"/>
                </a:moveTo>
                <a:lnTo>
                  <a:pt x="2261743" y="19812"/>
                </a:lnTo>
                <a:lnTo>
                  <a:pt x="2270125" y="43815"/>
                </a:lnTo>
                <a:lnTo>
                  <a:pt x="2258130" y="48002"/>
                </a:lnTo>
                <a:lnTo>
                  <a:pt x="2266442" y="71882"/>
                </a:lnTo>
                <a:lnTo>
                  <a:pt x="2317104" y="19812"/>
                </a:lnTo>
                <a:close/>
              </a:path>
              <a:path w="2326004" h="833754">
                <a:moveTo>
                  <a:pt x="2261743" y="19812"/>
                </a:moveTo>
                <a:lnTo>
                  <a:pt x="2249773" y="23990"/>
                </a:lnTo>
                <a:lnTo>
                  <a:pt x="2258130" y="48002"/>
                </a:lnTo>
                <a:lnTo>
                  <a:pt x="2270125" y="43815"/>
                </a:lnTo>
                <a:lnTo>
                  <a:pt x="2261743" y="19812"/>
                </a:lnTo>
                <a:close/>
              </a:path>
              <a:path w="2326004" h="833754">
                <a:moveTo>
                  <a:pt x="2241423" y="0"/>
                </a:moveTo>
                <a:lnTo>
                  <a:pt x="2249773" y="23990"/>
                </a:lnTo>
                <a:lnTo>
                  <a:pt x="2261743" y="19812"/>
                </a:lnTo>
                <a:lnTo>
                  <a:pt x="2317104" y="19812"/>
                </a:lnTo>
                <a:lnTo>
                  <a:pt x="2325878" y="10795"/>
                </a:lnTo>
                <a:lnTo>
                  <a:pt x="22414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5" name="object 2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731135">
              <a:lnSpc>
                <a:spcPct val="100000"/>
              </a:lnSpc>
              <a:spcBef>
                <a:spcPts val="120"/>
              </a:spcBef>
            </a:pPr>
            <a:r>
              <a:rPr dirty="0"/>
              <a:t>Trace</a:t>
            </a:r>
            <a:r>
              <a:rPr dirty="0" spc="-110"/>
              <a:t> </a:t>
            </a:r>
            <a:r>
              <a:rPr dirty="0"/>
              <a:t>Code</a:t>
            </a:r>
            <a:r>
              <a:rPr dirty="0" spc="5"/>
              <a:t> </a:t>
            </a:r>
            <a:r>
              <a:rPr dirty="0" spc="-25"/>
              <a:t>(5)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14921" y="1534071"/>
            <a:ext cx="385191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cA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Circle(5.0);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9447" y="1972907"/>
            <a:ext cx="1428115" cy="378460"/>
          </a:xfrm>
          <a:prstGeom prst="rect">
            <a:avLst/>
          </a:prstGeom>
          <a:solidFill>
            <a:srgbClr val="8585DF">
              <a:alpha val="19999"/>
            </a:srgbClr>
          </a:solidFill>
          <a:ln w="25400">
            <a:solidFill>
              <a:srgbClr val="252599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195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90" b="1">
                <a:latin typeface="Consolas"/>
                <a:cs typeface="Consolas"/>
              </a:rPr>
              <a:t> </a:t>
            </a:r>
            <a:r>
              <a:rPr dirty="0" sz="1950" spc="-25" b="1">
                <a:latin typeface="Consolas"/>
                <a:cs typeface="Consolas"/>
              </a:rPr>
              <a:t>cB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875917" y="1984794"/>
            <a:ext cx="208026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3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4921" y="2435517"/>
            <a:ext cx="248158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 b="1">
                <a:latin typeface="Consolas"/>
                <a:cs typeface="Consolas"/>
              </a:rPr>
              <a:t>cB.setRadius(100);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295400" y="3839718"/>
            <a:ext cx="394970" cy="7486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5"/>
              </a:spcBef>
            </a:pPr>
            <a:r>
              <a:rPr dirty="0" sz="2600" spc="-25" b="1">
                <a:latin typeface="Consolas"/>
                <a:cs typeface="Consolas"/>
              </a:rPr>
              <a:t>cA cB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734175" y="3080956"/>
            <a:ext cx="2185035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2759">
              <a:lnSpc>
                <a:spcPts val="2039"/>
              </a:lnSpc>
            </a:pPr>
            <a:r>
              <a:rPr dirty="0" sz="1700" b="1">
                <a:latin typeface="Consolas"/>
                <a:cs typeface="Consolas"/>
              </a:rPr>
              <a:t>cA:</a:t>
            </a:r>
            <a:r>
              <a:rPr dirty="0" sz="1700" spc="45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721475" y="3352114"/>
            <a:ext cx="2210435" cy="530225"/>
            <a:chOff x="6721475" y="3352114"/>
            <a:chExt cx="2210435" cy="530225"/>
          </a:xfrm>
        </p:grpSpPr>
        <p:sp>
          <p:nvSpPr>
            <p:cNvPr id="17" name="object 17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2184654" y="0"/>
                  </a:moveTo>
                  <a:lnTo>
                    <a:pt x="0" y="0"/>
                  </a:lnTo>
                  <a:lnTo>
                    <a:pt x="0" y="504494"/>
                  </a:lnTo>
                  <a:lnTo>
                    <a:pt x="2184654" y="504494"/>
                  </a:lnTo>
                  <a:lnTo>
                    <a:pt x="2184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0" y="504494"/>
                  </a:moveTo>
                  <a:lnTo>
                    <a:pt x="2184654" y="504494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5044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817868" y="3503181"/>
            <a:ext cx="8699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410202" y="3209798"/>
            <a:ext cx="2326005" cy="833755"/>
          </a:xfrm>
          <a:custGeom>
            <a:avLst/>
            <a:gdLst/>
            <a:ahLst/>
            <a:cxnLst/>
            <a:rect l="l" t="t" r="r" b="b"/>
            <a:pathLst>
              <a:path w="2326004" h="833754">
                <a:moveTo>
                  <a:pt x="2249773" y="23990"/>
                </a:moveTo>
                <a:lnTo>
                  <a:pt x="0" y="809371"/>
                </a:lnTo>
                <a:lnTo>
                  <a:pt x="8382" y="833374"/>
                </a:lnTo>
                <a:lnTo>
                  <a:pt x="2258130" y="48002"/>
                </a:lnTo>
                <a:lnTo>
                  <a:pt x="2249773" y="23990"/>
                </a:lnTo>
                <a:close/>
              </a:path>
              <a:path w="2326004" h="833754">
                <a:moveTo>
                  <a:pt x="2317104" y="19812"/>
                </a:moveTo>
                <a:lnTo>
                  <a:pt x="2261743" y="19812"/>
                </a:lnTo>
                <a:lnTo>
                  <a:pt x="2270125" y="43815"/>
                </a:lnTo>
                <a:lnTo>
                  <a:pt x="2258130" y="48002"/>
                </a:lnTo>
                <a:lnTo>
                  <a:pt x="2266442" y="71882"/>
                </a:lnTo>
                <a:lnTo>
                  <a:pt x="2317104" y="19812"/>
                </a:lnTo>
                <a:close/>
              </a:path>
              <a:path w="2326004" h="833754">
                <a:moveTo>
                  <a:pt x="2261743" y="19812"/>
                </a:moveTo>
                <a:lnTo>
                  <a:pt x="2249773" y="23990"/>
                </a:lnTo>
                <a:lnTo>
                  <a:pt x="2258130" y="48002"/>
                </a:lnTo>
                <a:lnTo>
                  <a:pt x="2270125" y="43815"/>
                </a:lnTo>
                <a:lnTo>
                  <a:pt x="2261743" y="19812"/>
                </a:lnTo>
                <a:close/>
              </a:path>
              <a:path w="2326004" h="833754">
                <a:moveTo>
                  <a:pt x="2241423" y="0"/>
                </a:moveTo>
                <a:lnTo>
                  <a:pt x="2249773" y="23990"/>
                </a:lnTo>
                <a:lnTo>
                  <a:pt x="2261743" y="19812"/>
                </a:lnTo>
                <a:lnTo>
                  <a:pt x="2317104" y="19812"/>
                </a:lnTo>
                <a:lnTo>
                  <a:pt x="2325878" y="10795"/>
                </a:lnTo>
                <a:lnTo>
                  <a:pt x="22414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731135">
              <a:lnSpc>
                <a:spcPct val="100000"/>
              </a:lnSpc>
              <a:spcBef>
                <a:spcPts val="120"/>
              </a:spcBef>
            </a:pPr>
            <a:r>
              <a:rPr dirty="0"/>
              <a:t>Trace</a:t>
            </a:r>
            <a:r>
              <a:rPr dirty="0" spc="-110"/>
              <a:t> </a:t>
            </a:r>
            <a:r>
              <a:rPr dirty="0"/>
              <a:t>Code</a:t>
            </a:r>
            <a:r>
              <a:rPr dirty="0" spc="5"/>
              <a:t> </a:t>
            </a:r>
            <a:r>
              <a:rPr dirty="0" spc="-25"/>
              <a:t>(6)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32041" y="1529880"/>
            <a:ext cx="384492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cA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1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Circle(5.0);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2041" y="2007654"/>
            <a:ext cx="152273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5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cB</a:t>
            </a:r>
            <a:r>
              <a:rPr dirty="0" sz="1950" spc="-60" b="1">
                <a:latin typeface="Consolas"/>
                <a:cs typeface="Consolas"/>
              </a:rPr>
              <a:t> </a:t>
            </a:r>
            <a:r>
              <a:rPr dirty="0" sz="1950" spc="-50" b="1">
                <a:latin typeface="Consolas"/>
                <a:cs typeface="Consolas"/>
              </a:rPr>
              <a:t>=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112517" y="1972907"/>
            <a:ext cx="1905635" cy="378460"/>
          </a:xfrm>
          <a:prstGeom prst="rect">
            <a:avLst/>
          </a:prstGeom>
          <a:solidFill>
            <a:srgbClr val="8585DF">
              <a:alpha val="19999"/>
            </a:srgbClr>
          </a:solidFill>
          <a:ln w="25400">
            <a:solidFill>
              <a:srgbClr val="252599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75"/>
              </a:spcBef>
            </a:pP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2041" y="2480983"/>
            <a:ext cx="248221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 b="1">
                <a:latin typeface="Consolas"/>
                <a:cs typeface="Consolas"/>
              </a:rPr>
              <a:t>cB.setRadius(100);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295400" y="3839718"/>
            <a:ext cx="394970" cy="7486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5"/>
              </a:spcBef>
            </a:pPr>
            <a:r>
              <a:rPr dirty="0" sz="2600" spc="-25" b="1">
                <a:latin typeface="Consolas"/>
                <a:cs typeface="Consolas"/>
              </a:rPr>
              <a:t>cA cB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734175" y="3080956"/>
            <a:ext cx="2185035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2759">
              <a:lnSpc>
                <a:spcPts val="2039"/>
              </a:lnSpc>
            </a:pPr>
            <a:r>
              <a:rPr dirty="0" sz="1700" b="1">
                <a:latin typeface="Consolas"/>
                <a:cs typeface="Consolas"/>
              </a:rPr>
              <a:t>cA:</a:t>
            </a:r>
            <a:r>
              <a:rPr dirty="0" sz="1700" spc="45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721475" y="3352114"/>
            <a:ext cx="2210435" cy="530225"/>
            <a:chOff x="6721475" y="3352114"/>
            <a:chExt cx="2210435" cy="530225"/>
          </a:xfrm>
        </p:grpSpPr>
        <p:sp>
          <p:nvSpPr>
            <p:cNvPr id="17" name="object 17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2184654" y="0"/>
                  </a:moveTo>
                  <a:lnTo>
                    <a:pt x="0" y="0"/>
                  </a:lnTo>
                  <a:lnTo>
                    <a:pt x="0" y="504494"/>
                  </a:lnTo>
                  <a:lnTo>
                    <a:pt x="2184654" y="504494"/>
                  </a:lnTo>
                  <a:lnTo>
                    <a:pt x="2184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0" y="504494"/>
                  </a:moveTo>
                  <a:lnTo>
                    <a:pt x="2184654" y="504494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5044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817868" y="3503181"/>
            <a:ext cx="8699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410202" y="3209798"/>
            <a:ext cx="2326005" cy="833755"/>
          </a:xfrm>
          <a:custGeom>
            <a:avLst/>
            <a:gdLst/>
            <a:ahLst/>
            <a:cxnLst/>
            <a:rect l="l" t="t" r="r" b="b"/>
            <a:pathLst>
              <a:path w="2326004" h="833754">
                <a:moveTo>
                  <a:pt x="2249773" y="23990"/>
                </a:moveTo>
                <a:lnTo>
                  <a:pt x="0" y="809371"/>
                </a:lnTo>
                <a:lnTo>
                  <a:pt x="8382" y="833374"/>
                </a:lnTo>
                <a:lnTo>
                  <a:pt x="2258130" y="48002"/>
                </a:lnTo>
                <a:lnTo>
                  <a:pt x="2249773" y="23990"/>
                </a:lnTo>
                <a:close/>
              </a:path>
              <a:path w="2326004" h="833754">
                <a:moveTo>
                  <a:pt x="2317104" y="19812"/>
                </a:moveTo>
                <a:lnTo>
                  <a:pt x="2261743" y="19812"/>
                </a:lnTo>
                <a:lnTo>
                  <a:pt x="2270125" y="43815"/>
                </a:lnTo>
                <a:lnTo>
                  <a:pt x="2258130" y="48002"/>
                </a:lnTo>
                <a:lnTo>
                  <a:pt x="2266442" y="71882"/>
                </a:lnTo>
                <a:lnTo>
                  <a:pt x="2317104" y="19812"/>
                </a:lnTo>
                <a:close/>
              </a:path>
              <a:path w="2326004" h="833754">
                <a:moveTo>
                  <a:pt x="2261743" y="19812"/>
                </a:moveTo>
                <a:lnTo>
                  <a:pt x="2249773" y="23990"/>
                </a:lnTo>
                <a:lnTo>
                  <a:pt x="2258130" y="48002"/>
                </a:lnTo>
                <a:lnTo>
                  <a:pt x="2270125" y="43815"/>
                </a:lnTo>
                <a:lnTo>
                  <a:pt x="2261743" y="19812"/>
                </a:lnTo>
                <a:close/>
              </a:path>
              <a:path w="2326004" h="833754">
                <a:moveTo>
                  <a:pt x="2241423" y="0"/>
                </a:moveTo>
                <a:lnTo>
                  <a:pt x="2249773" y="23990"/>
                </a:lnTo>
                <a:lnTo>
                  <a:pt x="2261743" y="19812"/>
                </a:lnTo>
                <a:lnTo>
                  <a:pt x="2317104" y="19812"/>
                </a:lnTo>
                <a:lnTo>
                  <a:pt x="2325878" y="10795"/>
                </a:lnTo>
                <a:lnTo>
                  <a:pt x="22414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734175" y="5486400"/>
            <a:ext cx="2185035" cy="279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31520">
              <a:lnSpc>
                <a:spcPts val="2050"/>
              </a:lnSpc>
            </a:pP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734175" y="5765686"/>
            <a:ext cx="2185035" cy="509270"/>
          </a:xfrm>
          <a:custGeom>
            <a:avLst/>
            <a:gdLst/>
            <a:ahLst/>
            <a:cxnLst/>
            <a:rect l="l" t="t" r="r" b="b"/>
            <a:pathLst>
              <a:path w="2185034" h="509270">
                <a:moveTo>
                  <a:pt x="2184654" y="0"/>
                </a:moveTo>
                <a:lnTo>
                  <a:pt x="0" y="0"/>
                </a:lnTo>
                <a:lnTo>
                  <a:pt x="0" y="509003"/>
                </a:lnTo>
                <a:lnTo>
                  <a:pt x="2184654" y="509003"/>
                </a:lnTo>
                <a:lnTo>
                  <a:pt x="2184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734175" y="5765679"/>
            <a:ext cx="2185035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23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6" name="object 2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731135">
              <a:lnSpc>
                <a:spcPct val="100000"/>
              </a:lnSpc>
              <a:spcBef>
                <a:spcPts val="120"/>
              </a:spcBef>
            </a:pPr>
            <a:r>
              <a:rPr dirty="0"/>
              <a:t>Trace</a:t>
            </a:r>
            <a:r>
              <a:rPr dirty="0" spc="-110"/>
              <a:t> </a:t>
            </a:r>
            <a:r>
              <a:rPr dirty="0"/>
              <a:t>Code</a:t>
            </a:r>
            <a:r>
              <a:rPr dirty="0" spc="5"/>
              <a:t> </a:t>
            </a:r>
            <a:r>
              <a:rPr dirty="0" spc="-25"/>
              <a:t>(7)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32041" y="1534071"/>
            <a:ext cx="384492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cA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1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Circle(5.0);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2041" y="2011845"/>
            <a:ext cx="125603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90" b="1">
                <a:latin typeface="Consolas"/>
                <a:cs typeface="Consolas"/>
              </a:rPr>
              <a:t> </a:t>
            </a:r>
            <a:r>
              <a:rPr dirty="0" sz="1950" spc="-25" b="1">
                <a:latin typeface="Consolas"/>
                <a:cs typeface="Consolas"/>
              </a:rPr>
              <a:t>cB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851279" y="1972907"/>
            <a:ext cx="261620" cy="378460"/>
          </a:xfrm>
          <a:prstGeom prst="rect">
            <a:avLst/>
          </a:prstGeom>
          <a:solidFill>
            <a:srgbClr val="8585DF">
              <a:alpha val="19999"/>
            </a:srgbClr>
          </a:solidFill>
          <a:ln w="25400">
            <a:solidFill>
              <a:srgbClr val="252599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5"/>
              </a:spcBef>
            </a:pPr>
            <a:r>
              <a:rPr dirty="0" sz="1950" spc="-50" b="1">
                <a:latin typeface="Consolas"/>
                <a:cs typeface="Consolas"/>
              </a:rPr>
              <a:t>=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67429" y="2011845"/>
            <a:ext cx="180022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2041" y="2485174"/>
            <a:ext cx="248221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 b="1">
                <a:latin typeface="Consolas"/>
                <a:cs typeface="Consolas"/>
              </a:rPr>
              <a:t>cB.setRadius(100);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295400" y="3839718"/>
            <a:ext cx="394970" cy="7486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5"/>
              </a:spcBef>
            </a:pPr>
            <a:r>
              <a:rPr dirty="0" sz="2600" spc="-25" b="1">
                <a:latin typeface="Consolas"/>
                <a:cs typeface="Consolas"/>
              </a:rPr>
              <a:t>cA cB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734175" y="3080956"/>
            <a:ext cx="2185035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2759">
              <a:lnSpc>
                <a:spcPts val="2039"/>
              </a:lnSpc>
            </a:pPr>
            <a:r>
              <a:rPr dirty="0" sz="1700" b="1">
                <a:latin typeface="Consolas"/>
                <a:cs typeface="Consolas"/>
              </a:rPr>
              <a:t>cA:</a:t>
            </a:r>
            <a:r>
              <a:rPr dirty="0" sz="1700" spc="45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721475" y="3352114"/>
            <a:ext cx="2210435" cy="530225"/>
            <a:chOff x="6721475" y="3352114"/>
            <a:chExt cx="2210435" cy="530225"/>
          </a:xfrm>
        </p:grpSpPr>
        <p:sp>
          <p:nvSpPr>
            <p:cNvPr id="18" name="object 18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2184654" y="0"/>
                  </a:moveTo>
                  <a:lnTo>
                    <a:pt x="0" y="0"/>
                  </a:lnTo>
                  <a:lnTo>
                    <a:pt x="0" y="504494"/>
                  </a:lnTo>
                  <a:lnTo>
                    <a:pt x="2184654" y="504494"/>
                  </a:lnTo>
                  <a:lnTo>
                    <a:pt x="2184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0" y="504494"/>
                  </a:moveTo>
                  <a:lnTo>
                    <a:pt x="2184654" y="504494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5044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6817868" y="3503181"/>
            <a:ext cx="8699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410202" y="3209798"/>
            <a:ext cx="2326005" cy="833755"/>
          </a:xfrm>
          <a:custGeom>
            <a:avLst/>
            <a:gdLst/>
            <a:ahLst/>
            <a:cxnLst/>
            <a:rect l="l" t="t" r="r" b="b"/>
            <a:pathLst>
              <a:path w="2326004" h="833754">
                <a:moveTo>
                  <a:pt x="2249773" y="23990"/>
                </a:moveTo>
                <a:lnTo>
                  <a:pt x="0" y="809371"/>
                </a:lnTo>
                <a:lnTo>
                  <a:pt x="8382" y="833374"/>
                </a:lnTo>
                <a:lnTo>
                  <a:pt x="2258130" y="48002"/>
                </a:lnTo>
                <a:lnTo>
                  <a:pt x="2249773" y="23990"/>
                </a:lnTo>
                <a:close/>
              </a:path>
              <a:path w="2326004" h="833754">
                <a:moveTo>
                  <a:pt x="2317104" y="19812"/>
                </a:moveTo>
                <a:lnTo>
                  <a:pt x="2261743" y="19812"/>
                </a:lnTo>
                <a:lnTo>
                  <a:pt x="2270125" y="43815"/>
                </a:lnTo>
                <a:lnTo>
                  <a:pt x="2258130" y="48002"/>
                </a:lnTo>
                <a:lnTo>
                  <a:pt x="2266442" y="71882"/>
                </a:lnTo>
                <a:lnTo>
                  <a:pt x="2317104" y="19812"/>
                </a:lnTo>
                <a:close/>
              </a:path>
              <a:path w="2326004" h="833754">
                <a:moveTo>
                  <a:pt x="2261743" y="19812"/>
                </a:moveTo>
                <a:lnTo>
                  <a:pt x="2249773" y="23990"/>
                </a:lnTo>
                <a:lnTo>
                  <a:pt x="2258130" y="48002"/>
                </a:lnTo>
                <a:lnTo>
                  <a:pt x="2270125" y="43815"/>
                </a:lnTo>
                <a:lnTo>
                  <a:pt x="2261743" y="19812"/>
                </a:lnTo>
                <a:close/>
              </a:path>
              <a:path w="2326004" h="833754">
                <a:moveTo>
                  <a:pt x="2241423" y="0"/>
                </a:moveTo>
                <a:lnTo>
                  <a:pt x="2249773" y="23990"/>
                </a:lnTo>
                <a:lnTo>
                  <a:pt x="2261743" y="19812"/>
                </a:lnTo>
                <a:lnTo>
                  <a:pt x="2317104" y="19812"/>
                </a:lnTo>
                <a:lnTo>
                  <a:pt x="2325878" y="10795"/>
                </a:lnTo>
                <a:lnTo>
                  <a:pt x="22414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734175" y="5486400"/>
            <a:ext cx="2185035" cy="279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2759">
              <a:lnSpc>
                <a:spcPts val="2050"/>
              </a:lnSpc>
            </a:pPr>
            <a:r>
              <a:rPr dirty="0" sz="1750" b="1">
                <a:latin typeface="Consolas"/>
                <a:cs typeface="Consolas"/>
              </a:rPr>
              <a:t>cB:</a:t>
            </a:r>
            <a:r>
              <a:rPr dirty="0" sz="1750" spc="-35" b="1">
                <a:latin typeface="Consolas"/>
                <a:cs typeface="Consolas"/>
              </a:rPr>
              <a:t> </a:t>
            </a: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734175" y="5765686"/>
            <a:ext cx="2185035" cy="509270"/>
          </a:xfrm>
          <a:custGeom>
            <a:avLst/>
            <a:gdLst/>
            <a:ahLst/>
            <a:cxnLst/>
            <a:rect l="l" t="t" r="r" b="b"/>
            <a:pathLst>
              <a:path w="2185034" h="509270">
                <a:moveTo>
                  <a:pt x="2184654" y="0"/>
                </a:moveTo>
                <a:lnTo>
                  <a:pt x="0" y="0"/>
                </a:lnTo>
                <a:lnTo>
                  <a:pt x="0" y="509003"/>
                </a:lnTo>
                <a:lnTo>
                  <a:pt x="2184654" y="509003"/>
                </a:lnTo>
                <a:lnTo>
                  <a:pt x="2184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734175" y="5765679"/>
            <a:ext cx="2185035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23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4408296" y="4344670"/>
            <a:ext cx="2327910" cy="1282700"/>
          </a:xfrm>
          <a:custGeom>
            <a:avLst/>
            <a:gdLst/>
            <a:ahLst/>
            <a:cxnLst/>
            <a:rect l="l" t="t" r="r" b="b"/>
            <a:pathLst>
              <a:path w="2327909" h="1282700">
                <a:moveTo>
                  <a:pt x="2254877" y="1257270"/>
                </a:moveTo>
                <a:lnTo>
                  <a:pt x="2242693" y="1279525"/>
                </a:lnTo>
                <a:lnTo>
                  <a:pt x="2327782" y="1282700"/>
                </a:lnTo>
                <a:lnTo>
                  <a:pt x="2314399" y="1263396"/>
                </a:lnTo>
                <a:lnTo>
                  <a:pt x="2266060" y="1263396"/>
                </a:lnTo>
                <a:lnTo>
                  <a:pt x="2254877" y="1257270"/>
                </a:lnTo>
                <a:close/>
              </a:path>
              <a:path w="2327909" h="1282700">
                <a:moveTo>
                  <a:pt x="2267105" y="1234938"/>
                </a:moveTo>
                <a:lnTo>
                  <a:pt x="2254877" y="1257270"/>
                </a:lnTo>
                <a:lnTo>
                  <a:pt x="2266060" y="1263396"/>
                </a:lnTo>
                <a:lnTo>
                  <a:pt x="2278253" y="1241044"/>
                </a:lnTo>
                <a:lnTo>
                  <a:pt x="2267105" y="1234938"/>
                </a:lnTo>
                <a:close/>
              </a:path>
              <a:path w="2327909" h="1282700">
                <a:moveTo>
                  <a:pt x="2279269" y="1212723"/>
                </a:moveTo>
                <a:lnTo>
                  <a:pt x="2267105" y="1234938"/>
                </a:lnTo>
                <a:lnTo>
                  <a:pt x="2278253" y="1241044"/>
                </a:lnTo>
                <a:lnTo>
                  <a:pt x="2266060" y="1263396"/>
                </a:lnTo>
                <a:lnTo>
                  <a:pt x="2314399" y="1263396"/>
                </a:lnTo>
                <a:lnTo>
                  <a:pt x="2279269" y="1212723"/>
                </a:lnTo>
                <a:close/>
              </a:path>
              <a:path w="2327909" h="1282700">
                <a:moveTo>
                  <a:pt x="12191" y="0"/>
                </a:moveTo>
                <a:lnTo>
                  <a:pt x="0" y="22225"/>
                </a:lnTo>
                <a:lnTo>
                  <a:pt x="2254877" y="1257270"/>
                </a:lnTo>
                <a:lnTo>
                  <a:pt x="2267105" y="1234938"/>
                </a:lnTo>
                <a:lnTo>
                  <a:pt x="12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8" name="object 2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731135">
              <a:lnSpc>
                <a:spcPct val="100000"/>
              </a:lnSpc>
              <a:spcBef>
                <a:spcPts val="120"/>
              </a:spcBef>
            </a:pPr>
            <a:r>
              <a:rPr dirty="0"/>
              <a:t>Trace</a:t>
            </a:r>
            <a:r>
              <a:rPr dirty="0" spc="-110"/>
              <a:t> </a:t>
            </a:r>
            <a:r>
              <a:rPr dirty="0"/>
              <a:t>Code</a:t>
            </a:r>
            <a:r>
              <a:rPr dirty="0" spc="5"/>
              <a:t> </a:t>
            </a:r>
            <a:r>
              <a:rPr dirty="0" spc="-25"/>
              <a:t>(8)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32041" y="1534071"/>
            <a:ext cx="3844925" cy="80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cA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1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Circle(5.0);</a:t>
            </a:r>
            <a:endParaRPr sz="1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950" b="1">
                <a:latin typeface="Consolas"/>
                <a:cs typeface="Consolas"/>
              </a:rPr>
              <a:t>Circle</a:t>
            </a:r>
            <a:r>
              <a:rPr dirty="0" sz="1950" spc="-4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cB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-1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-45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9447" y="2495448"/>
            <a:ext cx="2639695" cy="382905"/>
          </a:xfrm>
          <a:prstGeom prst="rect">
            <a:avLst/>
          </a:prstGeom>
          <a:solidFill>
            <a:srgbClr val="8585DF">
              <a:alpha val="19999"/>
            </a:srgbClr>
          </a:solidFill>
          <a:ln w="25400">
            <a:solidFill>
              <a:srgbClr val="252599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20"/>
              </a:spcBef>
            </a:pPr>
            <a:r>
              <a:rPr dirty="0" sz="1950" spc="-10" b="1">
                <a:latin typeface="Consolas"/>
                <a:cs typeface="Consolas"/>
              </a:rPr>
              <a:t>cB.setRadius(100);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95400" y="3839718"/>
            <a:ext cx="394970" cy="7486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5"/>
              </a:spcBef>
            </a:pPr>
            <a:r>
              <a:rPr dirty="0" sz="2600" spc="-25" b="1">
                <a:latin typeface="Consolas"/>
                <a:cs typeface="Consolas"/>
              </a:rPr>
              <a:t>cA cB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734175" y="3080956"/>
            <a:ext cx="2185035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2759">
              <a:lnSpc>
                <a:spcPts val="2039"/>
              </a:lnSpc>
            </a:pPr>
            <a:r>
              <a:rPr dirty="0" sz="1700" b="1">
                <a:latin typeface="Consolas"/>
                <a:cs typeface="Consolas"/>
              </a:rPr>
              <a:t>cA:</a:t>
            </a:r>
            <a:r>
              <a:rPr dirty="0" sz="1700" spc="45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721475" y="3352114"/>
            <a:ext cx="2210435" cy="530225"/>
            <a:chOff x="6721475" y="3352114"/>
            <a:chExt cx="2210435" cy="530225"/>
          </a:xfrm>
        </p:grpSpPr>
        <p:sp>
          <p:nvSpPr>
            <p:cNvPr id="15" name="object 15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2184654" y="0"/>
                  </a:moveTo>
                  <a:lnTo>
                    <a:pt x="0" y="0"/>
                  </a:lnTo>
                  <a:lnTo>
                    <a:pt x="0" y="504494"/>
                  </a:lnTo>
                  <a:lnTo>
                    <a:pt x="2184654" y="504494"/>
                  </a:lnTo>
                  <a:lnTo>
                    <a:pt x="2184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0" y="504494"/>
                  </a:moveTo>
                  <a:lnTo>
                    <a:pt x="2184654" y="504494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5044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817868" y="3503181"/>
            <a:ext cx="8699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410202" y="3209798"/>
            <a:ext cx="2326005" cy="833755"/>
          </a:xfrm>
          <a:custGeom>
            <a:avLst/>
            <a:gdLst/>
            <a:ahLst/>
            <a:cxnLst/>
            <a:rect l="l" t="t" r="r" b="b"/>
            <a:pathLst>
              <a:path w="2326004" h="833754">
                <a:moveTo>
                  <a:pt x="2249773" y="23990"/>
                </a:moveTo>
                <a:lnTo>
                  <a:pt x="0" y="809371"/>
                </a:lnTo>
                <a:lnTo>
                  <a:pt x="8382" y="833374"/>
                </a:lnTo>
                <a:lnTo>
                  <a:pt x="2258130" y="48002"/>
                </a:lnTo>
                <a:lnTo>
                  <a:pt x="2249773" y="23990"/>
                </a:lnTo>
                <a:close/>
              </a:path>
              <a:path w="2326004" h="833754">
                <a:moveTo>
                  <a:pt x="2317104" y="19812"/>
                </a:moveTo>
                <a:lnTo>
                  <a:pt x="2261743" y="19812"/>
                </a:lnTo>
                <a:lnTo>
                  <a:pt x="2270125" y="43815"/>
                </a:lnTo>
                <a:lnTo>
                  <a:pt x="2258130" y="48002"/>
                </a:lnTo>
                <a:lnTo>
                  <a:pt x="2266442" y="71882"/>
                </a:lnTo>
                <a:lnTo>
                  <a:pt x="2317104" y="19812"/>
                </a:lnTo>
                <a:close/>
              </a:path>
              <a:path w="2326004" h="833754">
                <a:moveTo>
                  <a:pt x="2261743" y="19812"/>
                </a:moveTo>
                <a:lnTo>
                  <a:pt x="2249773" y="23990"/>
                </a:lnTo>
                <a:lnTo>
                  <a:pt x="2258130" y="48002"/>
                </a:lnTo>
                <a:lnTo>
                  <a:pt x="2270125" y="43815"/>
                </a:lnTo>
                <a:lnTo>
                  <a:pt x="2261743" y="19812"/>
                </a:lnTo>
                <a:close/>
              </a:path>
              <a:path w="2326004" h="833754">
                <a:moveTo>
                  <a:pt x="2241423" y="0"/>
                </a:moveTo>
                <a:lnTo>
                  <a:pt x="2249773" y="23990"/>
                </a:lnTo>
                <a:lnTo>
                  <a:pt x="2261743" y="19812"/>
                </a:lnTo>
                <a:lnTo>
                  <a:pt x="2317104" y="19812"/>
                </a:lnTo>
                <a:lnTo>
                  <a:pt x="2325878" y="10795"/>
                </a:lnTo>
                <a:lnTo>
                  <a:pt x="22414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734175" y="5486400"/>
            <a:ext cx="2185035" cy="279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2759">
              <a:lnSpc>
                <a:spcPts val="2050"/>
              </a:lnSpc>
            </a:pPr>
            <a:r>
              <a:rPr dirty="0" sz="1750" b="1">
                <a:latin typeface="Consolas"/>
                <a:cs typeface="Consolas"/>
              </a:rPr>
              <a:t>cB:</a:t>
            </a:r>
            <a:r>
              <a:rPr dirty="0" sz="1750" spc="-35" b="1">
                <a:latin typeface="Consolas"/>
                <a:cs typeface="Consolas"/>
              </a:rPr>
              <a:t> </a:t>
            </a: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6734175" y="5765686"/>
            <a:ext cx="2185035" cy="509270"/>
          </a:xfrm>
          <a:custGeom>
            <a:avLst/>
            <a:gdLst/>
            <a:ahLst/>
            <a:cxnLst/>
            <a:rect l="l" t="t" r="r" b="b"/>
            <a:pathLst>
              <a:path w="2185034" h="509270">
                <a:moveTo>
                  <a:pt x="2184654" y="0"/>
                </a:moveTo>
                <a:lnTo>
                  <a:pt x="0" y="0"/>
                </a:lnTo>
                <a:lnTo>
                  <a:pt x="0" y="509003"/>
                </a:lnTo>
                <a:lnTo>
                  <a:pt x="2184654" y="509003"/>
                </a:lnTo>
                <a:lnTo>
                  <a:pt x="2184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734175" y="5765679"/>
            <a:ext cx="2185035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23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25">
                <a:latin typeface="Consolas"/>
                <a:cs typeface="Consolas"/>
              </a:rPr>
              <a:t>100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4408296" y="4344670"/>
            <a:ext cx="2327910" cy="1282700"/>
          </a:xfrm>
          <a:custGeom>
            <a:avLst/>
            <a:gdLst/>
            <a:ahLst/>
            <a:cxnLst/>
            <a:rect l="l" t="t" r="r" b="b"/>
            <a:pathLst>
              <a:path w="2327909" h="1282700">
                <a:moveTo>
                  <a:pt x="2254877" y="1257270"/>
                </a:moveTo>
                <a:lnTo>
                  <a:pt x="2242693" y="1279525"/>
                </a:lnTo>
                <a:lnTo>
                  <a:pt x="2327782" y="1282700"/>
                </a:lnTo>
                <a:lnTo>
                  <a:pt x="2314399" y="1263396"/>
                </a:lnTo>
                <a:lnTo>
                  <a:pt x="2266060" y="1263396"/>
                </a:lnTo>
                <a:lnTo>
                  <a:pt x="2254877" y="1257270"/>
                </a:lnTo>
                <a:close/>
              </a:path>
              <a:path w="2327909" h="1282700">
                <a:moveTo>
                  <a:pt x="2267105" y="1234938"/>
                </a:moveTo>
                <a:lnTo>
                  <a:pt x="2254877" y="1257270"/>
                </a:lnTo>
                <a:lnTo>
                  <a:pt x="2266060" y="1263396"/>
                </a:lnTo>
                <a:lnTo>
                  <a:pt x="2278253" y="1241044"/>
                </a:lnTo>
                <a:lnTo>
                  <a:pt x="2267105" y="1234938"/>
                </a:lnTo>
                <a:close/>
              </a:path>
              <a:path w="2327909" h="1282700">
                <a:moveTo>
                  <a:pt x="2279269" y="1212723"/>
                </a:moveTo>
                <a:lnTo>
                  <a:pt x="2267105" y="1234938"/>
                </a:lnTo>
                <a:lnTo>
                  <a:pt x="2278253" y="1241044"/>
                </a:lnTo>
                <a:lnTo>
                  <a:pt x="2266060" y="1263396"/>
                </a:lnTo>
                <a:lnTo>
                  <a:pt x="2314399" y="1263396"/>
                </a:lnTo>
                <a:lnTo>
                  <a:pt x="2279269" y="1212723"/>
                </a:lnTo>
                <a:close/>
              </a:path>
              <a:path w="2327909" h="1282700">
                <a:moveTo>
                  <a:pt x="12191" y="0"/>
                </a:moveTo>
                <a:lnTo>
                  <a:pt x="0" y="22225"/>
                </a:lnTo>
                <a:lnTo>
                  <a:pt x="2254877" y="1257270"/>
                </a:lnTo>
                <a:lnTo>
                  <a:pt x="2267105" y="1234938"/>
                </a:lnTo>
                <a:lnTo>
                  <a:pt x="12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5" name="object 2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663190">
              <a:lnSpc>
                <a:spcPct val="100000"/>
              </a:lnSpc>
              <a:spcBef>
                <a:spcPts val="114"/>
              </a:spcBef>
            </a:pPr>
            <a:r>
              <a:rPr dirty="0"/>
              <a:t>The</a:t>
            </a:r>
            <a:r>
              <a:rPr dirty="0" spc="-70"/>
              <a:t> </a:t>
            </a:r>
            <a:r>
              <a:rPr dirty="0"/>
              <a:t>Value</a:t>
            </a:r>
            <a:r>
              <a:rPr dirty="0" spc="-20"/>
              <a:t> </a:t>
            </a:r>
            <a:r>
              <a:rPr dirty="0" spc="-20" b="1">
                <a:latin typeface="Consolas"/>
                <a:cs typeface="Consolas"/>
              </a:rPr>
              <a:t>null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13319"/>
            <a:ext cx="8536305" cy="423418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just" marL="287020" marR="685165" indent="-274955">
              <a:lnSpc>
                <a:spcPct val="101699"/>
              </a:lnSpc>
              <a:spcBef>
                <a:spcPts val="3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In</a:t>
            </a:r>
            <a:r>
              <a:rPr dirty="0" sz="3200" spc="-2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Java,</a:t>
            </a:r>
            <a:r>
              <a:rPr dirty="0" sz="3200" spc="-100">
                <a:latin typeface="Tahoma"/>
                <a:cs typeface="Tahoma"/>
              </a:rPr>
              <a:t> </a:t>
            </a:r>
            <a:r>
              <a:rPr dirty="0" sz="3200" spc="-125" b="1">
                <a:latin typeface="Consolas"/>
                <a:cs typeface="Consolas"/>
              </a:rPr>
              <a:t>null</a:t>
            </a:r>
            <a:r>
              <a:rPr dirty="0" sz="3200" spc="-315" b="1">
                <a:latin typeface="Consolas"/>
                <a:cs typeface="Consolas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special</a:t>
            </a:r>
            <a:r>
              <a:rPr dirty="0" sz="3200" spc="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literal</a:t>
            </a:r>
            <a:r>
              <a:rPr dirty="0" sz="3200" spc="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value</a:t>
            </a:r>
            <a:r>
              <a:rPr dirty="0" sz="3200" spc="40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that </a:t>
            </a:r>
            <a:r>
              <a:rPr dirty="0" sz="3200">
                <a:latin typeface="Tahoma"/>
                <a:cs typeface="Tahoma"/>
              </a:rPr>
              <a:t>indicates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invalid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reference</a:t>
            </a:r>
            <a:r>
              <a:rPr dirty="0" sz="3200" spc="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(that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is,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the </a:t>
            </a:r>
            <a:r>
              <a:rPr dirty="0" sz="3200">
                <a:latin typeface="Tahoma"/>
                <a:cs typeface="Tahoma"/>
              </a:rPr>
              <a:t>variable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does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u="sng" sz="32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not</a:t>
            </a:r>
            <a:r>
              <a:rPr dirty="0" u="none" sz="3200" spc="-40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refer</a:t>
            </a:r>
            <a:r>
              <a:rPr dirty="0" u="none" sz="3200" spc="-25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to</a:t>
            </a:r>
            <a:r>
              <a:rPr dirty="0" u="none" sz="3200" spc="-40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an</a:t>
            </a:r>
            <a:r>
              <a:rPr dirty="0" u="none" sz="3200" spc="-45">
                <a:latin typeface="Tahoma"/>
                <a:cs typeface="Tahoma"/>
              </a:rPr>
              <a:t> </a:t>
            </a:r>
            <a:r>
              <a:rPr dirty="0" u="none" sz="3200" spc="-10">
                <a:latin typeface="Tahoma"/>
                <a:cs typeface="Tahoma"/>
              </a:rPr>
              <a:t>object)</a:t>
            </a:r>
            <a:endParaRPr sz="3200">
              <a:latin typeface="Tahoma"/>
              <a:cs typeface="Tahoma"/>
            </a:endParaRPr>
          </a:p>
          <a:p>
            <a:pPr algn="just" marL="287020" indent="-274320">
              <a:lnSpc>
                <a:spcPts val="3765"/>
              </a:lnSpc>
              <a:spcBef>
                <a:spcPts val="2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Trying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10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access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member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data/methods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of</a:t>
            </a:r>
            <a:endParaRPr sz="3200">
              <a:latin typeface="Tahoma"/>
              <a:cs typeface="Tahoma"/>
            </a:endParaRPr>
          </a:p>
          <a:p>
            <a:pPr marL="287020">
              <a:lnSpc>
                <a:spcPts val="3765"/>
              </a:lnSpc>
            </a:pPr>
            <a:r>
              <a:rPr dirty="0" sz="3200" spc="-40" b="1">
                <a:latin typeface="Consolas"/>
                <a:cs typeface="Consolas"/>
              </a:rPr>
              <a:t>null</a:t>
            </a:r>
            <a:r>
              <a:rPr dirty="0" sz="3200" spc="-675" b="1">
                <a:latin typeface="Consolas"/>
                <a:cs typeface="Consolas"/>
              </a:rPr>
              <a:t> </a:t>
            </a:r>
            <a:r>
              <a:rPr dirty="0" sz="3200">
                <a:latin typeface="Tahoma"/>
                <a:cs typeface="Tahoma"/>
              </a:rPr>
              <a:t>results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5">
                <a:latin typeface="Tahoma"/>
                <a:cs typeface="Tahoma"/>
              </a:rPr>
              <a:t> </a:t>
            </a:r>
            <a:r>
              <a:rPr dirty="0" sz="3200" spc="-10" b="1">
                <a:latin typeface="Consolas"/>
                <a:cs typeface="Consolas"/>
              </a:rPr>
              <a:t>NullPointerException</a:t>
            </a:r>
            <a:endParaRPr sz="3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200">
              <a:latin typeface="Consolas"/>
              <a:cs typeface="Consolas"/>
            </a:endParaRPr>
          </a:p>
          <a:p>
            <a:pPr marL="323215" marR="5080">
              <a:lnSpc>
                <a:spcPct val="100299"/>
              </a:lnSpc>
            </a:pPr>
            <a:r>
              <a:rPr dirty="0" sz="2800" b="1">
                <a:latin typeface="Consolas"/>
                <a:cs typeface="Consolas"/>
              </a:rPr>
              <a:t>Circle</a:t>
            </a:r>
            <a:r>
              <a:rPr dirty="0" sz="2800" spc="-30" b="1">
                <a:latin typeface="Consolas"/>
                <a:cs typeface="Consolas"/>
              </a:rPr>
              <a:t> </a:t>
            </a:r>
            <a:r>
              <a:rPr dirty="0" sz="2800" b="1">
                <a:latin typeface="Consolas"/>
                <a:cs typeface="Consolas"/>
              </a:rPr>
              <a:t>c4</a:t>
            </a:r>
            <a:r>
              <a:rPr dirty="0" sz="2800" spc="-30" b="1">
                <a:latin typeface="Consolas"/>
                <a:cs typeface="Consolas"/>
              </a:rPr>
              <a:t> </a:t>
            </a:r>
            <a:r>
              <a:rPr dirty="0" sz="2800" b="1">
                <a:latin typeface="Consolas"/>
                <a:cs typeface="Consolas"/>
              </a:rPr>
              <a:t>=</a:t>
            </a:r>
            <a:r>
              <a:rPr dirty="0" sz="2800" spc="-25" b="1">
                <a:latin typeface="Consolas"/>
                <a:cs typeface="Consolas"/>
              </a:rPr>
              <a:t> </a:t>
            </a:r>
            <a:r>
              <a:rPr dirty="0" sz="2800" spc="-20" b="1">
                <a:latin typeface="Consolas"/>
                <a:cs typeface="Consolas"/>
              </a:rPr>
              <a:t>null; </a:t>
            </a:r>
            <a:r>
              <a:rPr dirty="0" sz="2800" b="1">
                <a:latin typeface="Consolas"/>
                <a:cs typeface="Consolas"/>
              </a:rPr>
              <a:t>System.out.printf("%s%n",</a:t>
            </a:r>
            <a:r>
              <a:rPr dirty="0" sz="2800" spc="-180" b="1">
                <a:latin typeface="Consolas"/>
                <a:cs typeface="Consolas"/>
              </a:rPr>
              <a:t> </a:t>
            </a:r>
            <a:r>
              <a:rPr dirty="0" sz="2800" spc="-20" b="1">
                <a:latin typeface="Consolas"/>
                <a:cs typeface="Consolas"/>
              </a:rPr>
              <a:t>c4); </a:t>
            </a:r>
            <a:r>
              <a:rPr dirty="0" sz="2800" b="1">
                <a:latin typeface="Consolas"/>
                <a:cs typeface="Consolas"/>
              </a:rPr>
              <a:t>System.out.printf("%d%n",</a:t>
            </a:r>
            <a:r>
              <a:rPr dirty="0" sz="2800" spc="-235" b="1">
                <a:latin typeface="Consolas"/>
                <a:cs typeface="Consolas"/>
              </a:rPr>
              <a:t> </a:t>
            </a:r>
            <a:r>
              <a:rPr dirty="0" sz="2800" spc="-10" b="1">
                <a:latin typeface="Consolas"/>
                <a:cs typeface="Consolas"/>
              </a:rPr>
              <a:t>c4.getRadius());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005205">
              <a:lnSpc>
                <a:spcPct val="100000"/>
              </a:lnSpc>
              <a:spcBef>
                <a:spcPts val="120"/>
              </a:spcBef>
            </a:pPr>
            <a:r>
              <a:rPr dirty="0"/>
              <a:t>Default</a:t>
            </a:r>
            <a:r>
              <a:rPr dirty="0" spc="-90"/>
              <a:t> </a:t>
            </a:r>
            <a:r>
              <a:rPr dirty="0"/>
              <a:t>Values</a:t>
            </a:r>
            <a:r>
              <a:rPr dirty="0" spc="-65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Member</a:t>
            </a:r>
            <a:r>
              <a:rPr dirty="0" spc="-105"/>
              <a:t> </a:t>
            </a:r>
            <a:r>
              <a:rPr dirty="0" spc="-20"/>
              <a:t>Data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31353"/>
            <a:ext cx="7856220" cy="410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marR="249554" indent="-274955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default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value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member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data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for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an </a:t>
            </a:r>
            <a:r>
              <a:rPr dirty="0" sz="3200">
                <a:latin typeface="Tahoma"/>
                <a:cs typeface="Tahoma"/>
              </a:rPr>
              <a:t>object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depends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on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data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type</a:t>
            </a:r>
            <a:endParaRPr sz="3200">
              <a:latin typeface="Tahoma"/>
              <a:cs typeface="Tahoma"/>
            </a:endParaRPr>
          </a:p>
          <a:p>
            <a:pPr marL="467359">
              <a:lnSpc>
                <a:spcPts val="3250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Reference: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0" b="1">
                <a:latin typeface="Consolas"/>
                <a:cs typeface="Consolas"/>
              </a:rPr>
              <a:t>null</a:t>
            </a:r>
            <a:endParaRPr sz="2800">
              <a:latin typeface="Consolas"/>
              <a:cs typeface="Consolas"/>
            </a:endParaRPr>
          </a:p>
          <a:p>
            <a:pPr marL="467359">
              <a:lnSpc>
                <a:spcPts val="3350"/>
              </a:lnSpc>
              <a:spcBef>
                <a:spcPts val="10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Numeric: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50" b="1">
                <a:latin typeface="Consolas"/>
                <a:cs typeface="Consolas"/>
              </a:rPr>
              <a:t>0</a:t>
            </a:r>
            <a:endParaRPr sz="2800">
              <a:latin typeface="Consolas"/>
              <a:cs typeface="Consolas"/>
            </a:endParaRPr>
          </a:p>
          <a:p>
            <a:pPr marL="467359">
              <a:lnSpc>
                <a:spcPts val="3350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 b="1">
                <a:latin typeface="Consolas"/>
                <a:cs typeface="Consolas"/>
              </a:rPr>
              <a:t>boolean</a:t>
            </a:r>
            <a:r>
              <a:rPr dirty="0" sz="2800">
                <a:latin typeface="Tahoma"/>
                <a:cs typeface="Tahoma"/>
              </a:rPr>
              <a:t>: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 b="1">
                <a:latin typeface="Consolas"/>
                <a:cs typeface="Consolas"/>
              </a:rPr>
              <a:t>false</a:t>
            </a:r>
            <a:endParaRPr sz="2800">
              <a:latin typeface="Consolas"/>
              <a:cs typeface="Consolas"/>
            </a:endParaRPr>
          </a:p>
          <a:p>
            <a:pPr marL="467359">
              <a:lnSpc>
                <a:spcPct val="100000"/>
              </a:lnSpc>
              <a:spcBef>
                <a:spcPts val="10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2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 b="1">
                <a:latin typeface="Consolas"/>
                <a:cs typeface="Consolas"/>
              </a:rPr>
              <a:t>char</a:t>
            </a:r>
            <a:r>
              <a:rPr dirty="0" sz="2800">
                <a:latin typeface="Tahoma"/>
                <a:cs typeface="Tahoma"/>
              </a:rPr>
              <a:t>: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-25" b="1">
                <a:latin typeface="Consolas"/>
                <a:cs typeface="Consolas"/>
              </a:rPr>
              <a:t>'\u0000'</a:t>
            </a:r>
            <a:r>
              <a:rPr dirty="0" sz="2800" spc="-595" b="1">
                <a:latin typeface="Consolas"/>
                <a:cs typeface="Consolas"/>
              </a:rPr>
              <a:t> </a:t>
            </a:r>
            <a:r>
              <a:rPr dirty="0" sz="2800">
                <a:latin typeface="Tahoma"/>
                <a:cs typeface="Tahoma"/>
              </a:rPr>
              <a:t>(basically ASCII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0)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800">
              <a:latin typeface="Tahoma"/>
              <a:cs typeface="Tahoma"/>
            </a:endParaRPr>
          </a:p>
          <a:p>
            <a:pPr marL="287020" marR="5080" indent="-274955">
              <a:lnSpc>
                <a:spcPct val="100000"/>
              </a:lnSpc>
              <a:spcBef>
                <a:spcPts val="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However,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Java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assigns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u="sng" sz="32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</a:t>
            </a:r>
            <a:r>
              <a:rPr dirty="0" u="none" sz="3200" spc="-55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default</a:t>
            </a:r>
            <a:r>
              <a:rPr dirty="0" u="none" sz="3200" spc="-75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value</a:t>
            </a:r>
            <a:r>
              <a:rPr dirty="0" u="none" sz="3200" spc="-85">
                <a:latin typeface="Tahoma"/>
                <a:cs typeface="Tahoma"/>
              </a:rPr>
              <a:t> </a:t>
            </a:r>
            <a:r>
              <a:rPr dirty="0" u="none" sz="3200" spc="-25">
                <a:latin typeface="Tahoma"/>
                <a:cs typeface="Tahoma"/>
              </a:rPr>
              <a:t>to </a:t>
            </a:r>
            <a:r>
              <a:rPr dirty="0" u="none" sz="3200">
                <a:latin typeface="Tahoma"/>
                <a:cs typeface="Tahoma"/>
              </a:rPr>
              <a:t>local</a:t>
            </a:r>
            <a:r>
              <a:rPr dirty="0" u="none" sz="3200" spc="-90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variables</a:t>
            </a:r>
            <a:r>
              <a:rPr dirty="0" u="none" sz="3200" spc="-80">
                <a:latin typeface="Tahoma"/>
                <a:cs typeface="Tahoma"/>
              </a:rPr>
              <a:t> </a:t>
            </a:r>
            <a:r>
              <a:rPr dirty="0" u="none" sz="3200">
                <a:latin typeface="Tahoma"/>
                <a:cs typeface="Tahoma"/>
              </a:rPr>
              <a:t>inside</a:t>
            </a:r>
            <a:r>
              <a:rPr dirty="0" u="none" sz="3200" spc="-80">
                <a:latin typeface="Tahoma"/>
                <a:cs typeface="Tahoma"/>
              </a:rPr>
              <a:t> </a:t>
            </a:r>
            <a:r>
              <a:rPr dirty="0" u="none" sz="3200" spc="-10">
                <a:latin typeface="Tahoma"/>
                <a:cs typeface="Tahoma"/>
              </a:rPr>
              <a:t>methods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60825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Example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72871" y="1474394"/>
            <a:ext cx="2851150" cy="17373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Stuff.java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00">
              <a:latin typeface="Tahoma"/>
              <a:cs typeface="Tahoma"/>
            </a:endParaRPr>
          </a:p>
          <a:p>
            <a:pPr algn="r" marR="38100">
              <a:lnSpc>
                <a:spcPct val="100000"/>
              </a:lnSpc>
            </a:pPr>
            <a:r>
              <a:rPr dirty="0" sz="1950" b="1">
                <a:latin typeface="Consolas"/>
                <a:cs typeface="Consolas"/>
              </a:rPr>
              <a:t>public</a:t>
            </a:r>
            <a:r>
              <a:rPr dirty="0" sz="1950" spc="10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class</a:t>
            </a:r>
            <a:r>
              <a:rPr dirty="0" sz="1950" spc="11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Stuff</a:t>
            </a:r>
            <a:r>
              <a:rPr dirty="0" sz="1950" spc="110" b="1">
                <a:latin typeface="Consolas"/>
                <a:cs typeface="Consolas"/>
              </a:rPr>
              <a:t> </a:t>
            </a:r>
            <a:r>
              <a:rPr dirty="0" sz="1950" spc="-50" b="1">
                <a:latin typeface="Consolas"/>
                <a:cs typeface="Consolas"/>
              </a:rPr>
              <a:t>{</a:t>
            </a:r>
            <a:endParaRPr sz="1950">
              <a:latin typeface="Consolas"/>
              <a:cs typeface="Consolas"/>
            </a:endParaRPr>
          </a:p>
          <a:p>
            <a:pPr algn="r" marR="5080">
              <a:lnSpc>
                <a:spcPct val="100000"/>
              </a:lnSpc>
              <a:spcBef>
                <a:spcPts val="75"/>
              </a:spcBef>
            </a:pPr>
            <a:r>
              <a:rPr dirty="0" sz="1950" b="1">
                <a:latin typeface="Consolas"/>
                <a:cs typeface="Consolas"/>
              </a:rPr>
              <a:t>public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int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value;</a:t>
            </a:r>
            <a:endParaRPr sz="1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spc="-50" b="1">
                <a:latin typeface="Consolas"/>
                <a:cs typeface="Consolas"/>
              </a:rPr>
              <a:t>}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09464" y="2256650"/>
            <a:ext cx="3514090" cy="148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4"/>
              </a:lnSpc>
              <a:spcBef>
                <a:spcPts val="95"/>
              </a:spcBef>
            </a:pPr>
            <a:r>
              <a:rPr dirty="0" sz="1600" b="1">
                <a:latin typeface="Consolas"/>
                <a:cs typeface="Consolas"/>
              </a:rPr>
              <a:t>Stuff</a:t>
            </a:r>
            <a:r>
              <a:rPr dirty="0" sz="1600" spc="-1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things</a:t>
            </a:r>
            <a:r>
              <a:rPr dirty="0" sz="1600" spc="-4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=</a:t>
            </a:r>
            <a:r>
              <a:rPr dirty="0" sz="1600" spc="-1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new</a:t>
            </a:r>
            <a:r>
              <a:rPr dirty="0" sz="1600" spc="-45" b="1">
                <a:latin typeface="Consolas"/>
                <a:cs typeface="Consolas"/>
              </a:rPr>
              <a:t> </a:t>
            </a:r>
            <a:r>
              <a:rPr dirty="0" sz="1600" spc="-10" b="1">
                <a:latin typeface="Consolas"/>
                <a:cs typeface="Consolas"/>
              </a:rPr>
              <a:t>Stuff();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14"/>
              </a:lnSpc>
            </a:pPr>
            <a:r>
              <a:rPr dirty="0" sz="1600" b="1">
                <a:latin typeface="Consolas"/>
                <a:cs typeface="Consolas"/>
              </a:rPr>
              <a:t>int</a:t>
            </a:r>
            <a:r>
              <a:rPr dirty="0" sz="1600" spc="-15" b="1">
                <a:latin typeface="Consolas"/>
                <a:cs typeface="Consolas"/>
              </a:rPr>
              <a:t> </a:t>
            </a:r>
            <a:r>
              <a:rPr dirty="0" sz="1600" spc="-25" b="1">
                <a:latin typeface="Consolas"/>
                <a:cs typeface="Consolas"/>
              </a:rPr>
              <a:t>x;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onsolas"/>
              <a:cs typeface="Consolas"/>
            </a:endParaRPr>
          </a:p>
          <a:p>
            <a:pPr marL="12700">
              <a:lnSpc>
                <a:spcPts val="1920"/>
              </a:lnSpc>
            </a:pPr>
            <a:r>
              <a:rPr dirty="0" sz="1600" spc="-10" b="1">
                <a:latin typeface="Consolas"/>
                <a:cs typeface="Consolas"/>
              </a:rPr>
              <a:t>System.out.printf("%d%n",</a:t>
            </a:r>
            <a:endParaRPr sz="1600">
              <a:latin typeface="Consolas"/>
              <a:cs typeface="Consolas"/>
            </a:endParaRPr>
          </a:p>
          <a:p>
            <a:pPr marL="12700" marR="5080" indent="450215">
              <a:lnSpc>
                <a:spcPts val="1920"/>
              </a:lnSpc>
              <a:spcBef>
                <a:spcPts val="60"/>
              </a:spcBef>
              <a:tabLst>
                <a:tab pos="3162300" algn="l"/>
              </a:tabLst>
            </a:pPr>
            <a:r>
              <a:rPr dirty="0" sz="1600" spc="-10" b="1">
                <a:latin typeface="Consolas"/>
                <a:cs typeface="Consolas"/>
              </a:rPr>
              <a:t>things.value); </a:t>
            </a:r>
            <a:r>
              <a:rPr dirty="0" sz="1600" spc="-10" b="1" strike="sngStrike">
                <a:solidFill>
                  <a:srgbClr val="FF0000"/>
                </a:solidFill>
                <a:latin typeface="Consolas"/>
                <a:cs typeface="Consolas"/>
              </a:rPr>
              <a:t>System.out.printf("%d%n",</a:t>
            </a:r>
            <a:r>
              <a:rPr dirty="0" sz="1600" b="1" strike="sngStrike">
                <a:solidFill>
                  <a:srgbClr val="FF0000"/>
                </a:solidFill>
                <a:latin typeface="Consolas"/>
                <a:cs typeface="Consolas"/>
              </a:rPr>
              <a:t>	</a:t>
            </a:r>
            <a:r>
              <a:rPr dirty="0" sz="1600" spc="-25" b="1" strike="sngStrike">
                <a:solidFill>
                  <a:srgbClr val="FF0000"/>
                </a:solidFill>
                <a:latin typeface="Consolas"/>
                <a:cs typeface="Consolas"/>
              </a:rPr>
              <a:t>x);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109464" y="1449959"/>
            <a:ext cx="1710689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Anywhere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415665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Exercise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26819"/>
            <a:ext cx="7926705" cy="26517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1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2400">
                <a:latin typeface="Tahoma"/>
                <a:cs typeface="Tahoma"/>
              </a:rPr>
              <a:t>Define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Student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 have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following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fields</a:t>
            </a:r>
            <a:endParaRPr sz="2400">
              <a:latin typeface="Tahoma"/>
              <a:cs typeface="Tahoma"/>
            </a:endParaRPr>
          </a:p>
          <a:p>
            <a:pPr marL="467359">
              <a:lnSpc>
                <a:spcPct val="100000"/>
              </a:lnSpc>
              <a:spcBef>
                <a:spcPts val="55"/>
              </a:spcBef>
            </a:pPr>
            <a:r>
              <a:rPr dirty="0" sz="195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1950" spc="22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1950">
                <a:latin typeface="Tahoma"/>
                <a:cs typeface="Tahoma"/>
              </a:rPr>
              <a:t>lastName</a:t>
            </a:r>
            <a:r>
              <a:rPr dirty="0" sz="1950" spc="10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(String)</a:t>
            </a:r>
            <a:endParaRPr sz="1950">
              <a:latin typeface="Tahoma"/>
              <a:cs typeface="Tahoma"/>
            </a:endParaRPr>
          </a:p>
          <a:p>
            <a:pPr marL="467359">
              <a:lnSpc>
                <a:spcPct val="100000"/>
              </a:lnSpc>
              <a:spcBef>
                <a:spcPts val="70"/>
              </a:spcBef>
            </a:pPr>
            <a:r>
              <a:rPr dirty="0" sz="195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1950" spc="21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1950">
                <a:latin typeface="Tahoma"/>
                <a:cs typeface="Tahoma"/>
              </a:rPr>
              <a:t>age</a:t>
            </a:r>
            <a:r>
              <a:rPr dirty="0" sz="1950" spc="5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(int)</a:t>
            </a:r>
            <a:endParaRPr sz="1950">
              <a:latin typeface="Tahoma"/>
              <a:cs typeface="Tahoma"/>
            </a:endParaRPr>
          </a:p>
          <a:p>
            <a:pPr marL="467359">
              <a:lnSpc>
                <a:spcPct val="100000"/>
              </a:lnSpc>
              <a:spcBef>
                <a:spcPts val="75"/>
              </a:spcBef>
            </a:pPr>
            <a:r>
              <a:rPr dirty="0" sz="195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1950" spc="229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1950">
                <a:latin typeface="Tahoma"/>
                <a:cs typeface="Tahoma"/>
              </a:rPr>
              <a:t>isScienceMajor</a:t>
            </a:r>
            <a:r>
              <a:rPr dirty="0" sz="1950" spc="20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(boolean)</a:t>
            </a:r>
            <a:endParaRPr sz="1950">
              <a:latin typeface="Tahoma"/>
              <a:cs typeface="Tahoma"/>
            </a:endParaRPr>
          </a:p>
          <a:p>
            <a:pPr marL="467359">
              <a:lnSpc>
                <a:spcPct val="100000"/>
              </a:lnSpc>
              <a:spcBef>
                <a:spcPts val="35"/>
              </a:spcBef>
            </a:pPr>
            <a:r>
              <a:rPr dirty="0" sz="195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1950" spc="24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1950">
                <a:latin typeface="Tahoma"/>
                <a:cs typeface="Tahoma"/>
              </a:rPr>
              <a:t>firstInitial</a:t>
            </a:r>
            <a:r>
              <a:rPr dirty="0" sz="1950" spc="114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(char)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950">
              <a:latin typeface="Tahoma"/>
              <a:cs typeface="Tahoma"/>
            </a:endParaRPr>
          </a:p>
          <a:p>
            <a:pPr marL="287020" marR="5080" indent="-274955">
              <a:lnSpc>
                <a:spcPct val="100000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2400">
                <a:latin typeface="Tahoma"/>
                <a:cs typeface="Tahoma"/>
              </a:rPr>
              <a:t>Create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 instance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Student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print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</a:t>
            </a:r>
            <a:r>
              <a:rPr dirty="0" sz="2400" spc="-25">
                <a:latin typeface="Tahoma"/>
                <a:cs typeface="Tahoma"/>
              </a:rPr>
              <a:t> the </a:t>
            </a:r>
            <a:r>
              <a:rPr dirty="0" sz="2400">
                <a:latin typeface="Tahoma"/>
                <a:cs typeface="Tahoma"/>
              </a:rPr>
              <a:t>default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value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fields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0081260" cy="518159"/>
            <a:chOff x="0" y="0"/>
            <a:chExt cx="10081260" cy="518159"/>
          </a:xfrm>
        </p:grpSpPr>
        <p:sp>
          <p:nvSpPr>
            <p:cNvPr id="3" name="object 3" descr=""/>
            <p:cNvSpPr/>
            <p:nvPr/>
          </p:nvSpPr>
          <p:spPr>
            <a:xfrm>
              <a:off x="0" y="25"/>
              <a:ext cx="5027295" cy="518159"/>
            </a:xfrm>
            <a:custGeom>
              <a:avLst/>
              <a:gdLst/>
              <a:ahLst/>
              <a:cxnLst/>
              <a:rect l="l" t="t" r="r" b="b"/>
              <a:pathLst>
                <a:path w="5027295" h="518159">
                  <a:moveTo>
                    <a:pt x="0" y="518007"/>
                  </a:moveTo>
                  <a:lnTo>
                    <a:pt x="5026914" y="518007"/>
                  </a:lnTo>
                  <a:lnTo>
                    <a:pt x="5026914" y="0"/>
                  </a:lnTo>
                  <a:lnTo>
                    <a:pt x="0" y="0"/>
                  </a:lnTo>
                  <a:lnTo>
                    <a:pt x="0" y="518007"/>
                  </a:lnTo>
                  <a:close/>
                </a:path>
              </a:pathLst>
            </a:custGeom>
            <a:solidFill>
              <a:srgbClr val="E2DE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026914" y="0"/>
              <a:ext cx="5053965" cy="513715"/>
            </a:xfrm>
            <a:custGeom>
              <a:avLst/>
              <a:gdLst/>
              <a:ahLst/>
              <a:cxnLst/>
              <a:rect l="l" t="t" r="r" b="b"/>
              <a:pathLst>
                <a:path w="5053965" h="513715">
                  <a:moveTo>
                    <a:pt x="5053965" y="0"/>
                  </a:moveTo>
                  <a:lnTo>
                    <a:pt x="0" y="0"/>
                  </a:lnTo>
                  <a:lnTo>
                    <a:pt x="0" y="513461"/>
                  </a:lnTo>
                  <a:lnTo>
                    <a:pt x="5053965" y="513461"/>
                  </a:lnTo>
                  <a:lnTo>
                    <a:pt x="50539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05910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Solution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977900">
              <a:lnSpc>
                <a:spcPct val="100000"/>
              </a:lnSpc>
              <a:spcBef>
                <a:spcPts val="120"/>
              </a:spcBef>
            </a:pPr>
            <a:r>
              <a:rPr dirty="0"/>
              <a:t>Primitive</a:t>
            </a:r>
            <a:r>
              <a:rPr dirty="0" spc="-70"/>
              <a:t> </a:t>
            </a:r>
            <a:r>
              <a:rPr dirty="0"/>
              <a:t>Data</a:t>
            </a:r>
            <a:r>
              <a:rPr dirty="0" spc="-60"/>
              <a:t> </a:t>
            </a:r>
            <a:r>
              <a:rPr dirty="0"/>
              <a:t>Types</a:t>
            </a:r>
            <a:r>
              <a:rPr dirty="0" spc="-95"/>
              <a:t> </a:t>
            </a:r>
            <a:r>
              <a:rPr dirty="0"/>
              <a:t>vs.</a:t>
            </a:r>
            <a:r>
              <a:rPr dirty="0" spc="-35"/>
              <a:t> </a:t>
            </a:r>
            <a:r>
              <a:rPr dirty="0" spc="-10"/>
              <a:t>Objects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80681" y="1987487"/>
            <a:ext cx="3688079" cy="6845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b="1">
                <a:latin typeface="Consolas"/>
                <a:cs typeface="Consolas"/>
              </a:rPr>
              <a:t>int</a:t>
            </a:r>
            <a:r>
              <a:rPr dirty="0" sz="2150" spc="40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i</a:t>
            </a:r>
            <a:r>
              <a:rPr dirty="0" sz="2150" spc="50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=</a:t>
            </a:r>
            <a:r>
              <a:rPr dirty="0" sz="2150" spc="15" b="1">
                <a:latin typeface="Consolas"/>
                <a:cs typeface="Consolas"/>
              </a:rPr>
              <a:t> </a:t>
            </a:r>
            <a:r>
              <a:rPr dirty="0" sz="2150" spc="-25" b="1">
                <a:latin typeface="Consolas"/>
                <a:cs typeface="Consolas"/>
              </a:rPr>
              <a:t>1;</a:t>
            </a:r>
            <a:endParaRPr sz="21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150" b="1">
                <a:latin typeface="Consolas"/>
                <a:cs typeface="Consolas"/>
              </a:rPr>
              <a:t>Circle</a:t>
            </a:r>
            <a:r>
              <a:rPr dirty="0" sz="2150" spc="65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c</a:t>
            </a:r>
            <a:r>
              <a:rPr dirty="0" sz="2150" spc="35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=</a:t>
            </a:r>
            <a:r>
              <a:rPr dirty="0" sz="2150" spc="65" b="1">
                <a:latin typeface="Consolas"/>
                <a:cs typeface="Consolas"/>
              </a:rPr>
              <a:t> </a:t>
            </a:r>
            <a:r>
              <a:rPr dirty="0" sz="2150" b="1">
                <a:latin typeface="Consolas"/>
                <a:cs typeface="Consolas"/>
              </a:rPr>
              <a:t>new</a:t>
            </a:r>
            <a:r>
              <a:rPr dirty="0" sz="2150" spc="30" b="1">
                <a:latin typeface="Consolas"/>
                <a:cs typeface="Consolas"/>
              </a:rPr>
              <a:t> </a:t>
            </a:r>
            <a:r>
              <a:rPr dirty="0" sz="2150" spc="-10" b="1">
                <a:latin typeface="Consolas"/>
                <a:cs typeface="Consolas"/>
              </a:rPr>
              <a:t>Circle();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 algn="ctr">
                        <a:lnSpc>
                          <a:spcPts val="2455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1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1295400" y="3839718"/>
            <a:ext cx="208915" cy="7486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5"/>
              </a:spcBef>
            </a:pPr>
            <a:r>
              <a:rPr dirty="0" sz="2600" spc="-50" b="1">
                <a:latin typeface="Consolas"/>
                <a:cs typeface="Consolas"/>
              </a:rPr>
              <a:t>i c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734175" y="3080956"/>
            <a:ext cx="2185035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51180">
              <a:lnSpc>
                <a:spcPts val="2039"/>
              </a:lnSpc>
            </a:pPr>
            <a:r>
              <a:rPr dirty="0" sz="1700" b="1">
                <a:latin typeface="Consolas"/>
                <a:cs typeface="Consolas"/>
              </a:rPr>
              <a:t>c:</a:t>
            </a:r>
            <a:r>
              <a:rPr dirty="0" sz="1700" spc="40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721475" y="3352114"/>
            <a:ext cx="2210435" cy="530225"/>
            <a:chOff x="6721475" y="3352114"/>
            <a:chExt cx="2210435" cy="530225"/>
          </a:xfrm>
        </p:grpSpPr>
        <p:sp>
          <p:nvSpPr>
            <p:cNvPr id="14" name="object 14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2184654" y="0"/>
                  </a:moveTo>
                  <a:lnTo>
                    <a:pt x="0" y="0"/>
                  </a:lnTo>
                  <a:lnTo>
                    <a:pt x="0" y="504494"/>
                  </a:lnTo>
                  <a:lnTo>
                    <a:pt x="2184654" y="504494"/>
                  </a:lnTo>
                  <a:lnTo>
                    <a:pt x="2184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734175" y="3364814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4" h="504825">
                  <a:moveTo>
                    <a:pt x="0" y="504494"/>
                  </a:moveTo>
                  <a:lnTo>
                    <a:pt x="2184654" y="504494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5044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817868" y="3503181"/>
            <a:ext cx="8699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4408804" y="3219831"/>
            <a:ext cx="2327275" cy="1145540"/>
          </a:xfrm>
          <a:custGeom>
            <a:avLst/>
            <a:gdLst/>
            <a:ahLst/>
            <a:cxnLst/>
            <a:rect l="l" t="t" r="r" b="b"/>
            <a:pathLst>
              <a:path w="2327275" h="1145539">
                <a:moveTo>
                  <a:pt x="2253212" y="22860"/>
                </a:moveTo>
                <a:lnTo>
                  <a:pt x="0" y="1122426"/>
                </a:lnTo>
                <a:lnTo>
                  <a:pt x="11049" y="1145286"/>
                </a:lnTo>
                <a:lnTo>
                  <a:pt x="2264321" y="45626"/>
                </a:lnTo>
                <a:lnTo>
                  <a:pt x="2253212" y="22860"/>
                </a:lnTo>
                <a:close/>
              </a:path>
              <a:path w="2327275" h="1145539">
                <a:moveTo>
                  <a:pt x="2314636" y="17272"/>
                </a:moveTo>
                <a:lnTo>
                  <a:pt x="2264664" y="17272"/>
                </a:lnTo>
                <a:lnTo>
                  <a:pt x="2275840" y="40004"/>
                </a:lnTo>
                <a:lnTo>
                  <a:pt x="2264321" y="45626"/>
                </a:lnTo>
                <a:lnTo>
                  <a:pt x="2275459" y="68452"/>
                </a:lnTo>
                <a:lnTo>
                  <a:pt x="2314636" y="17272"/>
                </a:lnTo>
                <a:close/>
              </a:path>
              <a:path w="2327275" h="1145539">
                <a:moveTo>
                  <a:pt x="2264664" y="17272"/>
                </a:moveTo>
                <a:lnTo>
                  <a:pt x="2253212" y="22860"/>
                </a:lnTo>
                <a:lnTo>
                  <a:pt x="2264321" y="45626"/>
                </a:lnTo>
                <a:lnTo>
                  <a:pt x="2275840" y="40004"/>
                </a:lnTo>
                <a:lnTo>
                  <a:pt x="2264664" y="17272"/>
                </a:lnTo>
                <a:close/>
              </a:path>
              <a:path w="2327275" h="1145539">
                <a:moveTo>
                  <a:pt x="2242058" y="0"/>
                </a:moveTo>
                <a:lnTo>
                  <a:pt x="2253212" y="22860"/>
                </a:lnTo>
                <a:lnTo>
                  <a:pt x="2264664" y="17272"/>
                </a:lnTo>
                <a:lnTo>
                  <a:pt x="2314636" y="17272"/>
                </a:lnTo>
                <a:lnTo>
                  <a:pt x="2327275" y="762"/>
                </a:lnTo>
                <a:lnTo>
                  <a:pt x="22420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128" y="7130478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0081260" cy="518159"/>
            <a:chOff x="0" y="0"/>
            <a:chExt cx="10081260" cy="518159"/>
          </a:xfrm>
        </p:grpSpPr>
        <p:sp>
          <p:nvSpPr>
            <p:cNvPr id="4" name="object 4" descr=""/>
            <p:cNvSpPr/>
            <p:nvPr/>
          </p:nvSpPr>
          <p:spPr>
            <a:xfrm>
              <a:off x="0" y="25"/>
              <a:ext cx="5027295" cy="518159"/>
            </a:xfrm>
            <a:custGeom>
              <a:avLst/>
              <a:gdLst/>
              <a:ahLst/>
              <a:cxnLst/>
              <a:rect l="l" t="t" r="r" b="b"/>
              <a:pathLst>
                <a:path w="5027295" h="518159">
                  <a:moveTo>
                    <a:pt x="0" y="518007"/>
                  </a:moveTo>
                  <a:lnTo>
                    <a:pt x="5026914" y="518007"/>
                  </a:lnTo>
                  <a:lnTo>
                    <a:pt x="5026914" y="0"/>
                  </a:lnTo>
                  <a:lnTo>
                    <a:pt x="0" y="0"/>
                  </a:lnTo>
                  <a:lnTo>
                    <a:pt x="0" y="518007"/>
                  </a:lnTo>
                  <a:close/>
                </a:path>
              </a:pathLst>
            </a:custGeom>
            <a:solidFill>
              <a:srgbClr val="E2DE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26914" y="0"/>
              <a:ext cx="5053965" cy="513715"/>
            </a:xfrm>
            <a:custGeom>
              <a:avLst/>
              <a:gdLst/>
              <a:ahLst/>
              <a:cxnLst/>
              <a:rect l="l" t="t" r="r" b="b"/>
              <a:pathLst>
                <a:path w="5053965" h="513715">
                  <a:moveTo>
                    <a:pt x="5053965" y="0"/>
                  </a:moveTo>
                  <a:lnTo>
                    <a:pt x="0" y="0"/>
                  </a:lnTo>
                  <a:lnTo>
                    <a:pt x="0" y="513461"/>
                  </a:lnTo>
                  <a:lnTo>
                    <a:pt x="5053965" y="513461"/>
                  </a:lnTo>
                  <a:lnTo>
                    <a:pt x="50539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807970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Primitive</a:t>
            </a:r>
            <a:r>
              <a:rPr dirty="0" u="sng" spc="-10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Assignment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681888" y="3214865"/>
            <a:ext cx="383159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b="1">
                <a:latin typeface="Consolas"/>
                <a:cs typeface="Consolas"/>
              </a:rPr>
              <a:t>int</a:t>
            </a:r>
            <a:r>
              <a:rPr dirty="0" sz="3200" spc="5" b="1">
                <a:latin typeface="Consolas"/>
                <a:cs typeface="Consolas"/>
              </a:rPr>
              <a:t> </a:t>
            </a:r>
            <a:r>
              <a:rPr dirty="0" sz="3200" b="1">
                <a:latin typeface="Consolas"/>
                <a:cs typeface="Consolas"/>
              </a:rPr>
              <a:t>i</a:t>
            </a:r>
            <a:r>
              <a:rPr dirty="0" sz="3200" spc="-25" b="1">
                <a:latin typeface="Consolas"/>
                <a:cs typeface="Consolas"/>
              </a:rPr>
              <a:t> </a:t>
            </a:r>
            <a:r>
              <a:rPr dirty="0" sz="3200" b="1">
                <a:latin typeface="Consolas"/>
                <a:cs typeface="Consolas"/>
              </a:rPr>
              <a:t>=</a:t>
            </a:r>
            <a:r>
              <a:rPr dirty="0" sz="3200" spc="-30" b="1">
                <a:latin typeface="Consolas"/>
                <a:cs typeface="Consolas"/>
              </a:rPr>
              <a:t> </a:t>
            </a:r>
            <a:r>
              <a:rPr dirty="0" sz="3200" b="1">
                <a:latin typeface="Consolas"/>
                <a:cs typeface="Consolas"/>
              </a:rPr>
              <a:t>1,</a:t>
            </a:r>
            <a:r>
              <a:rPr dirty="0" sz="3200" spc="10" b="1">
                <a:latin typeface="Consolas"/>
                <a:cs typeface="Consolas"/>
              </a:rPr>
              <a:t> </a:t>
            </a:r>
            <a:r>
              <a:rPr dirty="0" sz="3200" b="1">
                <a:latin typeface="Consolas"/>
                <a:cs typeface="Consolas"/>
              </a:rPr>
              <a:t>j</a:t>
            </a:r>
            <a:r>
              <a:rPr dirty="0" sz="3200" spc="-30" b="1">
                <a:latin typeface="Consolas"/>
                <a:cs typeface="Consolas"/>
              </a:rPr>
              <a:t> </a:t>
            </a:r>
            <a:r>
              <a:rPr dirty="0" sz="3200" b="1">
                <a:latin typeface="Consolas"/>
                <a:cs typeface="Consolas"/>
              </a:rPr>
              <a:t>=</a:t>
            </a:r>
            <a:r>
              <a:rPr dirty="0" sz="3200" spc="-30" b="1">
                <a:latin typeface="Consolas"/>
                <a:cs typeface="Consolas"/>
              </a:rPr>
              <a:t> </a:t>
            </a:r>
            <a:r>
              <a:rPr dirty="0" sz="3200" spc="-25" b="1">
                <a:latin typeface="Consolas"/>
                <a:cs typeface="Consolas"/>
              </a:rPr>
              <a:t>2;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1888" y="5657151"/>
            <a:ext cx="136652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b="1">
                <a:latin typeface="Consolas"/>
                <a:cs typeface="Consolas"/>
              </a:rPr>
              <a:t>i</a:t>
            </a:r>
            <a:r>
              <a:rPr dirty="0" sz="3200" spc="-25" b="1">
                <a:latin typeface="Consolas"/>
                <a:cs typeface="Consolas"/>
              </a:rPr>
              <a:t> </a:t>
            </a:r>
            <a:r>
              <a:rPr dirty="0" sz="3200" b="1">
                <a:latin typeface="Consolas"/>
                <a:cs typeface="Consolas"/>
              </a:rPr>
              <a:t>=</a:t>
            </a:r>
            <a:r>
              <a:rPr dirty="0" sz="3200" spc="10" b="1">
                <a:latin typeface="Consolas"/>
                <a:cs typeface="Consolas"/>
              </a:rPr>
              <a:t> </a:t>
            </a:r>
            <a:r>
              <a:rPr dirty="0" sz="3200" spc="-25" b="1">
                <a:latin typeface="Consolas"/>
                <a:cs typeface="Consolas"/>
              </a:rPr>
              <a:t>j;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60542" y="2486977"/>
            <a:ext cx="362394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Before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assignment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81888" y="1638935"/>
            <a:ext cx="86360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20" b="1">
                <a:latin typeface="Tahoma"/>
                <a:cs typeface="Tahoma"/>
              </a:rPr>
              <a:t>Code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78171" y="1660195"/>
            <a:ext cx="13849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Memory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049390" y="3355759"/>
            <a:ext cx="2653665" cy="3200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5715">
              <a:lnSpc>
                <a:spcPts val="2520"/>
              </a:lnSpc>
            </a:pPr>
            <a:r>
              <a:rPr dirty="0" sz="2600" spc="-50" b="1">
                <a:latin typeface="Consolas"/>
                <a:cs typeface="Consolas"/>
              </a:rPr>
              <a:t>1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049390" y="3675608"/>
            <a:ext cx="2653665" cy="328930"/>
          </a:xfrm>
          <a:custGeom>
            <a:avLst/>
            <a:gdLst/>
            <a:ahLst/>
            <a:cxnLst/>
            <a:rect l="l" t="t" r="r" b="b"/>
            <a:pathLst>
              <a:path w="2653665" h="328929">
                <a:moveTo>
                  <a:pt x="2653157" y="0"/>
                </a:moveTo>
                <a:lnTo>
                  <a:pt x="0" y="0"/>
                </a:lnTo>
                <a:lnTo>
                  <a:pt x="0" y="328828"/>
                </a:lnTo>
                <a:lnTo>
                  <a:pt x="2653157" y="328828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049390" y="3675608"/>
            <a:ext cx="2653665" cy="3289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5715">
              <a:lnSpc>
                <a:spcPts val="2590"/>
              </a:lnSpc>
            </a:pPr>
            <a:r>
              <a:rPr dirty="0" sz="2600" spc="-50" b="1">
                <a:latin typeface="Consolas"/>
                <a:cs typeface="Consolas"/>
              </a:rPr>
              <a:t>2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586348" y="3324733"/>
            <a:ext cx="208915" cy="7486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5"/>
              </a:spcBef>
            </a:pPr>
            <a:r>
              <a:rPr dirty="0" sz="2600" spc="-50" b="1">
                <a:latin typeface="Consolas"/>
                <a:cs typeface="Consolas"/>
              </a:rPr>
              <a:t>i j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769734" y="2974264"/>
            <a:ext cx="122047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049390" y="5472849"/>
            <a:ext cx="2658110" cy="32448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5715">
              <a:lnSpc>
                <a:spcPts val="2555"/>
              </a:lnSpc>
            </a:pPr>
            <a:r>
              <a:rPr dirty="0" sz="2600" spc="-50" b="1">
                <a:latin typeface="Consolas"/>
                <a:cs typeface="Consolas"/>
              </a:rPr>
              <a:t>2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049390" y="5797207"/>
            <a:ext cx="2658110" cy="324485"/>
          </a:xfrm>
          <a:custGeom>
            <a:avLst/>
            <a:gdLst/>
            <a:ahLst/>
            <a:cxnLst/>
            <a:rect l="l" t="t" r="r" b="b"/>
            <a:pathLst>
              <a:path w="2658109" h="324485">
                <a:moveTo>
                  <a:pt x="2657601" y="0"/>
                </a:moveTo>
                <a:lnTo>
                  <a:pt x="0" y="0"/>
                </a:lnTo>
                <a:lnTo>
                  <a:pt x="0" y="324319"/>
                </a:lnTo>
                <a:lnTo>
                  <a:pt x="2657601" y="324319"/>
                </a:lnTo>
                <a:lnTo>
                  <a:pt x="26576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049390" y="5797188"/>
            <a:ext cx="2658110" cy="32448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0">
              <a:lnSpc>
                <a:spcPts val="2555"/>
              </a:lnSpc>
            </a:pPr>
            <a:r>
              <a:rPr dirty="0" sz="2600" spc="-50" b="1">
                <a:latin typeface="Consolas"/>
                <a:cs typeface="Consolas"/>
              </a:rPr>
              <a:t>2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8" name="object 2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5360542" y="4234004"/>
            <a:ext cx="3331210" cy="1285240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70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After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assignment</a:t>
            </a:r>
            <a:endParaRPr sz="3200">
              <a:latin typeface="Tahoma"/>
              <a:cs typeface="Tahoma"/>
            </a:endParaRPr>
          </a:p>
          <a:p>
            <a:pPr algn="ctr" marL="711835">
              <a:lnSpc>
                <a:spcPct val="100000"/>
              </a:lnSpc>
              <a:spcBef>
                <a:spcPts val="134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588761" y="5443982"/>
            <a:ext cx="208915" cy="7486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5"/>
              </a:spcBef>
            </a:pPr>
            <a:r>
              <a:rPr dirty="0" sz="2600" spc="-50" b="1">
                <a:latin typeface="Consolas"/>
                <a:cs typeface="Consolas"/>
              </a:rPr>
              <a:t>i j</a:t>
            </a:r>
            <a:endParaRPr sz="2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128" y="7130478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0081260" cy="518159"/>
            <a:chOff x="0" y="0"/>
            <a:chExt cx="10081260" cy="518159"/>
          </a:xfrm>
        </p:grpSpPr>
        <p:sp>
          <p:nvSpPr>
            <p:cNvPr id="4" name="object 4" descr=""/>
            <p:cNvSpPr/>
            <p:nvPr/>
          </p:nvSpPr>
          <p:spPr>
            <a:xfrm>
              <a:off x="0" y="25"/>
              <a:ext cx="5027295" cy="518159"/>
            </a:xfrm>
            <a:custGeom>
              <a:avLst/>
              <a:gdLst/>
              <a:ahLst/>
              <a:cxnLst/>
              <a:rect l="l" t="t" r="r" b="b"/>
              <a:pathLst>
                <a:path w="5027295" h="518159">
                  <a:moveTo>
                    <a:pt x="0" y="518007"/>
                  </a:moveTo>
                  <a:lnTo>
                    <a:pt x="5026914" y="518007"/>
                  </a:lnTo>
                  <a:lnTo>
                    <a:pt x="5026914" y="0"/>
                  </a:lnTo>
                  <a:lnTo>
                    <a:pt x="0" y="0"/>
                  </a:lnTo>
                  <a:lnTo>
                    <a:pt x="0" y="518007"/>
                  </a:lnTo>
                  <a:close/>
                </a:path>
              </a:pathLst>
            </a:custGeom>
            <a:solidFill>
              <a:srgbClr val="E2DE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26914" y="0"/>
              <a:ext cx="5053965" cy="513715"/>
            </a:xfrm>
            <a:custGeom>
              <a:avLst/>
              <a:gdLst/>
              <a:ahLst/>
              <a:cxnLst/>
              <a:rect l="l" t="t" r="r" b="b"/>
              <a:pathLst>
                <a:path w="5053965" h="513715">
                  <a:moveTo>
                    <a:pt x="5053965" y="0"/>
                  </a:moveTo>
                  <a:lnTo>
                    <a:pt x="0" y="0"/>
                  </a:lnTo>
                  <a:lnTo>
                    <a:pt x="0" y="513461"/>
                  </a:lnTo>
                  <a:lnTo>
                    <a:pt x="5053965" y="513461"/>
                  </a:lnTo>
                  <a:lnTo>
                    <a:pt x="50539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23870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Object</a:t>
            </a:r>
            <a:r>
              <a:rPr dirty="0" u="sng" spc="-9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Assignment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586384" y="3075254"/>
            <a:ext cx="2145030" cy="999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20"/>
              </a:lnSpc>
              <a:spcBef>
                <a:spcPts val="95"/>
              </a:spcBef>
            </a:pPr>
            <a:r>
              <a:rPr dirty="0" sz="1600" b="1">
                <a:latin typeface="Consolas"/>
                <a:cs typeface="Consolas"/>
              </a:rPr>
              <a:t>Circle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cA</a:t>
            </a:r>
            <a:r>
              <a:rPr dirty="0" sz="1600" spc="-25" b="1">
                <a:latin typeface="Consolas"/>
                <a:cs typeface="Consolas"/>
              </a:rPr>
              <a:t> </a:t>
            </a:r>
            <a:r>
              <a:rPr dirty="0" sz="1600" spc="-50" b="1">
                <a:latin typeface="Consolas"/>
                <a:cs typeface="Consolas"/>
              </a:rPr>
              <a:t>=</a:t>
            </a:r>
            <a:endParaRPr sz="1600">
              <a:latin typeface="Consolas"/>
              <a:cs typeface="Consolas"/>
            </a:endParaRPr>
          </a:p>
          <a:p>
            <a:pPr marL="462915">
              <a:lnSpc>
                <a:spcPts val="1914"/>
              </a:lnSpc>
            </a:pPr>
            <a:r>
              <a:rPr dirty="0" sz="1600" b="1">
                <a:latin typeface="Consolas"/>
                <a:cs typeface="Consolas"/>
              </a:rPr>
              <a:t>new</a:t>
            </a:r>
            <a:r>
              <a:rPr dirty="0" sz="1600" spc="-15" b="1">
                <a:latin typeface="Consolas"/>
                <a:cs typeface="Consolas"/>
              </a:rPr>
              <a:t> </a:t>
            </a:r>
            <a:r>
              <a:rPr dirty="0" sz="1600" spc="-10" b="1">
                <a:latin typeface="Consolas"/>
                <a:cs typeface="Consolas"/>
              </a:rPr>
              <a:t>Circle(5);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14"/>
              </a:lnSpc>
            </a:pPr>
            <a:r>
              <a:rPr dirty="0" sz="1600" b="1">
                <a:latin typeface="Consolas"/>
                <a:cs typeface="Consolas"/>
              </a:rPr>
              <a:t>Circle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cB</a:t>
            </a:r>
            <a:r>
              <a:rPr dirty="0" sz="1600" spc="-25" b="1">
                <a:latin typeface="Consolas"/>
                <a:cs typeface="Consolas"/>
              </a:rPr>
              <a:t> </a:t>
            </a:r>
            <a:r>
              <a:rPr dirty="0" sz="1600" spc="-50" b="1">
                <a:latin typeface="Consolas"/>
                <a:cs typeface="Consolas"/>
              </a:rPr>
              <a:t>=</a:t>
            </a:r>
            <a:endParaRPr sz="1600">
              <a:latin typeface="Consolas"/>
              <a:cs typeface="Consolas"/>
            </a:endParaRPr>
          </a:p>
          <a:p>
            <a:pPr marL="462915">
              <a:lnSpc>
                <a:spcPts val="1920"/>
              </a:lnSpc>
            </a:pPr>
            <a:r>
              <a:rPr dirty="0" sz="1600" b="1">
                <a:latin typeface="Consolas"/>
                <a:cs typeface="Consolas"/>
              </a:rPr>
              <a:t>new</a:t>
            </a:r>
            <a:r>
              <a:rPr dirty="0" sz="1600" spc="-15" b="1">
                <a:latin typeface="Consolas"/>
                <a:cs typeface="Consolas"/>
              </a:rPr>
              <a:t> </a:t>
            </a:r>
            <a:r>
              <a:rPr dirty="0" sz="1600" spc="-10" b="1">
                <a:latin typeface="Consolas"/>
                <a:cs typeface="Consolas"/>
              </a:rPr>
              <a:t>Circle(10);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6384" y="6000445"/>
            <a:ext cx="9169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onsolas"/>
                <a:cs typeface="Consolas"/>
              </a:rPr>
              <a:t>cA</a:t>
            </a:r>
            <a:r>
              <a:rPr dirty="0" sz="1600" spc="1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=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spc="-25" b="1">
                <a:latin typeface="Consolas"/>
                <a:cs typeface="Consolas"/>
              </a:rPr>
              <a:t>cB;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735832" y="2239747"/>
            <a:ext cx="2806065" cy="3937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115"/>
              </a:spcBef>
              <a:buClr>
                <a:srgbClr val="820000"/>
              </a:buClr>
              <a:buFont typeface="Wingdings"/>
              <a:buChar char=""/>
              <a:tabLst>
                <a:tab pos="287655" algn="l"/>
              </a:tabLst>
            </a:pPr>
            <a:r>
              <a:rPr dirty="0" sz="2400">
                <a:latin typeface="Tahoma"/>
                <a:cs typeface="Tahoma"/>
              </a:rPr>
              <a:t>Before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assignment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9475" y="1550035"/>
            <a:ext cx="862965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20" b="1">
                <a:latin typeface="Tahoma"/>
                <a:cs typeface="Tahoma"/>
              </a:rPr>
              <a:t>Code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551173" y="1457452"/>
            <a:ext cx="138430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Memory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379081" y="2924111"/>
            <a:ext cx="2205990" cy="805815"/>
            <a:chOff x="7379081" y="2924111"/>
            <a:chExt cx="2205990" cy="805815"/>
          </a:xfrm>
        </p:grpSpPr>
        <p:sp>
          <p:nvSpPr>
            <p:cNvPr id="17" name="object 17" descr=""/>
            <p:cNvSpPr/>
            <p:nvPr/>
          </p:nvSpPr>
          <p:spPr>
            <a:xfrm>
              <a:off x="7391781" y="2936811"/>
              <a:ext cx="2180590" cy="283845"/>
            </a:xfrm>
            <a:custGeom>
              <a:avLst/>
              <a:gdLst/>
              <a:ahLst/>
              <a:cxnLst/>
              <a:rect l="l" t="t" r="r" b="b"/>
              <a:pathLst>
                <a:path w="2180590" h="283844">
                  <a:moveTo>
                    <a:pt x="0" y="283781"/>
                  </a:moveTo>
                  <a:lnTo>
                    <a:pt x="2180208" y="283781"/>
                  </a:lnTo>
                  <a:lnTo>
                    <a:pt x="2180208" y="0"/>
                  </a:lnTo>
                  <a:lnTo>
                    <a:pt x="0" y="0"/>
                  </a:lnTo>
                  <a:lnTo>
                    <a:pt x="0" y="2837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391781" y="3220606"/>
              <a:ext cx="2180590" cy="509270"/>
            </a:xfrm>
            <a:custGeom>
              <a:avLst/>
              <a:gdLst/>
              <a:ahLst/>
              <a:cxnLst/>
              <a:rect l="l" t="t" r="r" b="b"/>
              <a:pathLst>
                <a:path w="2180590" h="509270">
                  <a:moveTo>
                    <a:pt x="2180208" y="0"/>
                  </a:moveTo>
                  <a:lnTo>
                    <a:pt x="0" y="0"/>
                  </a:lnTo>
                  <a:lnTo>
                    <a:pt x="0" y="509003"/>
                  </a:lnTo>
                  <a:lnTo>
                    <a:pt x="2180208" y="509003"/>
                  </a:lnTo>
                  <a:lnTo>
                    <a:pt x="2180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391781" y="3220599"/>
            <a:ext cx="2180590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430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21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7391781" y="3923347"/>
            <a:ext cx="2180590" cy="283845"/>
          </a:xfrm>
          <a:custGeom>
            <a:avLst/>
            <a:gdLst/>
            <a:ahLst/>
            <a:cxnLst/>
            <a:rect l="l" t="t" r="r" b="b"/>
            <a:pathLst>
              <a:path w="2180590" h="283845">
                <a:moveTo>
                  <a:pt x="0" y="283781"/>
                </a:moveTo>
                <a:lnTo>
                  <a:pt x="2180208" y="283781"/>
                </a:lnTo>
                <a:lnTo>
                  <a:pt x="2180208" y="0"/>
                </a:lnTo>
                <a:lnTo>
                  <a:pt x="0" y="0"/>
                </a:lnTo>
                <a:lnTo>
                  <a:pt x="0" y="28378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7868919" y="3906482"/>
            <a:ext cx="1237615" cy="2908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b="1">
                <a:latin typeface="Consolas"/>
                <a:cs typeface="Consolas"/>
              </a:rPr>
              <a:t>cB:</a:t>
            </a:r>
            <a:r>
              <a:rPr dirty="0" sz="1750" spc="-35" b="1">
                <a:latin typeface="Consolas"/>
                <a:cs typeface="Consolas"/>
              </a:rPr>
              <a:t> </a:t>
            </a: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7379081" y="4194378"/>
            <a:ext cx="2205990" cy="530225"/>
            <a:chOff x="7379081" y="4194378"/>
            <a:chExt cx="2205990" cy="530225"/>
          </a:xfrm>
        </p:grpSpPr>
        <p:sp>
          <p:nvSpPr>
            <p:cNvPr id="23" name="object 23" descr=""/>
            <p:cNvSpPr/>
            <p:nvPr/>
          </p:nvSpPr>
          <p:spPr>
            <a:xfrm>
              <a:off x="7391781" y="4207078"/>
              <a:ext cx="2180590" cy="504825"/>
            </a:xfrm>
            <a:custGeom>
              <a:avLst/>
              <a:gdLst/>
              <a:ahLst/>
              <a:cxnLst/>
              <a:rect l="l" t="t" r="r" b="b"/>
              <a:pathLst>
                <a:path w="2180590" h="504825">
                  <a:moveTo>
                    <a:pt x="2180208" y="0"/>
                  </a:moveTo>
                  <a:lnTo>
                    <a:pt x="0" y="0"/>
                  </a:lnTo>
                  <a:lnTo>
                    <a:pt x="0" y="504494"/>
                  </a:lnTo>
                  <a:lnTo>
                    <a:pt x="2180208" y="504494"/>
                  </a:lnTo>
                  <a:lnTo>
                    <a:pt x="2180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391781" y="4207078"/>
              <a:ext cx="2180590" cy="504825"/>
            </a:xfrm>
            <a:custGeom>
              <a:avLst/>
              <a:gdLst/>
              <a:ahLst/>
              <a:cxnLst/>
              <a:rect l="l" t="t" r="r" b="b"/>
              <a:pathLst>
                <a:path w="2180590" h="504825">
                  <a:moveTo>
                    <a:pt x="0" y="504494"/>
                  </a:moveTo>
                  <a:lnTo>
                    <a:pt x="2180208" y="504494"/>
                  </a:lnTo>
                  <a:lnTo>
                    <a:pt x="2180208" y="0"/>
                  </a:lnTo>
                  <a:lnTo>
                    <a:pt x="0" y="0"/>
                  </a:lnTo>
                  <a:lnTo>
                    <a:pt x="0" y="5044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472426" y="4346714"/>
            <a:ext cx="95123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25">
                <a:latin typeface="Consolas"/>
                <a:cs typeface="Consolas"/>
              </a:rPr>
              <a:t>10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153915" y="3325025"/>
            <a:ext cx="2679065" cy="674370"/>
            <a:chOff x="4153915" y="3325025"/>
            <a:chExt cx="2679065" cy="674370"/>
          </a:xfrm>
        </p:grpSpPr>
        <p:sp>
          <p:nvSpPr>
            <p:cNvPr id="27" name="object 27" descr=""/>
            <p:cNvSpPr/>
            <p:nvPr/>
          </p:nvSpPr>
          <p:spPr>
            <a:xfrm>
              <a:off x="4166615" y="3337725"/>
              <a:ext cx="2653665" cy="324485"/>
            </a:xfrm>
            <a:custGeom>
              <a:avLst/>
              <a:gdLst/>
              <a:ahLst/>
              <a:cxnLst/>
              <a:rect l="l" t="t" r="r" b="b"/>
              <a:pathLst>
                <a:path w="2653665" h="324485">
                  <a:moveTo>
                    <a:pt x="0" y="324319"/>
                  </a:moveTo>
                  <a:lnTo>
                    <a:pt x="2653157" y="324319"/>
                  </a:lnTo>
                  <a:lnTo>
                    <a:pt x="2653157" y="0"/>
                  </a:lnTo>
                  <a:lnTo>
                    <a:pt x="0" y="0"/>
                  </a:lnTo>
                  <a:lnTo>
                    <a:pt x="0" y="32431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166615" y="3657574"/>
              <a:ext cx="2653665" cy="328930"/>
            </a:xfrm>
            <a:custGeom>
              <a:avLst/>
              <a:gdLst/>
              <a:ahLst/>
              <a:cxnLst/>
              <a:rect l="l" t="t" r="r" b="b"/>
              <a:pathLst>
                <a:path w="2653665" h="328929">
                  <a:moveTo>
                    <a:pt x="2653157" y="0"/>
                  </a:moveTo>
                  <a:lnTo>
                    <a:pt x="0" y="0"/>
                  </a:lnTo>
                  <a:lnTo>
                    <a:pt x="0" y="328828"/>
                  </a:lnTo>
                  <a:lnTo>
                    <a:pt x="2653157" y="328828"/>
                  </a:lnTo>
                  <a:lnTo>
                    <a:pt x="26531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166615" y="3657574"/>
              <a:ext cx="2653665" cy="328930"/>
            </a:xfrm>
            <a:custGeom>
              <a:avLst/>
              <a:gdLst/>
              <a:ahLst/>
              <a:cxnLst/>
              <a:rect l="l" t="t" r="r" b="b"/>
              <a:pathLst>
                <a:path w="2653665" h="328929">
                  <a:moveTo>
                    <a:pt x="0" y="328828"/>
                  </a:moveTo>
                  <a:lnTo>
                    <a:pt x="2653157" y="328828"/>
                  </a:lnTo>
                  <a:lnTo>
                    <a:pt x="2653157" y="0"/>
                  </a:lnTo>
                  <a:lnTo>
                    <a:pt x="0" y="0"/>
                  </a:lnTo>
                  <a:lnTo>
                    <a:pt x="0" y="328828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703192" y="3307003"/>
            <a:ext cx="395605" cy="74866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0"/>
              </a:spcBef>
            </a:pPr>
            <a:r>
              <a:rPr dirty="0" sz="2600" spc="-25" b="1">
                <a:latin typeface="Consolas"/>
                <a:cs typeface="Consolas"/>
              </a:rPr>
              <a:t>cA cB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886959" y="2955671"/>
            <a:ext cx="122047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153915" y="3081020"/>
            <a:ext cx="3235325" cy="3157220"/>
            <a:chOff x="4153915" y="3081020"/>
            <a:chExt cx="3235325" cy="3157220"/>
          </a:xfrm>
        </p:grpSpPr>
        <p:sp>
          <p:nvSpPr>
            <p:cNvPr id="33" name="object 33" descr=""/>
            <p:cNvSpPr/>
            <p:nvPr/>
          </p:nvSpPr>
          <p:spPr>
            <a:xfrm>
              <a:off x="6812153" y="3081020"/>
              <a:ext cx="577215" cy="991235"/>
            </a:xfrm>
            <a:custGeom>
              <a:avLst/>
              <a:gdLst/>
              <a:ahLst/>
              <a:cxnLst/>
              <a:rect l="l" t="t" r="r" b="b"/>
              <a:pathLst>
                <a:path w="577215" h="991235">
                  <a:moveTo>
                    <a:pt x="576834" y="986155"/>
                  </a:moveTo>
                  <a:lnTo>
                    <a:pt x="565492" y="972820"/>
                  </a:lnTo>
                  <a:lnTo>
                    <a:pt x="521589" y="921131"/>
                  </a:lnTo>
                  <a:lnTo>
                    <a:pt x="511657" y="944460"/>
                  </a:lnTo>
                  <a:lnTo>
                    <a:pt x="12573" y="731520"/>
                  </a:lnTo>
                  <a:lnTo>
                    <a:pt x="2540" y="754888"/>
                  </a:lnTo>
                  <a:lnTo>
                    <a:pt x="501688" y="967867"/>
                  </a:lnTo>
                  <a:lnTo>
                    <a:pt x="491744" y="991235"/>
                  </a:lnTo>
                  <a:lnTo>
                    <a:pt x="576834" y="986155"/>
                  </a:lnTo>
                  <a:close/>
                </a:path>
                <a:path w="577215" h="991235">
                  <a:moveTo>
                    <a:pt x="576834" y="0"/>
                  </a:moveTo>
                  <a:lnTo>
                    <a:pt x="492887" y="14478"/>
                  </a:lnTo>
                  <a:lnTo>
                    <a:pt x="507936" y="34963"/>
                  </a:lnTo>
                  <a:lnTo>
                    <a:pt x="0" y="408940"/>
                  </a:lnTo>
                  <a:lnTo>
                    <a:pt x="15113" y="429387"/>
                  </a:lnTo>
                  <a:lnTo>
                    <a:pt x="522947" y="55397"/>
                  </a:lnTo>
                  <a:lnTo>
                    <a:pt x="537972" y="75819"/>
                  </a:lnTo>
                  <a:lnTo>
                    <a:pt x="562762" y="27432"/>
                  </a:lnTo>
                  <a:lnTo>
                    <a:pt x="576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166615" y="5576417"/>
              <a:ext cx="2653665" cy="328930"/>
            </a:xfrm>
            <a:custGeom>
              <a:avLst/>
              <a:gdLst/>
              <a:ahLst/>
              <a:cxnLst/>
              <a:rect l="l" t="t" r="r" b="b"/>
              <a:pathLst>
                <a:path w="2653665" h="328929">
                  <a:moveTo>
                    <a:pt x="0" y="328828"/>
                  </a:moveTo>
                  <a:lnTo>
                    <a:pt x="2653157" y="328828"/>
                  </a:lnTo>
                  <a:lnTo>
                    <a:pt x="2653157" y="0"/>
                  </a:lnTo>
                  <a:lnTo>
                    <a:pt x="0" y="0"/>
                  </a:lnTo>
                  <a:lnTo>
                    <a:pt x="0" y="328828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166615" y="5900712"/>
              <a:ext cx="2653665" cy="324485"/>
            </a:xfrm>
            <a:custGeom>
              <a:avLst/>
              <a:gdLst/>
              <a:ahLst/>
              <a:cxnLst/>
              <a:rect l="l" t="t" r="r" b="b"/>
              <a:pathLst>
                <a:path w="2653665" h="324485">
                  <a:moveTo>
                    <a:pt x="2653157" y="0"/>
                  </a:moveTo>
                  <a:lnTo>
                    <a:pt x="0" y="0"/>
                  </a:lnTo>
                  <a:lnTo>
                    <a:pt x="0" y="324319"/>
                  </a:lnTo>
                  <a:lnTo>
                    <a:pt x="2653157" y="324319"/>
                  </a:lnTo>
                  <a:lnTo>
                    <a:pt x="26531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166615" y="5900712"/>
              <a:ext cx="2653665" cy="324485"/>
            </a:xfrm>
            <a:custGeom>
              <a:avLst/>
              <a:gdLst/>
              <a:ahLst/>
              <a:cxnLst/>
              <a:rect l="l" t="t" r="r" b="b"/>
              <a:pathLst>
                <a:path w="2653665" h="324485">
                  <a:moveTo>
                    <a:pt x="0" y="324319"/>
                  </a:moveTo>
                  <a:lnTo>
                    <a:pt x="2653157" y="324319"/>
                  </a:lnTo>
                  <a:lnTo>
                    <a:pt x="2653157" y="0"/>
                  </a:lnTo>
                  <a:lnTo>
                    <a:pt x="0" y="0"/>
                  </a:lnTo>
                  <a:lnTo>
                    <a:pt x="0" y="32431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735832" y="4439132"/>
            <a:ext cx="2585085" cy="118491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115"/>
              </a:spcBef>
              <a:buClr>
                <a:srgbClr val="820000"/>
              </a:buClr>
              <a:buFont typeface="Wingdings"/>
              <a:buChar char=""/>
              <a:tabLst>
                <a:tab pos="287655" algn="l"/>
              </a:tabLst>
            </a:pPr>
            <a:r>
              <a:rPr dirty="0" sz="2400">
                <a:latin typeface="Tahoma"/>
                <a:cs typeface="Tahoma"/>
              </a:rPr>
              <a:t>After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assignment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400">
              <a:latin typeface="Tahoma"/>
              <a:cs typeface="Tahoma"/>
            </a:endParaRPr>
          </a:p>
          <a:p>
            <a:pPr marL="1163320">
              <a:lnSpc>
                <a:spcPct val="100000"/>
              </a:lnSpc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703192" y="5548757"/>
            <a:ext cx="395605" cy="7486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5"/>
              </a:spcBef>
            </a:pPr>
            <a:r>
              <a:rPr dirty="0" sz="2600" spc="-25" b="1">
                <a:latin typeface="Consolas"/>
                <a:cs typeface="Consolas"/>
              </a:rPr>
              <a:t>cA cB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819646" y="4024884"/>
            <a:ext cx="3012440" cy="2049145"/>
          </a:xfrm>
          <a:custGeom>
            <a:avLst/>
            <a:gdLst/>
            <a:ahLst/>
            <a:cxnLst/>
            <a:rect l="l" t="t" r="r" b="b"/>
            <a:pathLst>
              <a:path w="3012440" h="2049145">
                <a:moveTo>
                  <a:pt x="3012059" y="31115"/>
                </a:moveTo>
                <a:lnTo>
                  <a:pt x="3006344" y="25400"/>
                </a:lnTo>
                <a:lnTo>
                  <a:pt x="2827147" y="25400"/>
                </a:lnTo>
                <a:lnTo>
                  <a:pt x="2827147" y="0"/>
                </a:lnTo>
                <a:lnTo>
                  <a:pt x="2750947" y="38100"/>
                </a:lnTo>
                <a:lnTo>
                  <a:pt x="2827147" y="76200"/>
                </a:lnTo>
                <a:lnTo>
                  <a:pt x="2827147" y="50800"/>
                </a:lnTo>
                <a:lnTo>
                  <a:pt x="2986659" y="50800"/>
                </a:lnTo>
                <a:lnTo>
                  <a:pt x="2986659" y="1700784"/>
                </a:lnTo>
                <a:lnTo>
                  <a:pt x="0" y="1700784"/>
                </a:lnTo>
                <a:lnTo>
                  <a:pt x="0" y="1726184"/>
                </a:lnTo>
                <a:lnTo>
                  <a:pt x="2986659" y="1726184"/>
                </a:lnTo>
                <a:lnTo>
                  <a:pt x="2986659" y="2023376"/>
                </a:lnTo>
                <a:lnTo>
                  <a:pt x="0" y="2023376"/>
                </a:lnTo>
                <a:lnTo>
                  <a:pt x="0" y="2048764"/>
                </a:lnTo>
                <a:lnTo>
                  <a:pt x="3006344" y="2048764"/>
                </a:lnTo>
                <a:lnTo>
                  <a:pt x="3012059" y="2043049"/>
                </a:lnTo>
                <a:lnTo>
                  <a:pt x="3012059" y="2036064"/>
                </a:lnTo>
                <a:lnTo>
                  <a:pt x="3012059" y="2023376"/>
                </a:lnTo>
                <a:lnTo>
                  <a:pt x="3012059" y="38100"/>
                </a:lnTo>
                <a:lnTo>
                  <a:pt x="3012059" y="31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7868919" y="2703804"/>
            <a:ext cx="2102485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82725" algn="l"/>
              </a:tabLst>
            </a:pPr>
            <a:r>
              <a:rPr dirty="0" baseline="1587" sz="2625" b="1">
                <a:latin typeface="Consolas"/>
                <a:cs typeface="Consolas"/>
              </a:rPr>
              <a:t>cA:</a:t>
            </a:r>
            <a:r>
              <a:rPr dirty="0" baseline="1587" sz="2625" spc="-52" b="1">
                <a:latin typeface="Consolas"/>
                <a:cs typeface="Consolas"/>
              </a:rPr>
              <a:t> </a:t>
            </a:r>
            <a:r>
              <a:rPr dirty="0" baseline="1587" sz="2625" spc="-15" b="1">
                <a:latin typeface="Consolas"/>
                <a:cs typeface="Consolas"/>
              </a:rPr>
              <a:t>Circle</a:t>
            </a:r>
            <a:r>
              <a:rPr dirty="0" baseline="1587" sz="2625" b="1">
                <a:latin typeface="Consolas"/>
                <a:cs typeface="Consolas"/>
              </a:rPr>
              <a:t>	</a:t>
            </a:r>
            <a:r>
              <a:rPr dirty="0" sz="3450" spc="-50">
                <a:latin typeface="Segoe UI Emoji"/>
                <a:cs typeface="Segoe UI Emoji"/>
              </a:rPr>
              <a:t>😢</a:t>
            </a:r>
            <a:endParaRPr sz="3450">
              <a:latin typeface="Segoe UI Emoji"/>
              <a:cs typeface="Segoe UI Emoji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42" name="object 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3" name="object 4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357120">
              <a:lnSpc>
                <a:spcPct val="100000"/>
              </a:lnSpc>
              <a:spcBef>
                <a:spcPts val="120"/>
              </a:spcBef>
            </a:pPr>
            <a:r>
              <a:rPr dirty="0"/>
              <a:t>Garbage</a:t>
            </a:r>
            <a:r>
              <a:rPr dirty="0" spc="-110"/>
              <a:t> </a:t>
            </a:r>
            <a:r>
              <a:rPr dirty="0" spc="-10"/>
              <a:t>Collection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274320" indent="-274320">
              <a:lnSpc>
                <a:spcPts val="3835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74320" algn="l"/>
              </a:tabLst>
            </a:pPr>
            <a:r>
              <a:rPr dirty="0"/>
              <a:t>After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assignment</a:t>
            </a:r>
            <a:r>
              <a:rPr dirty="0" spc="-30"/>
              <a:t> </a:t>
            </a:r>
            <a:r>
              <a:rPr dirty="0"/>
              <a:t>statement</a:t>
            </a:r>
            <a:r>
              <a:rPr dirty="0" spc="45"/>
              <a:t> </a:t>
            </a:r>
            <a:r>
              <a:rPr dirty="0" b="1">
                <a:latin typeface="Consolas"/>
                <a:cs typeface="Consolas"/>
              </a:rPr>
              <a:t>cA</a:t>
            </a:r>
            <a:r>
              <a:rPr dirty="0" spc="-100" b="1">
                <a:latin typeface="Consolas"/>
                <a:cs typeface="Consolas"/>
              </a:rPr>
              <a:t> </a:t>
            </a:r>
            <a:r>
              <a:rPr dirty="0" b="1">
                <a:latin typeface="Consolas"/>
                <a:cs typeface="Consolas"/>
              </a:rPr>
              <a:t>=</a:t>
            </a:r>
            <a:r>
              <a:rPr dirty="0" spc="-105" b="1">
                <a:latin typeface="Consolas"/>
                <a:cs typeface="Consolas"/>
              </a:rPr>
              <a:t> </a:t>
            </a:r>
            <a:r>
              <a:rPr dirty="0" b="1">
                <a:latin typeface="Consolas"/>
                <a:cs typeface="Consolas"/>
              </a:rPr>
              <a:t>cB</a:t>
            </a:r>
            <a:r>
              <a:rPr dirty="0"/>
              <a:t>,</a:t>
            </a:r>
            <a:r>
              <a:rPr dirty="0" spc="-20"/>
              <a:t> </a:t>
            </a:r>
            <a:r>
              <a:rPr dirty="0" spc="-25" b="1">
                <a:latin typeface="Consolas"/>
                <a:cs typeface="Consolas"/>
              </a:rPr>
              <a:t>cA</a:t>
            </a:r>
          </a:p>
          <a:p>
            <a:pPr algn="ctr" marR="28575">
              <a:lnSpc>
                <a:spcPts val="3835"/>
              </a:lnSpc>
            </a:pPr>
            <a:r>
              <a:rPr dirty="0"/>
              <a:t>points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same</a:t>
            </a:r>
            <a:r>
              <a:rPr dirty="0" spc="-70"/>
              <a:t> </a:t>
            </a:r>
            <a:r>
              <a:rPr dirty="0"/>
              <a:t>object</a:t>
            </a:r>
            <a:r>
              <a:rPr dirty="0" spc="-60"/>
              <a:t> </a:t>
            </a:r>
            <a:r>
              <a:rPr dirty="0"/>
              <a:t>referenced</a:t>
            </a:r>
            <a:r>
              <a:rPr dirty="0" spc="10"/>
              <a:t> </a:t>
            </a:r>
            <a:r>
              <a:rPr dirty="0"/>
              <a:t>by</a:t>
            </a:r>
            <a:r>
              <a:rPr dirty="0" spc="5"/>
              <a:t> </a:t>
            </a:r>
            <a:r>
              <a:rPr dirty="0" spc="-25" b="1">
                <a:latin typeface="Consolas"/>
                <a:cs typeface="Consolas"/>
              </a:rPr>
              <a:t>cB</a:t>
            </a:r>
          </a:p>
          <a:p>
            <a:pPr marL="287020" marR="72390" indent="-274955">
              <a:lnSpc>
                <a:spcPts val="3970"/>
              </a:lnSpc>
              <a:spcBef>
                <a:spcPts val="5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/>
              <a:t>The</a:t>
            </a:r>
            <a:r>
              <a:rPr dirty="0" spc="-160"/>
              <a:t> </a:t>
            </a:r>
            <a:r>
              <a:rPr dirty="0"/>
              <a:t>object</a:t>
            </a:r>
            <a:r>
              <a:rPr dirty="0" spc="-60"/>
              <a:t> </a:t>
            </a:r>
            <a:r>
              <a:rPr dirty="0"/>
              <a:t>previously</a:t>
            </a:r>
            <a:r>
              <a:rPr dirty="0" spc="-20"/>
              <a:t> </a:t>
            </a:r>
            <a:r>
              <a:rPr dirty="0"/>
              <a:t>referenced</a:t>
            </a:r>
            <a:r>
              <a:rPr dirty="0" spc="10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 spc="-35" b="1">
                <a:latin typeface="Consolas"/>
                <a:cs typeface="Consolas"/>
              </a:rPr>
              <a:t>cA</a:t>
            </a:r>
            <a:r>
              <a:rPr dirty="0" spc="-715" b="1">
                <a:latin typeface="Consolas"/>
                <a:cs typeface="Consolas"/>
              </a:rPr>
              <a:t> </a:t>
            </a:r>
            <a:r>
              <a:rPr dirty="0"/>
              <a:t>is</a:t>
            </a:r>
            <a:r>
              <a:rPr dirty="0" spc="-90"/>
              <a:t> </a:t>
            </a:r>
            <a:r>
              <a:rPr dirty="0" spc="-25"/>
              <a:t>no </a:t>
            </a:r>
            <a:r>
              <a:rPr dirty="0"/>
              <a:t>longer</a:t>
            </a:r>
            <a:r>
              <a:rPr dirty="0" spc="-75"/>
              <a:t> </a:t>
            </a:r>
            <a:r>
              <a:rPr dirty="0"/>
              <a:t>referenced</a:t>
            </a:r>
            <a:r>
              <a:rPr dirty="0" spc="65"/>
              <a:t> </a:t>
            </a:r>
            <a:r>
              <a:rPr dirty="0"/>
              <a:t>–</a:t>
            </a:r>
            <a:r>
              <a:rPr dirty="0" spc="-90"/>
              <a:t> </a:t>
            </a:r>
            <a:r>
              <a:rPr dirty="0"/>
              <a:t>this</a:t>
            </a:r>
            <a:r>
              <a:rPr dirty="0" spc="-65"/>
              <a:t> </a:t>
            </a:r>
            <a:r>
              <a:rPr dirty="0"/>
              <a:t>object</a:t>
            </a:r>
            <a:r>
              <a:rPr dirty="0" spc="-65"/>
              <a:t> </a:t>
            </a:r>
            <a:r>
              <a:rPr dirty="0"/>
              <a:t>is</a:t>
            </a:r>
            <a:r>
              <a:rPr dirty="0" spc="-90"/>
              <a:t> </a:t>
            </a:r>
            <a:r>
              <a:rPr dirty="0"/>
              <a:t>known</a:t>
            </a:r>
            <a:r>
              <a:rPr dirty="0" spc="-60"/>
              <a:t> </a:t>
            </a:r>
            <a:r>
              <a:rPr dirty="0" spc="-25"/>
              <a:t>as</a:t>
            </a:r>
          </a:p>
          <a:p>
            <a:pPr marL="287020">
              <a:lnSpc>
                <a:spcPts val="3679"/>
              </a:lnSpc>
            </a:pPr>
            <a:r>
              <a:rPr dirty="0" spc="-10" b="1">
                <a:latin typeface="Tahoma"/>
                <a:cs typeface="Tahoma"/>
              </a:rPr>
              <a:t>garbage</a:t>
            </a:r>
          </a:p>
          <a:p>
            <a:pPr marL="287020" marR="327660" indent="-274955">
              <a:lnSpc>
                <a:spcPts val="3829"/>
              </a:lnSpc>
              <a:spcBef>
                <a:spcPts val="11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/>
              <a:t>Garbage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100"/>
              <a:t> </a:t>
            </a:r>
            <a:r>
              <a:rPr dirty="0"/>
              <a:t>automatically</a:t>
            </a:r>
            <a:r>
              <a:rPr dirty="0" spc="-60"/>
              <a:t> </a:t>
            </a:r>
            <a:r>
              <a:rPr dirty="0"/>
              <a:t>cleaned</a:t>
            </a:r>
            <a:r>
              <a:rPr dirty="0" spc="-60"/>
              <a:t> </a:t>
            </a:r>
            <a:r>
              <a:rPr dirty="0"/>
              <a:t>up</a:t>
            </a:r>
            <a:r>
              <a:rPr dirty="0" spc="-65"/>
              <a:t> </a:t>
            </a:r>
            <a:r>
              <a:rPr dirty="0"/>
              <a:t>by</a:t>
            </a:r>
            <a:r>
              <a:rPr dirty="0" spc="-85"/>
              <a:t> </a:t>
            </a:r>
            <a:r>
              <a:rPr dirty="0" spc="-25"/>
              <a:t>the </a:t>
            </a:r>
            <a:r>
              <a:rPr dirty="0"/>
              <a:t>JVM</a:t>
            </a:r>
            <a:r>
              <a:rPr dirty="0" spc="-90"/>
              <a:t> </a:t>
            </a:r>
            <a:r>
              <a:rPr dirty="0"/>
              <a:t>via</a:t>
            </a:r>
            <a:r>
              <a:rPr dirty="0" spc="-85"/>
              <a:t> </a:t>
            </a:r>
            <a:r>
              <a:rPr dirty="0" b="1">
                <a:latin typeface="Tahoma"/>
                <a:cs typeface="Tahoma"/>
              </a:rPr>
              <a:t>Garbage</a:t>
            </a:r>
            <a:r>
              <a:rPr dirty="0" spc="-100" b="1">
                <a:latin typeface="Tahoma"/>
                <a:cs typeface="Tahoma"/>
              </a:rPr>
              <a:t> </a:t>
            </a:r>
            <a:r>
              <a:rPr dirty="0" b="1">
                <a:latin typeface="Tahoma"/>
                <a:cs typeface="Tahoma"/>
              </a:rPr>
              <a:t>Collection</a:t>
            </a:r>
            <a:r>
              <a:rPr dirty="0" spc="-70" b="1">
                <a:latin typeface="Tahoma"/>
                <a:cs typeface="Tahoma"/>
              </a:rPr>
              <a:t> </a:t>
            </a:r>
            <a:r>
              <a:rPr dirty="0" spc="-20" b="1">
                <a:latin typeface="Tahoma"/>
                <a:cs typeface="Tahoma"/>
              </a:rPr>
              <a:t>(GC)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064510">
              <a:lnSpc>
                <a:spcPct val="100000"/>
              </a:lnSpc>
              <a:spcBef>
                <a:spcPts val="120"/>
              </a:spcBef>
            </a:pPr>
            <a:r>
              <a:rPr dirty="0"/>
              <a:t>GC</a:t>
            </a:r>
            <a:r>
              <a:rPr dirty="0" spc="-40"/>
              <a:t> </a:t>
            </a:r>
            <a:r>
              <a:rPr dirty="0"/>
              <a:t>Pro</a:t>
            </a:r>
            <a:r>
              <a:rPr dirty="0" spc="-10"/>
              <a:t> </a:t>
            </a:r>
            <a:r>
              <a:rPr dirty="0" spc="-20"/>
              <a:t>Tips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31353"/>
            <a:ext cx="8581390" cy="295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marR="541655" indent="-274955">
              <a:lnSpc>
                <a:spcPct val="99800"/>
              </a:lnSpc>
              <a:spcBef>
                <a:spcPts val="10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If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you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know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that</a:t>
            </a:r>
            <a:r>
              <a:rPr dirty="0" sz="3200" spc="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object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no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longer </a:t>
            </a:r>
            <a:r>
              <a:rPr dirty="0" sz="3200">
                <a:latin typeface="Tahoma"/>
                <a:cs typeface="Tahoma"/>
              </a:rPr>
              <a:t>needed,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you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can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explicitly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assign</a:t>
            </a:r>
            <a:r>
              <a:rPr dirty="0" sz="3200" spc="15">
                <a:latin typeface="Tahoma"/>
                <a:cs typeface="Tahoma"/>
              </a:rPr>
              <a:t> </a:t>
            </a:r>
            <a:r>
              <a:rPr dirty="0" sz="3200" spc="-40" b="1">
                <a:latin typeface="Consolas"/>
                <a:cs typeface="Consolas"/>
              </a:rPr>
              <a:t>null</a:t>
            </a:r>
            <a:r>
              <a:rPr dirty="0" sz="3200" spc="-675" b="1">
                <a:latin typeface="Consolas"/>
                <a:cs typeface="Consolas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 spc="-50">
                <a:latin typeface="Tahoma"/>
                <a:cs typeface="Tahoma"/>
              </a:rPr>
              <a:t>a </a:t>
            </a:r>
            <a:r>
              <a:rPr dirty="0" sz="3200">
                <a:latin typeface="Tahoma"/>
                <a:cs typeface="Tahoma"/>
              </a:rPr>
              <a:t>reference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variable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for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object</a:t>
            </a:r>
            <a:endParaRPr sz="3200">
              <a:latin typeface="Tahoma"/>
              <a:cs typeface="Tahoma"/>
            </a:endParaRPr>
          </a:p>
          <a:p>
            <a:pPr algn="just" marL="287020" marR="5080" indent="-274955">
              <a:lnSpc>
                <a:spcPct val="100000"/>
              </a:lnSpc>
              <a:spcBef>
                <a:spcPts val="3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JVM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will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automatically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collect</a:t>
            </a:r>
            <a:r>
              <a:rPr dirty="0" sz="3200" spc="-1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space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if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object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not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referenced</a:t>
            </a:r>
            <a:r>
              <a:rPr dirty="0" sz="3200" spc="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by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any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variable</a:t>
            </a:r>
            <a:r>
              <a:rPr dirty="0" sz="3200" spc="25">
                <a:latin typeface="Tahoma"/>
                <a:cs typeface="Tahoma"/>
              </a:rPr>
              <a:t> </a:t>
            </a:r>
            <a:r>
              <a:rPr dirty="0" sz="3200" spc="-50">
                <a:latin typeface="Tahoma"/>
                <a:cs typeface="Tahoma"/>
              </a:rPr>
              <a:t>… </a:t>
            </a:r>
            <a:r>
              <a:rPr dirty="0" sz="3200">
                <a:latin typeface="Tahoma"/>
                <a:cs typeface="Tahoma"/>
              </a:rPr>
              <a:t>eventually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(i.e.</a:t>
            </a:r>
            <a:r>
              <a:rPr dirty="0" sz="3200" spc="-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you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don’t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have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direct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control)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65145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Static</a:t>
            </a:r>
            <a:r>
              <a:rPr dirty="0" u="sng" spc="-7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vs.</a:t>
            </a:r>
            <a:r>
              <a:rPr dirty="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Instance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40740" y="1232281"/>
            <a:ext cx="3798570" cy="3113405"/>
          </a:xfrm>
          <a:prstGeom prst="rect">
            <a:avLst/>
          </a:prstGeom>
        </p:spPr>
        <p:txBody>
          <a:bodyPr wrap="square" lIns="0" tIns="23367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839"/>
              </a:spcBef>
            </a:pPr>
            <a:r>
              <a:rPr dirty="0" sz="2600" spc="-10" b="1">
                <a:latin typeface="Tahoma"/>
                <a:cs typeface="Tahoma"/>
              </a:rPr>
              <a:t>Static</a:t>
            </a:r>
            <a:endParaRPr sz="260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134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1950">
                <a:latin typeface="Tahoma"/>
                <a:cs typeface="Tahoma"/>
              </a:rPr>
              <a:t>Shared</a:t>
            </a:r>
            <a:r>
              <a:rPr dirty="0" sz="1950" spc="12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by</a:t>
            </a:r>
            <a:r>
              <a:rPr dirty="0" sz="1950" spc="5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ALL</a:t>
            </a:r>
            <a:r>
              <a:rPr dirty="0" sz="1950" spc="5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instances</a:t>
            </a:r>
            <a:r>
              <a:rPr dirty="0" sz="1950" spc="8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of</a:t>
            </a:r>
            <a:r>
              <a:rPr dirty="0" sz="1950" spc="95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a</a:t>
            </a:r>
            <a:endParaRPr sz="1950">
              <a:latin typeface="Tahoma"/>
              <a:cs typeface="Tahoma"/>
            </a:endParaRPr>
          </a:p>
          <a:p>
            <a:pPr marL="287020">
              <a:lnSpc>
                <a:spcPct val="100000"/>
              </a:lnSpc>
              <a:spcBef>
                <a:spcPts val="75"/>
              </a:spcBef>
            </a:pPr>
            <a:r>
              <a:rPr dirty="0" sz="1950" spc="-10">
                <a:latin typeface="Tahoma"/>
                <a:cs typeface="Tahoma"/>
              </a:rPr>
              <a:t>class</a:t>
            </a:r>
            <a:endParaRPr sz="1950">
              <a:latin typeface="Tahoma"/>
              <a:cs typeface="Tahoma"/>
            </a:endParaRPr>
          </a:p>
          <a:p>
            <a:pPr marL="467359">
              <a:lnSpc>
                <a:spcPct val="100000"/>
              </a:lnSpc>
              <a:spcBef>
                <a:spcPts val="10"/>
              </a:spcBef>
            </a:pPr>
            <a:r>
              <a:rPr dirty="0" sz="1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1800" spc="35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1800">
                <a:latin typeface="Tahoma"/>
                <a:cs typeface="Tahoma"/>
              </a:rPr>
              <a:t>Method: only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use </a:t>
            </a:r>
            <a:r>
              <a:rPr dirty="0" sz="1800" spc="-10">
                <a:latin typeface="Tahoma"/>
                <a:cs typeface="Tahoma"/>
              </a:rPr>
              <a:t>static</a:t>
            </a:r>
            <a:endParaRPr sz="1800">
              <a:latin typeface="Tahoma"/>
              <a:cs typeface="Tahoma"/>
            </a:endParaRPr>
          </a:p>
          <a:p>
            <a:pPr marL="74231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Tahoma"/>
                <a:cs typeface="Tahoma"/>
              </a:rPr>
              <a:t>variables</a:t>
            </a:r>
            <a:endParaRPr sz="1800">
              <a:latin typeface="Tahoma"/>
              <a:cs typeface="Tahoma"/>
            </a:endParaRPr>
          </a:p>
          <a:p>
            <a:pPr marL="467359">
              <a:lnSpc>
                <a:spcPct val="100000"/>
              </a:lnSpc>
            </a:pPr>
            <a:r>
              <a:rPr dirty="0" sz="1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1800" spc="35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1800">
                <a:latin typeface="Tahoma"/>
                <a:cs typeface="Tahoma"/>
              </a:rPr>
              <a:t>Variable: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used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any</a:t>
            </a:r>
            <a:endParaRPr sz="1800">
              <a:latin typeface="Tahoma"/>
              <a:cs typeface="Tahoma"/>
            </a:endParaRPr>
          </a:p>
          <a:p>
            <a:pPr marL="74231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Tahoma"/>
                <a:cs typeface="Tahoma"/>
              </a:rPr>
              <a:t>instance</a:t>
            </a:r>
            <a:endParaRPr sz="1800">
              <a:latin typeface="Tahoma"/>
              <a:cs typeface="Tahoma"/>
            </a:endParaRPr>
          </a:p>
          <a:p>
            <a:pPr marL="287020" indent="-274320">
              <a:lnSpc>
                <a:spcPts val="2325"/>
              </a:lnSpc>
              <a:spcBef>
                <a:spcPts val="3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1950">
                <a:latin typeface="Tahoma"/>
                <a:cs typeface="Tahoma"/>
              </a:rPr>
              <a:t>Invoked</a:t>
            </a:r>
            <a:r>
              <a:rPr dirty="0" sz="1950" spc="13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via</a:t>
            </a:r>
            <a:r>
              <a:rPr dirty="0" sz="1950" spc="5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Class.var/method()</a:t>
            </a:r>
            <a:endParaRPr sz="1950">
              <a:latin typeface="Tahoma"/>
              <a:cs typeface="Tahoma"/>
            </a:endParaRPr>
          </a:p>
          <a:p>
            <a:pPr marL="287020" indent="-274320">
              <a:lnSpc>
                <a:spcPts val="2325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1950">
                <a:latin typeface="Tahoma"/>
                <a:cs typeface="Tahoma"/>
              </a:rPr>
              <a:t>Specified</a:t>
            </a:r>
            <a:r>
              <a:rPr dirty="0" sz="1950" spc="12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via</a:t>
            </a:r>
            <a:r>
              <a:rPr dirty="0" sz="1950" spc="120">
                <a:latin typeface="Tahoma"/>
                <a:cs typeface="Tahoma"/>
              </a:rPr>
              <a:t> </a:t>
            </a:r>
            <a:r>
              <a:rPr dirty="0" sz="1950" b="1">
                <a:latin typeface="Consolas"/>
                <a:cs typeface="Consolas"/>
              </a:rPr>
              <a:t>static</a:t>
            </a:r>
            <a:r>
              <a:rPr dirty="0" sz="1950" spc="-365" b="1">
                <a:latin typeface="Consolas"/>
                <a:cs typeface="Consolas"/>
              </a:rPr>
              <a:t> </a:t>
            </a:r>
            <a:r>
              <a:rPr dirty="0" sz="1950" spc="-10">
                <a:latin typeface="Tahoma"/>
                <a:cs typeface="Tahoma"/>
              </a:rPr>
              <a:t>keyword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92953" y="1385113"/>
            <a:ext cx="4218305" cy="3275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Instance</a:t>
            </a:r>
            <a:endParaRPr sz="2600">
              <a:latin typeface="Tahoma"/>
              <a:cs typeface="Tahoma"/>
            </a:endParaRPr>
          </a:p>
          <a:p>
            <a:pPr marL="451484" indent="-274955">
              <a:lnSpc>
                <a:spcPct val="100000"/>
              </a:lnSpc>
              <a:spcBef>
                <a:spcPts val="1855"/>
              </a:spcBef>
              <a:buClr>
                <a:srgbClr val="820000"/>
              </a:buClr>
              <a:buFont typeface="Wingdings"/>
              <a:buChar char=""/>
              <a:tabLst>
                <a:tab pos="451484" algn="l"/>
              </a:tabLst>
            </a:pPr>
            <a:r>
              <a:rPr dirty="0" sz="1950">
                <a:latin typeface="Tahoma"/>
                <a:cs typeface="Tahoma"/>
              </a:rPr>
              <a:t>Tied</a:t>
            </a:r>
            <a:r>
              <a:rPr dirty="0" sz="1950" spc="5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4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</a:t>
            </a:r>
            <a:r>
              <a:rPr dirty="0" sz="1950" spc="7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specific</a:t>
            </a:r>
            <a:r>
              <a:rPr dirty="0" sz="1950" spc="7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instance</a:t>
            </a:r>
            <a:r>
              <a:rPr dirty="0" sz="1950" spc="114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of</a:t>
            </a:r>
            <a:r>
              <a:rPr dirty="0" sz="1950" spc="60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a</a:t>
            </a:r>
            <a:endParaRPr sz="1950">
              <a:latin typeface="Tahoma"/>
              <a:cs typeface="Tahoma"/>
            </a:endParaRPr>
          </a:p>
          <a:p>
            <a:pPr marL="451484">
              <a:lnSpc>
                <a:spcPct val="100000"/>
              </a:lnSpc>
              <a:spcBef>
                <a:spcPts val="75"/>
              </a:spcBef>
            </a:pPr>
            <a:r>
              <a:rPr dirty="0" sz="1950" spc="-10">
                <a:latin typeface="Tahoma"/>
                <a:cs typeface="Tahoma"/>
              </a:rPr>
              <a:t>class</a:t>
            </a:r>
            <a:endParaRPr sz="1950">
              <a:latin typeface="Tahoma"/>
              <a:cs typeface="Tahoma"/>
            </a:endParaRPr>
          </a:p>
          <a:p>
            <a:pPr marL="631825">
              <a:lnSpc>
                <a:spcPct val="100000"/>
              </a:lnSpc>
              <a:spcBef>
                <a:spcPts val="10"/>
              </a:spcBef>
            </a:pPr>
            <a:r>
              <a:rPr dirty="0" sz="1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1800" spc="37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1800">
                <a:latin typeface="Tahoma"/>
                <a:cs typeface="Tahoma"/>
              </a:rPr>
              <a:t>Method: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use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static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AND</a:t>
            </a:r>
            <a:endParaRPr sz="1800">
              <a:latin typeface="Tahoma"/>
              <a:cs typeface="Tahoma"/>
            </a:endParaRPr>
          </a:p>
          <a:p>
            <a:pPr marL="906144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ahoma"/>
                <a:cs typeface="Tahoma"/>
              </a:rPr>
              <a:t>member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variables</a:t>
            </a:r>
            <a:endParaRPr sz="1800">
              <a:latin typeface="Tahoma"/>
              <a:cs typeface="Tahoma"/>
            </a:endParaRPr>
          </a:p>
          <a:p>
            <a:pPr marL="63182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1800" spc="36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1800">
                <a:latin typeface="Tahoma"/>
                <a:cs typeface="Tahoma"/>
              </a:rPr>
              <a:t>Variable: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only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its</a:t>
            </a:r>
            <a:endParaRPr sz="1800">
              <a:latin typeface="Tahoma"/>
              <a:cs typeface="Tahoma"/>
            </a:endParaRPr>
          </a:p>
          <a:p>
            <a:pPr marL="906144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Tahoma"/>
                <a:cs typeface="Tahoma"/>
              </a:rPr>
              <a:t>instance</a:t>
            </a:r>
            <a:endParaRPr sz="1800">
              <a:latin typeface="Tahoma"/>
              <a:cs typeface="Tahoma"/>
            </a:endParaRPr>
          </a:p>
          <a:p>
            <a:pPr marL="451484" indent="-274955">
              <a:lnSpc>
                <a:spcPts val="2325"/>
              </a:lnSpc>
              <a:spcBef>
                <a:spcPts val="30"/>
              </a:spcBef>
              <a:buClr>
                <a:srgbClr val="820000"/>
              </a:buClr>
              <a:buFont typeface="Wingdings"/>
              <a:buChar char=""/>
              <a:tabLst>
                <a:tab pos="451484" algn="l"/>
              </a:tabLst>
            </a:pPr>
            <a:r>
              <a:rPr dirty="0" sz="1950">
                <a:latin typeface="Tahoma"/>
                <a:cs typeface="Tahoma"/>
              </a:rPr>
              <a:t>Invoked</a:t>
            </a:r>
            <a:r>
              <a:rPr dirty="0" sz="1950" spc="13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via</a:t>
            </a:r>
            <a:r>
              <a:rPr dirty="0" sz="1950" spc="5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objRef.var/method()</a:t>
            </a:r>
            <a:endParaRPr sz="1950">
              <a:latin typeface="Tahoma"/>
              <a:cs typeface="Tahoma"/>
            </a:endParaRPr>
          </a:p>
          <a:p>
            <a:pPr marL="451484" indent="-274955">
              <a:lnSpc>
                <a:spcPts val="2325"/>
              </a:lnSpc>
              <a:buClr>
                <a:srgbClr val="820000"/>
              </a:buClr>
              <a:buFont typeface="Wingdings"/>
              <a:buChar char=""/>
              <a:tabLst>
                <a:tab pos="451484" algn="l"/>
              </a:tabLst>
            </a:pPr>
            <a:r>
              <a:rPr dirty="0" sz="1950">
                <a:latin typeface="Tahoma"/>
                <a:cs typeface="Tahoma"/>
              </a:rPr>
              <a:t>Specified</a:t>
            </a:r>
            <a:r>
              <a:rPr dirty="0" sz="1950" spc="9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via</a:t>
            </a:r>
            <a:r>
              <a:rPr dirty="0" sz="1950" spc="7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3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lack</a:t>
            </a:r>
            <a:r>
              <a:rPr dirty="0" sz="1950" spc="9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of</a:t>
            </a:r>
            <a:r>
              <a:rPr dirty="0" sz="1950" spc="90">
                <a:latin typeface="Tahoma"/>
                <a:cs typeface="Tahoma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static</a:t>
            </a:r>
            <a:endParaRPr sz="1950">
              <a:latin typeface="Consolas"/>
              <a:cs typeface="Consolas"/>
            </a:endParaRPr>
          </a:p>
          <a:p>
            <a:pPr marL="451484">
              <a:lnSpc>
                <a:spcPct val="100000"/>
              </a:lnSpc>
              <a:spcBef>
                <a:spcPts val="145"/>
              </a:spcBef>
            </a:pPr>
            <a:r>
              <a:rPr dirty="0" sz="1950" spc="-10">
                <a:latin typeface="Tahoma"/>
                <a:cs typeface="Tahoma"/>
              </a:rPr>
              <a:t>keyword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128" y="7130478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0081260" cy="518159"/>
            <a:chOff x="0" y="0"/>
            <a:chExt cx="10081260" cy="518159"/>
          </a:xfrm>
        </p:grpSpPr>
        <p:sp>
          <p:nvSpPr>
            <p:cNvPr id="4" name="object 4" descr=""/>
            <p:cNvSpPr/>
            <p:nvPr/>
          </p:nvSpPr>
          <p:spPr>
            <a:xfrm>
              <a:off x="0" y="25"/>
              <a:ext cx="5027295" cy="518159"/>
            </a:xfrm>
            <a:custGeom>
              <a:avLst/>
              <a:gdLst/>
              <a:ahLst/>
              <a:cxnLst/>
              <a:rect l="l" t="t" r="r" b="b"/>
              <a:pathLst>
                <a:path w="5027295" h="518159">
                  <a:moveTo>
                    <a:pt x="0" y="518007"/>
                  </a:moveTo>
                  <a:lnTo>
                    <a:pt x="5026914" y="518007"/>
                  </a:lnTo>
                  <a:lnTo>
                    <a:pt x="5026914" y="0"/>
                  </a:lnTo>
                  <a:lnTo>
                    <a:pt x="0" y="0"/>
                  </a:lnTo>
                  <a:lnTo>
                    <a:pt x="0" y="518007"/>
                  </a:lnTo>
                  <a:close/>
                </a:path>
              </a:pathLst>
            </a:custGeom>
            <a:solidFill>
              <a:srgbClr val="E2DE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26914" y="0"/>
              <a:ext cx="5053965" cy="513715"/>
            </a:xfrm>
            <a:custGeom>
              <a:avLst/>
              <a:gdLst/>
              <a:ahLst/>
              <a:cxnLst/>
              <a:rect l="l" t="t" r="r" b="b"/>
              <a:pathLst>
                <a:path w="5053965" h="513715">
                  <a:moveTo>
                    <a:pt x="5053965" y="0"/>
                  </a:moveTo>
                  <a:lnTo>
                    <a:pt x="0" y="0"/>
                  </a:lnTo>
                  <a:lnTo>
                    <a:pt x="0" y="513461"/>
                  </a:lnTo>
                  <a:lnTo>
                    <a:pt x="5053965" y="513461"/>
                  </a:lnTo>
                  <a:lnTo>
                    <a:pt x="50539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60825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Example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556958" y="1454760"/>
            <a:ext cx="2884805" cy="9772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10" b="1">
                <a:latin typeface="Tahoma"/>
                <a:cs typeface="Tahoma"/>
              </a:rPr>
              <a:t>Person.java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3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class</a:t>
            </a:r>
            <a:r>
              <a:rPr dirty="0" sz="1050" spc="-7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Person</a:t>
            </a:r>
            <a:r>
              <a:rPr dirty="0" sz="1050" spc="-65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70"/>
              </a:spcBef>
            </a:pPr>
            <a:r>
              <a:rPr dirty="0" sz="1050" b="1">
                <a:latin typeface="Consolas"/>
                <a:cs typeface="Consolas"/>
              </a:rPr>
              <a:t>private</a:t>
            </a:r>
            <a:r>
              <a:rPr dirty="0" sz="1050" spc="-2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static</a:t>
            </a:r>
            <a:r>
              <a:rPr dirty="0" sz="1050" spc="-7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int</a:t>
            </a:r>
            <a:r>
              <a:rPr dirty="0" sz="1050" spc="-5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numPeople</a:t>
            </a:r>
            <a:r>
              <a:rPr dirty="0" sz="1050" spc="-6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=</a:t>
            </a:r>
            <a:r>
              <a:rPr dirty="0" sz="1050" spc="-25" b="1">
                <a:latin typeface="Consolas"/>
                <a:cs typeface="Consolas"/>
              </a:rPr>
              <a:t> 0;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29"/>
              </a:spcBef>
            </a:pPr>
            <a:r>
              <a:rPr dirty="0" sz="1050" b="1">
                <a:latin typeface="Consolas"/>
                <a:cs typeface="Consolas"/>
              </a:rPr>
              <a:t>private</a:t>
            </a:r>
            <a:r>
              <a:rPr dirty="0" sz="1050" spc="-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final</a:t>
            </a:r>
            <a:r>
              <a:rPr dirty="0" sz="1050" spc="-7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int</a:t>
            </a:r>
            <a:r>
              <a:rPr dirty="0" sz="1050" spc="-4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myId;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07402" y="2595982"/>
            <a:ext cx="1718310" cy="137287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2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Person()</a:t>
            </a:r>
            <a:r>
              <a:rPr dirty="0" sz="1050" spc="-25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65"/>
              </a:spcBef>
            </a:pPr>
            <a:r>
              <a:rPr dirty="0" sz="1050" spc="-10" b="1">
                <a:latin typeface="Consolas"/>
                <a:cs typeface="Consolas"/>
              </a:rPr>
              <a:t>numPeople++;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65"/>
              </a:spcBef>
            </a:pPr>
            <a:r>
              <a:rPr dirty="0" sz="1050" b="1">
                <a:latin typeface="Consolas"/>
                <a:cs typeface="Consolas"/>
              </a:rPr>
              <a:t>myId</a:t>
            </a:r>
            <a:r>
              <a:rPr dirty="0" sz="1050" spc="-5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=</a:t>
            </a:r>
            <a:r>
              <a:rPr dirty="0" sz="1050" spc="-10" b="1">
                <a:latin typeface="Consolas"/>
                <a:cs typeface="Consolas"/>
              </a:rPr>
              <a:t> numPeople;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5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int</a:t>
            </a:r>
            <a:r>
              <a:rPr dirty="0" sz="1050" spc="-4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getId()</a:t>
            </a:r>
            <a:r>
              <a:rPr dirty="0" sz="1050" spc="-70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65"/>
              </a:spcBef>
            </a:pPr>
            <a:r>
              <a:rPr dirty="0" sz="1050" b="1">
                <a:latin typeface="Consolas"/>
                <a:cs typeface="Consolas"/>
              </a:rPr>
              <a:t>return</a:t>
            </a:r>
            <a:r>
              <a:rPr dirty="0" sz="1050" spc="-65" b="1">
                <a:latin typeface="Consolas"/>
                <a:cs typeface="Consolas"/>
              </a:rPr>
              <a:t> </a:t>
            </a:r>
            <a:r>
              <a:rPr dirty="0" sz="1050" spc="-20" b="1">
                <a:latin typeface="Consolas"/>
                <a:cs typeface="Consolas"/>
              </a:rPr>
              <a:t>myId;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6958" y="4141825"/>
            <a:ext cx="3262629" cy="1751964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462915">
              <a:lnSpc>
                <a:spcPct val="100000"/>
              </a:lnSpc>
              <a:spcBef>
                <a:spcPts val="325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3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String</a:t>
            </a:r>
            <a:r>
              <a:rPr dirty="0" sz="1050" spc="-9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getBorgId()</a:t>
            </a:r>
            <a:r>
              <a:rPr dirty="0" sz="1050" spc="-35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913765">
              <a:lnSpc>
                <a:spcPct val="100000"/>
              </a:lnSpc>
              <a:spcBef>
                <a:spcPts val="229"/>
              </a:spcBef>
            </a:pPr>
            <a:r>
              <a:rPr dirty="0" sz="1050" b="1">
                <a:latin typeface="Consolas"/>
                <a:cs typeface="Consolas"/>
              </a:rPr>
              <a:t>return</a:t>
            </a:r>
            <a:r>
              <a:rPr dirty="0" sz="1050" spc="-5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String.format("%d</a:t>
            </a:r>
            <a:r>
              <a:rPr dirty="0" sz="1050" spc="-6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of</a:t>
            </a:r>
            <a:r>
              <a:rPr dirty="0" sz="1050" spc="-90" b="1">
                <a:latin typeface="Consolas"/>
                <a:cs typeface="Consolas"/>
              </a:rPr>
              <a:t> </a:t>
            </a:r>
            <a:r>
              <a:rPr dirty="0" sz="1050" spc="-20" b="1">
                <a:latin typeface="Consolas"/>
                <a:cs typeface="Consolas"/>
              </a:rPr>
              <a:t>%d",</a:t>
            </a:r>
            <a:endParaRPr sz="1050">
              <a:latin typeface="Consolas"/>
              <a:cs typeface="Consolas"/>
            </a:endParaRPr>
          </a:p>
          <a:p>
            <a:pPr marL="1359535">
              <a:lnSpc>
                <a:spcPct val="100000"/>
              </a:lnSpc>
              <a:spcBef>
                <a:spcPts val="265"/>
              </a:spcBef>
            </a:pPr>
            <a:r>
              <a:rPr dirty="0" sz="1050" b="1">
                <a:latin typeface="Consolas"/>
                <a:cs typeface="Consolas"/>
              </a:rPr>
              <a:t>myId,</a:t>
            </a:r>
            <a:r>
              <a:rPr dirty="0" sz="1050" spc="-85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numPeople);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34"/>
              </a:spcBef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5"/>
              </a:spcBef>
            </a:pPr>
            <a:r>
              <a:rPr dirty="0" sz="1050" b="1">
                <a:latin typeface="Consolas"/>
                <a:cs typeface="Consolas"/>
              </a:rPr>
              <a:t>public</a:t>
            </a:r>
            <a:r>
              <a:rPr dirty="0" sz="1050" spc="-4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static</a:t>
            </a:r>
            <a:r>
              <a:rPr dirty="0" sz="1050" spc="-9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int</a:t>
            </a:r>
            <a:r>
              <a:rPr dirty="0" sz="1050" spc="-7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getNumPeople()</a:t>
            </a:r>
            <a:r>
              <a:rPr dirty="0" sz="1050" spc="-70" b="1">
                <a:latin typeface="Consolas"/>
                <a:cs typeface="Consolas"/>
              </a:rPr>
              <a:t> </a:t>
            </a:r>
            <a:r>
              <a:rPr dirty="0" sz="1050" spc="-50" b="1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913765">
              <a:lnSpc>
                <a:spcPct val="100000"/>
              </a:lnSpc>
              <a:spcBef>
                <a:spcPts val="229"/>
              </a:spcBef>
            </a:pPr>
            <a:r>
              <a:rPr dirty="0" sz="1050" b="1">
                <a:latin typeface="Consolas"/>
                <a:cs typeface="Consolas"/>
              </a:rPr>
              <a:t>return</a:t>
            </a:r>
            <a:r>
              <a:rPr dirty="0" sz="1050" spc="-6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numPeople;</a:t>
            </a:r>
            <a:endParaRPr sz="105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65"/>
              </a:spcBef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050" spc="-50" b="1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09464" y="1433954"/>
            <a:ext cx="4114800" cy="52260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950" spc="-10" b="1">
                <a:latin typeface="Tahoma"/>
                <a:cs typeface="Tahoma"/>
              </a:rPr>
              <a:t>Anywhere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10" b="1">
                <a:latin typeface="Consolas"/>
                <a:cs typeface="Consolas"/>
              </a:rPr>
              <a:t>System.out.printf("Peeps:</a:t>
            </a:r>
            <a:r>
              <a:rPr dirty="0" sz="1050" spc="3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%d%n",</a:t>
            </a:r>
            <a:r>
              <a:rPr dirty="0" sz="1050" spc="-10" b="1">
                <a:latin typeface="Consolas"/>
                <a:cs typeface="Consolas"/>
              </a:rPr>
              <a:t> Person.getNumPeople());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09464" y="2120240"/>
            <a:ext cx="4114800" cy="602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85825">
              <a:lnSpc>
                <a:spcPct val="121000"/>
              </a:lnSpc>
              <a:spcBef>
                <a:spcPts val="95"/>
              </a:spcBef>
            </a:pPr>
            <a:r>
              <a:rPr dirty="0" sz="1050" b="1">
                <a:latin typeface="Consolas"/>
                <a:cs typeface="Consolas"/>
              </a:rPr>
              <a:t>Person</a:t>
            </a:r>
            <a:r>
              <a:rPr dirty="0" sz="1050" spc="-1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a</a:t>
            </a:r>
            <a:r>
              <a:rPr dirty="0" sz="1050" spc="-5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=</a:t>
            </a:r>
            <a:r>
              <a:rPr dirty="0" sz="1050" spc="-1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new</a:t>
            </a:r>
            <a:r>
              <a:rPr dirty="0" sz="1050" spc="-5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Person(); </a:t>
            </a:r>
            <a:r>
              <a:rPr dirty="0" sz="1050" b="1">
                <a:latin typeface="Consolas"/>
                <a:cs typeface="Consolas"/>
              </a:rPr>
              <a:t>System.out.printf("A:</a:t>
            </a:r>
            <a:r>
              <a:rPr dirty="0" sz="1050" spc="-9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%s%n",</a:t>
            </a:r>
            <a:r>
              <a:rPr dirty="0" sz="1050" spc="-12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a.getBorgId());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050" spc="-10" b="1">
                <a:latin typeface="Consolas"/>
                <a:cs typeface="Consolas"/>
              </a:rPr>
              <a:t>System.out.printf("Peeps:</a:t>
            </a:r>
            <a:r>
              <a:rPr dirty="0" sz="1050" spc="1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%d%n",</a:t>
            </a:r>
            <a:r>
              <a:rPr dirty="0" sz="1050" spc="-2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Person.getNumPeople());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109464" y="2895067"/>
            <a:ext cx="2067560" cy="59817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80"/>
              </a:spcBef>
            </a:pPr>
            <a:r>
              <a:rPr dirty="0" sz="1050" b="1">
                <a:latin typeface="Consolas"/>
                <a:cs typeface="Consolas"/>
              </a:rPr>
              <a:t>Person</a:t>
            </a:r>
            <a:r>
              <a:rPr dirty="0" sz="1050" spc="-1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b</a:t>
            </a:r>
            <a:r>
              <a:rPr dirty="0" sz="1050" spc="-50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=</a:t>
            </a:r>
            <a:r>
              <a:rPr dirty="0" sz="1050" spc="-15" b="1">
                <a:latin typeface="Consolas"/>
                <a:cs typeface="Consolas"/>
              </a:rPr>
              <a:t> </a:t>
            </a:r>
            <a:r>
              <a:rPr dirty="0" sz="1050" b="1">
                <a:latin typeface="Consolas"/>
                <a:cs typeface="Consolas"/>
              </a:rPr>
              <a:t>new</a:t>
            </a:r>
            <a:r>
              <a:rPr dirty="0" sz="1050" spc="-5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Person(); </a:t>
            </a:r>
            <a:r>
              <a:rPr dirty="0" sz="1050" b="1">
                <a:latin typeface="Consolas"/>
                <a:cs typeface="Consolas"/>
              </a:rPr>
              <a:t>System.out.printf("A:</a:t>
            </a:r>
            <a:r>
              <a:rPr dirty="0" sz="1050" spc="-14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%s%n", </a:t>
            </a:r>
            <a:r>
              <a:rPr dirty="0" sz="1050" b="1">
                <a:latin typeface="Consolas"/>
                <a:cs typeface="Consolas"/>
              </a:rPr>
              <a:t>System.out.printf("B:</a:t>
            </a:r>
            <a:r>
              <a:rPr dirty="0" sz="1050" spc="-14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%s%n",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357998" y="3080359"/>
            <a:ext cx="1116330" cy="41275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050" spc="-10" b="1">
                <a:latin typeface="Consolas"/>
                <a:cs typeface="Consolas"/>
              </a:rPr>
              <a:t>a.getBorgId());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 spc="-10" b="1">
                <a:latin typeface="Consolas"/>
                <a:cs typeface="Consolas"/>
              </a:rPr>
              <a:t>b.getBorgId());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109464" y="3498926"/>
            <a:ext cx="440372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11450" algn="l"/>
              </a:tabLst>
            </a:pPr>
            <a:r>
              <a:rPr dirty="0" sz="1050" spc="-10" b="1">
                <a:latin typeface="Consolas"/>
                <a:cs typeface="Consolas"/>
              </a:rPr>
              <a:t>System.out.printf("Peeps:</a:t>
            </a:r>
            <a:r>
              <a:rPr dirty="0" sz="1050" spc="70" b="1">
                <a:latin typeface="Consolas"/>
                <a:cs typeface="Consolas"/>
              </a:rPr>
              <a:t> </a:t>
            </a:r>
            <a:r>
              <a:rPr dirty="0" sz="1050" spc="-10" b="1">
                <a:latin typeface="Consolas"/>
                <a:cs typeface="Consolas"/>
              </a:rPr>
              <a:t>%d%n",</a:t>
            </a:r>
            <a:r>
              <a:rPr dirty="0" sz="1050" b="1">
                <a:latin typeface="Consolas"/>
                <a:cs typeface="Consolas"/>
              </a:rPr>
              <a:t>	</a:t>
            </a:r>
            <a:r>
              <a:rPr dirty="0" sz="1050" spc="-10" b="1">
                <a:latin typeface="Consolas"/>
                <a:cs typeface="Consolas"/>
              </a:rPr>
              <a:t>Person.getNumPeople());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694940">
              <a:lnSpc>
                <a:spcPct val="100000"/>
              </a:lnSpc>
              <a:spcBef>
                <a:spcPts val="120"/>
              </a:spcBef>
            </a:pPr>
            <a:r>
              <a:rPr dirty="0"/>
              <a:t>UML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 spc="-10"/>
              <a:t>Memory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567563" y="3274644"/>
            <a:ext cx="2185035" cy="1887855"/>
          </a:xfrm>
          <a:custGeom>
            <a:avLst/>
            <a:gdLst/>
            <a:ahLst/>
            <a:cxnLst/>
            <a:rect l="l" t="t" r="r" b="b"/>
            <a:pathLst>
              <a:path w="2185035" h="1887854">
                <a:moveTo>
                  <a:pt x="2184654" y="0"/>
                </a:moveTo>
                <a:lnTo>
                  <a:pt x="0" y="0"/>
                </a:lnTo>
                <a:lnTo>
                  <a:pt x="0" y="500049"/>
                </a:lnTo>
                <a:lnTo>
                  <a:pt x="0" y="504494"/>
                </a:lnTo>
                <a:lnTo>
                  <a:pt x="0" y="1887397"/>
                </a:lnTo>
                <a:lnTo>
                  <a:pt x="2184654" y="1887397"/>
                </a:lnTo>
                <a:lnTo>
                  <a:pt x="2184654" y="504494"/>
                </a:lnTo>
                <a:lnTo>
                  <a:pt x="2184654" y="500049"/>
                </a:lnTo>
                <a:lnTo>
                  <a:pt x="2184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54862" y="2978213"/>
          <a:ext cx="2286635" cy="2169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4400"/>
              </a:tblGrid>
              <a:tr h="283210">
                <a:tc>
                  <a:txBody>
                    <a:bodyPr/>
                    <a:lstStyle/>
                    <a:p>
                      <a:pPr marL="728980">
                        <a:lnSpc>
                          <a:spcPct val="100000"/>
                        </a:lnSpc>
                      </a:pPr>
                      <a:r>
                        <a:rPr dirty="0" sz="1700" spc="-10" b="1">
                          <a:latin typeface="Consolas"/>
                          <a:cs typeface="Consolas"/>
                        </a:rPr>
                        <a:t>Person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93980" marR="897890">
                        <a:lnSpc>
                          <a:spcPts val="1420"/>
                        </a:lnSpc>
                        <a:spcBef>
                          <a:spcPts val="560"/>
                        </a:spcBef>
                      </a:pPr>
                      <a:r>
                        <a:rPr dirty="0" u="sng" sz="1200">
                          <a:uFill>
                            <a:solidFill>
                              <a:srgbClr val="000000"/>
                            </a:solidFill>
                          </a:uFill>
                          <a:latin typeface="Consolas"/>
                          <a:cs typeface="Consolas"/>
                        </a:rPr>
                        <a:t>numPeople:</a:t>
                      </a:r>
                      <a:r>
                        <a:rPr dirty="0" u="sng" sz="1200" spc="-25">
                          <a:uFill>
                            <a:solidFill>
                              <a:srgbClr val="000000"/>
                            </a:solidFill>
                          </a:uFill>
                          <a:latin typeface="Consolas"/>
                          <a:cs typeface="Consolas"/>
                        </a:rPr>
                        <a:t> int</a:t>
                      </a:r>
                      <a:r>
                        <a:rPr dirty="0" u="none" sz="12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u="none" sz="1200">
                          <a:latin typeface="Consolas"/>
                          <a:cs typeface="Consolas"/>
                        </a:rPr>
                        <a:t>id:</a:t>
                      </a:r>
                      <a:r>
                        <a:rPr dirty="0" u="none" sz="1200" spc="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u="none" sz="1200" spc="-25">
                          <a:latin typeface="Consolas"/>
                          <a:cs typeface="Consolas"/>
                        </a:rPr>
                        <a:t>int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86840">
                <a:tc>
                  <a:txBody>
                    <a:bodyPr/>
                    <a:lstStyle/>
                    <a:p>
                      <a:pPr marL="93980" marR="1070610">
                        <a:lnSpc>
                          <a:spcPts val="1420"/>
                        </a:lnSpc>
                        <a:spcBef>
                          <a:spcPts val="1225"/>
                        </a:spcBef>
                      </a:pPr>
                      <a:r>
                        <a:rPr dirty="0" sz="1200" spc="-10">
                          <a:latin typeface="Consolas"/>
                          <a:cs typeface="Consolas"/>
                        </a:rPr>
                        <a:t>Person() </a:t>
                      </a:r>
                      <a:r>
                        <a:rPr dirty="0" sz="1200">
                          <a:latin typeface="Consolas"/>
                          <a:cs typeface="Consolas"/>
                        </a:rPr>
                        <a:t>getId(): </a:t>
                      </a:r>
                      <a:r>
                        <a:rPr dirty="0" sz="1200" spc="-25">
                          <a:latin typeface="Consolas"/>
                          <a:cs typeface="Consolas"/>
                        </a:rPr>
                        <a:t>int</a:t>
                      </a:r>
                      <a:endParaRPr sz="1200">
                        <a:latin typeface="Consolas"/>
                        <a:cs typeface="Consolas"/>
                      </a:endParaRPr>
                    </a:p>
                    <a:p>
                      <a:pPr marL="93980">
                        <a:lnSpc>
                          <a:spcPts val="1330"/>
                        </a:lnSpc>
                      </a:pPr>
                      <a:r>
                        <a:rPr dirty="0" sz="1200">
                          <a:latin typeface="Consolas"/>
                          <a:cs typeface="Consolas"/>
                        </a:rPr>
                        <a:t>getBorgId():</a:t>
                      </a:r>
                      <a:r>
                        <a:rPr dirty="0" sz="12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latin typeface="Consolas"/>
                          <a:cs typeface="Consolas"/>
                        </a:rPr>
                        <a:t>String</a:t>
                      </a:r>
                      <a:endParaRPr sz="1200">
                        <a:latin typeface="Consolas"/>
                        <a:cs typeface="Consolas"/>
                      </a:endParaRPr>
                    </a:p>
                    <a:p>
                      <a:pPr marL="93980">
                        <a:lnSpc>
                          <a:spcPts val="1430"/>
                        </a:lnSpc>
                      </a:pPr>
                      <a:r>
                        <a:rPr dirty="0" u="sng" sz="1200">
                          <a:uFill>
                            <a:solidFill>
                              <a:srgbClr val="000000"/>
                            </a:solidFill>
                          </a:uFill>
                          <a:latin typeface="Consolas"/>
                          <a:cs typeface="Consolas"/>
                        </a:rPr>
                        <a:t>getNumPeople():</a:t>
                      </a:r>
                      <a:r>
                        <a:rPr dirty="0" u="sng" sz="1200" spc="-25">
                          <a:uFill>
                            <a:solidFill>
                              <a:srgbClr val="000000"/>
                            </a:solidFill>
                          </a:uFill>
                          <a:latin typeface="Consolas"/>
                          <a:cs typeface="Consolas"/>
                        </a:rPr>
                        <a:t> int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15557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3370071" y="2973705"/>
            <a:ext cx="2210435" cy="814069"/>
            <a:chOff x="3370071" y="2973705"/>
            <a:chExt cx="2210435" cy="814069"/>
          </a:xfrm>
        </p:grpSpPr>
        <p:sp>
          <p:nvSpPr>
            <p:cNvPr id="10" name="object 10" descr=""/>
            <p:cNvSpPr/>
            <p:nvPr/>
          </p:nvSpPr>
          <p:spPr>
            <a:xfrm>
              <a:off x="3382771" y="2986405"/>
              <a:ext cx="2185035" cy="279400"/>
            </a:xfrm>
            <a:custGeom>
              <a:avLst/>
              <a:gdLst/>
              <a:ahLst/>
              <a:cxnLst/>
              <a:rect l="l" t="t" r="r" b="b"/>
              <a:pathLst>
                <a:path w="2185035" h="279400">
                  <a:moveTo>
                    <a:pt x="0" y="279273"/>
                  </a:moveTo>
                  <a:lnTo>
                    <a:pt x="2184654" y="279273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27927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382771" y="3265691"/>
              <a:ext cx="2185035" cy="509270"/>
            </a:xfrm>
            <a:custGeom>
              <a:avLst/>
              <a:gdLst/>
              <a:ahLst/>
              <a:cxnLst/>
              <a:rect l="l" t="t" r="r" b="b"/>
              <a:pathLst>
                <a:path w="2185035" h="509270">
                  <a:moveTo>
                    <a:pt x="2184654" y="0"/>
                  </a:moveTo>
                  <a:lnTo>
                    <a:pt x="0" y="0"/>
                  </a:lnTo>
                  <a:lnTo>
                    <a:pt x="0" y="509003"/>
                  </a:lnTo>
                  <a:lnTo>
                    <a:pt x="2184654" y="509003"/>
                  </a:lnTo>
                  <a:lnTo>
                    <a:pt x="2184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382771" y="3265691"/>
              <a:ext cx="2185035" cy="509270"/>
            </a:xfrm>
            <a:custGeom>
              <a:avLst/>
              <a:gdLst/>
              <a:ahLst/>
              <a:cxnLst/>
              <a:rect l="l" t="t" r="r" b="b"/>
              <a:pathLst>
                <a:path w="2185035" h="509270">
                  <a:moveTo>
                    <a:pt x="0" y="509003"/>
                  </a:moveTo>
                  <a:lnTo>
                    <a:pt x="2184654" y="509003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50900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395471" y="2844595"/>
            <a:ext cx="2159635" cy="86296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537210">
              <a:lnSpc>
                <a:spcPct val="100000"/>
              </a:lnSpc>
              <a:spcBef>
                <a:spcPts val="1105"/>
              </a:spcBef>
            </a:pPr>
            <a:r>
              <a:rPr dirty="0" sz="1700" b="1">
                <a:latin typeface="Consolas"/>
                <a:cs typeface="Consolas"/>
              </a:rPr>
              <a:t>a:</a:t>
            </a:r>
            <a:r>
              <a:rPr dirty="0" sz="1700" spc="40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Person</a:t>
            </a:r>
            <a:endParaRPr sz="1700">
              <a:latin typeface="Consolas"/>
              <a:cs typeface="Consolas"/>
            </a:endParaRPr>
          </a:p>
          <a:p>
            <a:pPr marL="81280">
              <a:lnSpc>
                <a:spcPts val="1430"/>
              </a:lnSpc>
              <a:spcBef>
                <a:spcPts val="685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numPeople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dirty="0" u="sng" sz="1200" spc="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200" spc="-5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2</a:t>
            </a:r>
            <a:endParaRPr sz="1200">
              <a:latin typeface="Consolas"/>
              <a:cs typeface="Consolas"/>
            </a:endParaRPr>
          </a:p>
          <a:p>
            <a:pPr marL="81280">
              <a:lnSpc>
                <a:spcPts val="1430"/>
              </a:lnSpc>
            </a:pPr>
            <a:r>
              <a:rPr dirty="0" sz="1200">
                <a:latin typeface="Consolas"/>
                <a:cs typeface="Consolas"/>
              </a:rPr>
              <a:t>id</a:t>
            </a:r>
            <a:r>
              <a:rPr dirty="0" sz="1200" spc="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370071" y="4361116"/>
            <a:ext cx="2210435" cy="814069"/>
            <a:chOff x="3370071" y="4361116"/>
            <a:chExt cx="2210435" cy="814069"/>
          </a:xfrm>
        </p:grpSpPr>
        <p:sp>
          <p:nvSpPr>
            <p:cNvPr id="15" name="object 15" descr=""/>
            <p:cNvSpPr/>
            <p:nvPr/>
          </p:nvSpPr>
          <p:spPr>
            <a:xfrm>
              <a:off x="3382771" y="4373816"/>
              <a:ext cx="2185035" cy="283845"/>
            </a:xfrm>
            <a:custGeom>
              <a:avLst/>
              <a:gdLst/>
              <a:ahLst/>
              <a:cxnLst/>
              <a:rect l="l" t="t" r="r" b="b"/>
              <a:pathLst>
                <a:path w="2185035" h="283845">
                  <a:moveTo>
                    <a:pt x="0" y="283781"/>
                  </a:moveTo>
                  <a:lnTo>
                    <a:pt x="2184654" y="283781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2837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382771" y="4657547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5" h="504825">
                  <a:moveTo>
                    <a:pt x="2184654" y="0"/>
                  </a:moveTo>
                  <a:lnTo>
                    <a:pt x="0" y="0"/>
                  </a:lnTo>
                  <a:lnTo>
                    <a:pt x="0" y="504494"/>
                  </a:lnTo>
                  <a:lnTo>
                    <a:pt x="2184654" y="504494"/>
                  </a:lnTo>
                  <a:lnTo>
                    <a:pt x="2184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82771" y="4657547"/>
              <a:ext cx="2185035" cy="504825"/>
            </a:xfrm>
            <a:custGeom>
              <a:avLst/>
              <a:gdLst/>
              <a:ahLst/>
              <a:cxnLst/>
              <a:rect l="l" t="t" r="r" b="b"/>
              <a:pathLst>
                <a:path w="2185035" h="504825">
                  <a:moveTo>
                    <a:pt x="0" y="504494"/>
                  </a:moveTo>
                  <a:lnTo>
                    <a:pt x="2184654" y="504494"/>
                  </a:lnTo>
                  <a:lnTo>
                    <a:pt x="2184654" y="0"/>
                  </a:lnTo>
                  <a:lnTo>
                    <a:pt x="0" y="0"/>
                  </a:lnTo>
                  <a:lnTo>
                    <a:pt x="0" y="5044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395471" y="4233602"/>
            <a:ext cx="2159635" cy="86360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537210">
              <a:lnSpc>
                <a:spcPct val="100000"/>
              </a:lnSpc>
              <a:spcBef>
                <a:spcPts val="1105"/>
              </a:spcBef>
            </a:pPr>
            <a:r>
              <a:rPr dirty="0" sz="1700" b="1">
                <a:latin typeface="Consolas"/>
                <a:cs typeface="Consolas"/>
              </a:rPr>
              <a:t>b:</a:t>
            </a:r>
            <a:r>
              <a:rPr dirty="0" sz="1700" spc="40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Person</a:t>
            </a:r>
            <a:endParaRPr sz="1700">
              <a:latin typeface="Consolas"/>
              <a:cs typeface="Consolas"/>
            </a:endParaRPr>
          </a:p>
          <a:p>
            <a:pPr marL="81280">
              <a:lnSpc>
                <a:spcPts val="1430"/>
              </a:lnSpc>
              <a:spcBef>
                <a:spcPts val="69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numPeople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dirty="0" u="sng" sz="1200" spc="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200" spc="-5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2</a:t>
            </a:r>
            <a:endParaRPr sz="1200">
              <a:latin typeface="Consolas"/>
              <a:cs typeface="Consolas"/>
            </a:endParaRPr>
          </a:p>
          <a:p>
            <a:pPr marL="81280">
              <a:lnSpc>
                <a:spcPts val="1430"/>
              </a:lnSpc>
            </a:pPr>
            <a:r>
              <a:rPr dirty="0" sz="1200">
                <a:latin typeface="Consolas"/>
                <a:cs typeface="Consolas"/>
              </a:rPr>
              <a:t>id</a:t>
            </a:r>
            <a:r>
              <a:rPr dirty="0" sz="1200" spc="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2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445885" y="3288207"/>
            <a:ext cx="2653665" cy="648970"/>
          </a:xfrm>
          <a:custGeom>
            <a:avLst/>
            <a:gdLst/>
            <a:ahLst/>
            <a:cxnLst/>
            <a:rect l="l" t="t" r="r" b="b"/>
            <a:pathLst>
              <a:path w="2653665" h="648970">
                <a:moveTo>
                  <a:pt x="2653157" y="324345"/>
                </a:moveTo>
                <a:lnTo>
                  <a:pt x="0" y="324345"/>
                </a:lnTo>
                <a:lnTo>
                  <a:pt x="0" y="648665"/>
                </a:lnTo>
                <a:lnTo>
                  <a:pt x="2653157" y="648665"/>
                </a:lnTo>
                <a:lnTo>
                  <a:pt x="2653157" y="324345"/>
                </a:lnTo>
                <a:close/>
              </a:path>
              <a:path w="2653665" h="648970">
                <a:moveTo>
                  <a:pt x="2653157" y="0"/>
                </a:moveTo>
                <a:lnTo>
                  <a:pt x="0" y="0"/>
                </a:lnTo>
                <a:lnTo>
                  <a:pt x="0" y="324307"/>
                </a:lnTo>
                <a:lnTo>
                  <a:pt x="2653157" y="324307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6445885" y="3932275"/>
            <a:ext cx="2653665" cy="648970"/>
          </a:xfrm>
          <a:custGeom>
            <a:avLst/>
            <a:gdLst/>
            <a:ahLst/>
            <a:cxnLst/>
            <a:rect l="l" t="t" r="r" b="b"/>
            <a:pathLst>
              <a:path w="2653665" h="648970">
                <a:moveTo>
                  <a:pt x="2653157" y="0"/>
                </a:moveTo>
                <a:lnTo>
                  <a:pt x="0" y="0"/>
                </a:lnTo>
                <a:lnTo>
                  <a:pt x="0" y="324434"/>
                </a:lnTo>
                <a:lnTo>
                  <a:pt x="0" y="328828"/>
                </a:lnTo>
                <a:lnTo>
                  <a:pt x="0" y="648741"/>
                </a:lnTo>
                <a:lnTo>
                  <a:pt x="2653157" y="648741"/>
                </a:lnTo>
                <a:lnTo>
                  <a:pt x="2653157" y="328828"/>
                </a:lnTo>
                <a:lnTo>
                  <a:pt x="2653157" y="324434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6433184" y="2955709"/>
          <a:ext cx="2755265" cy="161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19405">
                <a:tc>
                  <a:txBody>
                    <a:bodyPr/>
                    <a:lstStyle/>
                    <a:p>
                      <a:pPr algn="ctr" marL="5080">
                        <a:lnSpc>
                          <a:spcPts val="242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2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 marL="5080">
                        <a:lnSpc>
                          <a:spcPts val="2455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1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 marL="5080">
                        <a:lnSpc>
                          <a:spcPts val="242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2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 descr=""/>
          <p:cNvSpPr txBox="1"/>
          <p:nvPr/>
        </p:nvSpPr>
        <p:spPr>
          <a:xfrm>
            <a:off x="7165847" y="2585771"/>
            <a:ext cx="122047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4630928" y="3105404"/>
            <a:ext cx="1813560" cy="1899920"/>
          </a:xfrm>
          <a:custGeom>
            <a:avLst/>
            <a:gdLst/>
            <a:ahLst/>
            <a:cxnLst/>
            <a:rect l="l" t="t" r="r" b="b"/>
            <a:pathLst>
              <a:path w="1813560" h="1899920">
                <a:moveTo>
                  <a:pt x="1813433" y="669290"/>
                </a:moveTo>
                <a:lnTo>
                  <a:pt x="1728978" y="680339"/>
                </a:lnTo>
                <a:lnTo>
                  <a:pt x="1743227" y="701421"/>
                </a:lnTo>
                <a:lnTo>
                  <a:pt x="1524" y="1878711"/>
                </a:lnTo>
                <a:lnTo>
                  <a:pt x="15748" y="1899793"/>
                </a:lnTo>
                <a:lnTo>
                  <a:pt x="1757464" y="722490"/>
                </a:lnTo>
                <a:lnTo>
                  <a:pt x="1771650" y="743458"/>
                </a:lnTo>
                <a:lnTo>
                  <a:pt x="1799336" y="694309"/>
                </a:lnTo>
                <a:lnTo>
                  <a:pt x="1813433" y="669290"/>
                </a:lnTo>
                <a:close/>
              </a:path>
              <a:path w="1813560" h="1899920">
                <a:moveTo>
                  <a:pt x="1813433" y="25146"/>
                </a:moveTo>
                <a:lnTo>
                  <a:pt x="1806448" y="22987"/>
                </a:lnTo>
                <a:lnTo>
                  <a:pt x="1732153" y="0"/>
                </a:lnTo>
                <a:lnTo>
                  <a:pt x="1736242" y="25057"/>
                </a:lnTo>
                <a:lnTo>
                  <a:pt x="1735683" y="25146"/>
                </a:lnTo>
                <a:lnTo>
                  <a:pt x="6604" y="310007"/>
                </a:lnTo>
                <a:lnTo>
                  <a:pt x="10668" y="335026"/>
                </a:lnTo>
                <a:lnTo>
                  <a:pt x="1733562" y="51193"/>
                </a:lnTo>
                <a:lnTo>
                  <a:pt x="1742008" y="60223"/>
                </a:lnTo>
                <a:lnTo>
                  <a:pt x="1744065" y="72771"/>
                </a:lnTo>
                <a:lnTo>
                  <a:pt x="1431201" y="366077"/>
                </a:lnTo>
                <a:lnTo>
                  <a:pt x="7493" y="491998"/>
                </a:lnTo>
                <a:lnTo>
                  <a:pt x="9779" y="517398"/>
                </a:lnTo>
                <a:lnTo>
                  <a:pt x="1401165" y="394233"/>
                </a:lnTo>
                <a:lnTo>
                  <a:pt x="0" y="1707769"/>
                </a:lnTo>
                <a:lnTo>
                  <a:pt x="17272" y="1726311"/>
                </a:lnTo>
                <a:lnTo>
                  <a:pt x="1442199" y="390601"/>
                </a:lnTo>
                <a:lnTo>
                  <a:pt x="1738668" y="364350"/>
                </a:lnTo>
                <a:lnTo>
                  <a:pt x="1740916" y="389636"/>
                </a:lnTo>
                <a:lnTo>
                  <a:pt x="1813433" y="344932"/>
                </a:lnTo>
                <a:lnTo>
                  <a:pt x="1795703" y="337947"/>
                </a:lnTo>
                <a:lnTo>
                  <a:pt x="1734185" y="313690"/>
                </a:lnTo>
                <a:lnTo>
                  <a:pt x="1736331" y="337947"/>
                </a:lnTo>
                <a:lnTo>
                  <a:pt x="1736432" y="339077"/>
                </a:lnTo>
                <a:lnTo>
                  <a:pt x="1472222" y="362445"/>
                </a:lnTo>
                <a:lnTo>
                  <a:pt x="1766608" y="86499"/>
                </a:lnTo>
                <a:lnTo>
                  <a:pt x="1783969" y="105029"/>
                </a:lnTo>
                <a:lnTo>
                  <a:pt x="1800821" y="59309"/>
                </a:lnTo>
                <a:lnTo>
                  <a:pt x="1813433" y="25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6" name="object 2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307715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Packages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31353"/>
            <a:ext cx="8535035" cy="3562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Packages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are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way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organize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classes</a:t>
            </a:r>
            <a:endParaRPr sz="3200">
              <a:latin typeface="Tahoma"/>
              <a:cs typeface="Tahoma"/>
            </a:endParaRPr>
          </a:p>
          <a:p>
            <a:pPr marL="742315" marR="117475" indent="-275590">
              <a:lnSpc>
                <a:spcPct val="99800"/>
              </a:lnSpc>
              <a:spcBef>
                <a:spcPts val="10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Useful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managing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large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projects,</a:t>
            </a:r>
            <a:r>
              <a:rPr dirty="0" sz="2800" spc="-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allowing </a:t>
            </a:r>
            <a:r>
              <a:rPr dirty="0" sz="2800">
                <a:latin typeface="Tahoma"/>
                <a:cs typeface="Tahoma"/>
              </a:rPr>
              <a:t>overlap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class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names,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controlling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access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to </a:t>
            </a:r>
            <a:r>
              <a:rPr dirty="0" sz="2800">
                <a:latin typeface="Tahoma"/>
                <a:cs typeface="Tahoma"/>
              </a:rPr>
              <a:t>sensitive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(more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Visibility)</a:t>
            </a:r>
            <a:endParaRPr sz="2800">
              <a:latin typeface="Tahoma"/>
              <a:cs typeface="Tahoma"/>
            </a:endParaRPr>
          </a:p>
          <a:p>
            <a:pPr marL="287020" indent="-274320">
              <a:lnSpc>
                <a:spcPts val="3770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Specified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via</a:t>
            </a:r>
            <a:r>
              <a:rPr dirty="0" sz="3200" spc="-10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package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keyword</a:t>
            </a:r>
            <a:endParaRPr sz="3200">
              <a:latin typeface="Tahoma"/>
              <a:cs typeface="Tahoma"/>
            </a:endParaRPr>
          </a:p>
          <a:p>
            <a:pPr marL="323215">
              <a:lnSpc>
                <a:spcPts val="3290"/>
              </a:lnSpc>
            </a:pPr>
            <a:r>
              <a:rPr dirty="0" sz="2800" b="1">
                <a:latin typeface="Consolas"/>
                <a:cs typeface="Consolas"/>
              </a:rPr>
              <a:t>package</a:t>
            </a:r>
            <a:r>
              <a:rPr dirty="0" sz="2800" spc="-90" b="1">
                <a:latin typeface="Consolas"/>
                <a:cs typeface="Consolas"/>
              </a:rPr>
              <a:t> </a:t>
            </a:r>
            <a:r>
              <a:rPr dirty="0" sz="2800" spc="-10" b="1">
                <a:latin typeface="Consolas"/>
                <a:cs typeface="Consolas"/>
              </a:rPr>
              <a:t>packageName;</a:t>
            </a:r>
            <a:endParaRPr sz="2800">
              <a:latin typeface="Consolas"/>
              <a:cs typeface="Consolas"/>
            </a:endParaRPr>
          </a:p>
          <a:p>
            <a:pPr marL="467359">
              <a:lnSpc>
                <a:spcPct val="100000"/>
              </a:lnSpc>
              <a:spcBef>
                <a:spcPts val="155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Must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first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file,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none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=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“default” </a:t>
            </a:r>
            <a:r>
              <a:rPr dirty="0" sz="2800" spc="-10">
                <a:latin typeface="Tahoma"/>
                <a:cs typeface="Tahoma"/>
              </a:rPr>
              <a:t>package</a:t>
            </a:r>
            <a:endParaRPr sz="2800">
              <a:latin typeface="Tahoma"/>
              <a:cs typeface="Tahoma"/>
            </a:endParaRPr>
          </a:p>
          <a:p>
            <a:pPr marL="742315">
              <a:lnSpc>
                <a:spcPct val="100000"/>
              </a:lnSpc>
              <a:spcBef>
                <a:spcPts val="10"/>
              </a:spcBef>
            </a:pPr>
            <a:r>
              <a:rPr dirty="0" sz="2800" spc="-10">
                <a:latin typeface="Tahoma"/>
                <a:cs typeface="Tahoma"/>
              </a:rPr>
              <a:t>(discouraged)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/>
              <a:t>Package</a:t>
            </a:r>
            <a:r>
              <a:rPr dirty="0" sz="3900" spc="-5"/>
              <a:t> </a:t>
            </a:r>
            <a:r>
              <a:rPr dirty="0" sz="3900"/>
              <a:t>Naming</a:t>
            </a:r>
            <a:r>
              <a:rPr dirty="0" sz="3900" spc="60"/>
              <a:t> </a:t>
            </a:r>
            <a:r>
              <a:rPr dirty="0" sz="3900"/>
              <a:t>&amp;</a:t>
            </a:r>
            <a:r>
              <a:rPr dirty="0" sz="3900" spc="15"/>
              <a:t> </a:t>
            </a:r>
            <a:r>
              <a:rPr dirty="0" sz="3900"/>
              <a:t>Directory</a:t>
            </a:r>
            <a:r>
              <a:rPr dirty="0" sz="3900" spc="-40"/>
              <a:t> </a:t>
            </a:r>
            <a:r>
              <a:rPr dirty="0" sz="3900" spc="-10"/>
              <a:t>Structure</a:t>
            </a:r>
            <a:endParaRPr sz="39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580324"/>
            <a:ext cx="8593455" cy="2892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marR="168910" indent="-274955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It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common</a:t>
            </a:r>
            <a:r>
              <a:rPr dirty="0" sz="3200" spc="-1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practice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preface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package </a:t>
            </a:r>
            <a:r>
              <a:rPr dirty="0" sz="3200">
                <a:latin typeface="Tahoma"/>
                <a:cs typeface="Tahoma"/>
              </a:rPr>
              <a:t>name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with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unique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identifier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owned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by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the </a:t>
            </a:r>
            <a:r>
              <a:rPr dirty="0" sz="3200">
                <a:latin typeface="Tahoma"/>
                <a:cs typeface="Tahoma"/>
              </a:rPr>
              <a:t>author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(by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convention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URL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reverse)</a:t>
            </a:r>
            <a:endParaRPr sz="3200">
              <a:latin typeface="Tahoma"/>
              <a:cs typeface="Tahoma"/>
            </a:endParaRPr>
          </a:p>
          <a:p>
            <a:pPr marL="467359">
              <a:lnSpc>
                <a:spcPts val="3240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Example: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 b="1">
                <a:latin typeface="Consolas"/>
                <a:cs typeface="Consolas"/>
              </a:rPr>
              <a:t>edu.wit.cs.comp1050</a:t>
            </a:r>
            <a:endParaRPr sz="2800">
              <a:latin typeface="Consolas"/>
              <a:cs typeface="Consolas"/>
            </a:endParaRPr>
          </a:p>
          <a:p>
            <a:pPr marL="287020" marR="5080" indent="-274955">
              <a:lnSpc>
                <a:spcPts val="3979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Java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requires</a:t>
            </a:r>
            <a:r>
              <a:rPr dirty="0" sz="3200" spc="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that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any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dots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</a:t>
            </a:r>
            <a:r>
              <a:rPr dirty="0" sz="3200" b="1">
                <a:latin typeface="Consolas"/>
                <a:cs typeface="Consolas"/>
              </a:rPr>
              <a:t>.</a:t>
            </a:r>
            <a:r>
              <a:rPr dirty="0" sz="3200">
                <a:latin typeface="Tahoma"/>
                <a:cs typeface="Tahoma"/>
              </a:rPr>
              <a:t>)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package </a:t>
            </a:r>
            <a:r>
              <a:rPr dirty="0" sz="3200">
                <a:latin typeface="Tahoma"/>
                <a:cs typeface="Tahoma"/>
              </a:rPr>
              <a:t>name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correspond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folders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file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system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446655">
              <a:lnSpc>
                <a:spcPct val="100000"/>
              </a:lnSpc>
              <a:spcBef>
                <a:spcPts val="120"/>
              </a:spcBef>
            </a:pPr>
            <a:r>
              <a:rPr dirty="0"/>
              <a:t>Visibility</a:t>
            </a:r>
            <a:r>
              <a:rPr dirty="0" spc="-95"/>
              <a:t> </a:t>
            </a:r>
            <a:r>
              <a:rPr dirty="0" spc="-10"/>
              <a:t>Modifiers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31353"/>
            <a:ext cx="8537575" cy="2707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marR="440690" indent="-274955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Way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specifying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what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code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can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“see”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(i.e. </a:t>
            </a:r>
            <a:r>
              <a:rPr dirty="0" sz="3200">
                <a:latin typeface="Tahoma"/>
                <a:cs typeface="Tahoma"/>
              </a:rPr>
              <a:t>directly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access)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variable/method</a:t>
            </a:r>
            <a:endParaRPr sz="3200">
              <a:latin typeface="Tahoma"/>
              <a:cs typeface="Tahoma"/>
            </a:endParaRPr>
          </a:p>
          <a:p>
            <a:pPr marL="467359">
              <a:lnSpc>
                <a:spcPts val="3354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default,</a:t>
            </a:r>
            <a:r>
              <a:rPr dirty="0" sz="2800" spc="-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operate</a:t>
            </a:r>
            <a:r>
              <a:rPr dirty="0" sz="2800" spc="-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under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“need-</a:t>
            </a:r>
            <a:r>
              <a:rPr dirty="0" sz="2800" spc="-10">
                <a:latin typeface="Tahoma"/>
                <a:cs typeface="Tahoma"/>
              </a:rPr>
              <a:t>to-</a:t>
            </a:r>
            <a:r>
              <a:rPr dirty="0" sz="2800">
                <a:latin typeface="Tahoma"/>
                <a:cs typeface="Tahoma"/>
              </a:rPr>
              <a:t>know”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basis</a:t>
            </a:r>
            <a:endParaRPr sz="2800">
              <a:latin typeface="Tahoma"/>
              <a:cs typeface="Tahoma"/>
            </a:endParaRPr>
          </a:p>
          <a:p>
            <a:pPr marL="742315">
              <a:lnSpc>
                <a:spcPts val="3290"/>
              </a:lnSpc>
              <a:spcBef>
                <a:spcPts val="10"/>
              </a:spcBef>
            </a:pPr>
            <a:r>
              <a:rPr dirty="0" sz="2800">
                <a:latin typeface="Tahoma"/>
                <a:cs typeface="Tahoma"/>
              </a:rPr>
              <a:t>(i.e.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most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constraining)</a:t>
            </a:r>
            <a:endParaRPr sz="2800">
              <a:latin typeface="Tahoma"/>
              <a:cs typeface="Tahoma"/>
            </a:endParaRPr>
          </a:p>
          <a:p>
            <a:pPr marL="467359">
              <a:lnSpc>
                <a:spcPts val="3445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2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No</a:t>
            </a:r>
            <a:r>
              <a:rPr dirty="0" sz="2800" spc="-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modifier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= </a:t>
            </a:r>
            <a:r>
              <a:rPr dirty="0" sz="2950" spc="-95" i="1">
                <a:latin typeface="Tahoma"/>
                <a:cs typeface="Tahoma"/>
              </a:rPr>
              <a:t>package-</a:t>
            </a:r>
            <a:r>
              <a:rPr dirty="0" sz="2950" spc="-10" i="1">
                <a:latin typeface="Tahoma"/>
                <a:cs typeface="Tahoma"/>
              </a:rPr>
              <a:t>private</a:t>
            </a:r>
            <a:endParaRPr sz="2950">
              <a:latin typeface="Tahoma"/>
              <a:cs typeface="Tahoma"/>
            </a:endParaRPr>
          </a:p>
          <a:p>
            <a:pPr marL="467359">
              <a:lnSpc>
                <a:spcPts val="3335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2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More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protected/subclass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soon!</a:t>
            </a:r>
            <a:endParaRPr sz="2800">
              <a:latin typeface="Tahoma"/>
              <a:cs typeface="Tahoma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63422" y="4429252"/>
          <a:ext cx="9030335" cy="2028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8160"/>
                <a:gridCol w="1788160"/>
                <a:gridCol w="1788160"/>
                <a:gridCol w="1788160"/>
                <a:gridCol w="1788159"/>
              </a:tblGrid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Class</a:t>
                      </a:r>
                      <a:endParaRPr sz="1950">
                        <a:latin typeface="Comic Sans MS"/>
                        <a:cs typeface="Comic Sans MS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Package</a:t>
                      </a:r>
                      <a:endParaRPr sz="1950">
                        <a:latin typeface="Comic Sans MS"/>
                        <a:cs typeface="Comic Sans MS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Subclass</a:t>
                      </a:r>
                      <a:endParaRPr sz="1950">
                        <a:latin typeface="Comic Sans MS"/>
                        <a:cs typeface="Comic Sans MS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World</a:t>
                      </a:r>
                      <a:endParaRPr sz="1950">
                        <a:latin typeface="Comic Sans MS"/>
                        <a:cs typeface="Comic Sans MS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950" spc="-10">
                          <a:latin typeface="Consolas"/>
                          <a:cs typeface="Consolas"/>
                        </a:rPr>
                        <a:t>public</a:t>
                      </a:r>
                      <a:endParaRPr sz="1950">
                        <a:latin typeface="Consolas"/>
                        <a:cs typeface="Consola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950" spc="-10">
                          <a:latin typeface="Consolas"/>
                          <a:cs typeface="Consolas"/>
                        </a:rPr>
                        <a:t>protected</a:t>
                      </a:r>
                      <a:endParaRPr sz="1950">
                        <a:latin typeface="Consolas"/>
                        <a:cs typeface="Consola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i="1">
                          <a:latin typeface="Comic Sans MS"/>
                          <a:cs typeface="Comic Sans MS"/>
                        </a:rPr>
                        <a:t>no</a:t>
                      </a:r>
                      <a:r>
                        <a:rPr dirty="0" sz="1950" spc="50" i="1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950" spc="-10" i="1">
                          <a:latin typeface="Comic Sans MS"/>
                          <a:cs typeface="Comic Sans MS"/>
                        </a:rPr>
                        <a:t>modifier</a:t>
                      </a:r>
                      <a:endParaRPr sz="1950">
                        <a:latin typeface="Comic Sans MS"/>
                        <a:cs typeface="Comic Sans MS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950" spc="-10">
                          <a:latin typeface="Consolas"/>
                          <a:cs typeface="Consolas"/>
                        </a:rPr>
                        <a:t>private</a:t>
                      </a:r>
                      <a:endParaRPr sz="1950">
                        <a:latin typeface="Consolas"/>
                        <a:cs typeface="Consolas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950" spc="-50">
                          <a:latin typeface="Segoe UI Symbol"/>
                          <a:cs typeface="Segoe UI Symbol"/>
                        </a:rPr>
                        <a:t>✓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128" y="7130478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0081260" cy="518159"/>
            <a:chOff x="0" y="0"/>
            <a:chExt cx="10081260" cy="518159"/>
          </a:xfrm>
        </p:grpSpPr>
        <p:sp>
          <p:nvSpPr>
            <p:cNvPr id="4" name="object 4" descr=""/>
            <p:cNvSpPr/>
            <p:nvPr/>
          </p:nvSpPr>
          <p:spPr>
            <a:xfrm>
              <a:off x="0" y="25"/>
              <a:ext cx="5027295" cy="518159"/>
            </a:xfrm>
            <a:custGeom>
              <a:avLst/>
              <a:gdLst/>
              <a:ahLst/>
              <a:cxnLst/>
              <a:rect l="l" t="t" r="r" b="b"/>
              <a:pathLst>
                <a:path w="5027295" h="518159">
                  <a:moveTo>
                    <a:pt x="0" y="518007"/>
                  </a:moveTo>
                  <a:lnTo>
                    <a:pt x="5026914" y="518007"/>
                  </a:lnTo>
                  <a:lnTo>
                    <a:pt x="5026914" y="0"/>
                  </a:lnTo>
                  <a:lnTo>
                    <a:pt x="0" y="0"/>
                  </a:lnTo>
                  <a:lnTo>
                    <a:pt x="0" y="518007"/>
                  </a:lnTo>
                  <a:close/>
                </a:path>
              </a:pathLst>
            </a:custGeom>
            <a:solidFill>
              <a:srgbClr val="E2DE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26914" y="0"/>
              <a:ext cx="5053965" cy="513715"/>
            </a:xfrm>
            <a:custGeom>
              <a:avLst/>
              <a:gdLst/>
              <a:ahLst/>
              <a:cxnLst/>
              <a:rect l="l" t="t" r="r" b="b"/>
              <a:pathLst>
                <a:path w="5053965" h="513715">
                  <a:moveTo>
                    <a:pt x="5053965" y="0"/>
                  </a:moveTo>
                  <a:lnTo>
                    <a:pt x="0" y="0"/>
                  </a:lnTo>
                  <a:lnTo>
                    <a:pt x="0" y="513461"/>
                  </a:lnTo>
                  <a:lnTo>
                    <a:pt x="5053965" y="513461"/>
                  </a:lnTo>
                  <a:lnTo>
                    <a:pt x="50539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91254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Example</a:t>
            </a:r>
            <a:r>
              <a:rPr dirty="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(1)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5" name="object 2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556958" y="1277196"/>
            <a:ext cx="1449070" cy="836930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600" spc="-10" b="1">
                <a:latin typeface="Tahoma"/>
                <a:cs typeface="Tahoma"/>
              </a:rPr>
              <a:t>Foo.java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200" b="1">
                <a:latin typeface="Consolas"/>
                <a:cs typeface="Consolas"/>
              </a:rPr>
              <a:t>package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p1;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6958" y="2304692"/>
            <a:ext cx="1661160" cy="904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2915" marR="5080" indent="-450850">
              <a:lnSpc>
                <a:spcPct val="119400"/>
              </a:lnSpc>
              <a:spcBef>
                <a:spcPts val="114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4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class</a:t>
            </a:r>
            <a:r>
              <a:rPr dirty="0" sz="1200" spc="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Foo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 </a:t>
            </a:r>
            <a:r>
              <a:rPr dirty="0" sz="1200" b="1">
                <a:latin typeface="Consolas"/>
                <a:cs typeface="Consolas"/>
              </a:rPr>
              <a:t>private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int</a:t>
            </a:r>
            <a:r>
              <a:rPr dirty="0" sz="1200" spc="30" b="1">
                <a:latin typeface="Consolas"/>
                <a:cs typeface="Consolas"/>
              </a:rPr>
              <a:t> </a:t>
            </a:r>
            <a:r>
              <a:rPr dirty="0" sz="1200" spc="-35" b="1">
                <a:latin typeface="Consolas"/>
                <a:cs typeface="Consolas"/>
              </a:rPr>
              <a:t>x; </a:t>
            </a:r>
            <a:r>
              <a:rPr dirty="0" sz="1200" b="1">
                <a:latin typeface="Consolas"/>
                <a:cs typeface="Consolas"/>
              </a:rPr>
              <a:t>int</a:t>
            </a:r>
            <a:r>
              <a:rPr dirty="0" sz="1200" spc="5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y;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00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int</a:t>
            </a:r>
            <a:r>
              <a:rPr dirty="0" sz="1200" spc="10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z;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07402" y="3408703"/>
            <a:ext cx="1657985" cy="899794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Foo()</a:t>
            </a:r>
            <a:r>
              <a:rPr dirty="0" sz="1200" spc="40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65"/>
              </a:spcBef>
            </a:pPr>
            <a:r>
              <a:rPr dirty="0" sz="1200" b="1">
                <a:latin typeface="Consolas"/>
                <a:cs typeface="Consolas"/>
              </a:rPr>
              <a:t>x</a:t>
            </a:r>
            <a:r>
              <a:rPr dirty="0" sz="1200" spc="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y</a:t>
            </a:r>
            <a:r>
              <a:rPr dirty="0" sz="1200" spc="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z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20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1;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95"/>
              </a:spcBef>
            </a:pPr>
            <a:r>
              <a:rPr dirty="0" sz="1200" spc="-10" b="1">
                <a:latin typeface="Consolas"/>
                <a:cs typeface="Consolas"/>
              </a:rPr>
              <a:t>f1();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00"/>
              </a:spcBef>
            </a:pPr>
            <a:r>
              <a:rPr dirty="0" sz="1200" spc="-10" b="1">
                <a:latin typeface="Consolas"/>
                <a:cs typeface="Consolas"/>
              </a:rPr>
              <a:t>f2();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58086" y="4315168"/>
            <a:ext cx="44767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10" b="1">
                <a:latin typeface="Consolas"/>
                <a:cs typeface="Consolas"/>
              </a:rPr>
              <a:t>f3();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07402" y="4536452"/>
            <a:ext cx="10985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56958" y="4945657"/>
            <a:ext cx="2167890" cy="8997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2915" marR="5080">
              <a:lnSpc>
                <a:spcPct val="118300"/>
              </a:lnSpc>
              <a:spcBef>
                <a:spcPts val="95"/>
              </a:spcBef>
            </a:pPr>
            <a:r>
              <a:rPr dirty="0" sz="1200" b="1">
                <a:latin typeface="Consolas"/>
                <a:cs typeface="Consolas"/>
              </a:rPr>
              <a:t>private</a:t>
            </a:r>
            <a:r>
              <a:rPr dirty="0" sz="1200" spc="-1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void</a:t>
            </a:r>
            <a:r>
              <a:rPr dirty="0" sz="1200" spc="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f1()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{} </a:t>
            </a:r>
            <a:r>
              <a:rPr dirty="0" sz="1200" b="1">
                <a:latin typeface="Consolas"/>
                <a:cs typeface="Consolas"/>
              </a:rPr>
              <a:t>void f2()</a:t>
            </a:r>
            <a:r>
              <a:rPr dirty="0" sz="1200" spc="5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{}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00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void</a:t>
            </a:r>
            <a:r>
              <a:rPr dirty="0" sz="1200" spc="2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f3()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{}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109464" y="1316342"/>
            <a:ext cx="1414145" cy="75184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600" spc="-10" b="1">
                <a:latin typeface="Tahoma"/>
                <a:cs typeface="Tahoma"/>
              </a:rPr>
              <a:t>Bar.java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200" b="1">
                <a:latin typeface="Consolas"/>
                <a:cs typeface="Consolas"/>
              </a:rPr>
              <a:t>package</a:t>
            </a:r>
            <a:r>
              <a:rPr dirty="0" sz="1200" spc="-10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p1;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109464" y="2222970"/>
            <a:ext cx="3845560" cy="574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class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Bar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ts val="1430"/>
              </a:lnSpc>
              <a:spcBef>
                <a:spcPts val="20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static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void</a:t>
            </a:r>
            <a:r>
              <a:rPr dirty="0" sz="1200" spc="-2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main(String[]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args)</a:t>
            </a:r>
            <a:r>
              <a:rPr dirty="0" sz="1200" spc="10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913765">
              <a:lnSpc>
                <a:spcPts val="1430"/>
              </a:lnSpc>
            </a:pPr>
            <a:r>
              <a:rPr dirty="0" sz="1200" b="1">
                <a:latin typeface="Consolas"/>
                <a:cs typeface="Consolas"/>
              </a:rPr>
              <a:t>Foo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 =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new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Foo();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010655" y="2958096"/>
            <a:ext cx="619125" cy="574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dirty="0" sz="1200" spc="-10" b="1" strike="sngStrike">
                <a:solidFill>
                  <a:srgbClr val="FF0000"/>
                </a:solidFill>
                <a:latin typeface="Consolas"/>
                <a:cs typeface="Consolas"/>
              </a:rPr>
              <a:t>f.x*=2;</a:t>
            </a:r>
            <a:r>
              <a:rPr dirty="0" sz="1200" spc="-10" b="1" strike="no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1200" spc="-10" b="1" strike="noStrike">
                <a:latin typeface="Consolas"/>
                <a:cs typeface="Consolas"/>
              </a:rPr>
              <a:t>f.y++; f.z-</a:t>
            </a:r>
            <a:r>
              <a:rPr dirty="0" sz="1200" b="1" strike="noStrike">
                <a:latin typeface="Consolas"/>
                <a:cs typeface="Consolas"/>
              </a:rPr>
              <a:t>-</a:t>
            </a:r>
            <a:r>
              <a:rPr dirty="0" sz="1200" spc="-50" b="1" strike="noStrike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010655" y="3688093"/>
            <a:ext cx="619125" cy="574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10" b="1" strike="sngStrike">
                <a:solidFill>
                  <a:srgbClr val="FF0000"/>
                </a:solidFill>
                <a:latin typeface="Consolas"/>
                <a:cs typeface="Consolas"/>
              </a:rPr>
              <a:t>f.f1();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  <a:spcBef>
                <a:spcPts val="15"/>
              </a:spcBef>
            </a:pPr>
            <a:r>
              <a:rPr dirty="0" sz="1200" spc="-10" b="1">
                <a:latin typeface="Consolas"/>
                <a:cs typeface="Consolas"/>
              </a:rPr>
              <a:t>f.f2();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</a:pPr>
            <a:r>
              <a:rPr dirty="0" sz="1200" spc="-10" b="1">
                <a:latin typeface="Consolas"/>
                <a:cs typeface="Consolas"/>
              </a:rPr>
              <a:t>f.f3();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559933" y="4237698"/>
            <a:ext cx="10985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109464" y="4418470"/>
            <a:ext cx="10985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128" y="7130478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0081260" cy="518159"/>
            <a:chOff x="0" y="0"/>
            <a:chExt cx="10081260" cy="518159"/>
          </a:xfrm>
        </p:grpSpPr>
        <p:sp>
          <p:nvSpPr>
            <p:cNvPr id="4" name="object 4" descr=""/>
            <p:cNvSpPr/>
            <p:nvPr/>
          </p:nvSpPr>
          <p:spPr>
            <a:xfrm>
              <a:off x="0" y="25"/>
              <a:ext cx="5027295" cy="518159"/>
            </a:xfrm>
            <a:custGeom>
              <a:avLst/>
              <a:gdLst/>
              <a:ahLst/>
              <a:cxnLst/>
              <a:rect l="l" t="t" r="r" b="b"/>
              <a:pathLst>
                <a:path w="5027295" h="518159">
                  <a:moveTo>
                    <a:pt x="0" y="518007"/>
                  </a:moveTo>
                  <a:lnTo>
                    <a:pt x="5026914" y="518007"/>
                  </a:lnTo>
                  <a:lnTo>
                    <a:pt x="5026914" y="0"/>
                  </a:lnTo>
                  <a:lnTo>
                    <a:pt x="0" y="0"/>
                  </a:lnTo>
                  <a:lnTo>
                    <a:pt x="0" y="518007"/>
                  </a:lnTo>
                  <a:close/>
                </a:path>
              </a:pathLst>
            </a:custGeom>
            <a:solidFill>
              <a:srgbClr val="E2DE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26914" y="0"/>
              <a:ext cx="5053965" cy="513715"/>
            </a:xfrm>
            <a:custGeom>
              <a:avLst/>
              <a:gdLst/>
              <a:ahLst/>
              <a:cxnLst/>
              <a:rect l="l" t="t" r="r" b="b"/>
              <a:pathLst>
                <a:path w="5053965" h="513715">
                  <a:moveTo>
                    <a:pt x="5053965" y="0"/>
                  </a:moveTo>
                  <a:lnTo>
                    <a:pt x="0" y="0"/>
                  </a:lnTo>
                  <a:lnTo>
                    <a:pt x="0" y="513461"/>
                  </a:lnTo>
                  <a:lnTo>
                    <a:pt x="5053965" y="513461"/>
                  </a:lnTo>
                  <a:lnTo>
                    <a:pt x="50539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91254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Example</a:t>
            </a:r>
            <a:r>
              <a:rPr dirty="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(2)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556958" y="1277196"/>
            <a:ext cx="1449070" cy="836930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600" spc="-10" b="1">
                <a:latin typeface="Tahoma"/>
                <a:cs typeface="Tahoma"/>
              </a:rPr>
              <a:t>Foo.java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200" b="1">
                <a:latin typeface="Consolas"/>
                <a:cs typeface="Consolas"/>
              </a:rPr>
              <a:t>package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p1;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6958" y="2304692"/>
            <a:ext cx="1661160" cy="904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2915" marR="5080" indent="-450850">
              <a:lnSpc>
                <a:spcPct val="119400"/>
              </a:lnSpc>
              <a:spcBef>
                <a:spcPts val="114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4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class</a:t>
            </a:r>
            <a:r>
              <a:rPr dirty="0" sz="1200" spc="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Foo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 </a:t>
            </a:r>
            <a:r>
              <a:rPr dirty="0" sz="1200" b="1">
                <a:latin typeface="Consolas"/>
                <a:cs typeface="Consolas"/>
              </a:rPr>
              <a:t>private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int</a:t>
            </a:r>
            <a:r>
              <a:rPr dirty="0" sz="1200" spc="30" b="1">
                <a:latin typeface="Consolas"/>
                <a:cs typeface="Consolas"/>
              </a:rPr>
              <a:t> </a:t>
            </a:r>
            <a:r>
              <a:rPr dirty="0" sz="1200" spc="-35" b="1">
                <a:latin typeface="Consolas"/>
                <a:cs typeface="Consolas"/>
              </a:rPr>
              <a:t>x; </a:t>
            </a:r>
            <a:r>
              <a:rPr dirty="0" sz="1200" b="1">
                <a:latin typeface="Consolas"/>
                <a:cs typeface="Consolas"/>
              </a:rPr>
              <a:t>int</a:t>
            </a:r>
            <a:r>
              <a:rPr dirty="0" sz="1200" spc="5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y;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00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int</a:t>
            </a:r>
            <a:r>
              <a:rPr dirty="0" sz="1200" spc="10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z;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07402" y="3408703"/>
            <a:ext cx="1657985" cy="133731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Foo()</a:t>
            </a:r>
            <a:r>
              <a:rPr dirty="0" sz="1200" spc="40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65"/>
              </a:spcBef>
            </a:pPr>
            <a:r>
              <a:rPr dirty="0" sz="1200" b="1">
                <a:latin typeface="Consolas"/>
                <a:cs typeface="Consolas"/>
              </a:rPr>
              <a:t>x</a:t>
            </a:r>
            <a:r>
              <a:rPr dirty="0" sz="1200" spc="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y</a:t>
            </a:r>
            <a:r>
              <a:rPr dirty="0" sz="1200" spc="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z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20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1;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95"/>
              </a:spcBef>
            </a:pPr>
            <a:r>
              <a:rPr dirty="0" sz="1200" spc="-10" b="1">
                <a:latin typeface="Consolas"/>
                <a:cs typeface="Consolas"/>
              </a:rPr>
              <a:t>f1();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00"/>
              </a:spcBef>
            </a:pPr>
            <a:r>
              <a:rPr dirty="0" sz="1200" spc="-10" b="1">
                <a:latin typeface="Consolas"/>
                <a:cs typeface="Consolas"/>
              </a:rPr>
              <a:t>f2();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265"/>
              </a:spcBef>
            </a:pPr>
            <a:r>
              <a:rPr dirty="0" sz="1200" spc="-10" b="1">
                <a:latin typeface="Consolas"/>
                <a:cs typeface="Consolas"/>
              </a:rPr>
              <a:t>f3();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6958" y="4945657"/>
            <a:ext cx="2167890" cy="8997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2915" marR="5080">
              <a:lnSpc>
                <a:spcPct val="118300"/>
              </a:lnSpc>
              <a:spcBef>
                <a:spcPts val="95"/>
              </a:spcBef>
            </a:pPr>
            <a:r>
              <a:rPr dirty="0" sz="1200" b="1">
                <a:latin typeface="Consolas"/>
                <a:cs typeface="Consolas"/>
              </a:rPr>
              <a:t>private</a:t>
            </a:r>
            <a:r>
              <a:rPr dirty="0" sz="1200" spc="-1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void</a:t>
            </a:r>
            <a:r>
              <a:rPr dirty="0" sz="1200" spc="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f1()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{} </a:t>
            </a:r>
            <a:r>
              <a:rPr dirty="0" sz="1200" b="1">
                <a:latin typeface="Consolas"/>
                <a:cs typeface="Consolas"/>
              </a:rPr>
              <a:t>void f2()</a:t>
            </a:r>
            <a:r>
              <a:rPr dirty="0" sz="1200" spc="5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{}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300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void</a:t>
            </a:r>
            <a:r>
              <a:rPr dirty="0" sz="1200" spc="2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f3()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{}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29834" y="1432865"/>
            <a:ext cx="1524635" cy="6019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92075">
              <a:lnSpc>
                <a:spcPts val="3095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Baz.java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ts val="1415"/>
              </a:lnSpc>
            </a:pPr>
            <a:r>
              <a:rPr dirty="0" sz="1200" b="1">
                <a:latin typeface="Consolas"/>
                <a:cs typeface="Consolas"/>
              </a:rPr>
              <a:t>package</a:t>
            </a:r>
            <a:r>
              <a:rPr dirty="0" sz="1200" spc="-45" b="1">
                <a:latin typeface="Consolas"/>
                <a:cs typeface="Consolas"/>
              </a:rPr>
              <a:t> </a:t>
            </a:r>
            <a:r>
              <a:rPr dirty="0" sz="1200" spc="-25" b="1">
                <a:latin typeface="Consolas"/>
                <a:cs typeface="Consolas"/>
              </a:rPr>
              <a:t>p2;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29834" y="2190890"/>
            <a:ext cx="120777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latin typeface="Consolas"/>
                <a:cs typeface="Consolas"/>
              </a:rPr>
              <a:t>import</a:t>
            </a:r>
            <a:r>
              <a:rPr dirty="0" sz="1200" spc="-25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p1.Foo;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29834" y="2556015"/>
            <a:ext cx="3845560" cy="579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1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class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Baz</a:t>
            </a:r>
            <a:r>
              <a:rPr dirty="0" sz="1200" spc="-10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  <a:spcBef>
                <a:spcPts val="15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static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void</a:t>
            </a:r>
            <a:r>
              <a:rPr dirty="0" sz="1200" spc="-2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main(String[]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args)</a:t>
            </a:r>
            <a:r>
              <a:rPr dirty="0" sz="1200" spc="5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913765">
              <a:lnSpc>
                <a:spcPct val="100000"/>
              </a:lnSpc>
              <a:spcBef>
                <a:spcPts val="10"/>
              </a:spcBef>
            </a:pPr>
            <a:r>
              <a:rPr dirty="0" sz="1200" b="1">
                <a:latin typeface="Consolas"/>
                <a:cs typeface="Consolas"/>
              </a:rPr>
              <a:t>Foo</a:t>
            </a:r>
            <a:r>
              <a:rPr dirty="0" sz="1200" spc="-1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</a:t>
            </a:r>
            <a:r>
              <a:rPr dirty="0" sz="1200" spc="-1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new</a:t>
            </a:r>
            <a:r>
              <a:rPr dirty="0" sz="1200" spc="-10" b="1">
                <a:latin typeface="Consolas"/>
                <a:cs typeface="Consolas"/>
              </a:rPr>
              <a:t> Foo();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931408" y="3290456"/>
            <a:ext cx="618490" cy="574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05"/>
              </a:spcBef>
            </a:pPr>
            <a:r>
              <a:rPr dirty="0" sz="1200" spc="-10" b="1" strike="sngStrike">
                <a:solidFill>
                  <a:srgbClr val="FF0000"/>
                </a:solidFill>
                <a:latin typeface="Consolas"/>
                <a:cs typeface="Consolas"/>
              </a:rPr>
              <a:t>f.x*=2;</a:t>
            </a:r>
            <a:r>
              <a:rPr dirty="0" sz="1200" spc="-10" b="1" strike="no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1200" spc="-10" b="1" strike="sngStrike">
                <a:solidFill>
                  <a:srgbClr val="FF0000"/>
                </a:solidFill>
                <a:latin typeface="Consolas"/>
                <a:cs typeface="Consolas"/>
              </a:rPr>
              <a:t>f.y++;</a:t>
            </a:r>
            <a:r>
              <a:rPr dirty="0" sz="1200" spc="-10" b="1" strike="noStrike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1200" b="1" strike="noStrike">
                <a:latin typeface="Consolas"/>
                <a:cs typeface="Consolas"/>
              </a:rPr>
              <a:t>f.z--</a:t>
            </a:r>
            <a:r>
              <a:rPr dirty="0" sz="1200" spc="-50" b="1" strike="noStrike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31408" y="4020273"/>
            <a:ext cx="618490" cy="574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10" b="1" strike="sngStrike">
                <a:solidFill>
                  <a:srgbClr val="FF0000"/>
                </a:solidFill>
                <a:latin typeface="Consolas"/>
                <a:cs typeface="Consolas"/>
              </a:rPr>
              <a:t>f.f1();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  <a:spcBef>
                <a:spcPts val="20"/>
              </a:spcBef>
            </a:pPr>
            <a:r>
              <a:rPr dirty="0" sz="1200" spc="-10" b="1" strike="sngStrike">
                <a:solidFill>
                  <a:srgbClr val="FF0000"/>
                </a:solidFill>
                <a:latin typeface="Consolas"/>
                <a:cs typeface="Consolas"/>
              </a:rPr>
              <a:t>f.f2();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</a:pPr>
            <a:r>
              <a:rPr dirty="0" sz="1200" spc="-10" b="1">
                <a:latin typeface="Consolas"/>
                <a:cs typeface="Consolas"/>
              </a:rPr>
              <a:t>f.f3();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480558" y="4570057"/>
            <a:ext cx="10985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029834" y="4755401"/>
            <a:ext cx="10985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383915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Checkup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57263" y="1427239"/>
            <a:ext cx="4427220" cy="19996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Clr>
                <a:srgbClr val="820000"/>
              </a:buClr>
              <a:buFont typeface="Wingdings"/>
              <a:buChar char=""/>
              <a:tabLst>
                <a:tab pos="350520" algn="l"/>
              </a:tabLst>
            </a:pPr>
            <a:r>
              <a:rPr dirty="0" sz="1800">
                <a:latin typeface="Tahoma"/>
                <a:cs typeface="Tahoma"/>
              </a:rPr>
              <a:t>What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wrong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with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following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code…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1920"/>
              </a:lnSpc>
              <a:spcBef>
                <a:spcPts val="1875"/>
              </a:spcBef>
            </a:pPr>
            <a:r>
              <a:rPr dirty="0" sz="1600" b="1">
                <a:latin typeface="Consolas"/>
                <a:cs typeface="Consolas"/>
              </a:rPr>
              <a:t>public</a:t>
            </a:r>
            <a:r>
              <a:rPr dirty="0" sz="1600" spc="-4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class</a:t>
            </a:r>
            <a:r>
              <a:rPr dirty="0" sz="1600" spc="-4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Test</a:t>
            </a:r>
            <a:r>
              <a:rPr dirty="0" sz="1600" spc="-5" b="1">
                <a:latin typeface="Consolas"/>
                <a:cs typeface="Consolas"/>
              </a:rPr>
              <a:t> </a:t>
            </a:r>
            <a:r>
              <a:rPr dirty="0" sz="1600" spc="-50" b="1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62915">
              <a:lnSpc>
                <a:spcPts val="1920"/>
              </a:lnSpc>
            </a:pPr>
            <a:r>
              <a:rPr dirty="0" sz="1600" b="1">
                <a:latin typeface="Consolas"/>
                <a:cs typeface="Consolas"/>
              </a:rPr>
              <a:t>int</a:t>
            </a:r>
            <a:r>
              <a:rPr dirty="0" sz="1600" spc="-10" b="1">
                <a:latin typeface="Consolas"/>
                <a:cs typeface="Consolas"/>
              </a:rPr>
              <a:t> </a:t>
            </a:r>
            <a:r>
              <a:rPr dirty="0" sz="1600" spc="-25" b="1">
                <a:latin typeface="Consolas"/>
                <a:cs typeface="Consolas"/>
              </a:rPr>
              <a:t>x;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onsolas"/>
              <a:cs typeface="Consolas"/>
            </a:endParaRPr>
          </a:p>
          <a:p>
            <a:pPr algn="ctr" marR="935990">
              <a:lnSpc>
                <a:spcPts val="1920"/>
              </a:lnSpc>
            </a:pPr>
            <a:r>
              <a:rPr dirty="0" sz="1600" b="1">
                <a:latin typeface="Consolas"/>
                <a:cs typeface="Consolas"/>
              </a:rPr>
              <a:t>public</a:t>
            </a:r>
            <a:r>
              <a:rPr dirty="0" sz="1600" spc="-4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Test(String</a:t>
            </a:r>
            <a:r>
              <a:rPr dirty="0" sz="1600" spc="-4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t)</a:t>
            </a:r>
            <a:r>
              <a:rPr dirty="0" sz="1600" spc="-45" b="1">
                <a:latin typeface="Consolas"/>
                <a:cs typeface="Consolas"/>
              </a:rPr>
              <a:t> </a:t>
            </a:r>
            <a:r>
              <a:rPr dirty="0" sz="1600" spc="-50" b="1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algn="ctr" marL="404495">
              <a:lnSpc>
                <a:spcPts val="1914"/>
              </a:lnSpc>
            </a:pPr>
            <a:r>
              <a:rPr dirty="0" sz="1600" spc="-10" b="1">
                <a:latin typeface="Consolas"/>
                <a:cs typeface="Consolas"/>
              </a:rPr>
              <a:t>System.out.printf("Hello");</a:t>
            </a:r>
            <a:endParaRPr sz="1600">
              <a:latin typeface="Consolas"/>
              <a:cs typeface="Consolas"/>
            </a:endParaRPr>
          </a:p>
          <a:p>
            <a:pPr algn="ctr" marR="3380740">
              <a:lnSpc>
                <a:spcPts val="1920"/>
              </a:lnSpc>
            </a:pPr>
            <a:r>
              <a:rPr dirty="0" sz="1600" spc="-50" b="1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7999" y="3644214"/>
            <a:ext cx="3580765" cy="100393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462915" marR="5080" indent="-450850">
              <a:lnSpc>
                <a:spcPct val="100800"/>
              </a:lnSpc>
              <a:spcBef>
                <a:spcPts val="80"/>
              </a:spcBef>
            </a:pPr>
            <a:r>
              <a:rPr dirty="0" sz="1600" b="1">
                <a:latin typeface="Consolas"/>
                <a:cs typeface="Consolas"/>
              </a:rPr>
              <a:t>public</a:t>
            </a:r>
            <a:r>
              <a:rPr dirty="0" sz="1600" spc="-4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static</a:t>
            </a:r>
            <a:r>
              <a:rPr dirty="0" sz="1600" spc="-4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void</a:t>
            </a:r>
            <a:r>
              <a:rPr dirty="0" sz="1600" spc="-35" b="1">
                <a:latin typeface="Consolas"/>
                <a:cs typeface="Consolas"/>
              </a:rPr>
              <a:t> </a:t>
            </a:r>
            <a:r>
              <a:rPr dirty="0" sz="1600" spc="-10" b="1">
                <a:latin typeface="Consolas"/>
                <a:cs typeface="Consolas"/>
              </a:rPr>
              <a:t>main(String[] </a:t>
            </a:r>
            <a:r>
              <a:rPr dirty="0" sz="1600" b="1">
                <a:latin typeface="Consolas"/>
                <a:cs typeface="Consolas"/>
              </a:rPr>
              <a:t>Test</a:t>
            </a:r>
            <a:r>
              <a:rPr dirty="0" sz="1600" spc="-3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test</a:t>
            </a:r>
            <a:r>
              <a:rPr dirty="0" sz="1600" spc="-3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= new</a:t>
            </a:r>
            <a:r>
              <a:rPr dirty="0" sz="1600" spc="-30" b="1">
                <a:latin typeface="Consolas"/>
                <a:cs typeface="Consolas"/>
              </a:rPr>
              <a:t> </a:t>
            </a:r>
            <a:r>
              <a:rPr dirty="0" sz="1600" spc="-10" b="1">
                <a:latin typeface="Consolas"/>
                <a:cs typeface="Consolas"/>
              </a:rPr>
              <a:t>Test(); System.out.println(test.x);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14"/>
              </a:lnSpc>
            </a:pPr>
            <a:r>
              <a:rPr dirty="0" sz="1600" spc="-50" b="1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80965" y="3644214"/>
            <a:ext cx="8039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onsolas"/>
                <a:cs typeface="Consolas"/>
              </a:rPr>
              <a:t>args)</a:t>
            </a:r>
            <a:r>
              <a:rPr dirty="0" sz="1600" spc="-40" b="1">
                <a:latin typeface="Consolas"/>
                <a:cs typeface="Consolas"/>
              </a:rPr>
              <a:t> </a:t>
            </a:r>
            <a:r>
              <a:rPr dirty="0" sz="1600" spc="-50" b="1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7263" y="4622660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128" y="1342263"/>
            <a:ext cx="9784080" cy="0"/>
          </a:xfrm>
          <a:custGeom>
            <a:avLst/>
            <a:gdLst/>
            <a:ahLst/>
            <a:cxnLst/>
            <a:rect l="l" t="t" r="r" b="b"/>
            <a:pathLst>
              <a:path w="9784080" h="0">
                <a:moveTo>
                  <a:pt x="0" y="0"/>
                </a:moveTo>
                <a:lnTo>
                  <a:pt x="97835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0081260" cy="518159"/>
            <a:chOff x="0" y="0"/>
            <a:chExt cx="10081260" cy="518159"/>
          </a:xfrm>
        </p:grpSpPr>
        <p:sp>
          <p:nvSpPr>
            <p:cNvPr id="4" name="object 4" descr=""/>
            <p:cNvSpPr/>
            <p:nvPr/>
          </p:nvSpPr>
          <p:spPr>
            <a:xfrm>
              <a:off x="0" y="25"/>
              <a:ext cx="5027295" cy="518159"/>
            </a:xfrm>
            <a:custGeom>
              <a:avLst/>
              <a:gdLst/>
              <a:ahLst/>
              <a:cxnLst/>
              <a:rect l="l" t="t" r="r" b="b"/>
              <a:pathLst>
                <a:path w="5027295" h="518159">
                  <a:moveTo>
                    <a:pt x="0" y="518007"/>
                  </a:moveTo>
                  <a:lnTo>
                    <a:pt x="5026914" y="518007"/>
                  </a:lnTo>
                  <a:lnTo>
                    <a:pt x="5026914" y="0"/>
                  </a:lnTo>
                  <a:lnTo>
                    <a:pt x="0" y="0"/>
                  </a:lnTo>
                  <a:lnTo>
                    <a:pt x="0" y="518007"/>
                  </a:lnTo>
                  <a:close/>
                </a:path>
              </a:pathLst>
            </a:custGeom>
            <a:solidFill>
              <a:srgbClr val="E2DE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26914" y="0"/>
              <a:ext cx="5053965" cy="513715"/>
            </a:xfrm>
            <a:custGeom>
              <a:avLst/>
              <a:gdLst/>
              <a:ahLst/>
              <a:cxnLst/>
              <a:rect l="l" t="t" r="r" b="b"/>
              <a:pathLst>
                <a:path w="5053965" h="513715">
                  <a:moveTo>
                    <a:pt x="5053965" y="0"/>
                  </a:moveTo>
                  <a:lnTo>
                    <a:pt x="0" y="0"/>
                  </a:lnTo>
                  <a:lnTo>
                    <a:pt x="0" y="513461"/>
                  </a:lnTo>
                  <a:lnTo>
                    <a:pt x="5053965" y="513461"/>
                  </a:lnTo>
                  <a:lnTo>
                    <a:pt x="50539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434079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Solution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459865">
              <a:lnSpc>
                <a:spcPct val="100000"/>
              </a:lnSpc>
              <a:spcBef>
                <a:spcPts val="120"/>
              </a:spcBef>
            </a:pPr>
            <a:r>
              <a:rPr dirty="0"/>
              <a:t>Passing</a:t>
            </a:r>
            <a:r>
              <a:rPr dirty="0" spc="-95"/>
              <a:t> </a:t>
            </a:r>
            <a:r>
              <a:rPr dirty="0"/>
              <a:t>Objects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 spc="-10"/>
              <a:t>Methods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6240" rIns="0" bIns="0" rtlCol="0" vert="horz">
            <a:spAutoFit/>
          </a:bodyPr>
          <a:lstStyle/>
          <a:p>
            <a:pPr marL="287020" marR="5080" indent="-274955">
              <a:lnSpc>
                <a:spcPts val="3340"/>
              </a:lnSpc>
              <a:spcBef>
                <a:spcPts val="229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2800"/>
              <a:t>For</a:t>
            </a:r>
            <a:r>
              <a:rPr dirty="0" sz="2800" spc="-65"/>
              <a:t> </a:t>
            </a:r>
            <a:r>
              <a:rPr dirty="0" sz="2800"/>
              <a:t>both</a:t>
            </a:r>
            <a:r>
              <a:rPr dirty="0" sz="2800" spc="-50"/>
              <a:t> </a:t>
            </a:r>
            <a:r>
              <a:rPr dirty="0" sz="2800"/>
              <a:t>primitives</a:t>
            </a:r>
            <a:r>
              <a:rPr dirty="0" sz="2800" spc="-20"/>
              <a:t> </a:t>
            </a:r>
            <a:r>
              <a:rPr dirty="0" sz="2800"/>
              <a:t>and</a:t>
            </a:r>
            <a:r>
              <a:rPr dirty="0" sz="2800" spc="-40"/>
              <a:t> </a:t>
            </a:r>
            <a:r>
              <a:rPr dirty="0" sz="2800"/>
              <a:t>objects,</a:t>
            </a:r>
            <a:r>
              <a:rPr dirty="0" sz="2800" spc="-40"/>
              <a:t> </a:t>
            </a:r>
            <a:r>
              <a:rPr dirty="0" sz="2800"/>
              <a:t>the</a:t>
            </a:r>
            <a:r>
              <a:rPr dirty="0" sz="2800" spc="-35"/>
              <a:t> </a:t>
            </a:r>
            <a:r>
              <a:rPr dirty="0" sz="2800"/>
              <a:t>value</a:t>
            </a:r>
            <a:r>
              <a:rPr dirty="0" sz="2800" spc="-35"/>
              <a:t> </a:t>
            </a:r>
            <a:r>
              <a:rPr dirty="0" sz="2800"/>
              <a:t>is</a:t>
            </a:r>
            <a:r>
              <a:rPr dirty="0" sz="2800" spc="-60"/>
              <a:t> </a:t>
            </a:r>
            <a:r>
              <a:rPr dirty="0" sz="2800" spc="-10"/>
              <a:t>passed </a:t>
            </a:r>
            <a:r>
              <a:rPr dirty="0" sz="2800"/>
              <a:t>to</a:t>
            </a:r>
            <a:r>
              <a:rPr dirty="0" sz="2800" spc="-20"/>
              <a:t> </a:t>
            </a:r>
            <a:r>
              <a:rPr dirty="0" sz="2800"/>
              <a:t>the</a:t>
            </a:r>
            <a:r>
              <a:rPr dirty="0" sz="2800" spc="-20"/>
              <a:t> </a:t>
            </a:r>
            <a:r>
              <a:rPr dirty="0" sz="2800" spc="-10"/>
              <a:t>method</a:t>
            </a:r>
            <a:endParaRPr sz="2800"/>
          </a:p>
          <a:p>
            <a:pPr marL="287020" indent="-274320">
              <a:lnSpc>
                <a:spcPts val="3260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2800"/>
              <a:t>However,</a:t>
            </a:r>
            <a:r>
              <a:rPr dirty="0" sz="2800" spc="-25"/>
              <a:t> </a:t>
            </a:r>
            <a:r>
              <a:rPr dirty="0" sz="2800"/>
              <a:t>the</a:t>
            </a:r>
            <a:r>
              <a:rPr dirty="0" sz="2800" spc="-55"/>
              <a:t> </a:t>
            </a:r>
            <a:r>
              <a:rPr dirty="0" sz="2800"/>
              <a:t>“value”</a:t>
            </a:r>
            <a:r>
              <a:rPr dirty="0" sz="2800" spc="-15"/>
              <a:t> </a:t>
            </a:r>
            <a:r>
              <a:rPr dirty="0" sz="2800"/>
              <a:t>of</a:t>
            </a:r>
            <a:r>
              <a:rPr dirty="0" sz="2800" spc="-30"/>
              <a:t> </a:t>
            </a:r>
            <a:r>
              <a:rPr dirty="0" sz="2800"/>
              <a:t>an</a:t>
            </a:r>
            <a:r>
              <a:rPr dirty="0" sz="2800" spc="-35"/>
              <a:t> </a:t>
            </a:r>
            <a:r>
              <a:rPr dirty="0" sz="2800"/>
              <a:t>object</a:t>
            </a:r>
            <a:r>
              <a:rPr dirty="0" sz="2800" spc="-40"/>
              <a:t> </a:t>
            </a:r>
            <a:r>
              <a:rPr dirty="0" sz="2800"/>
              <a:t>is</a:t>
            </a:r>
            <a:r>
              <a:rPr dirty="0" sz="2800" spc="-45"/>
              <a:t> </a:t>
            </a:r>
            <a:r>
              <a:rPr dirty="0" sz="2800"/>
              <a:t>the</a:t>
            </a:r>
            <a:r>
              <a:rPr dirty="0" sz="2800" spc="-20"/>
              <a:t> </a:t>
            </a:r>
            <a:r>
              <a:rPr dirty="0" sz="2800" spc="-10"/>
              <a:t>reference</a:t>
            </a:r>
            <a:endParaRPr sz="2800"/>
          </a:p>
          <a:p>
            <a:pPr marL="287020" marR="581660">
              <a:lnSpc>
                <a:spcPts val="3340"/>
              </a:lnSpc>
              <a:spcBef>
                <a:spcPts val="130"/>
              </a:spcBef>
            </a:pPr>
            <a:r>
              <a:rPr dirty="0" sz="2800"/>
              <a:t>(think:</a:t>
            </a:r>
            <a:r>
              <a:rPr dirty="0" sz="2800" spc="-40"/>
              <a:t> </a:t>
            </a:r>
            <a:r>
              <a:rPr dirty="0" sz="2800"/>
              <a:t>memory</a:t>
            </a:r>
            <a:r>
              <a:rPr dirty="0" sz="2800" spc="-45"/>
              <a:t> </a:t>
            </a:r>
            <a:r>
              <a:rPr dirty="0" sz="2800"/>
              <a:t>address),</a:t>
            </a:r>
            <a:r>
              <a:rPr dirty="0" sz="2800" spc="-70"/>
              <a:t> </a:t>
            </a:r>
            <a:r>
              <a:rPr dirty="0" sz="2800"/>
              <a:t>and</a:t>
            </a:r>
            <a:r>
              <a:rPr dirty="0" sz="2800" spc="-65"/>
              <a:t> </a:t>
            </a:r>
            <a:r>
              <a:rPr dirty="0" sz="2800"/>
              <a:t>so</a:t>
            </a:r>
            <a:r>
              <a:rPr dirty="0" sz="2800" spc="-75"/>
              <a:t> </a:t>
            </a:r>
            <a:r>
              <a:rPr dirty="0" sz="2800"/>
              <a:t>the</a:t>
            </a:r>
            <a:r>
              <a:rPr dirty="0" sz="2800" spc="-70"/>
              <a:t> </a:t>
            </a:r>
            <a:r>
              <a:rPr dirty="0" sz="2800"/>
              <a:t>object</a:t>
            </a:r>
            <a:r>
              <a:rPr dirty="0" sz="2800" spc="-90"/>
              <a:t> </a:t>
            </a:r>
            <a:r>
              <a:rPr dirty="0" sz="2800" spc="-25"/>
              <a:t>can </a:t>
            </a:r>
            <a:r>
              <a:rPr dirty="0" sz="2800"/>
              <a:t>actually</a:t>
            </a:r>
            <a:r>
              <a:rPr dirty="0" sz="2800" spc="-20"/>
              <a:t> </a:t>
            </a:r>
            <a:r>
              <a:rPr dirty="0" sz="2800"/>
              <a:t>be</a:t>
            </a:r>
            <a:r>
              <a:rPr dirty="0" sz="2800" spc="-80"/>
              <a:t> </a:t>
            </a:r>
            <a:r>
              <a:rPr dirty="0" sz="2800"/>
              <a:t>changed</a:t>
            </a:r>
            <a:r>
              <a:rPr dirty="0" sz="2800" spc="-60"/>
              <a:t> </a:t>
            </a:r>
            <a:r>
              <a:rPr dirty="0" sz="2800"/>
              <a:t>within</a:t>
            </a:r>
            <a:r>
              <a:rPr dirty="0" sz="2800" spc="-105"/>
              <a:t> </a:t>
            </a:r>
            <a:r>
              <a:rPr dirty="0" sz="2800"/>
              <a:t>the</a:t>
            </a:r>
            <a:r>
              <a:rPr dirty="0" sz="2800" spc="-65"/>
              <a:t> </a:t>
            </a:r>
            <a:r>
              <a:rPr dirty="0" sz="2800" spc="-10"/>
              <a:t>method</a:t>
            </a:r>
            <a:endParaRPr sz="2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388995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Example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57263" y="1422641"/>
            <a:ext cx="5922645" cy="319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20"/>
              </a:lnSpc>
              <a:spcBef>
                <a:spcPts val="95"/>
              </a:spcBef>
            </a:pPr>
            <a:r>
              <a:rPr dirty="0" sz="1600" b="1">
                <a:latin typeface="Consolas"/>
                <a:cs typeface="Consolas"/>
              </a:rPr>
              <a:t>public</a:t>
            </a:r>
            <a:r>
              <a:rPr dirty="0" sz="1600" spc="-4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static</a:t>
            </a:r>
            <a:r>
              <a:rPr dirty="0" sz="1600" spc="-4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void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inc(Circle</a:t>
            </a:r>
            <a:r>
              <a:rPr dirty="0" sz="1600" spc="-1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c, int</a:t>
            </a:r>
            <a:r>
              <a:rPr dirty="0" sz="1600" spc="-3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x)</a:t>
            </a:r>
            <a:r>
              <a:rPr dirty="0" sz="1600" spc="-40" b="1">
                <a:latin typeface="Consolas"/>
                <a:cs typeface="Consolas"/>
              </a:rPr>
              <a:t> </a:t>
            </a:r>
            <a:r>
              <a:rPr dirty="0" sz="1600" spc="-50" b="1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62915">
              <a:lnSpc>
                <a:spcPts val="1914"/>
              </a:lnSpc>
            </a:pPr>
            <a:r>
              <a:rPr dirty="0" sz="1600" spc="-10" b="1">
                <a:latin typeface="Consolas"/>
                <a:cs typeface="Consolas"/>
              </a:rPr>
              <a:t>c.setRadius(c.getRadius()+1);</a:t>
            </a:r>
            <a:endParaRPr sz="1600">
              <a:latin typeface="Consolas"/>
              <a:cs typeface="Consolas"/>
            </a:endParaRPr>
          </a:p>
          <a:p>
            <a:pPr marL="462915">
              <a:lnSpc>
                <a:spcPts val="1914"/>
              </a:lnSpc>
            </a:pPr>
            <a:r>
              <a:rPr dirty="0" sz="1600" spc="-20" b="1">
                <a:latin typeface="Consolas"/>
                <a:cs typeface="Consolas"/>
              </a:rPr>
              <a:t>x++;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14"/>
              </a:lnSpc>
            </a:pPr>
            <a:r>
              <a:rPr dirty="0" sz="1600" spc="-50" b="1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onsolas"/>
              <a:cs typeface="Consolas"/>
            </a:endParaRPr>
          </a:p>
          <a:p>
            <a:pPr marL="12700">
              <a:lnSpc>
                <a:spcPts val="1920"/>
              </a:lnSpc>
            </a:pPr>
            <a:r>
              <a:rPr dirty="0" sz="1600" b="1">
                <a:latin typeface="Consolas"/>
                <a:cs typeface="Consolas"/>
              </a:rPr>
              <a:t>public</a:t>
            </a:r>
            <a:r>
              <a:rPr dirty="0" sz="1600" spc="-7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static</a:t>
            </a:r>
            <a:r>
              <a:rPr dirty="0" sz="1600" spc="-5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void</a:t>
            </a:r>
            <a:r>
              <a:rPr dirty="0" sz="1600" spc="-6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main(String[]</a:t>
            </a:r>
            <a:r>
              <a:rPr dirty="0" sz="1600" spc="1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args)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spc="-50" b="1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62915">
              <a:lnSpc>
                <a:spcPts val="1914"/>
              </a:lnSpc>
            </a:pPr>
            <a:r>
              <a:rPr dirty="0" sz="1600" b="1">
                <a:latin typeface="Consolas"/>
                <a:cs typeface="Consolas"/>
              </a:rPr>
              <a:t>Circle</a:t>
            </a:r>
            <a:r>
              <a:rPr dirty="0" sz="1600" spc="-3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c =</a:t>
            </a:r>
            <a:r>
              <a:rPr dirty="0" sz="1600" spc="-3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new</a:t>
            </a:r>
            <a:r>
              <a:rPr dirty="0" sz="1600" spc="5" b="1">
                <a:latin typeface="Consolas"/>
                <a:cs typeface="Consolas"/>
              </a:rPr>
              <a:t> </a:t>
            </a:r>
            <a:r>
              <a:rPr dirty="0" sz="1600" spc="-10" b="1">
                <a:latin typeface="Consolas"/>
                <a:cs typeface="Consolas"/>
              </a:rPr>
              <a:t>Circle(1);</a:t>
            </a:r>
            <a:endParaRPr sz="1600">
              <a:latin typeface="Consolas"/>
              <a:cs typeface="Consolas"/>
            </a:endParaRPr>
          </a:p>
          <a:p>
            <a:pPr marL="462915">
              <a:lnSpc>
                <a:spcPts val="1914"/>
              </a:lnSpc>
            </a:pPr>
            <a:r>
              <a:rPr dirty="0" sz="1600" b="1">
                <a:latin typeface="Consolas"/>
                <a:cs typeface="Consolas"/>
              </a:rPr>
              <a:t>int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x</a:t>
            </a:r>
            <a:r>
              <a:rPr dirty="0" sz="1600" spc="1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=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spc="-25" b="1">
                <a:latin typeface="Consolas"/>
                <a:cs typeface="Consolas"/>
              </a:rPr>
              <a:t>1;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Consolas"/>
              <a:cs typeface="Consolas"/>
            </a:endParaRPr>
          </a:p>
          <a:p>
            <a:pPr marL="462915" marR="5080">
              <a:lnSpc>
                <a:spcPct val="100000"/>
              </a:lnSpc>
            </a:pPr>
            <a:r>
              <a:rPr dirty="0" sz="1600" b="1">
                <a:latin typeface="Consolas"/>
                <a:cs typeface="Consolas"/>
              </a:rPr>
              <a:t>System.out.printf("%.2f</a:t>
            </a:r>
            <a:r>
              <a:rPr dirty="0" sz="1600" spc="-6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%d%n",</a:t>
            </a:r>
            <a:r>
              <a:rPr dirty="0" sz="1600" spc="-9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c.getRadius(),</a:t>
            </a:r>
            <a:r>
              <a:rPr dirty="0" sz="1600" spc="-90" b="1">
                <a:latin typeface="Consolas"/>
                <a:cs typeface="Consolas"/>
              </a:rPr>
              <a:t> </a:t>
            </a:r>
            <a:r>
              <a:rPr dirty="0" sz="1600" spc="-25" b="1">
                <a:latin typeface="Consolas"/>
                <a:cs typeface="Consolas"/>
              </a:rPr>
              <a:t>x); </a:t>
            </a:r>
            <a:r>
              <a:rPr dirty="0" sz="1600" b="1">
                <a:latin typeface="Consolas"/>
                <a:cs typeface="Consolas"/>
              </a:rPr>
              <a:t>inc(c,</a:t>
            </a:r>
            <a:r>
              <a:rPr dirty="0" sz="1600" spc="-25" b="1">
                <a:latin typeface="Consolas"/>
                <a:cs typeface="Consolas"/>
              </a:rPr>
              <a:t> x);</a:t>
            </a:r>
            <a:endParaRPr sz="1600">
              <a:latin typeface="Consolas"/>
              <a:cs typeface="Consolas"/>
            </a:endParaRPr>
          </a:p>
          <a:p>
            <a:pPr marL="462915">
              <a:lnSpc>
                <a:spcPts val="1910"/>
              </a:lnSpc>
            </a:pPr>
            <a:r>
              <a:rPr dirty="0" sz="1600" b="1">
                <a:latin typeface="Consolas"/>
                <a:cs typeface="Consolas"/>
              </a:rPr>
              <a:t>System.out.printf("%.2f</a:t>
            </a:r>
            <a:r>
              <a:rPr dirty="0" sz="1600" spc="-6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%d%n",</a:t>
            </a:r>
            <a:r>
              <a:rPr dirty="0" sz="1600" spc="-9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c.getRadius(),</a:t>
            </a:r>
            <a:r>
              <a:rPr dirty="0" sz="1600" spc="-90" b="1">
                <a:latin typeface="Consolas"/>
                <a:cs typeface="Consolas"/>
              </a:rPr>
              <a:t> </a:t>
            </a:r>
            <a:r>
              <a:rPr dirty="0" sz="1600" spc="-25" b="1">
                <a:latin typeface="Consolas"/>
                <a:cs typeface="Consolas"/>
              </a:rPr>
              <a:t>x);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20"/>
              </a:lnSpc>
            </a:pPr>
            <a:r>
              <a:rPr dirty="0" sz="1600" spc="-50" b="1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820545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dirty="0" spc="5"/>
              <a:t> </a:t>
            </a:r>
            <a:r>
              <a:rPr dirty="0"/>
              <a:t>Peek</a:t>
            </a:r>
            <a:r>
              <a:rPr dirty="0" spc="-55"/>
              <a:t> </a:t>
            </a:r>
            <a:r>
              <a:rPr dirty="0"/>
              <a:t>Into</a:t>
            </a:r>
            <a:r>
              <a:rPr dirty="0" spc="-40"/>
              <a:t> </a:t>
            </a:r>
            <a:r>
              <a:rPr dirty="0"/>
              <a:t>Memory</a:t>
            </a:r>
            <a:r>
              <a:rPr dirty="0" spc="-85"/>
              <a:t> </a:t>
            </a:r>
            <a:r>
              <a:rPr dirty="0" spc="-25"/>
              <a:t>(1)</a:t>
            </a: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295400" y="3839718"/>
            <a:ext cx="208915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50" b="1">
                <a:latin typeface="Consolas"/>
                <a:cs typeface="Consolas"/>
              </a:rPr>
              <a:t>c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91781" y="2936811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48640">
              <a:lnSpc>
                <a:spcPts val="2065"/>
              </a:lnSpc>
            </a:pPr>
            <a:r>
              <a:rPr dirty="0" sz="1750" b="1">
                <a:latin typeface="Consolas"/>
                <a:cs typeface="Consolas"/>
              </a:rPr>
              <a:t>c:</a:t>
            </a:r>
            <a:r>
              <a:rPr dirty="0" sz="1750" spc="-25" b="1">
                <a:latin typeface="Consolas"/>
                <a:cs typeface="Consolas"/>
              </a:rPr>
              <a:t> </a:t>
            </a: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391781" y="3220605"/>
            <a:ext cx="2180590" cy="509270"/>
          </a:xfrm>
          <a:custGeom>
            <a:avLst/>
            <a:gdLst/>
            <a:ahLst/>
            <a:cxnLst/>
            <a:rect l="l" t="t" r="r" b="b"/>
            <a:pathLst>
              <a:path w="2180590" h="509270">
                <a:moveTo>
                  <a:pt x="2180208" y="0"/>
                </a:moveTo>
                <a:lnTo>
                  <a:pt x="0" y="0"/>
                </a:lnTo>
                <a:lnTo>
                  <a:pt x="0" y="509003"/>
                </a:lnTo>
                <a:lnTo>
                  <a:pt x="2180208" y="509003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391781" y="3220599"/>
            <a:ext cx="2180590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430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21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410455" y="3067939"/>
            <a:ext cx="2980055" cy="977265"/>
          </a:xfrm>
          <a:custGeom>
            <a:avLst/>
            <a:gdLst/>
            <a:ahLst/>
            <a:cxnLst/>
            <a:rect l="l" t="t" r="r" b="b"/>
            <a:pathLst>
              <a:path w="2980054" h="977264">
                <a:moveTo>
                  <a:pt x="2903437" y="24191"/>
                </a:moveTo>
                <a:lnTo>
                  <a:pt x="0" y="953007"/>
                </a:lnTo>
                <a:lnTo>
                  <a:pt x="7747" y="977138"/>
                </a:lnTo>
                <a:lnTo>
                  <a:pt x="2911134" y="48337"/>
                </a:lnTo>
                <a:lnTo>
                  <a:pt x="2903437" y="24191"/>
                </a:lnTo>
                <a:close/>
              </a:path>
              <a:path w="2980054" h="977264">
                <a:moveTo>
                  <a:pt x="2972376" y="20319"/>
                </a:moveTo>
                <a:lnTo>
                  <a:pt x="2915539" y="20319"/>
                </a:lnTo>
                <a:lnTo>
                  <a:pt x="2923286" y="44450"/>
                </a:lnTo>
                <a:lnTo>
                  <a:pt x="2911134" y="48337"/>
                </a:lnTo>
                <a:lnTo>
                  <a:pt x="2918841" y="72516"/>
                </a:lnTo>
                <a:lnTo>
                  <a:pt x="2972376" y="20319"/>
                </a:lnTo>
                <a:close/>
              </a:path>
              <a:path w="2980054" h="977264">
                <a:moveTo>
                  <a:pt x="2915539" y="20319"/>
                </a:moveTo>
                <a:lnTo>
                  <a:pt x="2903437" y="24191"/>
                </a:lnTo>
                <a:lnTo>
                  <a:pt x="2911134" y="48337"/>
                </a:lnTo>
                <a:lnTo>
                  <a:pt x="2923286" y="44450"/>
                </a:lnTo>
                <a:lnTo>
                  <a:pt x="2915539" y="20319"/>
                </a:lnTo>
                <a:close/>
              </a:path>
              <a:path w="2980054" h="977264">
                <a:moveTo>
                  <a:pt x="2895727" y="0"/>
                </a:moveTo>
                <a:lnTo>
                  <a:pt x="2903437" y="24191"/>
                </a:lnTo>
                <a:lnTo>
                  <a:pt x="2915539" y="20319"/>
                </a:lnTo>
                <a:lnTo>
                  <a:pt x="2972376" y="20319"/>
                </a:lnTo>
                <a:lnTo>
                  <a:pt x="2979801" y="13080"/>
                </a:lnTo>
                <a:lnTo>
                  <a:pt x="28957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7" name="object 1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820545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dirty="0" spc="5"/>
              <a:t> </a:t>
            </a:r>
            <a:r>
              <a:rPr dirty="0"/>
              <a:t>Peek</a:t>
            </a:r>
            <a:r>
              <a:rPr dirty="0" spc="-55"/>
              <a:t> </a:t>
            </a:r>
            <a:r>
              <a:rPr dirty="0"/>
              <a:t>Into</a:t>
            </a:r>
            <a:r>
              <a:rPr dirty="0" spc="-40"/>
              <a:t> </a:t>
            </a:r>
            <a:r>
              <a:rPr dirty="0"/>
              <a:t>Memory</a:t>
            </a:r>
            <a:r>
              <a:rPr dirty="0" spc="-85"/>
              <a:t> </a:t>
            </a:r>
            <a:r>
              <a:rPr dirty="0" spc="-25"/>
              <a:t>(2)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57263" y="1413319"/>
            <a:ext cx="226123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b="1">
                <a:latin typeface="Consolas"/>
                <a:cs typeface="Consolas"/>
              </a:rPr>
              <a:t>int</a:t>
            </a:r>
            <a:r>
              <a:rPr dirty="0" sz="3200" spc="-40" b="1">
                <a:latin typeface="Consolas"/>
                <a:cs typeface="Consolas"/>
              </a:rPr>
              <a:t> </a:t>
            </a:r>
            <a:r>
              <a:rPr dirty="0" sz="3200" b="1">
                <a:latin typeface="Consolas"/>
                <a:cs typeface="Consolas"/>
              </a:rPr>
              <a:t>x</a:t>
            </a:r>
            <a:r>
              <a:rPr dirty="0" sz="3200" spc="-10" b="1">
                <a:latin typeface="Consolas"/>
                <a:cs typeface="Consolas"/>
              </a:rPr>
              <a:t> </a:t>
            </a:r>
            <a:r>
              <a:rPr dirty="0" sz="3200" b="1">
                <a:latin typeface="Consolas"/>
                <a:cs typeface="Consolas"/>
              </a:rPr>
              <a:t>=</a:t>
            </a:r>
            <a:r>
              <a:rPr dirty="0" sz="3200" spc="-40" b="1">
                <a:latin typeface="Consolas"/>
                <a:cs typeface="Consolas"/>
              </a:rPr>
              <a:t> </a:t>
            </a:r>
            <a:r>
              <a:rPr dirty="0" sz="3200" spc="-25" b="1">
                <a:latin typeface="Consolas"/>
                <a:cs typeface="Consolas"/>
              </a:rPr>
              <a:t>1;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761235" y="4193578"/>
            <a:ext cx="2653665" cy="324485"/>
          </a:xfrm>
          <a:custGeom>
            <a:avLst/>
            <a:gdLst/>
            <a:ahLst/>
            <a:cxnLst/>
            <a:rect l="l" t="t" r="r" b="b"/>
            <a:pathLst>
              <a:path w="2653665" h="324485">
                <a:moveTo>
                  <a:pt x="2653157" y="0"/>
                </a:moveTo>
                <a:lnTo>
                  <a:pt x="0" y="0"/>
                </a:lnTo>
                <a:lnTo>
                  <a:pt x="0" y="324319"/>
                </a:lnTo>
                <a:lnTo>
                  <a:pt x="2653157" y="32431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761236" y="4513427"/>
            <a:ext cx="2653665" cy="973455"/>
          </a:xfrm>
          <a:custGeom>
            <a:avLst/>
            <a:gdLst/>
            <a:ahLst/>
            <a:cxnLst/>
            <a:rect l="l" t="t" r="r" b="b"/>
            <a:pathLst>
              <a:path w="2653665" h="973454">
                <a:moveTo>
                  <a:pt x="2653157" y="0"/>
                </a:moveTo>
                <a:lnTo>
                  <a:pt x="0" y="0"/>
                </a:lnTo>
                <a:lnTo>
                  <a:pt x="0" y="324294"/>
                </a:lnTo>
                <a:lnTo>
                  <a:pt x="0" y="328828"/>
                </a:lnTo>
                <a:lnTo>
                  <a:pt x="0" y="644144"/>
                </a:lnTo>
                <a:lnTo>
                  <a:pt x="0" y="648614"/>
                </a:lnTo>
                <a:lnTo>
                  <a:pt x="0" y="972972"/>
                </a:lnTo>
                <a:lnTo>
                  <a:pt x="2653157" y="972972"/>
                </a:lnTo>
                <a:lnTo>
                  <a:pt x="2653157" y="648614"/>
                </a:lnTo>
                <a:lnTo>
                  <a:pt x="2653157" y="644144"/>
                </a:lnTo>
                <a:lnTo>
                  <a:pt x="2653157" y="328828"/>
                </a:lnTo>
                <a:lnTo>
                  <a:pt x="2653157" y="324294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>
                        <a:lnSpc>
                          <a:spcPts val="242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1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1295400" y="3839718"/>
            <a:ext cx="208915" cy="74866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2540"/>
              </a:lnSpc>
              <a:spcBef>
                <a:spcPts val="695"/>
              </a:spcBef>
            </a:pPr>
            <a:r>
              <a:rPr dirty="0" sz="2600" spc="-50" b="1">
                <a:latin typeface="Consolas"/>
                <a:cs typeface="Consolas"/>
              </a:rPr>
              <a:t>c x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391781" y="2936811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48640">
              <a:lnSpc>
                <a:spcPts val="2065"/>
              </a:lnSpc>
            </a:pPr>
            <a:r>
              <a:rPr dirty="0" sz="1750" b="1">
                <a:latin typeface="Consolas"/>
                <a:cs typeface="Consolas"/>
              </a:rPr>
              <a:t>c:</a:t>
            </a:r>
            <a:r>
              <a:rPr dirty="0" sz="1750" spc="-25" b="1">
                <a:latin typeface="Consolas"/>
                <a:cs typeface="Consolas"/>
              </a:rPr>
              <a:t> </a:t>
            </a: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391781" y="3220605"/>
            <a:ext cx="2180590" cy="509270"/>
          </a:xfrm>
          <a:custGeom>
            <a:avLst/>
            <a:gdLst/>
            <a:ahLst/>
            <a:cxnLst/>
            <a:rect l="l" t="t" r="r" b="b"/>
            <a:pathLst>
              <a:path w="2180590" h="509270">
                <a:moveTo>
                  <a:pt x="2180208" y="0"/>
                </a:moveTo>
                <a:lnTo>
                  <a:pt x="0" y="0"/>
                </a:lnTo>
                <a:lnTo>
                  <a:pt x="0" y="509003"/>
                </a:lnTo>
                <a:lnTo>
                  <a:pt x="2180208" y="509003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391781" y="3220599"/>
            <a:ext cx="2180590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430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21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410455" y="3067939"/>
            <a:ext cx="2980055" cy="977265"/>
          </a:xfrm>
          <a:custGeom>
            <a:avLst/>
            <a:gdLst/>
            <a:ahLst/>
            <a:cxnLst/>
            <a:rect l="l" t="t" r="r" b="b"/>
            <a:pathLst>
              <a:path w="2980054" h="977264">
                <a:moveTo>
                  <a:pt x="2903437" y="24191"/>
                </a:moveTo>
                <a:lnTo>
                  <a:pt x="0" y="953007"/>
                </a:lnTo>
                <a:lnTo>
                  <a:pt x="7747" y="977138"/>
                </a:lnTo>
                <a:lnTo>
                  <a:pt x="2911134" y="48337"/>
                </a:lnTo>
                <a:lnTo>
                  <a:pt x="2903437" y="24191"/>
                </a:lnTo>
                <a:close/>
              </a:path>
              <a:path w="2980054" h="977264">
                <a:moveTo>
                  <a:pt x="2972376" y="20319"/>
                </a:moveTo>
                <a:lnTo>
                  <a:pt x="2915539" y="20319"/>
                </a:lnTo>
                <a:lnTo>
                  <a:pt x="2923286" y="44450"/>
                </a:lnTo>
                <a:lnTo>
                  <a:pt x="2911134" y="48337"/>
                </a:lnTo>
                <a:lnTo>
                  <a:pt x="2918841" y="72516"/>
                </a:lnTo>
                <a:lnTo>
                  <a:pt x="2972376" y="20319"/>
                </a:lnTo>
                <a:close/>
              </a:path>
              <a:path w="2980054" h="977264">
                <a:moveTo>
                  <a:pt x="2915539" y="20319"/>
                </a:moveTo>
                <a:lnTo>
                  <a:pt x="2903437" y="24191"/>
                </a:lnTo>
                <a:lnTo>
                  <a:pt x="2911134" y="48337"/>
                </a:lnTo>
                <a:lnTo>
                  <a:pt x="2923286" y="44450"/>
                </a:lnTo>
                <a:lnTo>
                  <a:pt x="2915539" y="20319"/>
                </a:lnTo>
                <a:close/>
              </a:path>
              <a:path w="2980054" h="977264">
                <a:moveTo>
                  <a:pt x="2895727" y="0"/>
                </a:moveTo>
                <a:lnTo>
                  <a:pt x="2903437" y="24191"/>
                </a:lnTo>
                <a:lnTo>
                  <a:pt x="2915539" y="20319"/>
                </a:lnTo>
                <a:lnTo>
                  <a:pt x="2972376" y="20319"/>
                </a:lnTo>
                <a:lnTo>
                  <a:pt x="2979801" y="13080"/>
                </a:lnTo>
                <a:lnTo>
                  <a:pt x="28957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820545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dirty="0" spc="5"/>
              <a:t> </a:t>
            </a:r>
            <a:r>
              <a:rPr dirty="0"/>
              <a:t>Peek</a:t>
            </a:r>
            <a:r>
              <a:rPr dirty="0" spc="-55"/>
              <a:t> </a:t>
            </a:r>
            <a:r>
              <a:rPr dirty="0"/>
              <a:t>Into</a:t>
            </a:r>
            <a:r>
              <a:rPr dirty="0" spc="-40"/>
              <a:t> </a:t>
            </a:r>
            <a:r>
              <a:rPr dirty="0"/>
              <a:t>Memory</a:t>
            </a:r>
            <a:r>
              <a:rPr dirty="0" spc="-85"/>
              <a:t> </a:t>
            </a:r>
            <a:r>
              <a:rPr dirty="0" spc="-25"/>
              <a:t>(3)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57263" y="1413319"/>
            <a:ext cx="226314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b="1">
                <a:latin typeface="Consolas"/>
                <a:cs typeface="Consolas"/>
              </a:rPr>
              <a:t>inc(c,</a:t>
            </a:r>
            <a:r>
              <a:rPr dirty="0" sz="3200" spc="-75" b="1">
                <a:latin typeface="Consolas"/>
                <a:cs typeface="Consolas"/>
              </a:rPr>
              <a:t> </a:t>
            </a:r>
            <a:r>
              <a:rPr dirty="0" sz="3200" spc="-25" b="1">
                <a:latin typeface="Consolas"/>
                <a:cs typeface="Consolas"/>
              </a:rPr>
              <a:t>x);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>
                        <a:lnSpc>
                          <a:spcPts val="242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1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ts val="249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1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763269" y="3839718"/>
            <a:ext cx="942975" cy="1726564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544830" marR="207010">
              <a:lnSpc>
                <a:spcPts val="2560"/>
              </a:lnSpc>
              <a:spcBef>
                <a:spcPts val="675"/>
              </a:spcBef>
            </a:pPr>
            <a:r>
              <a:rPr dirty="0" sz="2600" spc="-50" b="1">
                <a:latin typeface="Consolas"/>
                <a:cs typeface="Consolas"/>
              </a:rPr>
              <a:t>c x</a:t>
            </a:r>
            <a:endParaRPr sz="2600">
              <a:latin typeface="Consolas"/>
              <a:cs typeface="Consolas"/>
            </a:endParaRPr>
          </a:p>
          <a:p>
            <a:pPr marL="12700" marR="5080">
              <a:lnSpc>
                <a:spcPts val="2570"/>
              </a:lnSpc>
              <a:spcBef>
                <a:spcPts val="2545"/>
              </a:spcBef>
            </a:pPr>
            <a:r>
              <a:rPr dirty="0" sz="2600" spc="-10" b="1">
                <a:latin typeface="Consolas"/>
                <a:cs typeface="Consolas"/>
              </a:rPr>
              <a:t>inc.c inc.x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91781" y="2936811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48640">
              <a:lnSpc>
                <a:spcPts val="2065"/>
              </a:lnSpc>
            </a:pPr>
            <a:r>
              <a:rPr dirty="0" sz="1750" b="1">
                <a:latin typeface="Consolas"/>
                <a:cs typeface="Consolas"/>
              </a:rPr>
              <a:t>c:</a:t>
            </a:r>
            <a:r>
              <a:rPr dirty="0" sz="1750" spc="-25" b="1">
                <a:latin typeface="Consolas"/>
                <a:cs typeface="Consolas"/>
              </a:rPr>
              <a:t> </a:t>
            </a: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391781" y="3220605"/>
            <a:ext cx="2180590" cy="509270"/>
          </a:xfrm>
          <a:custGeom>
            <a:avLst/>
            <a:gdLst/>
            <a:ahLst/>
            <a:cxnLst/>
            <a:rect l="l" t="t" r="r" b="b"/>
            <a:pathLst>
              <a:path w="2180590" h="509270">
                <a:moveTo>
                  <a:pt x="2180208" y="0"/>
                </a:moveTo>
                <a:lnTo>
                  <a:pt x="0" y="0"/>
                </a:lnTo>
                <a:lnTo>
                  <a:pt x="0" y="509003"/>
                </a:lnTo>
                <a:lnTo>
                  <a:pt x="2180208" y="509003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391781" y="3220599"/>
            <a:ext cx="2180590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430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21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407408" y="3067939"/>
            <a:ext cx="2983230" cy="1943735"/>
          </a:xfrm>
          <a:custGeom>
            <a:avLst/>
            <a:gdLst/>
            <a:ahLst/>
            <a:cxnLst/>
            <a:rect l="l" t="t" r="r" b="b"/>
            <a:pathLst>
              <a:path w="2983229" h="1943735">
                <a:moveTo>
                  <a:pt x="2982849" y="13081"/>
                </a:moveTo>
                <a:lnTo>
                  <a:pt x="2898775" y="0"/>
                </a:lnTo>
                <a:lnTo>
                  <a:pt x="2905633" y="21551"/>
                </a:lnTo>
                <a:lnTo>
                  <a:pt x="2898267" y="22352"/>
                </a:lnTo>
                <a:lnTo>
                  <a:pt x="2900654" y="26060"/>
                </a:lnTo>
                <a:lnTo>
                  <a:pt x="3048" y="953008"/>
                </a:lnTo>
                <a:lnTo>
                  <a:pt x="10795" y="977138"/>
                </a:lnTo>
                <a:lnTo>
                  <a:pt x="2895549" y="54305"/>
                </a:lnTo>
                <a:lnTo>
                  <a:pt x="0" y="1922018"/>
                </a:lnTo>
                <a:lnTo>
                  <a:pt x="13843" y="1943354"/>
                </a:lnTo>
                <a:lnTo>
                  <a:pt x="2920581" y="68427"/>
                </a:lnTo>
                <a:lnTo>
                  <a:pt x="2921889" y="72517"/>
                </a:lnTo>
                <a:lnTo>
                  <a:pt x="2927235" y="67297"/>
                </a:lnTo>
                <a:lnTo>
                  <a:pt x="2939542" y="86360"/>
                </a:lnTo>
                <a:lnTo>
                  <a:pt x="2968802" y="36830"/>
                </a:lnTo>
                <a:lnTo>
                  <a:pt x="2982849" y="130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820545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dirty="0" spc="5"/>
              <a:t> </a:t>
            </a:r>
            <a:r>
              <a:rPr dirty="0"/>
              <a:t>Peek</a:t>
            </a:r>
            <a:r>
              <a:rPr dirty="0" spc="-55"/>
              <a:t> </a:t>
            </a:r>
            <a:r>
              <a:rPr dirty="0"/>
              <a:t>Into</a:t>
            </a:r>
            <a:r>
              <a:rPr dirty="0" spc="-40"/>
              <a:t> </a:t>
            </a:r>
            <a:r>
              <a:rPr dirty="0"/>
              <a:t>Memory</a:t>
            </a:r>
            <a:r>
              <a:rPr dirty="0" spc="-85"/>
              <a:t> </a:t>
            </a:r>
            <a:r>
              <a:rPr dirty="0" spc="-25"/>
              <a:t>(4)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57263" y="1408900"/>
            <a:ext cx="5687060" cy="885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i="1">
                <a:latin typeface="Consolas"/>
                <a:cs typeface="Consolas"/>
              </a:rPr>
              <a:t>in</a:t>
            </a:r>
            <a:r>
              <a:rPr dirty="0" sz="2800" spc="-50" i="1">
                <a:latin typeface="Consolas"/>
                <a:cs typeface="Consolas"/>
              </a:rPr>
              <a:t> </a:t>
            </a:r>
            <a:r>
              <a:rPr dirty="0" sz="2800" spc="-10" i="1">
                <a:latin typeface="Consolas"/>
                <a:cs typeface="Consolas"/>
              </a:rPr>
              <a:t>inc()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2800" spc="-10" b="1">
                <a:latin typeface="Consolas"/>
                <a:cs typeface="Consolas"/>
              </a:rPr>
              <a:t>c.setRadius(c.getRadius()+1);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>
                        <a:lnSpc>
                          <a:spcPts val="242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1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ts val="249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1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763269" y="3839718"/>
            <a:ext cx="942975" cy="17252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544830" marR="207010">
              <a:lnSpc>
                <a:spcPts val="2560"/>
              </a:lnSpc>
              <a:spcBef>
                <a:spcPts val="675"/>
              </a:spcBef>
            </a:pPr>
            <a:r>
              <a:rPr dirty="0" sz="2600" spc="-50" b="1">
                <a:latin typeface="Consolas"/>
                <a:cs typeface="Consolas"/>
              </a:rPr>
              <a:t>c x</a:t>
            </a:r>
            <a:endParaRPr sz="2600">
              <a:latin typeface="Consolas"/>
              <a:cs typeface="Consolas"/>
            </a:endParaRPr>
          </a:p>
          <a:p>
            <a:pPr marL="12700" marR="5080">
              <a:lnSpc>
                <a:spcPts val="2560"/>
              </a:lnSpc>
              <a:spcBef>
                <a:spcPts val="2555"/>
              </a:spcBef>
            </a:pPr>
            <a:r>
              <a:rPr dirty="0" sz="2600" spc="-10" b="1">
                <a:latin typeface="Consolas"/>
                <a:cs typeface="Consolas"/>
              </a:rPr>
              <a:t>inc.c inc.x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91781" y="2936811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48640">
              <a:lnSpc>
                <a:spcPts val="2065"/>
              </a:lnSpc>
            </a:pPr>
            <a:r>
              <a:rPr dirty="0" sz="1750" b="1">
                <a:latin typeface="Consolas"/>
                <a:cs typeface="Consolas"/>
              </a:rPr>
              <a:t>c:</a:t>
            </a:r>
            <a:r>
              <a:rPr dirty="0" sz="1750" spc="-25" b="1">
                <a:latin typeface="Consolas"/>
                <a:cs typeface="Consolas"/>
              </a:rPr>
              <a:t> </a:t>
            </a: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391781" y="3220605"/>
            <a:ext cx="2180590" cy="509270"/>
          </a:xfrm>
          <a:custGeom>
            <a:avLst/>
            <a:gdLst/>
            <a:ahLst/>
            <a:cxnLst/>
            <a:rect l="l" t="t" r="r" b="b"/>
            <a:pathLst>
              <a:path w="2180590" h="509270">
                <a:moveTo>
                  <a:pt x="2180208" y="0"/>
                </a:moveTo>
                <a:lnTo>
                  <a:pt x="0" y="0"/>
                </a:lnTo>
                <a:lnTo>
                  <a:pt x="0" y="509003"/>
                </a:lnTo>
                <a:lnTo>
                  <a:pt x="2180208" y="509003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391781" y="3220599"/>
            <a:ext cx="2180590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430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21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2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407408" y="3067939"/>
            <a:ext cx="2983230" cy="1943735"/>
          </a:xfrm>
          <a:custGeom>
            <a:avLst/>
            <a:gdLst/>
            <a:ahLst/>
            <a:cxnLst/>
            <a:rect l="l" t="t" r="r" b="b"/>
            <a:pathLst>
              <a:path w="2983229" h="1943735">
                <a:moveTo>
                  <a:pt x="2982849" y="13081"/>
                </a:moveTo>
                <a:lnTo>
                  <a:pt x="2898775" y="0"/>
                </a:lnTo>
                <a:lnTo>
                  <a:pt x="2905633" y="21551"/>
                </a:lnTo>
                <a:lnTo>
                  <a:pt x="2898267" y="22352"/>
                </a:lnTo>
                <a:lnTo>
                  <a:pt x="2900654" y="26060"/>
                </a:lnTo>
                <a:lnTo>
                  <a:pt x="3048" y="953008"/>
                </a:lnTo>
                <a:lnTo>
                  <a:pt x="10795" y="977138"/>
                </a:lnTo>
                <a:lnTo>
                  <a:pt x="2895549" y="54305"/>
                </a:lnTo>
                <a:lnTo>
                  <a:pt x="0" y="1922018"/>
                </a:lnTo>
                <a:lnTo>
                  <a:pt x="13843" y="1943354"/>
                </a:lnTo>
                <a:lnTo>
                  <a:pt x="2920581" y="68427"/>
                </a:lnTo>
                <a:lnTo>
                  <a:pt x="2921889" y="72517"/>
                </a:lnTo>
                <a:lnTo>
                  <a:pt x="2927235" y="67297"/>
                </a:lnTo>
                <a:lnTo>
                  <a:pt x="2939542" y="86360"/>
                </a:lnTo>
                <a:lnTo>
                  <a:pt x="2968802" y="36830"/>
                </a:lnTo>
                <a:lnTo>
                  <a:pt x="2982849" y="130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820545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dirty="0" spc="5"/>
              <a:t> </a:t>
            </a:r>
            <a:r>
              <a:rPr dirty="0"/>
              <a:t>Peek</a:t>
            </a:r>
            <a:r>
              <a:rPr dirty="0" spc="-55"/>
              <a:t> </a:t>
            </a:r>
            <a:r>
              <a:rPr dirty="0"/>
              <a:t>Into</a:t>
            </a:r>
            <a:r>
              <a:rPr dirty="0" spc="-40"/>
              <a:t> </a:t>
            </a:r>
            <a:r>
              <a:rPr dirty="0"/>
              <a:t>Memory</a:t>
            </a:r>
            <a:r>
              <a:rPr dirty="0" spc="-85"/>
              <a:t> </a:t>
            </a:r>
            <a:r>
              <a:rPr dirty="0" spc="-25"/>
              <a:t>(5)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57263" y="1408874"/>
            <a:ext cx="1819910" cy="1003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i="1">
                <a:latin typeface="Consolas"/>
                <a:cs typeface="Consolas"/>
              </a:rPr>
              <a:t>in</a:t>
            </a:r>
            <a:r>
              <a:rPr dirty="0" sz="3200" spc="-30" i="1">
                <a:latin typeface="Consolas"/>
                <a:cs typeface="Consolas"/>
              </a:rPr>
              <a:t> </a:t>
            </a:r>
            <a:r>
              <a:rPr dirty="0" sz="3200" spc="-10" i="1">
                <a:latin typeface="Consolas"/>
                <a:cs typeface="Consolas"/>
              </a:rPr>
              <a:t>inc()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3200" spc="-20" b="1">
                <a:latin typeface="Consolas"/>
                <a:cs typeface="Consolas"/>
              </a:rPr>
              <a:t>x++;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761236" y="4193578"/>
            <a:ext cx="2653665" cy="1292860"/>
          </a:xfrm>
          <a:custGeom>
            <a:avLst/>
            <a:gdLst/>
            <a:ahLst/>
            <a:cxnLst/>
            <a:rect l="l" t="t" r="r" b="b"/>
            <a:pathLst>
              <a:path w="2653665" h="1292860">
                <a:moveTo>
                  <a:pt x="2653157" y="0"/>
                </a:moveTo>
                <a:lnTo>
                  <a:pt x="0" y="0"/>
                </a:lnTo>
                <a:lnTo>
                  <a:pt x="0" y="319849"/>
                </a:lnTo>
                <a:lnTo>
                  <a:pt x="0" y="324319"/>
                </a:lnTo>
                <a:lnTo>
                  <a:pt x="0" y="1292821"/>
                </a:lnTo>
                <a:lnTo>
                  <a:pt x="2653157" y="1292821"/>
                </a:lnTo>
                <a:lnTo>
                  <a:pt x="2653157" y="31984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>
                        <a:lnSpc>
                          <a:spcPts val="242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1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ts val="249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2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763269" y="3839718"/>
            <a:ext cx="942975" cy="17252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544830" marR="207010">
              <a:lnSpc>
                <a:spcPts val="2560"/>
              </a:lnSpc>
              <a:spcBef>
                <a:spcPts val="675"/>
              </a:spcBef>
            </a:pPr>
            <a:r>
              <a:rPr dirty="0" sz="2600" spc="-50" b="1">
                <a:latin typeface="Consolas"/>
                <a:cs typeface="Consolas"/>
              </a:rPr>
              <a:t>c x</a:t>
            </a:r>
            <a:endParaRPr sz="2600">
              <a:latin typeface="Consolas"/>
              <a:cs typeface="Consolas"/>
            </a:endParaRPr>
          </a:p>
          <a:p>
            <a:pPr marL="12700" marR="5080">
              <a:lnSpc>
                <a:spcPts val="2560"/>
              </a:lnSpc>
              <a:spcBef>
                <a:spcPts val="2555"/>
              </a:spcBef>
            </a:pPr>
            <a:r>
              <a:rPr dirty="0" sz="2600" spc="-10" b="1">
                <a:latin typeface="Consolas"/>
                <a:cs typeface="Consolas"/>
              </a:rPr>
              <a:t>inc.c inc.x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91781" y="2936811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48640">
              <a:lnSpc>
                <a:spcPts val="2065"/>
              </a:lnSpc>
            </a:pPr>
            <a:r>
              <a:rPr dirty="0" sz="1750" b="1">
                <a:latin typeface="Consolas"/>
                <a:cs typeface="Consolas"/>
              </a:rPr>
              <a:t>c:</a:t>
            </a:r>
            <a:r>
              <a:rPr dirty="0" sz="1750" spc="-25" b="1">
                <a:latin typeface="Consolas"/>
                <a:cs typeface="Consolas"/>
              </a:rPr>
              <a:t> </a:t>
            </a: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391781" y="3220605"/>
            <a:ext cx="2180590" cy="509270"/>
          </a:xfrm>
          <a:custGeom>
            <a:avLst/>
            <a:gdLst/>
            <a:ahLst/>
            <a:cxnLst/>
            <a:rect l="l" t="t" r="r" b="b"/>
            <a:pathLst>
              <a:path w="2180590" h="509270">
                <a:moveTo>
                  <a:pt x="2180208" y="0"/>
                </a:moveTo>
                <a:lnTo>
                  <a:pt x="0" y="0"/>
                </a:lnTo>
                <a:lnTo>
                  <a:pt x="0" y="509003"/>
                </a:lnTo>
                <a:lnTo>
                  <a:pt x="2180208" y="509003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391781" y="3220599"/>
            <a:ext cx="2180590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430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21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2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407408" y="3067939"/>
            <a:ext cx="2983230" cy="1943735"/>
          </a:xfrm>
          <a:custGeom>
            <a:avLst/>
            <a:gdLst/>
            <a:ahLst/>
            <a:cxnLst/>
            <a:rect l="l" t="t" r="r" b="b"/>
            <a:pathLst>
              <a:path w="2983229" h="1943735">
                <a:moveTo>
                  <a:pt x="2982849" y="13081"/>
                </a:moveTo>
                <a:lnTo>
                  <a:pt x="2898775" y="0"/>
                </a:lnTo>
                <a:lnTo>
                  <a:pt x="2905633" y="21551"/>
                </a:lnTo>
                <a:lnTo>
                  <a:pt x="2898267" y="22352"/>
                </a:lnTo>
                <a:lnTo>
                  <a:pt x="2900654" y="26060"/>
                </a:lnTo>
                <a:lnTo>
                  <a:pt x="3048" y="953008"/>
                </a:lnTo>
                <a:lnTo>
                  <a:pt x="10795" y="977138"/>
                </a:lnTo>
                <a:lnTo>
                  <a:pt x="2895549" y="54305"/>
                </a:lnTo>
                <a:lnTo>
                  <a:pt x="0" y="1922018"/>
                </a:lnTo>
                <a:lnTo>
                  <a:pt x="13843" y="1943354"/>
                </a:lnTo>
                <a:lnTo>
                  <a:pt x="2920581" y="68427"/>
                </a:lnTo>
                <a:lnTo>
                  <a:pt x="2921889" y="72517"/>
                </a:lnTo>
                <a:lnTo>
                  <a:pt x="2927235" y="67297"/>
                </a:lnTo>
                <a:lnTo>
                  <a:pt x="2939542" y="86360"/>
                </a:lnTo>
                <a:lnTo>
                  <a:pt x="2968802" y="36830"/>
                </a:lnTo>
                <a:lnTo>
                  <a:pt x="2982849" y="130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820545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dirty="0" spc="5"/>
              <a:t> </a:t>
            </a:r>
            <a:r>
              <a:rPr dirty="0"/>
              <a:t>Peek</a:t>
            </a:r>
            <a:r>
              <a:rPr dirty="0" spc="-55"/>
              <a:t> </a:t>
            </a:r>
            <a:r>
              <a:rPr dirty="0"/>
              <a:t>Into</a:t>
            </a:r>
            <a:r>
              <a:rPr dirty="0" spc="-40"/>
              <a:t> </a:t>
            </a:r>
            <a:r>
              <a:rPr dirty="0"/>
              <a:t>Memory</a:t>
            </a:r>
            <a:r>
              <a:rPr dirty="0" spc="-85"/>
              <a:t> </a:t>
            </a:r>
            <a:r>
              <a:rPr dirty="0" spc="-25"/>
              <a:t>(5)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57263" y="1408874"/>
            <a:ext cx="249110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i="1">
                <a:latin typeface="Consolas"/>
                <a:cs typeface="Consolas"/>
              </a:rPr>
              <a:t>after</a:t>
            </a:r>
            <a:r>
              <a:rPr dirty="0" sz="3200" spc="-70" i="1">
                <a:latin typeface="Consolas"/>
                <a:cs typeface="Consolas"/>
              </a:rPr>
              <a:t> </a:t>
            </a:r>
            <a:r>
              <a:rPr dirty="0" sz="3200" spc="-10" i="1">
                <a:latin typeface="Consolas"/>
                <a:cs typeface="Consolas"/>
              </a:rPr>
              <a:t>inc()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761235" y="4193578"/>
            <a:ext cx="2653665" cy="324485"/>
          </a:xfrm>
          <a:custGeom>
            <a:avLst/>
            <a:gdLst/>
            <a:ahLst/>
            <a:cxnLst/>
            <a:rect l="l" t="t" r="r" b="b"/>
            <a:pathLst>
              <a:path w="2653665" h="324485">
                <a:moveTo>
                  <a:pt x="2653157" y="0"/>
                </a:moveTo>
                <a:lnTo>
                  <a:pt x="0" y="0"/>
                </a:lnTo>
                <a:lnTo>
                  <a:pt x="0" y="324319"/>
                </a:lnTo>
                <a:lnTo>
                  <a:pt x="2653157" y="324319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761236" y="4513427"/>
            <a:ext cx="2653665" cy="973455"/>
          </a:xfrm>
          <a:custGeom>
            <a:avLst/>
            <a:gdLst/>
            <a:ahLst/>
            <a:cxnLst/>
            <a:rect l="l" t="t" r="r" b="b"/>
            <a:pathLst>
              <a:path w="2653665" h="973454">
                <a:moveTo>
                  <a:pt x="2653157" y="0"/>
                </a:moveTo>
                <a:lnTo>
                  <a:pt x="0" y="0"/>
                </a:lnTo>
                <a:lnTo>
                  <a:pt x="0" y="324294"/>
                </a:lnTo>
                <a:lnTo>
                  <a:pt x="0" y="328828"/>
                </a:lnTo>
                <a:lnTo>
                  <a:pt x="0" y="644144"/>
                </a:lnTo>
                <a:lnTo>
                  <a:pt x="0" y="648614"/>
                </a:lnTo>
                <a:lnTo>
                  <a:pt x="0" y="972972"/>
                </a:lnTo>
                <a:lnTo>
                  <a:pt x="2653157" y="972972"/>
                </a:lnTo>
                <a:lnTo>
                  <a:pt x="2653157" y="648614"/>
                </a:lnTo>
                <a:lnTo>
                  <a:pt x="2653157" y="644144"/>
                </a:lnTo>
                <a:lnTo>
                  <a:pt x="2653157" y="328828"/>
                </a:lnTo>
                <a:lnTo>
                  <a:pt x="2653157" y="324294"/>
                </a:lnTo>
                <a:lnTo>
                  <a:pt x="2653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748535" y="3856520"/>
          <a:ext cx="2755265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>
                        <a:lnSpc>
                          <a:spcPts val="2420"/>
                        </a:lnSpc>
                      </a:pPr>
                      <a:r>
                        <a:rPr dirty="0" sz="2600" spc="-50" b="1">
                          <a:latin typeface="Consolas"/>
                          <a:cs typeface="Consolas"/>
                        </a:rPr>
                        <a:t>1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1295400" y="3839718"/>
            <a:ext cx="208915" cy="7512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 marR="5080">
              <a:lnSpc>
                <a:spcPts val="2560"/>
              </a:lnSpc>
              <a:spcBef>
                <a:spcPts val="675"/>
              </a:spcBef>
            </a:pPr>
            <a:r>
              <a:rPr dirty="0" sz="2600" spc="-50" b="1">
                <a:latin typeface="Consolas"/>
                <a:cs typeface="Consolas"/>
              </a:rPr>
              <a:t>c x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79167" y="3489376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391781" y="2936811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48640">
              <a:lnSpc>
                <a:spcPts val="2065"/>
              </a:lnSpc>
            </a:pPr>
            <a:r>
              <a:rPr dirty="0" sz="1750" b="1">
                <a:latin typeface="Consolas"/>
                <a:cs typeface="Consolas"/>
              </a:rPr>
              <a:t>c:</a:t>
            </a:r>
            <a:r>
              <a:rPr dirty="0" sz="1750" spc="-25" b="1">
                <a:latin typeface="Consolas"/>
                <a:cs typeface="Consolas"/>
              </a:rPr>
              <a:t> </a:t>
            </a:r>
            <a:r>
              <a:rPr dirty="0" sz="1750" spc="-10" b="1">
                <a:latin typeface="Consolas"/>
                <a:cs typeface="Consolas"/>
              </a:rPr>
              <a:t>Circle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391781" y="3220605"/>
            <a:ext cx="2180590" cy="509270"/>
          </a:xfrm>
          <a:custGeom>
            <a:avLst/>
            <a:gdLst/>
            <a:ahLst/>
            <a:cxnLst/>
            <a:rect l="l" t="t" r="r" b="b"/>
            <a:pathLst>
              <a:path w="2180590" h="509270">
                <a:moveTo>
                  <a:pt x="2180208" y="0"/>
                </a:moveTo>
                <a:lnTo>
                  <a:pt x="0" y="0"/>
                </a:lnTo>
                <a:lnTo>
                  <a:pt x="0" y="509003"/>
                </a:lnTo>
                <a:lnTo>
                  <a:pt x="2180208" y="509003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391781" y="3220599"/>
            <a:ext cx="2180590" cy="5092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430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21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2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410455" y="3067939"/>
            <a:ext cx="2980055" cy="977265"/>
          </a:xfrm>
          <a:custGeom>
            <a:avLst/>
            <a:gdLst/>
            <a:ahLst/>
            <a:cxnLst/>
            <a:rect l="l" t="t" r="r" b="b"/>
            <a:pathLst>
              <a:path w="2980054" h="977264">
                <a:moveTo>
                  <a:pt x="2903437" y="24191"/>
                </a:moveTo>
                <a:lnTo>
                  <a:pt x="0" y="953007"/>
                </a:lnTo>
                <a:lnTo>
                  <a:pt x="7747" y="977138"/>
                </a:lnTo>
                <a:lnTo>
                  <a:pt x="2911134" y="48337"/>
                </a:lnTo>
                <a:lnTo>
                  <a:pt x="2903437" y="24191"/>
                </a:lnTo>
                <a:close/>
              </a:path>
              <a:path w="2980054" h="977264">
                <a:moveTo>
                  <a:pt x="2972376" y="20319"/>
                </a:moveTo>
                <a:lnTo>
                  <a:pt x="2915539" y="20319"/>
                </a:lnTo>
                <a:lnTo>
                  <a:pt x="2923286" y="44450"/>
                </a:lnTo>
                <a:lnTo>
                  <a:pt x="2911134" y="48337"/>
                </a:lnTo>
                <a:lnTo>
                  <a:pt x="2918841" y="72516"/>
                </a:lnTo>
                <a:lnTo>
                  <a:pt x="2972376" y="20319"/>
                </a:lnTo>
                <a:close/>
              </a:path>
              <a:path w="2980054" h="977264">
                <a:moveTo>
                  <a:pt x="2915539" y="20319"/>
                </a:moveTo>
                <a:lnTo>
                  <a:pt x="2903437" y="24191"/>
                </a:lnTo>
                <a:lnTo>
                  <a:pt x="2911134" y="48337"/>
                </a:lnTo>
                <a:lnTo>
                  <a:pt x="2923286" y="44450"/>
                </a:lnTo>
                <a:lnTo>
                  <a:pt x="2915539" y="20319"/>
                </a:lnTo>
                <a:close/>
              </a:path>
              <a:path w="2980054" h="977264">
                <a:moveTo>
                  <a:pt x="2895727" y="0"/>
                </a:moveTo>
                <a:lnTo>
                  <a:pt x="2903437" y="24191"/>
                </a:lnTo>
                <a:lnTo>
                  <a:pt x="2915539" y="20319"/>
                </a:lnTo>
                <a:lnTo>
                  <a:pt x="2972376" y="20319"/>
                </a:lnTo>
                <a:lnTo>
                  <a:pt x="2979801" y="13080"/>
                </a:lnTo>
                <a:lnTo>
                  <a:pt x="28957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510155">
              <a:lnSpc>
                <a:spcPct val="100000"/>
              </a:lnSpc>
              <a:spcBef>
                <a:spcPts val="120"/>
              </a:spcBef>
            </a:pPr>
            <a:r>
              <a:rPr dirty="0"/>
              <a:t>Arrays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10"/>
              <a:t>Objects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61759" y="1426819"/>
            <a:ext cx="8681720" cy="68516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467359" indent="-454659">
              <a:lnSpc>
                <a:spcPts val="2855"/>
              </a:lnSpc>
              <a:spcBef>
                <a:spcPts val="115"/>
              </a:spcBef>
              <a:buClr>
                <a:srgbClr val="820000"/>
              </a:buClr>
              <a:buFont typeface="Wingdings"/>
              <a:buChar char=""/>
              <a:tabLst>
                <a:tab pos="467359" algn="l"/>
              </a:tabLst>
            </a:pP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array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objects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actually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 array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reference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variables</a:t>
            </a:r>
            <a:endParaRPr sz="2400">
              <a:latin typeface="Tahoma"/>
              <a:cs typeface="Tahoma"/>
            </a:endParaRPr>
          </a:p>
          <a:p>
            <a:pPr marL="503555">
              <a:lnSpc>
                <a:spcPts val="2315"/>
              </a:lnSpc>
            </a:pPr>
            <a:r>
              <a:rPr dirty="0" sz="1950" b="1">
                <a:latin typeface="Consolas"/>
                <a:cs typeface="Consolas"/>
              </a:rPr>
              <a:t>Circle[]</a:t>
            </a:r>
            <a:r>
              <a:rPr dirty="0" sz="1950" spc="9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circles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Circle[3];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658492" y="4797971"/>
          <a:ext cx="1934845" cy="161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3245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/>
          <p:nvPr/>
        </p:nvSpPr>
        <p:spPr>
          <a:xfrm>
            <a:off x="1671193" y="5135029"/>
            <a:ext cx="1833245" cy="1288415"/>
          </a:xfrm>
          <a:custGeom>
            <a:avLst/>
            <a:gdLst/>
            <a:ahLst/>
            <a:cxnLst/>
            <a:rect l="l" t="t" r="r" b="b"/>
            <a:pathLst>
              <a:path w="1833245" h="1288414">
                <a:moveTo>
                  <a:pt x="1833245" y="644144"/>
                </a:moveTo>
                <a:lnTo>
                  <a:pt x="0" y="644144"/>
                </a:lnTo>
                <a:lnTo>
                  <a:pt x="0" y="968451"/>
                </a:lnTo>
                <a:lnTo>
                  <a:pt x="0" y="1288262"/>
                </a:lnTo>
                <a:lnTo>
                  <a:pt x="1833245" y="1288262"/>
                </a:lnTo>
                <a:lnTo>
                  <a:pt x="1833245" y="968463"/>
                </a:lnTo>
                <a:lnTo>
                  <a:pt x="1833245" y="644144"/>
                </a:lnTo>
                <a:close/>
              </a:path>
              <a:path w="1833245" h="1288414">
                <a:moveTo>
                  <a:pt x="1833245" y="0"/>
                </a:moveTo>
                <a:lnTo>
                  <a:pt x="0" y="0"/>
                </a:lnTo>
                <a:lnTo>
                  <a:pt x="0" y="324307"/>
                </a:lnTo>
                <a:lnTo>
                  <a:pt x="0" y="644105"/>
                </a:lnTo>
                <a:lnTo>
                  <a:pt x="1833245" y="644105"/>
                </a:lnTo>
                <a:lnTo>
                  <a:pt x="1833245" y="324319"/>
                </a:lnTo>
                <a:lnTo>
                  <a:pt x="18332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87591" y="4783328"/>
            <a:ext cx="130810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Consolas"/>
                <a:cs typeface="Consolas"/>
              </a:rPr>
              <a:t>circles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77008" y="4432859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689094" y="5400840"/>
            <a:ext cx="2072005" cy="644525"/>
          </a:xfrm>
          <a:custGeom>
            <a:avLst/>
            <a:gdLst/>
            <a:ahLst/>
            <a:cxnLst/>
            <a:rect l="l" t="t" r="r" b="b"/>
            <a:pathLst>
              <a:path w="2072004" h="644525">
                <a:moveTo>
                  <a:pt x="2072005" y="0"/>
                </a:moveTo>
                <a:lnTo>
                  <a:pt x="0" y="0"/>
                </a:lnTo>
                <a:lnTo>
                  <a:pt x="0" y="324294"/>
                </a:lnTo>
                <a:lnTo>
                  <a:pt x="0" y="644105"/>
                </a:lnTo>
                <a:lnTo>
                  <a:pt x="2072005" y="644105"/>
                </a:lnTo>
                <a:lnTo>
                  <a:pt x="2072005" y="324319"/>
                </a:lnTo>
                <a:lnTo>
                  <a:pt x="2072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504438" y="4938903"/>
            <a:ext cx="1184910" cy="76200"/>
          </a:xfrm>
          <a:custGeom>
            <a:avLst/>
            <a:gdLst/>
            <a:ahLst/>
            <a:cxnLst/>
            <a:rect l="l" t="t" r="r" b="b"/>
            <a:pathLst>
              <a:path w="1184910" h="76200">
                <a:moveTo>
                  <a:pt x="1108328" y="0"/>
                </a:moveTo>
                <a:lnTo>
                  <a:pt x="1108258" y="21208"/>
                </a:lnTo>
                <a:lnTo>
                  <a:pt x="1108200" y="38481"/>
                </a:lnTo>
                <a:lnTo>
                  <a:pt x="1108075" y="76200"/>
                </a:lnTo>
                <a:lnTo>
                  <a:pt x="1159216" y="50926"/>
                </a:lnTo>
                <a:lnTo>
                  <a:pt x="1120902" y="50926"/>
                </a:lnTo>
                <a:lnTo>
                  <a:pt x="1121028" y="25526"/>
                </a:lnTo>
                <a:lnTo>
                  <a:pt x="1158793" y="25526"/>
                </a:lnTo>
                <a:lnTo>
                  <a:pt x="1108328" y="0"/>
                </a:lnTo>
                <a:close/>
              </a:path>
              <a:path w="1184910" h="76200">
                <a:moveTo>
                  <a:pt x="0" y="21208"/>
                </a:moveTo>
                <a:lnTo>
                  <a:pt x="0" y="46608"/>
                </a:lnTo>
                <a:lnTo>
                  <a:pt x="1120901" y="50926"/>
                </a:lnTo>
                <a:lnTo>
                  <a:pt x="1108159" y="50926"/>
                </a:lnTo>
                <a:lnTo>
                  <a:pt x="1108243" y="25526"/>
                </a:lnTo>
                <a:lnTo>
                  <a:pt x="1121029" y="25526"/>
                </a:lnTo>
                <a:lnTo>
                  <a:pt x="0" y="21208"/>
                </a:lnTo>
                <a:close/>
              </a:path>
              <a:path w="1184910" h="76200">
                <a:moveTo>
                  <a:pt x="1158793" y="25526"/>
                </a:moveTo>
                <a:lnTo>
                  <a:pt x="1121028" y="25526"/>
                </a:lnTo>
                <a:lnTo>
                  <a:pt x="1120902" y="50926"/>
                </a:lnTo>
                <a:lnTo>
                  <a:pt x="1159216" y="50926"/>
                </a:lnTo>
                <a:lnTo>
                  <a:pt x="1184402" y="38481"/>
                </a:lnTo>
                <a:lnTo>
                  <a:pt x="1158793" y="25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142485" y="5012975"/>
            <a:ext cx="403860" cy="102298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800" spc="-25" b="1">
                <a:latin typeface="Consolas"/>
                <a:cs typeface="Consolas"/>
              </a:rPr>
              <a:t>[0]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800" spc="-25" b="1">
                <a:latin typeface="Consolas"/>
                <a:cs typeface="Consolas"/>
              </a:rPr>
              <a:t>[1]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800" spc="-25" b="1">
                <a:latin typeface="Consolas"/>
                <a:cs typeface="Consolas"/>
              </a:rPr>
              <a:t>[2]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689094" y="4824247"/>
            <a:ext cx="2072005" cy="306705"/>
          </a:xfrm>
          <a:custGeom>
            <a:avLst/>
            <a:gdLst/>
            <a:ahLst/>
            <a:cxnLst/>
            <a:rect l="l" t="t" r="r" b="b"/>
            <a:pathLst>
              <a:path w="2072004" h="306704">
                <a:moveTo>
                  <a:pt x="2072004" y="0"/>
                </a:moveTo>
                <a:lnTo>
                  <a:pt x="0" y="0"/>
                </a:lnTo>
                <a:lnTo>
                  <a:pt x="0" y="306298"/>
                </a:lnTo>
                <a:lnTo>
                  <a:pt x="2072004" y="306298"/>
                </a:lnTo>
                <a:lnTo>
                  <a:pt x="207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4676394" y="4811547"/>
          <a:ext cx="2173605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2005"/>
              </a:tblGrid>
              <a:tr h="306070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750" b="1">
                          <a:latin typeface="Consolas"/>
                          <a:cs typeface="Consolas"/>
                        </a:rPr>
                        <a:t>circles:</a:t>
                      </a:r>
                      <a:r>
                        <a:rPr dirty="0" sz="1750" spc="-120" b="1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50" spc="-10" b="1">
                          <a:latin typeface="Consolas"/>
                          <a:cs typeface="Consolas"/>
                        </a:rPr>
                        <a:t>Array</a:t>
                      </a:r>
                      <a:endParaRPr sz="1750">
                        <a:latin typeface="Consolas"/>
                        <a:cs typeface="Consolas"/>
                      </a:endParaRPr>
                    </a:p>
                  </a:txBody>
                  <a:tcPr marL="0" marR="0" marB="0" marT="69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algn="ctr" marL="2540">
                        <a:lnSpc>
                          <a:spcPts val="2030"/>
                        </a:lnSpc>
                      </a:pPr>
                      <a:r>
                        <a:rPr dirty="0" sz="2600" spc="-20" b="1">
                          <a:latin typeface="Consolas"/>
                          <a:cs typeface="Consolas"/>
                        </a:rPr>
                        <a:t>null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 marL="2540">
                        <a:lnSpc>
                          <a:spcPts val="2455"/>
                        </a:lnSpc>
                      </a:pPr>
                      <a:r>
                        <a:rPr dirty="0" sz="2600" spc="-20" b="1">
                          <a:latin typeface="Consolas"/>
                          <a:cs typeface="Consolas"/>
                        </a:rPr>
                        <a:t>null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 marL="2540">
                        <a:lnSpc>
                          <a:spcPts val="2420"/>
                        </a:lnSpc>
                      </a:pPr>
                      <a:r>
                        <a:rPr dirty="0" sz="2600" spc="-20" b="1">
                          <a:latin typeface="Consolas"/>
                          <a:cs typeface="Consolas"/>
                        </a:rPr>
                        <a:t>null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510155">
              <a:lnSpc>
                <a:spcPct val="100000"/>
              </a:lnSpc>
              <a:spcBef>
                <a:spcPts val="120"/>
              </a:spcBef>
            </a:pPr>
            <a:r>
              <a:rPr dirty="0"/>
              <a:t>Arrays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10"/>
              <a:t>Objects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61759" y="1426819"/>
            <a:ext cx="8681720" cy="99123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467359" indent="-454659">
              <a:lnSpc>
                <a:spcPts val="2855"/>
              </a:lnSpc>
              <a:spcBef>
                <a:spcPts val="115"/>
              </a:spcBef>
              <a:buClr>
                <a:srgbClr val="820000"/>
              </a:buClr>
              <a:buFont typeface="Wingdings"/>
              <a:buChar char=""/>
              <a:tabLst>
                <a:tab pos="467359" algn="l"/>
              </a:tabLst>
            </a:pP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array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objects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actually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 array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reference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variables</a:t>
            </a:r>
            <a:endParaRPr sz="2400">
              <a:latin typeface="Tahoma"/>
              <a:cs typeface="Tahoma"/>
            </a:endParaRPr>
          </a:p>
          <a:p>
            <a:pPr marL="503555">
              <a:lnSpc>
                <a:spcPts val="2315"/>
              </a:lnSpc>
            </a:pPr>
            <a:r>
              <a:rPr dirty="0" sz="1950" b="1">
                <a:latin typeface="Consolas"/>
                <a:cs typeface="Consolas"/>
              </a:rPr>
              <a:t>Circle[]</a:t>
            </a:r>
            <a:r>
              <a:rPr dirty="0" sz="1950" spc="9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circles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Circle[3];</a:t>
            </a:r>
            <a:endParaRPr sz="1950">
              <a:latin typeface="Consolas"/>
              <a:cs typeface="Consolas"/>
            </a:endParaRPr>
          </a:p>
          <a:p>
            <a:pPr marL="503555">
              <a:lnSpc>
                <a:spcPct val="100000"/>
              </a:lnSpc>
              <a:spcBef>
                <a:spcPts val="70"/>
              </a:spcBef>
            </a:pPr>
            <a:r>
              <a:rPr dirty="0" sz="1950" b="1">
                <a:latin typeface="Consolas"/>
                <a:cs typeface="Consolas"/>
              </a:rPr>
              <a:t>circles[0]</a:t>
            </a:r>
            <a:r>
              <a:rPr dirty="0" sz="1950" spc="9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658492" y="4797971"/>
          <a:ext cx="1934845" cy="161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3245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/>
          <p:nvPr/>
        </p:nvSpPr>
        <p:spPr>
          <a:xfrm>
            <a:off x="1671193" y="5135029"/>
            <a:ext cx="1833245" cy="1288415"/>
          </a:xfrm>
          <a:custGeom>
            <a:avLst/>
            <a:gdLst/>
            <a:ahLst/>
            <a:cxnLst/>
            <a:rect l="l" t="t" r="r" b="b"/>
            <a:pathLst>
              <a:path w="1833245" h="1288414">
                <a:moveTo>
                  <a:pt x="1833245" y="644144"/>
                </a:moveTo>
                <a:lnTo>
                  <a:pt x="0" y="644144"/>
                </a:lnTo>
                <a:lnTo>
                  <a:pt x="0" y="968451"/>
                </a:lnTo>
                <a:lnTo>
                  <a:pt x="0" y="1288262"/>
                </a:lnTo>
                <a:lnTo>
                  <a:pt x="1833245" y="1288262"/>
                </a:lnTo>
                <a:lnTo>
                  <a:pt x="1833245" y="968463"/>
                </a:lnTo>
                <a:lnTo>
                  <a:pt x="1833245" y="644144"/>
                </a:lnTo>
                <a:close/>
              </a:path>
              <a:path w="1833245" h="1288414">
                <a:moveTo>
                  <a:pt x="1833245" y="0"/>
                </a:moveTo>
                <a:lnTo>
                  <a:pt x="0" y="0"/>
                </a:lnTo>
                <a:lnTo>
                  <a:pt x="0" y="324307"/>
                </a:lnTo>
                <a:lnTo>
                  <a:pt x="0" y="644105"/>
                </a:lnTo>
                <a:lnTo>
                  <a:pt x="1833245" y="644105"/>
                </a:lnTo>
                <a:lnTo>
                  <a:pt x="1833245" y="324319"/>
                </a:lnTo>
                <a:lnTo>
                  <a:pt x="18332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87591" y="4783328"/>
            <a:ext cx="130810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Consolas"/>
                <a:cs typeface="Consolas"/>
              </a:rPr>
              <a:t>circles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77008" y="4432859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689094" y="5400840"/>
            <a:ext cx="2072005" cy="644525"/>
          </a:xfrm>
          <a:custGeom>
            <a:avLst/>
            <a:gdLst/>
            <a:ahLst/>
            <a:cxnLst/>
            <a:rect l="l" t="t" r="r" b="b"/>
            <a:pathLst>
              <a:path w="2072004" h="644525">
                <a:moveTo>
                  <a:pt x="2072005" y="0"/>
                </a:moveTo>
                <a:lnTo>
                  <a:pt x="0" y="0"/>
                </a:lnTo>
                <a:lnTo>
                  <a:pt x="0" y="324294"/>
                </a:lnTo>
                <a:lnTo>
                  <a:pt x="0" y="644105"/>
                </a:lnTo>
                <a:lnTo>
                  <a:pt x="2072005" y="644105"/>
                </a:lnTo>
                <a:lnTo>
                  <a:pt x="2072005" y="324319"/>
                </a:lnTo>
                <a:lnTo>
                  <a:pt x="2072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504438" y="4938903"/>
            <a:ext cx="1184910" cy="76200"/>
          </a:xfrm>
          <a:custGeom>
            <a:avLst/>
            <a:gdLst/>
            <a:ahLst/>
            <a:cxnLst/>
            <a:rect l="l" t="t" r="r" b="b"/>
            <a:pathLst>
              <a:path w="1184910" h="76200">
                <a:moveTo>
                  <a:pt x="1108328" y="0"/>
                </a:moveTo>
                <a:lnTo>
                  <a:pt x="1108258" y="21208"/>
                </a:lnTo>
                <a:lnTo>
                  <a:pt x="1108200" y="38481"/>
                </a:lnTo>
                <a:lnTo>
                  <a:pt x="1108075" y="76200"/>
                </a:lnTo>
                <a:lnTo>
                  <a:pt x="1159216" y="50926"/>
                </a:lnTo>
                <a:lnTo>
                  <a:pt x="1120902" y="50926"/>
                </a:lnTo>
                <a:lnTo>
                  <a:pt x="1121028" y="25526"/>
                </a:lnTo>
                <a:lnTo>
                  <a:pt x="1158793" y="25526"/>
                </a:lnTo>
                <a:lnTo>
                  <a:pt x="1108328" y="0"/>
                </a:lnTo>
                <a:close/>
              </a:path>
              <a:path w="1184910" h="76200">
                <a:moveTo>
                  <a:pt x="0" y="21208"/>
                </a:moveTo>
                <a:lnTo>
                  <a:pt x="0" y="46608"/>
                </a:lnTo>
                <a:lnTo>
                  <a:pt x="1120901" y="50926"/>
                </a:lnTo>
                <a:lnTo>
                  <a:pt x="1108159" y="50926"/>
                </a:lnTo>
                <a:lnTo>
                  <a:pt x="1108243" y="25526"/>
                </a:lnTo>
                <a:lnTo>
                  <a:pt x="1121029" y="25526"/>
                </a:lnTo>
                <a:lnTo>
                  <a:pt x="0" y="21208"/>
                </a:lnTo>
                <a:close/>
              </a:path>
              <a:path w="1184910" h="76200">
                <a:moveTo>
                  <a:pt x="1158793" y="25526"/>
                </a:moveTo>
                <a:lnTo>
                  <a:pt x="1121028" y="25526"/>
                </a:lnTo>
                <a:lnTo>
                  <a:pt x="1120902" y="50926"/>
                </a:lnTo>
                <a:lnTo>
                  <a:pt x="1159216" y="50926"/>
                </a:lnTo>
                <a:lnTo>
                  <a:pt x="1184402" y="38481"/>
                </a:lnTo>
                <a:lnTo>
                  <a:pt x="1158793" y="25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142485" y="5012975"/>
            <a:ext cx="403860" cy="102298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800" spc="-25" b="1">
                <a:latin typeface="Consolas"/>
                <a:cs typeface="Consolas"/>
              </a:rPr>
              <a:t>[0]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800" spc="-25" b="1">
                <a:latin typeface="Consolas"/>
                <a:cs typeface="Consolas"/>
              </a:rPr>
              <a:t>[1]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800" spc="-25" b="1">
                <a:latin typeface="Consolas"/>
                <a:cs typeface="Consolas"/>
              </a:rPr>
              <a:t>[2]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689094" y="4824247"/>
            <a:ext cx="2072005" cy="306705"/>
          </a:xfrm>
          <a:custGeom>
            <a:avLst/>
            <a:gdLst/>
            <a:ahLst/>
            <a:cxnLst/>
            <a:rect l="l" t="t" r="r" b="b"/>
            <a:pathLst>
              <a:path w="2072004" h="306704">
                <a:moveTo>
                  <a:pt x="2072004" y="0"/>
                </a:moveTo>
                <a:lnTo>
                  <a:pt x="0" y="0"/>
                </a:lnTo>
                <a:lnTo>
                  <a:pt x="0" y="306298"/>
                </a:lnTo>
                <a:lnTo>
                  <a:pt x="2072004" y="306298"/>
                </a:lnTo>
                <a:lnTo>
                  <a:pt x="207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4676394" y="4811547"/>
          <a:ext cx="2173605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2005"/>
              </a:tblGrid>
              <a:tr h="306070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750" b="1">
                          <a:latin typeface="Consolas"/>
                          <a:cs typeface="Consolas"/>
                        </a:rPr>
                        <a:t>circles:</a:t>
                      </a:r>
                      <a:r>
                        <a:rPr dirty="0" sz="1750" spc="-120" b="1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50" spc="-10" b="1">
                          <a:latin typeface="Consolas"/>
                          <a:cs typeface="Consolas"/>
                        </a:rPr>
                        <a:t>Array</a:t>
                      </a:r>
                      <a:endParaRPr sz="1750">
                        <a:latin typeface="Consolas"/>
                        <a:cs typeface="Consolas"/>
                      </a:endParaRPr>
                    </a:p>
                  </a:txBody>
                  <a:tcPr marL="0" marR="0" marB="0" marT="69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 marL="2540">
                        <a:lnSpc>
                          <a:spcPts val="2455"/>
                        </a:lnSpc>
                      </a:pPr>
                      <a:r>
                        <a:rPr dirty="0" sz="2600" spc="-20" b="1">
                          <a:latin typeface="Consolas"/>
                          <a:cs typeface="Consolas"/>
                        </a:rPr>
                        <a:t>null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 marL="2540">
                        <a:lnSpc>
                          <a:spcPts val="2420"/>
                        </a:lnSpc>
                      </a:pPr>
                      <a:r>
                        <a:rPr dirty="0" sz="2600" spc="-20" b="1">
                          <a:latin typeface="Consolas"/>
                          <a:cs typeface="Consolas"/>
                        </a:rPr>
                        <a:t>null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7328661" y="4819713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8625">
              <a:lnSpc>
                <a:spcPct val="100000"/>
              </a:lnSpc>
            </a:pPr>
            <a:r>
              <a:rPr dirty="0" sz="1700" b="1">
                <a:latin typeface="Consolas"/>
                <a:cs typeface="Consolas"/>
              </a:rPr>
              <a:t>[0]:</a:t>
            </a:r>
            <a:r>
              <a:rPr dirty="0" sz="1700" spc="55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7328661" y="5103444"/>
            <a:ext cx="2180590" cy="504825"/>
          </a:xfrm>
          <a:custGeom>
            <a:avLst/>
            <a:gdLst/>
            <a:ahLst/>
            <a:cxnLst/>
            <a:rect l="l" t="t" r="r" b="b"/>
            <a:pathLst>
              <a:path w="2180590" h="504825">
                <a:moveTo>
                  <a:pt x="2180208" y="0"/>
                </a:moveTo>
                <a:lnTo>
                  <a:pt x="0" y="0"/>
                </a:lnTo>
                <a:lnTo>
                  <a:pt x="0" y="504494"/>
                </a:lnTo>
                <a:lnTo>
                  <a:pt x="2180208" y="504494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328661" y="5103469"/>
            <a:ext cx="2180590" cy="5048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17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19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6755130" y="4959350"/>
            <a:ext cx="573405" cy="316230"/>
          </a:xfrm>
          <a:custGeom>
            <a:avLst/>
            <a:gdLst/>
            <a:ahLst/>
            <a:cxnLst/>
            <a:rect l="l" t="t" r="r" b="b"/>
            <a:pathLst>
              <a:path w="573404" h="316229">
                <a:moveTo>
                  <a:pt x="500107" y="24937"/>
                </a:moveTo>
                <a:lnTo>
                  <a:pt x="0" y="293623"/>
                </a:lnTo>
                <a:lnTo>
                  <a:pt x="12065" y="315975"/>
                </a:lnTo>
                <a:lnTo>
                  <a:pt x="512140" y="47306"/>
                </a:lnTo>
                <a:lnTo>
                  <a:pt x="500107" y="24937"/>
                </a:lnTo>
                <a:close/>
              </a:path>
              <a:path w="573404" h="316229">
                <a:moveTo>
                  <a:pt x="559914" y="18922"/>
                </a:moveTo>
                <a:lnTo>
                  <a:pt x="511301" y="18922"/>
                </a:lnTo>
                <a:lnTo>
                  <a:pt x="523367" y="41274"/>
                </a:lnTo>
                <a:lnTo>
                  <a:pt x="512140" y="47306"/>
                </a:lnTo>
                <a:lnTo>
                  <a:pt x="524128" y="69595"/>
                </a:lnTo>
                <a:lnTo>
                  <a:pt x="559914" y="18922"/>
                </a:lnTo>
                <a:close/>
              </a:path>
              <a:path w="573404" h="316229">
                <a:moveTo>
                  <a:pt x="511301" y="18922"/>
                </a:moveTo>
                <a:lnTo>
                  <a:pt x="500107" y="24937"/>
                </a:lnTo>
                <a:lnTo>
                  <a:pt x="512140" y="47306"/>
                </a:lnTo>
                <a:lnTo>
                  <a:pt x="523367" y="41274"/>
                </a:lnTo>
                <a:lnTo>
                  <a:pt x="511301" y="18922"/>
                </a:lnTo>
                <a:close/>
              </a:path>
              <a:path w="573404" h="316229">
                <a:moveTo>
                  <a:pt x="573277" y="0"/>
                </a:moveTo>
                <a:lnTo>
                  <a:pt x="488061" y="2539"/>
                </a:lnTo>
                <a:lnTo>
                  <a:pt x="500107" y="24937"/>
                </a:lnTo>
                <a:lnTo>
                  <a:pt x="511301" y="18922"/>
                </a:lnTo>
                <a:lnTo>
                  <a:pt x="559914" y="18922"/>
                </a:lnTo>
                <a:lnTo>
                  <a:pt x="573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510155">
              <a:lnSpc>
                <a:spcPct val="100000"/>
              </a:lnSpc>
              <a:spcBef>
                <a:spcPts val="120"/>
              </a:spcBef>
            </a:pPr>
            <a:r>
              <a:rPr dirty="0"/>
              <a:t>Arrays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10"/>
              <a:t>Objects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61759" y="1426819"/>
            <a:ext cx="8681720" cy="12979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467359" indent="-454659">
              <a:lnSpc>
                <a:spcPts val="2855"/>
              </a:lnSpc>
              <a:spcBef>
                <a:spcPts val="115"/>
              </a:spcBef>
              <a:buClr>
                <a:srgbClr val="820000"/>
              </a:buClr>
              <a:buFont typeface="Wingdings"/>
              <a:buChar char=""/>
              <a:tabLst>
                <a:tab pos="467359" algn="l"/>
              </a:tabLst>
            </a:pP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array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objects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actually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 array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reference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variables</a:t>
            </a:r>
            <a:endParaRPr sz="2400">
              <a:latin typeface="Tahoma"/>
              <a:cs typeface="Tahoma"/>
            </a:endParaRPr>
          </a:p>
          <a:p>
            <a:pPr marL="503555">
              <a:lnSpc>
                <a:spcPts val="2315"/>
              </a:lnSpc>
            </a:pPr>
            <a:r>
              <a:rPr dirty="0" sz="1950" b="1">
                <a:latin typeface="Consolas"/>
                <a:cs typeface="Consolas"/>
              </a:rPr>
              <a:t>Circle[]</a:t>
            </a:r>
            <a:r>
              <a:rPr dirty="0" sz="1950" spc="9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circles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Circle[3];</a:t>
            </a:r>
            <a:endParaRPr sz="1950">
              <a:latin typeface="Consolas"/>
              <a:cs typeface="Consolas"/>
            </a:endParaRPr>
          </a:p>
          <a:p>
            <a:pPr marL="503555">
              <a:lnSpc>
                <a:spcPct val="100000"/>
              </a:lnSpc>
              <a:spcBef>
                <a:spcPts val="70"/>
              </a:spcBef>
            </a:pPr>
            <a:r>
              <a:rPr dirty="0" sz="1950" b="1">
                <a:latin typeface="Consolas"/>
                <a:cs typeface="Consolas"/>
              </a:rPr>
              <a:t>circles[0]</a:t>
            </a:r>
            <a:r>
              <a:rPr dirty="0" sz="1950" spc="95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=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b="1">
                <a:latin typeface="Consolas"/>
                <a:cs typeface="Consolas"/>
              </a:rPr>
              <a:t>new</a:t>
            </a:r>
            <a:r>
              <a:rPr dirty="0" sz="1950" spc="100" b="1">
                <a:latin typeface="Consolas"/>
                <a:cs typeface="Consolas"/>
              </a:rPr>
              <a:t> </a:t>
            </a:r>
            <a:r>
              <a:rPr dirty="0" sz="1950" spc="-10" b="1">
                <a:latin typeface="Consolas"/>
                <a:cs typeface="Consolas"/>
              </a:rPr>
              <a:t>Circle();</a:t>
            </a:r>
            <a:endParaRPr sz="1950">
              <a:latin typeface="Consolas"/>
              <a:cs typeface="Consolas"/>
            </a:endParaRPr>
          </a:p>
          <a:p>
            <a:pPr marL="503555">
              <a:lnSpc>
                <a:spcPct val="100000"/>
              </a:lnSpc>
              <a:spcBef>
                <a:spcPts val="75"/>
              </a:spcBef>
            </a:pPr>
            <a:r>
              <a:rPr dirty="0" sz="1950" spc="-10" b="1">
                <a:latin typeface="Consolas"/>
                <a:cs typeface="Consolas"/>
              </a:rPr>
              <a:t>circles[0].setRadius(5);</a:t>
            </a:r>
            <a:endParaRPr sz="1950">
              <a:latin typeface="Consolas"/>
              <a:cs typeface="Consolas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658492" y="4797971"/>
          <a:ext cx="1934845" cy="161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3245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/>
          <p:nvPr/>
        </p:nvSpPr>
        <p:spPr>
          <a:xfrm>
            <a:off x="1671193" y="5135029"/>
            <a:ext cx="1833245" cy="1288415"/>
          </a:xfrm>
          <a:custGeom>
            <a:avLst/>
            <a:gdLst/>
            <a:ahLst/>
            <a:cxnLst/>
            <a:rect l="l" t="t" r="r" b="b"/>
            <a:pathLst>
              <a:path w="1833245" h="1288414">
                <a:moveTo>
                  <a:pt x="1833245" y="644144"/>
                </a:moveTo>
                <a:lnTo>
                  <a:pt x="0" y="644144"/>
                </a:lnTo>
                <a:lnTo>
                  <a:pt x="0" y="968451"/>
                </a:lnTo>
                <a:lnTo>
                  <a:pt x="0" y="1288262"/>
                </a:lnTo>
                <a:lnTo>
                  <a:pt x="1833245" y="1288262"/>
                </a:lnTo>
                <a:lnTo>
                  <a:pt x="1833245" y="968463"/>
                </a:lnTo>
                <a:lnTo>
                  <a:pt x="1833245" y="644144"/>
                </a:lnTo>
                <a:close/>
              </a:path>
              <a:path w="1833245" h="1288414">
                <a:moveTo>
                  <a:pt x="1833245" y="0"/>
                </a:moveTo>
                <a:lnTo>
                  <a:pt x="0" y="0"/>
                </a:lnTo>
                <a:lnTo>
                  <a:pt x="0" y="324307"/>
                </a:lnTo>
                <a:lnTo>
                  <a:pt x="0" y="644105"/>
                </a:lnTo>
                <a:lnTo>
                  <a:pt x="1833245" y="644105"/>
                </a:lnTo>
                <a:lnTo>
                  <a:pt x="1833245" y="324319"/>
                </a:lnTo>
                <a:lnTo>
                  <a:pt x="18332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87591" y="4783328"/>
            <a:ext cx="130810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Consolas"/>
                <a:cs typeface="Consolas"/>
              </a:rPr>
              <a:t>circles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77008" y="4432859"/>
            <a:ext cx="121983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>
                <a:latin typeface="Cambria"/>
                <a:cs typeface="Cambria"/>
              </a:rPr>
              <a:t>Memory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689094" y="5400840"/>
            <a:ext cx="2072005" cy="644525"/>
          </a:xfrm>
          <a:custGeom>
            <a:avLst/>
            <a:gdLst/>
            <a:ahLst/>
            <a:cxnLst/>
            <a:rect l="l" t="t" r="r" b="b"/>
            <a:pathLst>
              <a:path w="2072004" h="644525">
                <a:moveTo>
                  <a:pt x="2072005" y="0"/>
                </a:moveTo>
                <a:lnTo>
                  <a:pt x="0" y="0"/>
                </a:lnTo>
                <a:lnTo>
                  <a:pt x="0" y="324294"/>
                </a:lnTo>
                <a:lnTo>
                  <a:pt x="0" y="644105"/>
                </a:lnTo>
                <a:lnTo>
                  <a:pt x="2072005" y="644105"/>
                </a:lnTo>
                <a:lnTo>
                  <a:pt x="2072005" y="324319"/>
                </a:lnTo>
                <a:lnTo>
                  <a:pt x="2072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504438" y="4938903"/>
            <a:ext cx="1184910" cy="76200"/>
          </a:xfrm>
          <a:custGeom>
            <a:avLst/>
            <a:gdLst/>
            <a:ahLst/>
            <a:cxnLst/>
            <a:rect l="l" t="t" r="r" b="b"/>
            <a:pathLst>
              <a:path w="1184910" h="76200">
                <a:moveTo>
                  <a:pt x="1108328" y="0"/>
                </a:moveTo>
                <a:lnTo>
                  <a:pt x="1108258" y="21208"/>
                </a:lnTo>
                <a:lnTo>
                  <a:pt x="1108200" y="38481"/>
                </a:lnTo>
                <a:lnTo>
                  <a:pt x="1108075" y="76200"/>
                </a:lnTo>
                <a:lnTo>
                  <a:pt x="1159216" y="50926"/>
                </a:lnTo>
                <a:lnTo>
                  <a:pt x="1120902" y="50926"/>
                </a:lnTo>
                <a:lnTo>
                  <a:pt x="1121028" y="25526"/>
                </a:lnTo>
                <a:lnTo>
                  <a:pt x="1158793" y="25526"/>
                </a:lnTo>
                <a:lnTo>
                  <a:pt x="1108328" y="0"/>
                </a:lnTo>
                <a:close/>
              </a:path>
              <a:path w="1184910" h="76200">
                <a:moveTo>
                  <a:pt x="0" y="21208"/>
                </a:moveTo>
                <a:lnTo>
                  <a:pt x="0" y="46608"/>
                </a:lnTo>
                <a:lnTo>
                  <a:pt x="1120901" y="50926"/>
                </a:lnTo>
                <a:lnTo>
                  <a:pt x="1108159" y="50926"/>
                </a:lnTo>
                <a:lnTo>
                  <a:pt x="1108243" y="25526"/>
                </a:lnTo>
                <a:lnTo>
                  <a:pt x="1121029" y="25526"/>
                </a:lnTo>
                <a:lnTo>
                  <a:pt x="0" y="21208"/>
                </a:lnTo>
                <a:close/>
              </a:path>
              <a:path w="1184910" h="76200">
                <a:moveTo>
                  <a:pt x="1158793" y="25526"/>
                </a:moveTo>
                <a:lnTo>
                  <a:pt x="1121028" y="25526"/>
                </a:lnTo>
                <a:lnTo>
                  <a:pt x="1120902" y="50926"/>
                </a:lnTo>
                <a:lnTo>
                  <a:pt x="1159216" y="50926"/>
                </a:lnTo>
                <a:lnTo>
                  <a:pt x="1184402" y="38481"/>
                </a:lnTo>
                <a:lnTo>
                  <a:pt x="1158793" y="25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142485" y="5012975"/>
            <a:ext cx="403860" cy="102298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800" spc="-25" b="1">
                <a:latin typeface="Consolas"/>
                <a:cs typeface="Consolas"/>
              </a:rPr>
              <a:t>[0]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800" spc="-25" b="1">
                <a:latin typeface="Consolas"/>
                <a:cs typeface="Consolas"/>
              </a:rPr>
              <a:t>[1]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800" spc="-25" b="1">
                <a:latin typeface="Consolas"/>
                <a:cs typeface="Consolas"/>
              </a:rPr>
              <a:t>[2]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689094" y="4824247"/>
            <a:ext cx="2072005" cy="306705"/>
          </a:xfrm>
          <a:custGeom>
            <a:avLst/>
            <a:gdLst/>
            <a:ahLst/>
            <a:cxnLst/>
            <a:rect l="l" t="t" r="r" b="b"/>
            <a:pathLst>
              <a:path w="2072004" h="306704">
                <a:moveTo>
                  <a:pt x="2072004" y="0"/>
                </a:moveTo>
                <a:lnTo>
                  <a:pt x="0" y="0"/>
                </a:lnTo>
                <a:lnTo>
                  <a:pt x="0" y="306298"/>
                </a:lnTo>
                <a:lnTo>
                  <a:pt x="2072004" y="306298"/>
                </a:lnTo>
                <a:lnTo>
                  <a:pt x="207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4676394" y="4811547"/>
          <a:ext cx="2173605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2005"/>
              </a:tblGrid>
              <a:tr h="306070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750" b="1">
                          <a:latin typeface="Consolas"/>
                          <a:cs typeface="Consolas"/>
                        </a:rPr>
                        <a:t>circles:</a:t>
                      </a:r>
                      <a:r>
                        <a:rPr dirty="0" sz="1750" spc="-120" b="1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50" spc="-10" b="1">
                          <a:latin typeface="Consolas"/>
                          <a:cs typeface="Consolas"/>
                        </a:rPr>
                        <a:t>Array</a:t>
                      </a:r>
                      <a:endParaRPr sz="1750">
                        <a:latin typeface="Consolas"/>
                        <a:cs typeface="Consolas"/>
                      </a:endParaRPr>
                    </a:p>
                  </a:txBody>
                  <a:tcPr marL="0" marR="0" marB="0" marT="69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 marL="2540">
                        <a:lnSpc>
                          <a:spcPts val="2455"/>
                        </a:lnSpc>
                      </a:pPr>
                      <a:r>
                        <a:rPr dirty="0" sz="2600" spc="-20" b="1">
                          <a:latin typeface="Consolas"/>
                          <a:cs typeface="Consolas"/>
                        </a:rPr>
                        <a:t>null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 marL="2540">
                        <a:lnSpc>
                          <a:spcPts val="2420"/>
                        </a:lnSpc>
                      </a:pPr>
                      <a:r>
                        <a:rPr dirty="0" sz="2600" spc="-20" b="1">
                          <a:latin typeface="Consolas"/>
                          <a:cs typeface="Consolas"/>
                        </a:rPr>
                        <a:t>null</a:t>
                      </a:r>
                      <a:endParaRPr sz="2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7328661" y="4819713"/>
            <a:ext cx="2180590" cy="283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8625">
              <a:lnSpc>
                <a:spcPct val="100000"/>
              </a:lnSpc>
            </a:pPr>
            <a:r>
              <a:rPr dirty="0" sz="1700" b="1">
                <a:latin typeface="Consolas"/>
                <a:cs typeface="Consolas"/>
              </a:rPr>
              <a:t>[0]:</a:t>
            </a:r>
            <a:r>
              <a:rPr dirty="0" sz="1700" spc="55" b="1">
                <a:latin typeface="Consolas"/>
                <a:cs typeface="Consolas"/>
              </a:rPr>
              <a:t> </a:t>
            </a:r>
            <a:r>
              <a:rPr dirty="0" sz="1700" spc="-10" b="1">
                <a:latin typeface="Consolas"/>
                <a:cs typeface="Consolas"/>
              </a:rPr>
              <a:t>Circle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7328661" y="5103444"/>
            <a:ext cx="2180590" cy="504825"/>
          </a:xfrm>
          <a:custGeom>
            <a:avLst/>
            <a:gdLst/>
            <a:ahLst/>
            <a:cxnLst/>
            <a:rect l="l" t="t" r="r" b="b"/>
            <a:pathLst>
              <a:path w="2180590" h="504825">
                <a:moveTo>
                  <a:pt x="2180208" y="0"/>
                </a:moveTo>
                <a:lnTo>
                  <a:pt x="0" y="0"/>
                </a:lnTo>
                <a:lnTo>
                  <a:pt x="0" y="504494"/>
                </a:lnTo>
                <a:lnTo>
                  <a:pt x="2180208" y="504494"/>
                </a:lnTo>
                <a:lnTo>
                  <a:pt x="2180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328661" y="5103469"/>
            <a:ext cx="2180590" cy="5048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517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195"/>
              </a:spcBef>
            </a:pPr>
            <a:r>
              <a:rPr dirty="0" sz="1200">
                <a:latin typeface="Consolas"/>
                <a:cs typeface="Consolas"/>
              </a:rPr>
              <a:t>radius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1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6755130" y="4959350"/>
            <a:ext cx="573405" cy="316230"/>
          </a:xfrm>
          <a:custGeom>
            <a:avLst/>
            <a:gdLst/>
            <a:ahLst/>
            <a:cxnLst/>
            <a:rect l="l" t="t" r="r" b="b"/>
            <a:pathLst>
              <a:path w="573404" h="316229">
                <a:moveTo>
                  <a:pt x="500107" y="24937"/>
                </a:moveTo>
                <a:lnTo>
                  <a:pt x="0" y="293623"/>
                </a:lnTo>
                <a:lnTo>
                  <a:pt x="12065" y="315975"/>
                </a:lnTo>
                <a:lnTo>
                  <a:pt x="512140" y="47306"/>
                </a:lnTo>
                <a:lnTo>
                  <a:pt x="500107" y="24937"/>
                </a:lnTo>
                <a:close/>
              </a:path>
              <a:path w="573404" h="316229">
                <a:moveTo>
                  <a:pt x="559914" y="18922"/>
                </a:moveTo>
                <a:lnTo>
                  <a:pt x="511301" y="18922"/>
                </a:lnTo>
                <a:lnTo>
                  <a:pt x="523367" y="41274"/>
                </a:lnTo>
                <a:lnTo>
                  <a:pt x="512140" y="47306"/>
                </a:lnTo>
                <a:lnTo>
                  <a:pt x="524128" y="69595"/>
                </a:lnTo>
                <a:lnTo>
                  <a:pt x="559914" y="18922"/>
                </a:lnTo>
                <a:close/>
              </a:path>
              <a:path w="573404" h="316229">
                <a:moveTo>
                  <a:pt x="511301" y="18922"/>
                </a:moveTo>
                <a:lnTo>
                  <a:pt x="500107" y="24937"/>
                </a:lnTo>
                <a:lnTo>
                  <a:pt x="512140" y="47306"/>
                </a:lnTo>
                <a:lnTo>
                  <a:pt x="523367" y="41274"/>
                </a:lnTo>
                <a:lnTo>
                  <a:pt x="511301" y="18922"/>
                </a:lnTo>
                <a:close/>
              </a:path>
              <a:path w="573404" h="316229">
                <a:moveTo>
                  <a:pt x="573277" y="0"/>
                </a:moveTo>
                <a:lnTo>
                  <a:pt x="488061" y="2539"/>
                </a:lnTo>
                <a:lnTo>
                  <a:pt x="500107" y="24937"/>
                </a:lnTo>
                <a:lnTo>
                  <a:pt x="511301" y="18922"/>
                </a:lnTo>
                <a:lnTo>
                  <a:pt x="559914" y="18922"/>
                </a:lnTo>
                <a:lnTo>
                  <a:pt x="573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798445">
              <a:lnSpc>
                <a:spcPct val="100000"/>
              </a:lnSpc>
              <a:spcBef>
                <a:spcPts val="114"/>
              </a:spcBef>
            </a:pPr>
            <a:r>
              <a:rPr dirty="0" spc="-10" b="1">
                <a:latin typeface="Consolas"/>
                <a:cs typeface="Consolas"/>
              </a:rPr>
              <a:t>this</a:t>
            </a:r>
            <a:r>
              <a:rPr dirty="0" spc="-894" b="1">
                <a:latin typeface="Consolas"/>
                <a:cs typeface="Consolas"/>
              </a:rPr>
              <a:t> </a:t>
            </a:r>
            <a:r>
              <a:rPr dirty="0" spc="-10"/>
              <a:t>Keyword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13319"/>
            <a:ext cx="8775700" cy="321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Within</a:t>
            </a:r>
            <a:r>
              <a:rPr dirty="0" sz="3200" spc="-1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object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method,</a:t>
            </a:r>
            <a:r>
              <a:rPr dirty="0" sz="3200" spc="15">
                <a:latin typeface="Tahoma"/>
                <a:cs typeface="Tahoma"/>
              </a:rPr>
              <a:t> </a:t>
            </a:r>
            <a:r>
              <a:rPr dirty="0" sz="3200" spc="-40" b="1">
                <a:latin typeface="Consolas"/>
                <a:cs typeface="Consolas"/>
              </a:rPr>
              <a:t>this</a:t>
            </a:r>
            <a:r>
              <a:rPr dirty="0" sz="3200" spc="-675" b="1">
                <a:latin typeface="Consolas"/>
                <a:cs typeface="Consolas"/>
              </a:rPr>
              <a:t> </a:t>
            </a:r>
            <a:r>
              <a:rPr dirty="0" sz="3200">
                <a:latin typeface="Tahoma"/>
                <a:cs typeface="Tahoma"/>
              </a:rPr>
              <a:t>refers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the</a:t>
            </a:r>
            <a:endParaRPr sz="3200">
              <a:latin typeface="Tahoma"/>
              <a:cs typeface="Tahoma"/>
            </a:endParaRPr>
          </a:p>
          <a:p>
            <a:pPr marL="287020">
              <a:lnSpc>
                <a:spcPts val="3835"/>
              </a:lnSpc>
              <a:spcBef>
                <a:spcPts val="135"/>
              </a:spcBef>
            </a:pPr>
            <a:r>
              <a:rPr dirty="0" sz="3200">
                <a:latin typeface="Tahoma"/>
                <a:cs typeface="Tahoma"/>
              </a:rPr>
              <a:t>“current”</a:t>
            </a:r>
            <a:r>
              <a:rPr dirty="0" sz="3200" spc="-12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object</a:t>
            </a:r>
            <a:endParaRPr sz="3200">
              <a:latin typeface="Tahoma"/>
              <a:cs typeface="Tahoma"/>
            </a:endParaRPr>
          </a:p>
          <a:p>
            <a:pPr marL="287020" indent="-274320">
              <a:lnSpc>
                <a:spcPts val="3835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Common</a:t>
            </a:r>
            <a:r>
              <a:rPr dirty="0" sz="3200" spc="-130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uses</a:t>
            </a:r>
            <a:endParaRPr sz="3200">
              <a:latin typeface="Tahoma"/>
              <a:cs typeface="Tahoma"/>
            </a:endParaRPr>
          </a:p>
          <a:p>
            <a:pPr marL="742315" marR="934085" indent="-275590">
              <a:lnSpc>
                <a:spcPts val="3370"/>
              </a:lnSpc>
              <a:spcBef>
                <a:spcPts val="105"/>
              </a:spcBef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30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Refer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private</a:t>
            </a:r>
            <a:r>
              <a:rPr dirty="0" sz="2800" spc="-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variables that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have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same </a:t>
            </a:r>
            <a:r>
              <a:rPr dirty="0" sz="2800">
                <a:latin typeface="Tahoma"/>
                <a:cs typeface="Tahoma"/>
              </a:rPr>
              <a:t>name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parameter</a:t>
            </a:r>
            <a:endParaRPr sz="2800">
              <a:latin typeface="Tahoma"/>
              <a:cs typeface="Tahoma"/>
            </a:endParaRPr>
          </a:p>
          <a:p>
            <a:pPr marL="742315" marR="5080" indent="-275590">
              <a:lnSpc>
                <a:spcPts val="3370"/>
              </a:lnSpc>
            </a:pPr>
            <a:r>
              <a:rPr dirty="0" sz="2800">
                <a:solidFill>
                  <a:srgbClr val="820000"/>
                </a:solidFill>
                <a:latin typeface="Verdana"/>
                <a:cs typeface="Verdana"/>
              </a:rPr>
              <a:t>»</a:t>
            </a:r>
            <a:r>
              <a:rPr dirty="0" sz="2800" spc="-625">
                <a:solidFill>
                  <a:srgbClr val="820000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Within</a:t>
            </a:r>
            <a:r>
              <a:rPr dirty="0" sz="2800" spc="-1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constructor,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invoke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another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constructor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of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same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class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91254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Example</a:t>
            </a:r>
            <a:r>
              <a:rPr dirty="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(1)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56958" y="1432865"/>
            <a:ext cx="3648710" cy="5580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115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Circle.java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ts val="1375"/>
              </a:lnSpc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5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class</a:t>
            </a:r>
            <a:r>
              <a:rPr dirty="0" sz="1150" spc="5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Circle</a:t>
            </a:r>
            <a:r>
              <a:rPr dirty="0" sz="1150" spc="55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5"/>
              </a:spcBef>
            </a:pPr>
            <a:r>
              <a:rPr dirty="0" sz="1150" b="1">
                <a:latin typeface="Consolas"/>
                <a:cs typeface="Consolas"/>
              </a:rPr>
              <a:t>private</a:t>
            </a:r>
            <a:r>
              <a:rPr dirty="0" sz="1150" spc="3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double</a:t>
            </a:r>
            <a:r>
              <a:rPr dirty="0" sz="1150" spc="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radius</a:t>
            </a:r>
            <a:r>
              <a:rPr dirty="0" sz="1150" spc="4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=</a:t>
            </a:r>
            <a:r>
              <a:rPr dirty="0" sz="1150" spc="5" b="1">
                <a:latin typeface="Consolas"/>
                <a:cs typeface="Consolas"/>
              </a:rPr>
              <a:t> </a:t>
            </a:r>
            <a:r>
              <a:rPr dirty="0" sz="1150" spc="-20" b="1">
                <a:latin typeface="Consolas"/>
                <a:cs typeface="Consolas"/>
              </a:rPr>
              <a:t>1.0;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2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Circle()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0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Circle(double radius)</a:t>
            </a:r>
            <a:r>
              <a:rPr dirty="0" sz="1150" spc="45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5"/>
              </a:spcBef>
            </a:pPr>
            <a:r>
              <a:rPr dirty="0" sz="1150" spc="-10" b="1">
                <a:latin typeface="Consolas"/>
                <a:cs typeface="Consolas"/>
              </a:rPr>
              <a:t>setRadius(radius);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Consolas"/>
              <a:cs typeface="Consolas"/>
            </a:endParaRPr>
          </a:p>
          <a:p>
            <a:pPr marL="914400" marR="949960" indent="-450850">
              <a:lnSpc>
                <a:spcPct val="123400"/>
              </a:lnSpc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double</a:t>
            </a:r>
            <a:r>
              <a:rPr dirty="0" sz="1150" spc="4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getRadius()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 </a:t>
            </a:r>
            <a:r>
              <a:rPr dirty="0" sz="1150" b="1">
                <a:latin typeface="Consolas"/>
                <a:cs typeface="Consolas"/>
              </a:rPr>
              <a:t>return</a:t>
            </a:r>
            <a:r>
              <a:rPr dirty="0" sz="1150" spc="20" b="1">
                <a:latin typeface="Consolas"/>
                <a:cs typeface="Consolas"/>
              </a:rPr>
              <a:t> </a:t>
            </a:r>
            <a:r>
              <a:rPr dirty="0" sz="1150" spc="-10" b="1">
                <a:latin typeface="Consolas"/>
                <a:cs typeface="Consolas"/>
              </a:rPr>
              <a:t>radius;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9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void</a:t>
            </a:r>
            <a:r>
              <a:rPr dirty="0" sz="1150" spc="7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setRadius(double</a:t>
            </a:r>
            <a:r>
              <a:rPr dirty="0" sz="1150" spc="10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radius)</a:t>
            </a:r>
            <a:r>
              <a:rPr dirty="0" sz="1150" spc="60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5"/>
              </a:spcBef>
            </a:pPr>
            <a:r>
              <a:rPr dirty="0" sz="1150" b="1">
                <a:latin typeface="Consolas"/>
                <a:cs typeface="Consolas"/>
              </a:rPr>
              <a:t>if</a:t>
            </a:r>
            <a:r>
              <a:rPr dirty="0" sz="1150" spc="-1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(radius&gt;0)</a:t>
            </a:r>
            <a:r>
              <a:rPr dirty="0" sz="1150" spc="40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1360170">
              <a:lnSpc>
                <a:spcPct val="100000"/>
              </a:lnSpc>
              <a:spcBef>
                <a:spcPts val="355"/>
              </a:spcBef>
            </a:pPr>
            <a:r>
              <a:rPr dirty="0" sz="1150" b="1">
                <a:latin typeface="Consolas"/>
                <a:cs typeface="Consolas"/>
              </a:rPr>
              <a:t>this.radius</a:t>
            </a:r>
            <a:r>
              <a:rPr dirty="0" sz="1150" spc="1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=</a:t>
            </a:r>
            <a:r>
              <a:rPr dirty="0" sz="1150" spc="40" b="1">
                <a:latin typeface="Consolas"/>
                <a:cs typeface="Consolas"/>
              </a:rPr>
              <a:t> </a:t>
            </a:r>
            <a:r>
              <a:rPr dirty="0" sz="1150" spc="-10" b="1">
                <a:latin typeface="Consolas"/>
                <a:cs typeface="Consolas"/>
              </a:rPr>
              <a:t>radius;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2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double</a:t>
            </a:r>
            <a:r>
              <a:rPr dirty="0" sz="1150" spc="4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getArea()</a:t>
            </a:r>
            <a:r>
              <a:rPr dirty="0" sz="1150" spc="5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5"/>
              </a:spcBef>
            </a:pPr>
            <a:r>
              <a:rPr dirty="0" sz="1150" b="1">
                <a:latin typeface="Consolas"/>
                <a:cs typeface="Consolas"/>
              </a:rPr>
              <a:t>return</a:t>
            </a:r>
            <a:r>
              <a:rPr dirty="0" sz="1150" spc="6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Math.PI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*</a:t>
            </a:r>
            <a:r>
              <a:rPr dirty="0" sz="1150" spc="6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radius</a:t>
            </a:r>
            <a:r>
              <a:rPr dirty="0" sz="1150" spc="2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*</a:t>
            </a:r>
            <a:r>
              <a:rPr dirty="0" sz="1150" spc="60" b="1">
                <a:latin typeface="Consolas"/>
                <a:cs typeface="Consolas"/>
              </a:rPr>
              <a:t> </a:t>
            </a:r>
            <a:r>
              <a:rPr dirty="0" sz="1150" spc="-10" b="1">
                <a:latin typeface="Consolas"/>
                <a:cs typeface="Consolas"/>
              </a:rPr>
              <a:t>radius;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09464" y="1432865"/>
            <a:ext cx="4271645" cy="2994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Notes</a:t>
            </a:r>
            <a:endParaRPr sz="2600">
              <a:latin typeface="Tahoma"/>
              <a:cs typeface="Tahoma"/>
            </a:endParaRPr>
          </a:p>
          <a:p>
            <a:pPr marL="455930" marR="6350" indent="-275590">
              <a:lnSpc>
                <a:spcPct val="100099"/>
              </a:lnSpc>
              <a:spcBef>
                <a:spcPts val="130"/>
              </a:spcBef>
              <a:buClr>
                <a:srgbClr val="820000"/>
              </a:buClr>
              <a:buFont typeface="Wingdings"/>
              <a:buChar char=""/>
              <a:tabLst>
                <a:tab pos="455930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method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parameter</a:t>
            </a:r>
            <a:r>
              <a:rPr dirty="0" sz="2400" spc="-13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has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same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name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member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variable,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parameter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name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“hides”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member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variable</a:t>
            </a:r>
            <a:endParaRPr sz="2400">
              <a:latin typeface="Tahoma"/>
              <a:cs typeface="Tahoma"/>
            </a:endParaRPr>
          </a:p>
          <a:p>
            <a:pPr marL="455930" marR="5080" indent="-275590">
              <a:lnSpc>
                <a:spcPts val="2800"/>
              </a:lnSpc>
              <a:spcBef>
                <a:spcPts val="155"/>
              </a:spcBef>
              <a:buClr>
                <a:srgbClr val="820000"/>
              </a:buClr>
              <a:buFont typeface="Wingdings"/>
              <a:buChar char=""/>
              <a:tabLst>
                <a:tab pos="455930" algn="l"/>
              </a:tabLst>
            </a:pP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access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member </a:t>
            </a:r>
            <a:r>
              <a:rPr dirty="0" sz="2400">
                <a:latin typeface="Tahoma"/>
                <a:cs typeface="Tahoma"/>
              </a:rPr>
              <a:t>variable,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</a:t>
            </a:r>
            <a:r>
              <a:rPr dirty="0" sz="2400" spc="35">
                <a:latin typeface="Tahoma"/>
                <a:cs typeface="Tahoma"/>
              </a:rPr>
              <a:t> </a:t>
            </a:r>
            <a:r>
              <a:rPr dirty="0" sz="2400" spc="-10" b="1">
                <a:latin typeface="Consolas"/>
                <a:cs typeface="Consolas"/>
              </a:rPr>
              <a:t>this.varName</a:t>
            </a:r>
            <a:endParaRPr sz="2400">
              <a:latin typeface="Consolas"/>
              <a:cs typeface="Consolas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942238" y="4820539"/>
            <a:ext cx="3314065" cy="1223645"/>
            <a:chOff x="942238" y="4820539"/>
            <a:chExt cx="3314065" cy="1223645"/>
          </a:xfrm>
        </p:grpSpPr>
        <p:sp>
          <p:nvSpPr>
            <p:cNvPr id="10" name="object 10" descr=""/>
            <p:cNvSpPr/>
            <p:nvPr/>
          </p:nvSpPr>
          <p:spPr>
            <a:xfrm>
              <a:off x="954938" y="4833239"/>
              <a:ext cx="3288665" cy="1198245"/>
            </a:xfrm>
            <a:custGeom>
              <a:avLst/>
              <a:gdLst/>
              <a:ahLst/>
              <a:cxnLst/>
              <a:rect l="l" t="t" r="r" b="b"/>
              <a:pathLst>
                <a:path w="3288665" h="1198245">
                  <a:moveTo>
                    <a:pt x="3088487" y="0"/>
                  </a:moveTo>
                  <a:lnTo>
                    <a:pt x="199707" y="0"/>
                  </a:lnTo>
                  <a:lnTo>
                    <a:pt x="153915" y="5274"/>
                  </a:lnTo>
                  <a:lnTo>
                    <a:pt x="111879" y="20296"/>
                  </a:lnTo>
                  <a:lnTo>
                    <a:pt x="74798" y="43867"/>
                  </a:lnTo>
                  <a:lnTo>
                    <a:pt x="43872" y="74787"/>
                  </a:lnTo>
                  <a:lnTo>
                    <a:pt x="20297" y="111856"/>
                  </a:lnTo>
                  <a:lnTo>
                    <a:pt x="5274" y="153875"/>
                  </a:lnTo>
                  <a:lnTo>
                    <a:pt x="0" y="199644"/>
                  </a:lnTo>
                  <a:lnTo>
                    <a:pt x="0" y="998474"/>
                  </a:lnTo>
                  <a:lnTo>
                    <a:pt x="5274" y="1044242"/>
                  </a:lnTo>
                  <a:lnTo>
                    <a:pt x="20297" y="1086261"/>
                  </a:lnTo>
                  <a:lnTo>
                    <a:pt x="43872" y="1123330"/>
                  </a:lnTo>
                  <a:lnTo>
                    <a:pt x="74798" y="1154250"/>
                  </a:lnTo>
                  <a:lnTo>
                    <a:pt x="111879" y="1177821"/>
                  </a:lnTo>
                  <a:lnTo>
                    <a:pt x="153915" y="1192843"/>
                  </a:lnTo>
                  <a:lnTo>
                    <a:pt x="199707" y="1198118"/>
                  </a:lnTo>
                  <a:lnTo>
                    <a:pt x="3088487" y="1198118"/>
                  </a:lnTo>
                  <a:lnTo>
                    <a:pt x="3134303" y="1192843"/>
                  </a:lnTo>
                  <a:lnTo>
                    <a:pt x="3176356" y="1177821"/>
                  </a:lnTo>
                  <a:lnTo>
                    <a:pt x="3213447" y="1154250"/>
                  </a:lnTo>
                  <a:lnTo>
                    <a:pt x="3244381" y="1123330"/>
                  </a:lnTo>
                  <a:lnTo>
                    <a:pt x="3267959" y="1086261"/>
                  </a:lnTo>
                  <a:lnTo>
                    <a:pt x="3282984" y="1044242"/>
                  </a:lnTo>
                  <a:lnTo>
                    <a:pt x="3288258" y="998474"/>
                  </a:lnTo>
                  <a:lnTo>
                    <a:pt x="3288258" y="199644"/>
                  </a:lnTo>
                  <a:lnTo>
                    <a:pt x="3282984" y="153875"/>
                  </a:lnTo>
                  <a:lnTo>
                    <a:pt x="3267959" y="111856"/>
                  </a:lnTo>
                  <a:lnTo>
                    <a:pt x="3244381" y="74787"/>
                  </a:lnTo>
                  <a:lnTo>
                    <a:pt x="3213447" y="43867"/>
                  </a:lnTo>
                  <a:lnTo>
                    <a:pt x="3176356" y="20296"/>
                  </a:lnTo>
                  <a:lnTo>
                    <a:pt x="3134303" y="5274"/>
                  </a:lnTo>
                  <a:lnTo>
                    <a:pt x="3088487" y="0"/>
                  </a:lnTo>
                  <a:close/>
                </a:path>
              </a:pathLst>
            </a:custGeom>
            <a:solidFill>
              <a:srgbClr val="00CC9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54938" y="4833239"/>
              <a:ext cx="3288665" cy="1198245"/>
            </a:xfrm>
            <a:custGeom>
              <a:avLst/>
              <a:gdLst/>
              <a:ahLst/>
              <a:cxnLst/>
              <a:rect l="l" t="t" r="r" b="b"/>
              <a:pathLst>
                <a:path w="3288665" h="1198245">
                  <a:moveTo>
                    <a:pt x="0" y="199644"/>
                  </a:moveTo>
                  <a:lnTo>
                    <a:pt x="5274" y="153875"/>
                  </a:lnTo>
                  <a:lnTo>
                    <a:pt x="20297" y="111856"/>
                  </a:lnTo>
                  <a:lnTo>
                    <a:pt x="43872" y="74787"/>
                  </a:lnTo>
                  <a:lnTo>
                    <a:pt x="74798" y="43867"/>
                  </a:lnTo>
                  <a:lnTo>
                    <a:pt x="111879" y="20296"/>
                  </a:lnTo>
                  <a:lnTo>
                    <a:pt x="153915" y="5274"/>
                  </a:lnTo>
                  <a:lnTo>
                    <a:pt x="199707" y="0"/>
                  </a:lnTo>
                  <a:lnTo>
                    <a:pt x="3088487" y="0"/>
                  </a:lnTo>
                  <a:lnTo>
                    <a:pt x="3134303" y="5274"/>
                  </a:lnTo>
                  <a:lnTo>
                    <a:pt x="3176356" y="20296"/>
                  </a:lnTo>
                  <a:lnTo>
                    <a:pt x="3213447" y="43867"/>
                  </a:lnTo>
                  <a:lnTo>
                    <a:pt x="3244381" y="74787"/>
                  </a:lnTo>
                  <a:lnTo>
                    <a:pt x="3267959" y="111856"/>
                  </a:lnTo>
                  <a:lnTo>
                    <a:pt x="3282984" y="153875"/>
                  </a:lnTo>
                  <a:lnTo>
                    <a:pt x="3288258" y="199644"/>
                  </a:lnTo>
                  <a:lnTo>
                    <a:pt x="3288258" y="998474"/>
                  </a:lnTo>
                  <a:lnTo>
                    <a:pt x="3282984" y="1044242"/>
                  </a:lnTo>
                  <a:lnTo>
                    <a:pt x="3267959" y="1086261"/>
                  </a:lnTo>
                  <a:lnTo>
                    <a:pt x="3244381" y="1123330"/>
                  </a:lnTo>
                  <a:lnTo>
                    <a:pt x="3213447" y="1154250"/>
                  </a:lnTo>
                  <a:lnTo>
                    <a:pt x="3176356" y="1177821"/>
                  </a:lnTo>
                  <a:lnTo>
                    <a:pt x="3134303" y="1192843"/>
                  </a:lnTo>
                  <a:lnTo>
                    <a:pt x="3088487" y="1198118"/>
                  </a:lnTo>
                  <a:lnTo>
                    <a:pt x="199707" y="1198118"/>
                  </a:lnTo>
                  <a:lnTo>
                    <a:pt x="153915" y="1192843"/>
                  </a:lnTo>
                  <a:lnTo>
                    <a:pt x="111879" y="1177821"/>
                  </a:lnTo>
                  <a:lnTo>
                    <a:pt x="74798" y="1154250"/>
                  </a:lnTo>
                  <a:lnTo>
                    <a:pt x="43872" y="1123330"/>
                  </a:lnTo>
                  <a:lnTo>
                    <a:pt x="20297" y="1086261"/>
                  </a:lnTo>
                  <a:lnTo>
                    <a:pt x="5274" y="1044242"/>
                  </a:lnTo>
                  <a:lnTo>
                    <a:pt x="0" y="998474"/>
                  </a:lnTo>
                  <a:lnTo>
                    <a:pt x="0" y="199644"/>
                  </a:lnTo>
                  <a:close/>
                </a:path>
              </a:pathLst>
            </a:custGeom>
            <a:ln w="25400">
              <a:solidFill>
                <a:srgbClr val="00946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91254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Example</a:t>
            </a:r>
            <a:r>
              <a:rPr dirty="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(2)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56958" y="1432865"/>
            <a:ext cx="3648710" cy="5580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115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Circle.java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ts val="1375"/>
              </a:lnSpc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5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class</a:t>
            </a:r>
            <a:r>
              <a:rPr dirty="0" sz="1150" spc="5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Circle</a:t>
            </a:r>
            <a:r>
              <a:rPr dirty="0" sz="1150" spc="55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5"/>
              </a:spcBef>
            </a:pPr>
            <a:r>
              <a:rPr dirty="0" sz="1150" b="1">
                <a:latin typeface="Consolas"/>
                <a:cs typeface="Consolas"/>
              </a:rPr>
              <a:t>private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double </a:t>
            </a:r>
            <a:r>
              <a:rPr dirty="0" sz="1150" spc="-10" b="1">
                <a:latin typeface="Consolas"/>
                <a:cs typeface="Consolas"/>
              </a:rPr>
              <a:t>radius;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2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Circle()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0"/>
              </a:spcBef>
            </a:pPr>
            <a:r>
              <a:rPr dirty="0" sz="1150" spc="-10" b="1">
                <a:latin typeface="Consolas"/>
                <a:cs typeface="Consolas"/>
              </a:rPr>
              <a:t>this(1.0);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9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Circle(double</a:t>
            </a:r>
            <a:r>
              <a:rPr dirty="0" sz="1150" spc="5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radius)</a:t>
            </a:r>
            <a:r>
              <a:rPr dirty="0" sz="1150" spc="95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5"/>
              </a:spcBef>
            </a:pPr>
            <a:r>
              <a:rPr dirty="0" sz="1150" spc="-10" b="1">
                <a:latin typeface="Consolas"/>
                <a:cs typeface="Consolas"/>
              </a:rPr>
              <a:t>setRadius(radius);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0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double</a:t>
            </a:r>
            <a:r>
              <a:rPr dirty="0" sz="1150" spc="4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getRadius()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0"/>
              </a:spcBef>
            </a:pPr>
            <a:r>
              <a:rPr dirty="0" sz="1150" b="1">
                <a:latin typeface="Consolas"/>
                <a:cs typeface="Consolas"/>
              </a:rPr>
              <a:t>return</a:t>
            </a:r>
            <a:r>
              <a:rPr dirty="0" sz="1150" spc="50" b="1">
                <a:latin typeface="Consolas"/>
                <a:cs typeface="Consolas"/>
              </a:rPr>
              <a:t> </a:t>
            </a:r>
            <a:r>
              <a:rPr dirty="0" sz="1150" spc="-10" b="1">
                <a:latin typeface="Consolas"/>
                <a:cs typeface="Consolas"/>
              </a:rPr>
              <a:t>radius;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0"/>
              </a:spcBef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9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void</a:t>
            </a:r>
            <a:r>
              <a:rPr dirty="0" sz="1150" spc="7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setRadius(double</a:t>
            </a:r>
            <a:r>
              <a:rPr dirty="0" sz="1150" spc="10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radius)</a:t>
            </a:r>
            <a:r>
              <a:rPr dirty="0" sz="1150" spc="60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5"/>
              </a:spcBef>
            </a:pPr>
            <a:r>
              <a:rPr dirty="0" sz="1150" b="1">
                <a:latin typeface="Consolas"/>
                <a:cs typeface="Consolas"/>
              </a:rPr>
              <a:t>if</a:t>
            </a:r>
            <a:r>
              <a:rPr dirty="0" sz="1150" spc="-1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(radius&gt;0)</a:t>
            </a:r>
            <a:r>
              <a:rPr dirty="0" sz="1150" spc="40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1360170">
              <a:lnSpc>
                <a:spcPct val="100000"/>
              </a:lnSpc>
              <a:spcBef>
                <a:spcPts val="360"/>
              </a:spcBef>
            </a:pPr>
            <a:r>
              <a:rPr dirty="0" sz="1150" b="1">
                <a:latin typeface="Consolas"/>
                <a:cs typeface="Consolas"/>
              </a:rPr>
              <a:t>this.radius</a:t>
            </a:r>
            <a:r>
              <a:rPr dirty="0" sz="1150" spc="1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=</a:t>
            </a:r>
            <a:r>
              <a:rPr dirty="0" sz="1150" spc="40" b="1">
                <a:latin typeface="Consolas"/>
                <a:cs typeface="Consolas"/>
              </a:rPr>
              <a:t> </a:t>
            </a:r>
            <a:r>
              <a:rPr dirty="0" sz="1150" spc="-10" b="1">
                <a:latin typeface="Consolas"/>
                <a:cs typeface="Consolas"/>
              </a:rPr>
              <a:t>radius;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0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latin typeface="Consolas"/>
                <a:cs typeface="Consolas"/>
              </a:rPr>
              <a:t>public</a:t>
            </a:r>
            <a:r>
              <a:rPr dirty="0" sz="1150" spc="2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double</a:t>
            </a:r>
            <a:r>
              <a:rPr dirty="0" sz="1150" spc="4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getArea()</a:t>
            </a:r>
            <a:r>
              <a:rPr dirty="0" sz="1150" spc="5" b="1">
                <a:latin typeface="Consolas"/>
                <a:cs typeface="Consolas"/>
              </a:rPr>
              <a:t> </a:t>
            </a:r>
            <a:r>
              <a:rPr dirty="0" sz="1150" spc="-50" b="1">
                <a:latin typeface="Consolas"/>
                <a:cs typeface="Consolas"/>
              </a:rPr>
              <a:t>{</a:t>
            </a:r>
            <a:endParaRPr sz="1150">
              <a:latin typeface="Consolas"/>
              <a:cs typeface="Consolas"/>
            </a:endParaRPr>
          </a:p>
          <a:p>
            <a:pPr marL="914400">
              <a:lnSpc>
                <a:spcPct val="100000"/>
              </a:lnSpc>
              <a:spcBef>
                <a:spcPts val="320"/>
              </a:spcBef>
            </a:pPr>
            <a:r>
              <a:rPr dirty="0" sz="1150" b="1">
                <a:latin typeface="Consolas"/>
                <a:cs typeface="Consolas"/>
              </a:rPr>
              <a:t>return</a:t>
            </a:r>
            <a:r>
              <a:rPr dirty="0" sz="1150" spc="6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Math.PI</a:t>
            </a:r>
            <a:r>
              <a:rPr dirty="0" sz="1150" spc="3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*</a:t>
            </a:r>
            <a:r>
              <a:rPr dirty="0" sz="1150" spc="60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radius</a:t>
            </a:r>
            <a:r>
              <a:rPr dirty="0" sz="1150" spc="25" b="1">
                <a:latin typeface="Consolas"/>
                <a:cs typeface="Consolas"/>
              </a:rPr>
              <a:t> </a:t>
            </a:r>
            <a:r>
              <a:rPr dirty="0" sz="1150" b="1">
                <a:latin typeface="Consolas"/>
                <a:cs typeface="Consolas"/>
              </a:rPr>
              <a:t>*</a:t>
            </a:r>
            <a:r>
              <a:rPr dirty="0" sz="1150" spc="60" b="1">
                <a:latin typeface="Consolas"/>
                <a:cs typeface="Consolas"/>
              </a:rPr>
              <a:t> </a:t>
            </a:r>
            <a:r>
              <a:rPr dirty="0" sz="1150" spc="-10" b="1">
                <a:latin typeface="Consolas"/>
                <a:cs typeface="Consolas"/>
              </a:rPr>
              <a:t>radius;</a:t>
            </a:r>
            <a:endParaRPr sz="1150">
              <a:latin typeface="Consolas"/>
              <a:cs typeface="Consolas"/>
            </a:endParaRPr>
          </a:p>
          <a:p>
            <a:pPr marL="46355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50" spc="-50" b="1">
                <a:latin typeface="Consolas"/>
                <a:cs typeface="Consolas"/>
              </a:rPr>
              <a:t>}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09464" y="1432865"/>
            <a:ext cx="4263390" cy="37242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Notes</a:t>
            </a:r>
            <a:endParaRPr sz="2600">
              <a:latin typeface="Tahoma"/>
              <a:cs typeface="Tahoma"/>
            </a:endParaRPr>
          </a:p>
          <a:p>
            <a:pPr marL="455930" marR="5080" indent="-275590">
              <a:lnSpc>
                <a:spcPct val="100499"/>
              </a:lnSpc>
              <a:spcBef>
                <a:spcPts val="114"/>
              </a:spcBef>
              <a:buClr>
                <a:srgbClr val="820000"/>
              </a:buClr>
              <a:buFont typeface="Wingdings"/>
              <a:buChar char=""/>
              <a:tabLst>
                <a:tab pos="45593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default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constructor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now </a:t>
            </a:r>
            <a:r>
              <a:rPr dirty="0" sz="2400">
                <a:latin typeface="Tahoma"/>
                <a:cs typeface="Tahoma"/>
              </a:rPr>
              <a:t>calls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specialized constructor</a:t>
            </a:r>
            <a:endParaRPr sz="2400">
              <a:latin typeface="Tahoma"/>
              <a:cs typeface="Tahoma"/>
            </a:endParaRPr>
          </a:p>
          <a:p>
            <a:pPr marL="455930" marR="282575" indent="-275590">
              <a:lnSpc>
                <a:spcPts val="2870"/>
              </a:lnSpc>
              <a:spcBef>
                <a:spcPts val="100"/>
              </a:spcBef>
              <a:buClr>
                <a:srgbClr val="820000"/>
              </a:buClr>
              <a:buFont typeface="Wingdings"/>
              <a:buChar char=""/>
              <a:tabLst>
                <a:tab pos="455930" algn="l"/>
              </a:tabLst>
            </a:pPr>
            <a:r>
              <a:rPr dirty="0" sz="2400">
                <a:latin typeface="Tahoma"/>
                <a:cs typeface="Tahoma"/>
              </a:rPr>
              <a:t>This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makes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sure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all </a:t>
            </a:r>
            <a:r>
              <a:rPr dirty="0" sz="2400">
                <a:latin typeface="Tahoma"/>
                <a:cs typeface="Tahoma"/>
              </a:rPr>
              <a:t>attempts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change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radius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(via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construction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or</a:t>
            </a:r>
            <a:endParaRPr sz="2400">
              <a:latin typeface="Tahoma"/>
              <a:cs typeface="Tahoma"/>
            </a:endParaRPr>
          </a:p>
          <a:p>
            <a:pPr algn="just" marL="455930" marR="8890">
              <a:lnSpc>
                <a:spcPct val="98000"/>
              </a:lnSpc>
              <a:spcBef>
                <a:spcPts val="5"/>
              </a:spcBef>
            </a:pPr>
            <a:r>
              <a:rPr dirty="0" sz="2400">
                <a:latin typeface="Tahoma"/>
                <a:cs typeface="Tahoma"/>
              </a:rPr>
              <a:t>user)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pass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through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common </a:t>
            </a:r>
            <a:r>
              <a:rPr dirty="0" sz="2400">
                <a:latin typeface="Tahoma"/>
                <a:cs typeface="Tahoma"/>
              </a:rPr>
              <a:t>validation,</a:t>
            </a:r>
            <a:r>
              <a:rPr dirty="0" sz="2400" spc="-1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reducing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risk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error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97191" y="2406142"/>
            <a:ext cx="1818639" cy="786765"/>
            <a:chOff x="897191" y="2406142"/>
            <a:chExt cx="1818639" cy="786765"/>
          </a:xfrm>
        </p:grpSpPr>
        <p:sp>
          <p:nvSpPr>
            <p:cNvPr id="10" name="object 10" descr=""/>
            <p:cNvSpPr/>
            <p:nvPr/>
          </p:nvSpPr>
          <p:spPr>
            <a:xfrm>
              <a:off x="909891" y="2418842"/>
              <a:ext cx="1793239" cy="761365"/>
            </a:xfrm>
            <a:custGeom>
              <a:avLst/>
              <a:gdLst/>
              <a:ahLst/>
              <a:cxnLst/>
              <a:rect l="l" t="t" r="r" b="b"/>
              <a:pathLst>
                <a:path w="1793239" h="761364">
                  <a:moveTo>
                    <a:pt x="1665922" y="0"/>
                  </a:moveTo>
                  <a:lnTo>
                    <a:pt x="126885" y="0"/>
                  </a:lnTo>
                  <a:lnTo>
                    <a:pt x="77495" y="9965"/>
                  </a:lnTo>
                  <a:lnTo>
                    <a:pt x="37163" y="37147"/>
                  </a:lnTo>
                  <a:lnTo>
                    <a:pt x="9971" y="77473"/>
                  </a:lnTo>
                  <a:lnTo>
                    <a:pt x="0" y="126873"/>
                  </a:lnTo>
                  <a:lnTo>
                    <a:pt x="0" y="634364"/>
                  </a:lnTo>
                  <a:lnTo>
                    <a:pt x="9971" y="683764"/>
                  </a:lnTo>
                  <a:lnTo>
                    <a:pt x="37163" y="724090"/>
                  </a:lnTo>
                  <a:lnTo>
                    <a:pt x="77495" y="751272"/>
                  </a:lnTo>
                  <a:lnTo>
                    <a:pt x="126885" y="761238"/>
                  </a:lnTo>
                  <a:lnTo>
                    <a:pt x="1665922" y="761238"/>
                  </a:lnTo>
                  <a:lnTo>
                    <a:pt x="1715321" y="751272"/>
                  </a:lnTo>
                  <a:lnTo>
                    <a:pt x="1755648" y="724090"/>
                  </a:lnTo>
                  <a:lnTo>
                    <a:pt x="1782829" y="683764"/>
                  </a:lnTo>
                  <a:lnTo>
                    <a:pt x="1792795" y="634364"/>
                  </a:lnTo>
                  <a:lnTo>
                    <a:pt x="1792795" y="126873"/>
                  </a:lnTo>
                  <a:lnTo>
                    <a:pt x="1782829" y="77473"/>
                  </a:lnTo>
                  <a:lnTo>
                    <a:pt x="1755648" y="37147"/>
                  </a:lnTo>
                  <a:lnTo>
                    <a:pt x="1715321" y="9965"/>
                  </a:lnTo>
                  <a:lnTo>
                    <a:pt x="1665922" y="0"/>
                  </a:lnTo>
                  <a:close/>
                </a:path>
              </a:pathLst>
            </a:custGeom>
            <a:solidFill>
              <a:srgbClr val="00CC9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09891" y="2418842"/>
              <a:ext cx="1793239" cy="761365"/>
            </a:xfrm>
            <a:custGeom>
              <a:avLst/>
              <a:gdLst/>
              <a:ahLst/>
              <a:cxnLst/>
              <a:rect l="l" t="t" r="r" b="b"/>
              <a:pathLst>
                <a:path w="1793239" h="761364">
                  <a:moveTo>
                    <a:pt x="0" y="126873"/>
                  </a:moveTo>
                  <a:lnTo>
                    <a:pt x="9971" y="77473"/>
                  </a:lnTo>
                  <a:lnTo>
                    <a:pt x="37163" y="37147"/>
                  </a:lnTo>
                  <a:lnTo>
                    <a:pt x="77495" y="9965"/>
                  </a:lnTo>
                  <a:lnTo>
                    <a:pt x="126885" y="0"/>
                  </a:lnTo>
                  <a:lnTo>
                    <a:pt x="1665922" y="0"/>
                  </a:lnTo>
                  <a:lnTo>
                    <a:pt x="1715321" y="9965"/>
                  </a:lnTo>
                  <a:lnTo>
                    <a:pt x="1755648" y="37147"/>
                  </a:lnTo>
                  <a:lnTo>
                    <a:pt x="1782829" y="77473"/>
                  </a:lnTo>
                  <a:lnTo>
                    <a:pt x="1792795" y="126873"/>
                  </a:lnTo>
                  <a:lnTo>
                    <a:pt x="1792795" y="634364"/>
                  </a:lnTo>
                  <a:lnTo>
                    <a:pt x="1782829" y="683764"/>
                  </a:lnTo>
                  <a:lnTo>
                    <a:pt x="1755648" y="724090"/>
                  </a:lnTo>
                  <a:lnTo>
                    <a:pt x="1715321" y="751272"/>
                  </a:lnTo>
                  <a:lnTo>
                    <a:pt x="1665922" y="761238"/>
                  </a:lnTo>
                  <a:lnTo>
                    <a:pt x="126885" y="761238"/>
                  </a:lnTo>
                  <a:lnTo>
                    <a:pt x="77495" y="751272"/>
                  </a:lnTo>
                  <a:lnTo>
                    <a:pt x="37163" y="724090"/>
                  </a:lnTo>
                  <a:lnTo>
                    <a:pt x="9971" y="683764"/>
                  </a:lnTo>
                  <a:lnTo>
                    <a:pt x="0" y="634364"/>
                  </a:lnTo>
                  <a:lnTo>
                    <a:pt x="0" y="126873"/>
                  </a:lnTo>
                  <a:close/>
                </a:path>
              </a:pathLst>
            </a:custGeom>
            <a:ln w="25400">
              <a:solidFill>
                <a:srgbClr val="00946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964689">
              <a:lnSpc>
                <a:spcPct val="100000"/>
              </a:lnSpc>
              <a:spcBef>
                <a:spcPts val="114"/>
              </a:spcBef>
            </a:pPr>
            <a:r>
              <a:rPr dirty="0"/>
              <a:t>The</a:t>
            </a:r>
            <a:r>
              <a:rPr dirty="0" spc="-25"/>
              <a:t> </a:t>
            </a:r>
            <a:r>
              <a:rPr dirty="0" spc="-10" b="1">
                <a:latin typeface="Consolas"/>
                <a:cs typeface="Consolas"/>
              </a:rPr>
              <a:t>toString</a:t>
            </a:r>
            <a:r>
              <a:rPr dirty="0" spc="-925" b="1">
                <a:latin typeface="Consolas"/>
                <a:cs typeface="Consolas"/>
              </a:rPr>
              <a:t> </a:t>
            </a:r>
            <a:r>
              <a:rPr dirty="0" spc="-10"/>
              <a:t>Method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42238" y="1413319"/>
            <a:ext cx="7840980" cy="34556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7020" marR="31115" indent="-274955">
              <a:lnSpc>
                <a:spcPts val="3979"/>
              </a:lnSpc>
              <a:spcBef>
                <a:spcPts val="110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 spc="-40" b="1">
                <a:latin typeface="Consolas"/>
                <a:cs typeface="Consolas"/>
              </a:rPr>
              <a:t>toString</a:t>
            </a:r>
            <a:r>
              <a:rPr dirty="0" sz="3200" spc="-620" b="1">
                <a:latin typeface="Consolas"/>
                <a:cs typeface="Consolas"/>
              </a:rPr>
              <a:t> </a:t>
            </a:r>
            <a:r>
              <a:rPr dirty="0" sz="3200">
                <a:latin typeface="Tahoma"/>
                <a:cs typeface="Tahoma"/>
              </a:rPr>
              <a:t>method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used</a:t>
            </a:r>
            <a:r>
              <a:rPr dirty="0" sz="3200" spc="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return</a:t>
            </a:r>
            <a:r>
              <a:rPr dirty="0" sz="3200" spc="30">
                <a:latin typeface="Tahoma"/>
                <a:cs typeface="Tahoma"/>
              </a:rPr>
              <a:t> </a:t>
            </a:r>
            <a:r>
              <a:rPr dirty="0" sz="3200" spc="-50">
                <a:latin typeface="Tahoma"/>
                <a:cs typeface="Tahoma"/>
              </a:rPr>
              <a:t>a </a:t>
            </a:r>
            <a:r>
              <a:rPr dirty="0" sz="3200">
                <a:latin typeface="Tahoma"/>
                <a:cs typeface="Tahoma"/>
              </a:rPr>
              <a:t>string</a:t>
            </a:r>
            <a:r>
              <a:rPr dirty="0" sz="3200" spc="-10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representation</a:t>
            </a:r>
            <a:r>
              <a:rPr dirty="0" sz="3200" spc="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1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10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object</a:t>
            </a:r>
            <a:endParaRPr sz="3200">
              <a:latin typeface="Tahoma"/>
              <a:cs typeface="Tahoma"/>
            </a:endParaRPr>
          </a:p>
          <a:p>
            <a:pPr marL="287020" indent="-274320">
              <a:lnSpc>
                <a:spcPts val="3670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This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useful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when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debugging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and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using</a:t>
            </a:r>
            <a:endParaRPr sz="3200">
              <a:latin typeface="Tahoma"/>
              <a:cs typeface="Tahoma"/>
            </a:endParaRPr>
          </a:p>
          <a:p>
            <a:pPr marL="287020">
              <a:lnSpc>
                <a:spcPts val="3765"/>
              </a:lnSpc>
              <a:spcBef>
                <a:spcPts val="25"/>
              </a:spcBef>
            </a:pPr>
            <a:r>
              <a:rPr dirty="0" sz="3200">
                <a:latin typeface="Tahoma"/>
                <a:cs typeface="Tahoma"/>
              </a:rPr>
              <a:t>terminal/file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output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on</a:t>
            </a:r>
            <a:r>
              <a:rPr dirty="0" sz="3200" spc="-13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objects</a:t>
            </a:r>
            <a:endParaRPr sz="3200">
              <a:latin typeface="Tahoma"/>
              <a:cs typeface="Tahoma"/>
            </a:endParaRPr>
          </a:p>
          <a:p>
            <a:pPr marL="287020" indent="-274320">
              <a:lnSpc>
                <a:spcPts val="3765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 sz="3200">
                <a:latin typeface="Tahoma"/>
                <a:cs typeface="Tahoma"/>
              </a:rPr>
              <a:t>If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class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does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not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have a</a:t>
            </a:r>
            <a:r>
              <a:rPr dirty="0" sz="3200" spc="-5">
                <a:latin typeface="Tahoma"/>
                <a:cs typeface="Tahoma"/>
              </a:rPr>
              <a:t> </a:t>
            </a:r>
            <a:r>
              <a:rPr dirty="0" sz="3200" spc="-10" b="1">
                <a:latin typeface="Consolas"/>
                <a:cs typeface="Consolas"/>
              </a:rPr>
              <a:t>toString</a:t>
            </a:r>
            <a:endParaRPr sz="3200">
              <a:latin typeface="Consolas"/>
              <a:cs typeface="Consolas"/>
            </a:endParaRPr>
          </a:p>
          <a:p>
            <a:pPr marL="287020" marR="5080">
              <a:lnSpc>
                <a:spcPct val="100000"/>
              </a:lnSpc>
              <a:spcBef>
                <a:spcPts val="135"/>
              </a:spcBef>
            </a:pPr>
            <a:r>
              <a:rPr dirty="0" sz="3200">
                <a:latin typeface="Tahoma"/>
                <a:cs typeface="Tahoma"/>
              </a:rPr>
              <a:t>method,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a…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less-</a:t>
            </a:r>
            <a:r>
              <a:rPr dirty="0" sz="3200" spc="-25">
                <a:latin typeface="Tahoma"/>
                <a:cs typeface="Tahoma"/>
              </a:rPr>
              <a:t>than-</a:t>
            </a:r>
            <a:r>
              <a:rPr dirty="0" sz="3200">
                <a:latin typeface="Tahoma"/>
                <a:cs typeface="Tahoma"/>
              </a:rPr>
              <a:t>useful</a:t>
            </a:r>
            <a:r>
              <a:rPr dirty="0" sz="3200" spc="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string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will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be </a:t>
            </a:r>
            <a:r>
              <a:rPr dirty="0" sz="3200">
                <a:latin typeface="Tahoma"/>
                <a:cs typeface="Tahoma"/>
              </a:rPr>
              <a:t>shown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(more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on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how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this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works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soon!)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91254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Example</a:t>
            </a:r>
            <a:r>
              <a:rPr dirty="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(1)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30835" y="1432865"/>
            <a:ext cx="3931285" cy="22479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38784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Name.java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4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class Name</a:t>
            </a:r>
            <a:r>
              <a:rPr dirty="0" sz="1200" spc="-25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ts val="1430"/>
              </a:lnSpc>
              <a:spcBef>
                <a:spcPts val="10"/>
              </a:spcBef>
            </a:pPr>
            <a:r>
              <a:rPr dirty="0" sz="1200" b="1">
                <a:latin typeface="Consolas"/>
                <a:cs typeface="Consolas"/>
              </a:rPr>
              <a:t>final</a:t>
            </a:r>
            <a:r>
              <a:rPr dirty="0" sz="1200" spc="2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private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String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fName;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ts val="1430"/>
              </a:lnSpc>
            </a:pPr>
            <a:r>
              <a:rPr dirty="0" sz="1200" b="1">
                <a:latin typeface="Consolas"/>
                <a:cs typeface="Consolas"/>
              </a:rPr>
              <a:t>final</a:t>
            </a:r>
            <a:r>
              <a:rPr dirty="0" sz="1200" spc="2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private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String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lName;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Name(String</a:t>
            </a:r>
            <a:r>
              <a:rPr dirty="0" sz="1200" spc="-1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fName,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String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lName)</a:t>
            </a:r>
            <a:r>
              <a:rPr dirty="0" sz="1200" spc="10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913765">
              <a:lnSpc>
                <a:spcPct val="100000"/>
              </a:lnSpc>
              <a:spcBef>
                <a:spcPts val="15"/>
              </a:spcBef>
            </a:pPr>
            <a:r>
              <a:rPr dirty="0" sz="1200" b="1">
                <a:latin typeface="Consolas"/>
                <a:cs typeface="Consolas"/>
              </a:rPr>
              <a:t>this.fName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15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fName;</a:t>
            </a:r>
            <a:endParaRPr sz="1200">
              <a:latin typeface="Consolas"/>
              <a:cs typeface="Consolas"/>
            </a:endParaRPr>
          </a:p>
          <a:p>
            <a:pPr marL="913765">
              <a:lnSpc>
                <a:spcPts val="1430"/>
              </a:lnSpc>
              <a:spcBef>
                <a:spcPts val="15"/>
              </a:spcBef>
            </a:pPr>
            <a:r>
              <a:rPr dirty="0" sz="1200" b="1">
                <a:latin typeface="Consolas"/>
                <a:cs typeface="Consolas"/>
              </a:rPr>
              <a:t>this.lName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10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lName;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ts val="1430"/>
              </a:lnSpc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09464" y="1432865"/>
            <a:ext cx="4368800" cy="13716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ahoma"/>
                <a:cs typeface="Tahoma"/>
              </a:rPr>
              <a:t>Anywhere</a:t>
            </a:r>
            <a:endParaRPr sz="2600">
              <a:latin typeface="Tahoma"/>
              <a:cs typeface="Tahoma"/>
            </a:endParaRPr>
          </a:p>
          <a:p>
            <a:pPr marL="233679" marR="5080">
              <a:lnSpc>
                <a:spcPct val="199700"/>
              </a:lnSpc>
              <a:spcBef>
                <a:spcPts val="240"/>
              </a:spcBef>
            </a:pPr>
            <a:r>
              <a:rPr dirty="0" sz="1200" b="1">
                <a:latin typeface="Consolas"/>
                <a:cs typeface="Consolas"/>
              </a:rPr>
              <a:t>Name</a:t>
            </a:r>
            <a:r>
              <a:rPr dirty="0" sz="1200" spc="-4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javaInventor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new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Name("James",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"Gosling"); </a:t>
            </a:r>
            <a:r>
              <a:rPr dirty="0" sz="1200" b="1">
                <a:latin typeface="Consolas"/>
                <a:cs typeface="Consolas"/>
              </a:rPr>
              <a:t>System.out.printf("Java</a:t>
            </a:r>
            <a:r>
              <a:rPr dirty="0" sz="1200" spc="-7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was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invented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by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%s.%n",</a:t>
            </a:r>
            <a:endParaRPr sz="1200">
              <a:latin typeface="Consolas"/>
              <a:cs typeface="Consolas"/>
            </a:endParaRPr>
          </a:p>
          <a:p>
            <a:pPr marL="683895">
              <a:lnSpc>
                <a:spcPct val="100000"/>
              </a:lnSpc>
              <a:spcBef>
                <a:spcPts val="15"/>
              </a:spcBef>
            </a:pPr>
            <a:r>
              <a:rPr dirty="0" sz="1200" spc="-10" b="1">
                <a:latin typeface="Consolas"/>
                <a:cs typeface="Consolas"/>
              </a:rPr>
              <a:t>javaInventor);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428" y="855713"/>
            <a:ext cx="9809480" cy="5772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91254" algn="l"/>
                <a:tab pos="9796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Example</a:t>
            </a:r>
            <a:r>
              <a:rPr dirty="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(2)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45859" y="1410703"/>
            <a:ext cx="3931920" cy="302196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423545">
              <a:lnSpc>
                <a:spcPct val="100000"/>
              </a:lnSpc>
              <a:spcBef>
                <a:spcPts val="300"/>
              </a:spcBef>
            </a:pPr>
            <a:r>
              <a:rPr dirty="0" sz="2600" spc="-10" b="1">
                <a:latin typeface="Tahoma"/>
                <a:cs typeface="Tahoma"/>
              </a:rPr>
              <a:t>Name.java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4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class Name</a:t>
            </a:r>
            <a:r>
              <a:rPr dirty="0" sz="1200" spc="-25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ts val="1430"/>
              </a:lnSpc>
              <a:spcBef>
                <a:spcPts val="15"/>
              </a:spcBef>
            </a:pPr>
            <a:r>
              <a:rPr dirty="0" sz="1200" b="1">
                <a:latin typeface="Consolas"/>
                <a:cs typeface="Consolas"/>
              </a:rPr>
              <a:t>final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private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String</a:t>
            </a:r>
            <a:r>
              <a:rPr dirty="0" sz="1200" spc="-10" b="1">
                <a:latin typeface="Consolas"/>
                <a:cs typeface="Consolas"/>
              </a:rPr>
              <a:t> fName;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ts val="1430"/>
              </a:lnSpc>
            </a:pPr>
            <a:r>
              <a:rPr dirty="0" sz="1200" b="1">
                <a:latin typeface="Consolas"/>
                <a:cs typeface="Consolas"/>
              </a:rPr>
              <a:t>final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private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String</a:t>
            </a:r>
            <a:r>
              <a:rPr dirty="0" sz="1200" spc="-10" b="1">
                <a:latin typeface="Consolas"/>
                <a:cs typeface="Consolas"/>
              </a:rPr>
              <a:t> lName;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4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Name(String</a:t>
            </a:r>
            <a:r>
              <a:rPr dirty="0" sz="1200" spc="1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fName,</a:t>
            </a:r>
            <a:r>
              <a:rPr dirty="0" sz="1200" spc="-4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String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lName)</a:t>
            </a:r>
            <a:r>
              <a:rPr dirty="0" sz="1200" spc="-5" b="1">
                <a:latin typeface="Consolas"/>
                <a:cs typeface="Consolas"/>
              </a:rPr>
              <a:t>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913765">
              <a:lnSpc>
                <a:spcPct val="100000"/>
              </a:lnSpc>
              <a:spcBef>
                <a:spcPts val="20"/>
              </a:spcBef>
            </a:pPr>
            <a:r>
              <a:rPr dirty="0" sz="1200" b="1">
                <a:latin typeface="Consolas"/>
                <a:cs typeface="Consolas"/>
              </a:rPr>
              <a:t>this.fName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10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fName;</a:t>
            </a:r>
            <a:endParaRPr sz="1200">
              <a:latin typeface="Consolas"/>
              <a:cs typeface="Consolas"/>
            </a:endParaRPr>
          </a:p>
          <a:p>
            <a:pPr marL="913765">
              <a:lnSpc>
                <a:spcPts val="1430"/>
              </a:lnSpc>
              <a:spcBef>
                <a:spcPts val="10"/>
              </a:spcBef>
            </a:pPr>
            <a:r>
              <a:rPr dirty="0" sz="1200" b="1">
                <a:latin typeface="Consolas"/>
                <a:cs typeface="Consolas"/>
              </a:rPr>
              <a:t>this.lName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10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lName;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ts val="1430"/>
              </a:lnSpc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Consolas"/>
              <a:cs typeface="Consolas"/>
            </a:endParaRPr>
          </a:p>
          <a:p>
            <a:pPr marL="462915">
              <a:lnSpc>
                <a:spcPct val="100000"/>
              </a:lnSpc>
            </a:pPr>
            <a:r>
              <a:rPr dirty="0" sz="1200" b="1">
                <a:latin typeface="Consolas"/>
                <a:cs typeface="Consolas"/>
              </a:rPr>
              <a:t>public</a:t>
            </a:r>
            <a:r>
              <a:rPr dirty="0" sz="1200" spc="-5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String</a:t>
            </a:r>
            <a:r>
              <a:rPr dirty="0" sz="1200" spc="-2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toString() </a:t>
            </a:r>
            <a:r>
              <a:rPr dirty="0" sz="1200" spc="-50" b="1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913765">
              <a:lnSpc>
                <a:spcPct val="100000"/>
              </a:lnSpc>
              <a:spcBef>
                <a:spcPts val="15"/>
              </a:spcBef>
            </a:pPr>
            <a:r>
              <a:rPr dirty="0" sz="1200" b="1">
                <a:latin typeface="Consolas"/>
                <a:cs typeface="Consolas"/>
              </a:rPr>
              <a:t>return</a:t>
            </a:r>
            <a:r>
              <a:rPr dirty="0" sz="1200" spc="-5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String.format("%s</a:t>
            </a:r>
            <a:r>
              <a:rPr dirty="0" sz="1200" spc="-25" b="1">
                <a:latin typeface="Consolas"/>
                <a:cs typeface="Consolas"/>
              </a:rPr>
              <a:t> </a:t>
            </a:r>
            <a:r>
              <a:rPr dirty="0" sz="1200" spc="-20" b="1">
                <a:latin typeface="Consolas"/>
                <a:cs typeface="Consolas"/>
              </a:rPr>
              <a:t>%s",</a:t>
            </a:r>
            <a:endParaRPr sz="1200">
              <a:latin typeface="Consolas"/>
              <a:cs typeface="Consolas"/>
            </a:endParaRPr>
          </a:p>
          <a:p>
            <a:pPr marL="1810385">
              <a:lnSpc>
                <a:spcPts val="1430"/>
              </a:lnSpc>
              <a:spcBef>
                <a:spcPts val="15"/>
              </a:spcBef>
            </a:pPr>
            <a:r>
              <a:rPr dirty="0" sz="1200" b="1">
                <a:latin typeface="Consolas"/>
                <a:cs typeface="Consolas"/>
              </a:rPr>
              <a:t>fName,</a:t>
            </a:r>
            <a:r>
              <a:rPr dirty="0" sz="1200" spc="-15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lName);</a:t>
            </a:r>
            <a:endParaRPr sz="1200">
              <a:latin typeface="Consolas"/>
              <a:cs typeface="Consolas"/>
            </a:endParaRPr>
          </a:p>
          <a:p>
            <a:pPr marL="462915">
              <a:lnSpc>
                <a:spcPts val="1430"/>
              </a:lnSpc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00" spc="-50" b="1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09464" y="1199524"/>
            <a:ext cx="4373245" cy="1499870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dirty="0" sz="2600" spc="-10" b="1">
                <a:latin typeface="Tahoma"/>
                <a:cs typeface="Tahoma"/>
              </a:rPr>
              <a:t>Anywhere</a:t>
            </a:r>
            <a:endParaRPr sz="2600">
              <a:latin typeface="Tahoma"/>
              <a:cs typeface="Tahoma"/>
            </a:endParaRPr>
          </a:p>
          <a:p>
            <a:pPr marL="237490">
              <a:lnSpc>
                <a:spcPct val="100000"/>
              </a:lnSpc>
              <a:spcBef>
                <a:spcPts val="855"/>
              </a:spcBef>
            </a:pPr>
            <a:r>
              <a:rPr dirty="0" sz="1200" b="1">
                <a:latin typeface="Consolas"/>
                <a:cs typeface="Consolas"/>
              </a:rPr>
              <a:t>Name</a:t>
            </a:r>
            <a:r>
              <a:rPr dirty="0" sz="1200" spc="-4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javaInventor</a:t>
            </a:r>
            <a:r>
              <a:rPr dirty="0" sz="1200" spc="-2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=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new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Name("James",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"Gosling");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Consolas"/>
              <a:cs typeface="Consolas"/>
            </a:endParaRPr>
          </a:p>
          <a:p>
            <a:pPr marL="687705" marR="165100" indent="-450850">
              <a:lnSpc>
                <a:spcPct val="101000"/>
              </a:lnSpc>
            </a:pPr>
            <a:r>
              <a:rPr dirty="0" sz="1200" b="1">
                <a:latin typeface="Consolas"/>
                <a:cs typeface="Consolas"/>
              </a:rPr>
              <a:t>System.out.printf("Java</a:t>
            </a:r>
            <a:r>
              <a:rPr dirty="0" sz="1200" spc="-7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was</a:t>
            </a:r>
            <a:r>
              <a:rPr dirty="0" sz="1200" spc="-35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invented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b="1">
                <a:latin typeface="Consolas"/>
                <a:cs typeface="Consolas"/>
              </a:rPr>
              <a:t>by</a:t>
            </a:r>
            <a:r>
              <a:rPr dirty="0" sz="1200" spc="-30" b="1">
                <a:latin typeface="Consolas"/>
                <a:cs typeface="Consolas"/>
              </a:rPr>
              <a:t> </a:t>
            </a:r>
            <a:r>
              <a:rPr dirty="0" sz="1200" spc="-10" b="1">
                <a:latin typeface="Consolas"/>
                <a:cs typeface="Consolas"/>
              </a:rPr>
              <a:t>%s.%n", javaInventor);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51753" y="113144"/>
            <a:ext cx="3813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Georgia"/>
                <a:cs typeface="Georgia"/>
              </a:rPr>
              <a:t>School</a:t>
            </a:r>
            <a:r>
              <a:rPr dirty="0" sz="1600" spc="-45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of</a:t>
            </a:r>
            <a:r>
              <a:rPr dirty="0" sz="1600" spc="-2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Computing</a:t>
            </a:r>
            <a:r>
              <a:rPr dirty="0" sz="1600" spc="1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&amp;</a:t>
            </a:r>
            <a:r>
              <a:rPr dirty="0" sz="1600" spc="-30" b="1">
                <a:latin typeface="Georgia"/>
                <a:cs typeface="Georgia"/>
              </a:rPr>
              <a:t> </a:t>
            </a:r>
            <a:r>
              <a:rPr dirty="0" sz="1600" b="1">
                <a:latin typeface="Georgia"/>
                <a:cs typeface="Georgia"/>
              </a:rPr>
              <a:t>Data</a:t>
            </a:r>
            <a:r>
              <a:rPr dirty="0" sz="1600" spc="-25" b="1">
                <a:latin typeface="Georgia"/>
                <a:cs typeface="Georgia"/>
              </a:rPr>
              <a:t> </a:t>
            </a:r>
            <a:r>
              <a:rPr dirty="0" sz="1600" spc="-10" b="1">
                <a:latin typeface="Georgia"/>
                <a:cs typeface="Georgia"/>
              </a:rPr>
              <a:t>Science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98182" y="17970"/>
            <a:ext cx="4536440" cy="504825"/>
            <a:chOff x="698182" y="17970"/>
            <a:chExt cx="4536440" cy="504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" y="26987"/>
              <a:ext cx="3846829" cy="495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777" y="17970"/>
              <a:ext cx="414413" cy="4954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415540">
              <a:lnSpc>
                <a:spcPct val="100000"/>
              </a:lnSpc>
              <a:spcBef>
                <a:spcPts val="120"/>
              </a:spcBef>
            </a:pPr>
            <a:r>
              <a:rPr dirty="0"/>
              <a:t>Take</a:t>
            </a:r>
            <a:r>
              <a:rPr dirty="0" spc="-85"/>
              <a:t> </a:t>
            </a:r>
            <a:r>
              <a:rPr dirty="0"/>
              <a:t>Home</a:t>
            </a:r>
            <a:r>
              <a:rPr dirty="0" spc="-50"/>
              <a:t> </a:t>
            </a:r>
            <a:r>
              <a:rPr dirty="0" spc="-10"/>
              <a:t>Points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COMP1050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Professor</a:t>
            </a:r>
            <a:r>
              <a:rPr dirty="0" spc="-90"/>
              <a:t> </a:t>
            </a:r>
            <a:r>
              <a:rPr dirty="0" spc="-10"/>
              <a:t>Folajimi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87020" marR="396240" indent="-274955">
              <a:lnSpc>
                <a:spcPct val="100000"/>
              </a:lnSpc>
              <a:spcBef>
                <a:spcPts val="95"/>
              </a:spcBef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/>
              <a:t>This</a:t>
            </a:r>
            <a:r>
              <a:rPr dirty="0" spc="-9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has</a:t>
            </a:r>
            <a:r>
              <a:rPr dirty="0" spc="-70"/>
              <a:t> </a:t>
            </a:r>
            <a:r>
              <a:rPr dirty="0"/>
              <a:t>covered</a:t>
            </a:r>
            <a:r>
              <a:rPr dirty="0" spc="-20"/>
              <a:t> </a:t>
            </a:r>
            <a:r>
              <a:rPr dirty="0"/>
              <a:t>many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basic </a:t>
            </a:r>
            <a:r>
              <a:rPr dirty="0"/>
              <a:t>elements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classes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10"/>
              <a:t>objects</a:t>
            </a:r>
          </a:p>
          <a:p>
            <a:pPr marL="287020" indent="-274320">
              <a:lnSpc>
                <a:spcPts val="3825"/>
              </a:lnSpc>
              <a:buClr>
                <a:srgbClr val="820000"/>
              </a:buClr>
              <a:buFont typeface="Wingdings"/>
              <a:buChar char=""/>
              <a:tabLst>
                <a:tab pos="287020" algn="l"/>
              </a:tabLst>
            </a:pPr>
            <a:r>
              <a:rPr dirty="0"/>
              <a:t>It</a:t>
            </a:r>
            <a:r>
              <a:rPr dirty="0" spc="-95"/>
              <a:t> </a:t>
            </a:r>
            <a:r>
              <a:rPr dirty="0"/>
              <a:t>is</a:t>
            </a:r>
            <a:r>
              <a:rPr dirty="0" spc="-65"/>
              <a:t> </a:t>
            </a:r>
            <a:r>
              <a:rPr dirty="0"/>
              <a:t>important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80"/>
              <a:t> </a:t>
            </a:r>
            <a:r>
              <a:rPr dirty="0"/>
              <a:t>remember</a:t>
            </a:r>
            <a:r>
              <a:rPr dirty="0" spc="-15"/>
              <a:t> </a:t>
            </a:r>
            <a:r>
              <a:rPr dirty="0"/>
              <a:t>primitive</a:t>
            </a:r>
            <a:r>
              <a:rPr dirty="0" spc="-70"/>
              <a:t> </a:t>
            </a:r>
            <a:r>
              <a:rPr dirty="0" spc="-25"/>
              <a:t>vs.</a:t>
            </a:r>
          </a:p>
          <a:p>
            <a:pPr marL="287020" marR="5080">
              <a:lnSpc>
                <a:spcPct val="100000"/>
              </a:lnSpc>
              <a:spcBef>
                <a:spcPts val="25"/>
              </a:spcBef>
            </a:pPr>
            <a:r>
              <a:rPr dirty="0"/>
              <a:t>object</a:t>
            </a:r>
            <a:r>
              <a:rPr dirty="0" spc="-70"/>
              <a:t> </a:t>
            </a:r>
            <a:r>
              <a:rPr dirty="0"/>
              <a:t>memory</a:t>
            </a:r>
            <a:r>
              <a:rPr dirty="0" spc="-60"/>
              <a:t> </a:t>
            </a:r>
            <a:r>
              <a:rPr dirty="0"/>
              <a:t>organization,</a:t>
            </a:r>
            <a:r>
              <a:rPr dirty="0" spc="-45"/>
              <a:t> </a:t>
            </a:r>
            <a:r>
              <a:rPr dirty="0"/>
              <a:t>as</a:t>
            </a:r>
            <a:r>
              <a:rPr dirty="0" spc="-70"/>
              <a:t> </a:t>
            </a:r>
            <a:r>
              <a:rPr dirty="0"/>
              <a:t>it</a:t>
            </a:r>
            <a:r>
              <a:rPr dirty="0" spc="-100"/>
              <a:t> </a:t>
            </a:r>
            <a:r>
              <a:rPr dirty="0"/>
              <a:t>has</a:t>
            </a:r>
            <a:r>
              <a:rPr dirty="0" spc="-70"/>
              <a:t> </a:t>
            </a:r>
            <a:r>
              <a:rPr dirty="0" spc="-10"/>
              <a:t>effects </a:t>
            </a:r>
            <a:r>
              <a:rPr dirty="0"/>
              <a:t>on</a:t>
            </a:r>
            <a:r>
              <a:rPr dirty="0" spc="-130"/>
              <a:t> </a:t>
            </a:r>
            <a:r>
              <a:rPr dirty="0"/>
              <a:t>assignment,</a:t>
            </a:r>
            <a:r>
              <a:rPr dirty="0" spc="-100"/>
              <a:t> </a:t>
            </a:r>
            <a:r>
              <a:rPr dirty="0"/>
              <a:t>parameters,</a:t>
            </a:r>
            <a:r>
              <a:rPr dirty="0" spc="-40"/>
              <a:t> </a:t>
            </a:r>
            <a:r>
              <a:rPr dirty="0" spc="-20"/>
              <a:t>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Wiseman, Charles</dc:creator>
  <dc:title>WIT COMP1050</dc:title>
  <dcterms:created xsi:type="dcterms:W3CDTF">2025-09-04T17:40:34Z</dcterms:created>
  <dcterms:modified xsi:type="dcterms:W3CDTF">2025-09-04T17:40:34Z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2025-09-04T00:00:00Z</vt:filetime>
  </property>
  <property fmtid="{D5CDD505-2E9C-101B-9397-08002B2CF9AE}" pid="5" name="Producer">
    <vt:lpwstr>Microsoft® PowerPoint® for Microsoft 365</vt:lpwstr>
  </property>
</Properties>
</file>