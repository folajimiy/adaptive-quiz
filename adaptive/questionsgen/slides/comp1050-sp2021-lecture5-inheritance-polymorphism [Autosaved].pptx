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1"/>
    <p:sldMasterId id="2147483648" r:id="rId2"/>
  </p:sldMasterIdLst>
  <p:notesMasterIdLst>
    <p:notesMasterId r:id="rId95"/>
  </p:notesMasterIdLst>
  <p:handoutMasterIdLst>
    <p:handoutMasterId r:id="rId96"/>
  </p:handoutMasterIdLst>
  <p:sldIdLst>
    <p:sldId id="258" r:id="rId3"/>
    <p:sldId id="395" r:id="rId4"/>
    <p:sldId id="298" r:id="rId5"/>
    <p:sldId id="396" r:id="rId6"/>
    <p:sldId id="397" r:id="rId7"/>
    <p:sldId id="301" r:id="rId8"/>
    <p:sldId id="398" r:id="rId9"/>
    <p:sldId id="399" r:id="rId10"/>
    <p:sldId id="400" r:id="rId11"/>
    <p:sldId id="401" r:id="rId12"/>
    <p:sldId id="402" r:id="rId13"/>
    <p:sldId id="403" r:id="rId14"/>
    <p:sldId id="404" r:id="rId15"/>
    <p:sldId id="405" r:id="rId16"/>
    <p:sldId id="406" r:id="rId17"/>
    <p:sldId id="407" r:id="rId18"/>
    <p:sldId id="408" r:id="rId19"/>
    <p:sldId id="409" r:id="rId20"/>
    <p:sldId id="410" r:id="rId21"/>
    <p:sldId id="411" r:id="rId22"/>
    <p:sldId id="412" r:id="rId23"/>
    <p:sldId id="413" r:id="rId24"/>
    <p:sldId id="414" r:id="rId25"/>
    <p:sldId id="415" r:id="rId26"/>
    <p:sldId id="416" r:id="rId27"/>
    <p:sldId id="417" r:id="rId28"/>
    <p:sldId id="418" r:id="rId29"/>
    <p:sldId id="419" r:id="rId30"/>
    <p:sldId id="420" r:id="rId31"/>
    <p:sldId id="421" r:id="rId32"/>
    <p:sldId id="422" r:id="rId33"/>
    <p:sldId id="423" r:id="rId34"/>
    <p:sldId id="424" r:id="rId35"/>
    <p:sldId id="425" r:id="rId36"/>
    <p:sldId id="426" r:id="rId37"/>
    <p:sldId id="331" r:id="rId38"/>
    <p:sldId id="388" r:id="rId39"/>
    <p:sldId id="332" r:id="rId40"/>
    <p:sldId id="333" r:id="rId41"/>
    <p:sldId id="334" r:id="rId42"/>
    <p:sldId id="335" r:id="rId43"/>
    <p:sldId id="336" r:id="rId44"/>
    <p:sldId id="337" r:id="rId45"/>
    <p:sldId id="338" r:id="rId46"/>
    <p:sldId id="339" r:id="rId47"/>
    <p:sldId id="340" r:id="rId48"/>
    <p:sldId id="341" r:id="rId49"/>
    <p:sldId id="342" r:id="rId50"/>
    <p:sldId id="343" r:id="rId51"/>
    <p:sldId id="344" r:id="rId52"/>
    <p:sldId id="345" r:id="rId53"/>
    <p:sldId id="346" r:id="rId54"/>
    <p:sldId id="347" r:id="rId55"/>
    <p:sldId id="348" r:id="rId56"/>
    <p:sldId id="349" r:id="rId57"/>
    <p:sldId id="350" r:id="rId58"/>
    <p:sldId id="351" r:id="rId59"/>
    <p:sldId id="352" r:id="rId60"/>
    <p:sldId id="353" r:id="rId61"/>
    <p:sldId id="354" r:id="rId62"/>
    <p:sldId id="355" r:id="rId63"/>
    <p:sldId id="356" r:id="rId64"/>
    <p:sldId id="357" r:id="rId65"/>
    <p:sldId id="358" r:id="rId66"/>
    <p:sldId id="359" r:id="rId67"/>
    <p:sldId id="360" r:id="rId68"/>
    <p:sldId id="361" r:id="rId69"/>
    <p:sldId id="362" r:id="rId70"/>
    <p:sldId id="363" r:id="rId71"/>
    <p:sldId id="364" r:id="rId72"/>
    <p:sldId id="365" r:id="rId73"/>
    <p:sldId id="366" r:id="rId74"/>
    <p:sldId id="367" r:id="rId75"/>
    <p:sldId id="368" r:id="rId76"/>
    <p:sldId id="369" r:id="rId77"/>
    <p:sldId id="370" r:id="rId78"/>
    <p:sldId id="371" r:id="rId79"/>
    <p:sldId id="372" r:id="rId80"/>
    <p:sldId id="373" r:id="rId81"/>
    <p:sldId id="374" r:id="rId82"/>
    <p:sldId id="375" r:id="rId83"/>
    <p:sldId id="376" r:id="rId84"/>
    <p:sldId id="377" r:id="rId85"/>
    <p:sldId id="378" r:id="rId86"/>
    <p:sldId id="379" r:id="rId87"/>
    <p:sldId id="380" r:id="rId88"/>
    <p:sldId id="381" r:id="rId89"/>
    <p:sldId id="382" r:id="rId90"/>
    <p:sldId id="383" r:id="rId91"/>
    <p:sldId id="384" r:id="rId92"/>
    <p:sldId id="385" r:id="rId93"/>
    <p:sldId id="386" r:id="rId94"/>
  </p:sldIdLst>
  <p:sldSz cx="10080625" cy="7559675"/>
  <p:notesSz cx="7772400" cy="10058400"/>
  <p:defaultTextStyle>
    <a:defPPr>
      <a:defRPr lang="en-US"/>
    </a:defPPr>
    <a:lvl1pPr algn="l" defTabSz="449263" rtl="0" fontAlgn="base" hangingPunct="0">
      <a:lnSpc>
        <a:spcPct val="98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400" kern="1200">
        <a:solidFill>
          <a:schemeClr val="tx1"/>
        </a:solidFill>
        <a:latin typeface="Bitstream Vera Serif" pitchFamily="16" charset="0"/>
        <a:ea typeface="+mn-ea"/>
        <a:cs typeface="+mn-cs"/>
      </a:defRPr>
    </a:lvl1pPr>
    <a:lvl2pPr marL="742950" indent="-285750" algn="l" defTabSz="449263" rtl="0" fontAlgn="base" hangingPunct="0">
      <a:lnSpc>
        <a:spcPct val="98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400" kern="1200">
        <a:solidFill>
          <a:schemeClr val="tx1"/>
        </a:solidFill>
        <a:latin typeface="Bitstream Vera Serif" pitchFamily="16" charset="0"/>
        <a:ea typeface="+mn-ea"/>
        <a:cs typeface="+mn-cs"/>
      </a:defRPr>
    </a:lvl2pPr>
    <a:lvl3pPr marL="1143000" indent="-228600" algn="l" defTabSz="449263" rtl="0" fontAlgn="base" hangingPunct="0">
      <a:lnSpc>
        <a:spcPct val="98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400" kern="1200">
        <a:solidFill>
          <a:schemeClr val="tx1"/>
        </a:solidFill>
        <a:latin typeface="Bitstream Vera Serif" pitchFamily="16" charset="0"/>
        <a:ea typeface="+mn-ea"/>
        <a:cs typeface="+mn-cs"/>
      </a:defRPr>
    </a:lvl3pPr>
    <a:lvl4pPr marL="1600200" indent="-228600" algn="l" defTabSz="449263" rtl="0" fontAlgn="base" hangingPunct="0">
      <a:lnSpc>
        <a:spcPct val="98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400" kern="1200">
        <a:solidFill>
          <a:schemeClr val="tx1"/>
        </a:solidFill>
        <a:latin typeface="Bitstream Vera Serif" pitchFamily="16" charset="0"/>
        <a:ea typeface="+mn-ea"/>
        <a:cs typeface="+mn-cs"/>
      </a:defRPr>
    </a:lvl4pPr>
    <a:lvl5pPr marL="2057400" indent="-228600" algn="l" defTabSz="449263" rtl="0" fontAlgn="base" hangingPunct="0">
      <a:lnSpc>
        <a:spcPct val="98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400" kern="1200">
        <a:solidFill>
          <a:schemeClr val="tx1"/>
        </a:solidFill>
        <a:latin typeface="Bitstream Vera Serif" pitchFamily="16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Bitstream Vera Serif" pitchFamily="16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Bitstream Vera Serif" pitchFamily="16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Bitstream Vera Serif" pitchFamily="16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Bitstream Vera Serif" pitchFamily="16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820000"/>
    <a:srgbClr val="640000"/>
    <a:srgbClr val="928F00"/>
    <a:srgbClr val="E3DE00"/>
    <a:srgbClr val="C9C400"/>
    <a:srgbClr val="FFFF66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2FF6C2-8E25-4524-AC54-AB069EB253DC}" v="6" dt="2025-11-10T13:44:37.6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74884" autoAdjust="0"/>
  </p:normalViewPr>
  <p:slideViewPr>
    <p:cSldViewPr>
      <p:cViewPr varScale="1">
        <p:scale>
          <a:sx n="52" d="100"/>
          <a:sy n="52" d="100"/>
        </p:scale>
        <p:origin x="1977" y="258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3798" y="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microsoft.com/office/2015/10/relationships/revisionInfo" Target="revisionInfo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notesMaster" Target="notesMasters/notesMaster1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theme" Target="theme/theme1.xml"/><Relationship Id="rId101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presProps" Target="pres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viewProps" Target="viewProps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olajimi, Yetunde" userId="3a54126c-7470-4734-afae-d4449bb90691" providerId="ADAL" clId="{B04F2003-1E15-46BD-99F6-158090A910A9}"/>
    <pc:docChg chg="modSld">
      <pc:chgData name="Folajimi, Yetunde" userId="3a54126c-7470-4734-afae-d4449bb90691" providerId="ADAL" clId="{B04F2003-1E15-46BD-99F6-158090A910A9}" dt="2025-11-10T13:44:35.695" v="4" actId="20577"/>
      <pc:docMkLst>
        <pc:docMk/>
      </pc:docMkLst>
      <pc:sldChg chg="modSp mod">
        <pc:chgData name="Folajimi, Yetunde" userId="3a54126c-7470-4734-afae-d4449bb90691" providerId="ADAL" clId="{B04F2003-1E15-46BD-99F6-158090A910A9}" dt="2025-11-10T13:05:32.763" v="0" actId="20577"/>
        <pc:sldMkLst>
          <pc:docMk/>
          <pc:sldMk cId="48888282" sldId="360"/>
        </pc:sldMkLst>
        <pc:spChg chg="mod">
          <ac:chgData name="Folajimi, Yetunde" userId="3a54126c-7470-4734-afae-d4449bb90691" providerId="ADAL" clId="{B04F2003-1E15-46BD-99F6-158090A910A9}" dt="2025-11-10T13:05:32.763" v="0" actId="20577"/>
          <ac:spMkLst>
            <pc:docMk/>
            <pc:sldMk cId="48888282" sldId="360"/>
            <ac:spMk id="3" creationId="{00000000-0000-0000-0000-000000000000}"/>
          </ac:spMkLst>
        </pc:spChg>
      </pc:sldChg>
      <pc:sldChg chg="modSp modNotesTx">
        <pc:chgData name="Folajimi, Yetunde" userId="3a54126c-7470-4734-afae-d4449bb90691" providerId="ADAL" clId="{B04F2003-1E15-46BD-99F6-158090A910A9}" dt="2025-11-10T13:44:35.695" v="4" actId="20577"/>
        <pc:sldMkLst>
          <pc:docMk/>
          <pc:sldMk cId="1207414605" sldId="385"/>
        </pc:sldMkLst>
        <pc:spChg chg="mod">
          <ac:chgData name="Folajimi, Yetunde" userId="3a54126c-7470-4734-afae-d4449bb90691" providerId="ADAL" clId="{B04F2003-1E15-46BD-99F6-158090A910A9}" dt="2025-11-10T13:44:29.047" v="2" actId="1076"/>
          <ac:spMkLst>
            <pc:docMk/>
            <pc:sldMk cId="1207414605" sldId="385"/>
            <ac:spMk id="8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4999001-6FB9-451D-BC92-54FE6D24A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F4E11D-4A75-4AFA-8F8F-D59A698F969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6DB8E5-2024-41CF-BD11-EC857590B0F8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24C8F7-AE85-43CA-A356-0B72EE4FD3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B7EBF5-74BE-48DD-9EBA-AEC71887E75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A22A9C-E20E-479E-B913-3AB3798D3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8261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587500" y="1006475"/>
            <a:ext cx="4594225" cy="344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2050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1185863" y="4787900"/>
            <a:ext cx="5405437" cy="3824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4034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lang="en-US" dirty="0"/>
              <a:t>WIT COMP1050 Computer Science II Course Material by Wentworth</a:t>
            </a:r>
            <a:r>
              <a:rPr lang="en-US" baseline="0" dirty="0"/>
              <a:t> Institute of Technology</a:t>
            </a:r>
            <a:r>
              <a:rPr lang="en-US" dirty="0"/>
              <a:t> (http://www.wit.edu/computer-science) is licensed under a Creative Commons Attribution-</a:t>
            </a:r>
            <a:r>
              <a:rPr lang="en-US" dirty="0" err="1"/>
              <a:t>NonCommercial</a:t>
            </a:r>
            <a:r>
              <a:rPr lang="en-US" dirty="0"/>
              <a:t> 4.0 International License (http://creativecommons.org/licenses/by-nc/4.0/).</a:t>
            </a:r>
            <a:r>
              <a:rPr lang="en-US" sz="1200" b="0" i="0" kern="1200" dirty="0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3018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Object-oriented programming (OOP) is a computer programming model that organizes software design around data, or objects, rather than functions and logic. An object can be defined as a data field that has unique attributes and behavior.</a:t>
            </a:r>
          </a:p>
          <a:p>
            <a:endParaRPr lang="en-US" dirty="0"/>
          </a:p>
          <a:p>
            <a:r>
              <a:rPr lang="en-US" dirty="0"/>
              <a:t>OOP focuses on the objects that developers want to manipulate rather than the logic required to manipulate them. This approach to programming is well-suited for programs that are large, complex and actively updated or maintained.</a:t>
            </a:r>
          </a:p>
          <a:p>
            <a:endParaRPr lang="en-US" dirty="0"/>
          </a:p>
          <a:p>
            <a:r>
              <a:rPr lang="en-US" dirty="0"/>
              <a:t>The organization of an object-oriented program also makes the method beneficial to collaborative development, where projects are divided into groups.</a:t>
            </a:r>
          </a:p>
          <a:p>
            <a:endParaRPr lang="en-US" dirty="0"/>
          </a:p>
          <a:p>
            <a:r>
              <a:rPr lang="en-US" dirty="0"/>
              <a:t>Additional benefits of OOP include code reusability, scalability and efficiency. Even when using microservices, developers should continue to apply the principles of OOP.</a:t>
            </a:r>
          </a:p>
          <a:p>
            <a:endParaRPr lang="en-US" dirty="0"/>
          </a:p>
          <a:p>
            <a:r>
              <a:rPr lang="en-US" dirty="0"/>
              <a:t>The first step in OOP is to collect all of the objects a programmer wants to manipulate and identify how they relate to each other -- an exercise often known as data modeling.</a:t>
            </a:r>
          </a:p>
          <a:p>
            <a:endParaRPr lang="en-US" dirty="0"/>
          </a:p>
          <a:p>
            <a:r>
              <a:rPr lang="en-US" dirty="0"/>
              <a:t>Examples of an object can range from physical entities, such as a human being who is described by properties like name and address, down to small computer programs, such as widgets.</a:t>
            </a:r>
          </a:p>
          <a:p>
            <a:endParaRPr lang="en-US" dirty="0"/>
          </a:p>
          <a:p>
            <a:r>
              <a:rPr lang="en-US" dirty="0"/>
              <a:t>Once an object is known, it is labeled with a class of objects that defines the kind of data it contains and any logic sequences that can manipulate it. Each distinct logic sequence is known as a method. Objects can communicate with well-defined interfaces called messages.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95374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08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8234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1B8B4FD3-9156-3F45-86A6-2A512E7D4DAE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0890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9594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5939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5623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649" y="1951038"/>
            <a:ext cx="8569325" cy="1066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932185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238" y="3398837"/>
            <a:ext cx="9069387" cy="3505200"/>
          </a:xfrm>
          <a:prstGeom prst="rect">
            <a:avLst/>
          </a:prstGeom>
        </p:spPr>
        <p:txBody>
          <a:bodyPr/>
          <a:lstStyle>
            <a:lvl1pPr marL="457200" indent="-457200">
              <a:buFont typeface="Wingdings" pitchFamily="2" charset="2"/>
              <a:buChar char="§"/>
              <a:defRPr/>
            </a:lvl1pPr>
            <a:lvl2pPr marL="914400" indent="-457200">
              <a:buFont typeface="Arial" pitchFamily="34" charset="0"/>
              <a:buChar char="•"/>
              <a:defRPr/>
            </a:lvl2pPr>
            <a:lvl3pPr marL="1257300" indent="-342900">
              <a:buFont typeface="Wingdings" pitchFamily="2" charset="2"/>
              <a:buChar char="§"/>
              <a:defRPr/>
            </a:lvl3pPr>
            <a:lvl4pPr marL="1714500" indent="-342900">
              <a:buFont typeface="Arial" pitchFamily="34" charset="0"/>
              <a:buChar char="•"/>
              <a:defRPr/>
            </a:lvl4pPr>
            <a:lvl5pPr marL="2171700" indent="-342900">
              <a:buFont typeface="Wingdings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306512" y="1722437"/>
            <a:ext cx="7772401" cy="126047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76304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230312" y="655638"/>
            <a:ext cx="7772401" cy="72943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487167" y="1417637"/>
            <a:ext cx="9143999" cy="5486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56179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031" y="2254867"/>
            <a:ext cx="4454027" cy="4498094"/>
          </a:xfrm>
        </p:spPr>
        <p:txBody>
          <a:bodyPr/>
          <a:lstStyle>
            <a:lvl1pPr>
              <a:defRPr sz="2646"/>
            </a:lvl1pPr>
            <a:lvl2pPr>
              <a:defRPr sz="2205"/>
            </a:lvl2pPr>
            <a:lvl3pPr>
              <a:defRPr sz="1984"/>
            </a:lvl3pPr>
            <a:lvl4pPr>
              <a:defRPr sz="1764"/>
            </a:lvl4pPr>
            <a:lvl5pPr>
              <a:defRPr sz="1764"/>
            </a:lvl5pPr>
            <a:lvl6pPr>
              <a:defRPr sz="1764"/>
            </a:lvl6pPr>
            <a:lvl7pPr>
              <a:defRPr sz="1764"/>
            </a:lvl7pPr>
            <a:lvl8pPr>
              <a:defRPr sz="1764"/>
            </a:lvl8pPr>
            <a:lvl9pPr>
              <a:defRPr sz="176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0818" y="2254867"/>
            <a:ext cx="4455776" cy="4498094"/>
          </a:xfrm>
        </p:spPr>
        <p:txBody>
          <a:bodyPr/>
          <a:lstStyle>
            <a:lvl1pPr>
              <a:defRPr sz="2646"/>
            </a:lvl1pPr>
            <a:lvl2pPr>
              <a:defRPr sz="2205"/>
            </a:lvl2pPr>
            <a:lvl3pPr>
              <a:defRPr sz="1984"/>
            </a:lvl3pPr>
            <a:lvl4pPr>
              <a:defRPr sz="1764"/>
            </a:lvl4pPr>
            <a:lvl5pPr>
              <a:defRPr sz="1764"/>
            </a:lvl5pPr>
            <a:lvl6pPr>
              <a:defRPr sz="1764"/>
            </a:lvl6pPr>
            <a:lvl7pPr>
              <a:defRPr sz="1764"/>
            </a:lvl7pPr>
            <a:lvl8pPr>
              <a:defRPr sz="1764"/>
            </a:lvl8pPr>
            <a:lvl9pPr>
              <a:defRPr sz="176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504031" y="7307290"/>
            <a:ext cx="2525762" cy="252385"/>
          </a:xfrm>
          <a:prstGeom prst="rect">
            <a:avLst/>
          </a:prstGeom>
        </p:spPr>
        <p:txBody>
          <a:bodyPr/>
          <a:lstStyle/>
          <a:p>
            <a:fld id="{08908EE8-B58D-D04B-B12E-84381D5C12DC}" type="datetime4">
              <a:rPr lang="en-US" smtClean="0"/>
              <a:t>November 10,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95598" y="6915653"/>
            <a:ext cx="8680996" cy="3345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Interfaces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372722" y="7309524"/>
            <a:ext cx="1203872" cy="250151"/>
          </a:xfrm>
          <a:prstGeom prst="rect">
            <a:avLst/>
          </a:prstGeom>
        </p:spPr>
        <p:txBody>
          <a:bodyPr/>
          <a:lstStyle/>
          <a:p>
            <a:fld id="{A85782A5-310D-064D-97B2-7CD9DCF5F4D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04031" y="1410327"/>
            <a:ext cx="4454027" cy="705219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0818" y="1410327"/>
            <a:ext cx="4455776" cy="705219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90958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4031" y="7307290"/>
            <a:ext cx="2525762" cy="252385"/>
          </a:xfrm>
          <a:prstGeom prst="rect">
            <a:avLst/>
          </a:prstGeom>
        </p:spPr>
        <p:txBody>
          <a:bodyPr/>
          <a:lstStyle/>
          <a:p>
            <a:fld id="{B616AE99-6C76-B544-9057-7C384FCB6C02}" type="datetime4">
              <a:rPr lang="en-US" smtClean="0"/>
              <a:t>November 10, 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95598" y="6915653"/>
            <a:ext cx="8680996" cy="3345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Interfaces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372722" y="7309524"/>
            <a:ext cx="1203872" cy="250151"/>
          </a:xfrm>
          <a:prstGeom prst="rect">
            <a:avLst/>
          </a:prstGeom>
        </p:spPr>
        <p:txBody>
          <a:bodyPr/>
          <a:lstStyle/>
          <a:p>
            <a:fld id="{A85782A5-310D-064D-97B2-7CD9DCF5F4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328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4031" y="1399897"/>
            <a:ext cx="4452276" cy="5353063"/>
          </a:xfrm>
        </p:spPr>
        <p:txBody>
          <a:bodyPr/>
          <a:lstStyle>
            <a:lvl1pPr>
              <a:defRPr sz="3086"/>
            </a:lvl1pPr>
            <a:lvl2pPr>
              <a:defRPr sz="2646"/>
            </a:lvl2pPr>
            <a:lvl3pPr>
              <a:defRPr sz="2205"/>
            </a:lvl3pPr>
            <a:lvl4pPr>
              <a:defRPr sz="1984"/>
            </a:lvl4pPr>
            <a:lvl5pPr>
              <a:defRPr sz="1984"/>
            </a:lvl5pPr>
            <a:lvl6pPr>
              <a:defRPr sz="1984"/>
            </a:lvl6pPr>
            <a:lvl7pPr>
              <a:defRPr sz="1984"/>
            </a:lvl7pPr>
            <a:lvl8pPr>
              <a:defRPr sz="1984"/>
            </a:lvl8pPr>
            <a:lvl9pPr>
              <a:defRPr sz="198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4318" y="1399897"/>
            <a:ext cx="4452276" cy="5353063"/>
          </a:xfrm>
        </p:spPr>
        <p:txBody>
          <a:bodyPr/>
          <a:lstStyle>
            <a:lvl1pPr>
              <a:defRPr sz="3086"/>
            </a:lvl1pPr>
            <a:lvl2pPr>
              <a:defRPr sz="2646"/>
            </a:lvl2pPr>
            <a:lvl3pPr>
              <a:defRPr sz="2205"/>
            </a:lvl3pPr>
            <a:lvl4pPr>
              <a:defRPr sz="1984"/>
            </a:lvl4pPr>
            <a:lvl5pPr>
              <a:defRPr sz="1984"/>
            </a:lvl5pPr>
            <a:lvl6pPr>
              <a:defRPr sz="1984"/>
            </a:lvl6pPr>
            <a:lvl7pPr>
              <a:defRPr sz="1984"/>
            </a:lvl7pPr>
            <a:lvl8pPr>
              <a:defRPr sz="1984"/>
            </a:lvl8pPr>
            <a:lvl9pPr>
              <a:defRPr sz="198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04031" y="7307290"/>
            <a:ext cx="2525762" cy="252385"/>
          </a:xfrm>
          <a:prstGeom prst="rect">
            <a:avLst/>
          </a:prstGeom>
        </p:spPr>
        <p:txBody>
          <a:bodyPr/>
          <a:lstStyle/>
          <a:p>
            <a:fld id="{46301F7F-75B7-8242-B849-4F031023F6EC}" type="datetime4">
              <a:rPr lang="en-US" smtClean="0"/>
              <a:t>November 10,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95598" y="6915653"/>
            <a:ext cx="8680996" cy="3345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Inheritance and Polymorphism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72722" y="7309524"/>
            <a:ext cx="1203872" cy="250151"/>
          </a:xfrm>
          <a:prstGeom prst="rect">
            <a:avLst/>
          </a:prstGeom>
        </p:spPr>
        <p:txBody>
          <a:bodyPr/>
          <a:lstStyle/>
          <a:p>
            <a:fld id="{A85782A5-310D-064D-97B2-7CD9DCF5F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952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4.jpeg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8">
            <a:extLst>
              <a:ext uri="{FF2B5EF4-FFF2-40B4-BE49-F238E27FC236}">
                <a16:creationId xmlns:a16="http://schemas.microsoft.com/office/drawing/2014/main" id="{B9D9CB32-BDF9-4D6D-A87C-6E08D9474A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96652" y="1580614"/>
            <a:ext cx="7772401" cy="104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the title text format</a:t>
            </a: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892413C1-E145-46D9-BDF4-3C6BB05EEA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48158" y="2722405"/>
            <a:ext cx="9069387" cy="31341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the outline text format</a:t>
            </a:r>
          </a:p>
          <a:p>
            <a:pPr lvl="1"/>
            <a:r>
              <a:rPr lang="en-US" dirty="0"/>
              <a:t>Second Outline Level</a:t>
            </a:r>
          </a:p>
          <a:p>
            <a:pPr lvl="2"/>
            <a:r>
              <a:rPr lang="en-US" dirty="0"/>
              <a:t>Third Outline Level</a:t>
            </a:r>
          </a:p>
          <a:p>
            <a:pPr lvl="3"/>
            <a:r>
              <a:rPr lang="en-US" dirty="0"/>
              <a:t>Fourth Outline Level</a:t>
            </a:r>
          </a:p>
          <a:p>
            <a:pPr lvl="4"/>
            <a:r>
              <a:rPr lang="en-US" dirty="0"/>
              <a:t>Fifth Outline Level</a:t>
            </a:r>
          </a:p>
          <a:p>
            <a:pPr lvl="4"/>
            <a:r>
              <a:rPr lang="en-US" dirty="0"/>
              <a:t>Sixth Outline Level</a:t>
            </a:r>
          </a:p>
          <a:p>
            <a:pPr lvl="4"/>
            <a:r>
              <a:rPr lang="en-US" dirty="0"/>
              <a:t>Seventh Outline Level</a:t>
            </a:r>
          </a:p>
          <a:p>
            <a:pPr lvl="4"/>
            <a:r>
              <a:rPr lang="en-US" dirty="0"/>
              <a:t>Eighth Outline Level</a:t>
            </a:r>
          </a:p>
          <a:p>
            <a:pPr lvl="4"/>
            <a:r>
              <a:rPr lang="en-US" dirty="0"/>
              <a:t>Ninth Outline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D5F2CC-61BF-4B4F-B5C8-F6D945C623B4}"/>
              </a:ext>
            </a:extLst>
          </p:cNvPr>
          <p:cNvSpPr/>
          <p:nvPr userDrawn="1"/>
        </p:nvSpPr>
        <p:spPr bwMode="auto">
          <a:xfrm>
            <a:off x="-1" y="0"/>
            <a:ext cx="10080625" cy="1112837"/>
          </a:xfrm>
          <a:prstGeom prst="rect">
            <a:avLst/>
          </a:prstGeom>
          <a:solidFill>
            <a:srgbClr val="E3DE00">
              <a:alpha val="50196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US" sz="2200" b="1" i="0" u="none" strike="noStrike" cap="none" normalizeH="0" baseline="0" dirty="0">
              <a:ln>
                <a:noFill/>
              </a:ln>
              <a:effectLst/>
              <a:latin typeface="Georgia" panose="02040502050405020303" pitchFamily="18" charset="0"/>
              <a:cs typeface="Cordia New" pitchFamily="34" charset="-3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ACCFFC-7B96-446B-B5EC-DBCBBD32FD97}"/>
              </a:ext>
            </a:extLst>
          </p:cNvPr>
          <p:cNvSpPr/>
          <p:nvPr userDrawn="1"/>
        </p:nvSpPr>
        <p:spPr bwMode="auto">
          <a:xfrm>
            <a:off x="-1" y="1112837"/>
            <a:ext cx="10080624" cy="366523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1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eorgia" panose="02040502050405020303" pitchFamily="18" charset="0"/>
                <a:cs typeface="Cordia New" pitchFamily="34" charset="-34"/>
              </a:rPr>
              <a:t>School of Computing &amp; Data Science</a:t>
            </a:r>
          </a:p>
        </p:txBody>
      </p:sp>
      <p:pic>
        <p:nvPicPr>
          <p:cNvPr id="16" name="Picture 2" descr="Branding Guidelines | Wentworth">
            <a:extLst>
              <a:ext uri="{FF2B5EF4-FFF2-40B4-BE49-F238E27FC236}">
                <a16:creationId xmlns:a16="http://schemas.microsoft.com/office/drawing/2014/main" id="{C559D3AF-BD20-44DC-8C1F-98AC6BFBDD4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3" t="21401" r="2808" b="17625"/>
          <a:stretch/>
        </p:blipFill>
        <p:spPr bwMode="auto">
          <a:xfrm>
            <a:off x="1866078" y="122237"/>
            <a:ext cx="6705600" cy="885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D22CA55-62BF-4C94-A272-3FD56DEED2D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5112" y="220079"/>
            <a:ext cx="588602" cy="7054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17B7479-6EEF-4822-B748-A3A59F1C80E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160" y="198437"/>
            <a:ext cx="588602" cy="705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345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/>
  <p:txStyles>
    <p:titleStyle>
      <a:lvl1pPr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820000"/>
          </a:solidFill>
          <a:latin typeface="Tahoma" pitchFamily="34" charset="0"/>
          <a:ea typeface="Tahoma" pitchFamily="34" charset="0"/>
          <a:cs typeface="Tahoma" pitchFamily="34" charset="0"/>
        </a:defRPr>
      </a:lvl1pPr>
      <a:lvl2pPr marL="742950" indent="-28575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2pPr>
      <a:lvl3pPr marL="11430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3pPr>
      <a:lvl4pPr marL="16002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4pPr>
      <a:lvl5pPr marL="20574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5pPr>
      <a:lvl6pPr marL="25146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6pPr>
      <a:lvl7pPr marL="29718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7pPr>
      <a:lvl8pPr marL="34290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8pPr>
      <a:lvl9pPr marL="38862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9pPr>
    </p:titleStyle>
    <p:bodyStyle>
      <a:lvl1pPr marL="457200" indent="-274320" algn="l" defTabSz="449263" rtl="0" eaLnBrk="1" fontAlgn="base" hangingPunct="1">
        <a:lnSpc>
          <a:spcPct val="100000"/>
        </a:lnSpc>
        <a:spcBef>
          <a:spcPct val="0"/>
        </a:spcBef>
        <a:spcAft>
          <a:spcPts val="1413"/>
        </a:spcAft>
        <a:buClr>
          <a:srgbClr val="820000"/>
        </a:buClr>
        <a:buSzPct val="100000"/>
        <a:buFont typeface="Wingdings" pitchFamily="2" charset="2"/>
        <a:buChar char="§"/>
        <a:defRPr sz="32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1pPr>
      <a:lvl2pPr marL="914400" indent="-274320" algn="l" defTabSz="449263" rtl="0" eaLnBrk="1" fontAlgn="base" hangingPunct="1">
        <a:lnSpc>
          <a:spcPct val="100000"/>
        </a:lnSpc>
        <a:spcBef>
          <a:spcPct val="0"/>
        </a:spcBef>
        <a:spcAft>
          <a:spcPts val="1138"/>
        </a:spcAft>
        <a:buClr>
          <a:srgbClr val="820000"/>
        </a:buClr>
        <a:buSzPct val="100000"/>
        <a:buFont typeface="Verdana" pitchFamily="34" charset="0"/>
        <a:buChar char="»"/>
        <a:defRPr sz="28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2pPr>
      <a:lvl3pPr marL="1257300" indent="-274320" algn="l" defTabSz="449263" rtl="0" eaLnBrk="1" fontAlgn="base" hangingPunct="1">
        <a:lnSpc>
          <a:spcPct val="100000"/>
        </a:lnSpc>
        <a:spcBef>
          <a:spcPct val="0"/>
        </a:spcBef>
        <a:spcAft>
          <a:spcPts val="850"/>
        </a:spcAft>
        <a:buClr>
          <a:srgbClr val="820000"/>
        </a:buClr>
        <a:buSzPct val="100000"/>
        <a:buFont typeface="Wingdings" pitchFamily="2" charset="2"/>
        <a:buChar char="§"/>
        <a:defRPr sz="24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3pPr>
      <a:lvl4pPr marL="1714500" indent="-342900" algn="l" defTabSz="449263" rtl="0" eaLnBrk="1" fontAlgn="base" hangingPunct="1">
        <a:lnSpc>
          <a:spcPct val="100000"/>
        </a:lnSpc>
        <a:spcBef>
          <a:spcPct val="0"/>
        </a:spcBef>
        <a:spcAft>
          <a:spcPts val="575"/>
        </a:spcAft>
        <a:buClr>
          <a:srgbClr val="820000"/>
        </a:buClr>
        <a:buSzPct val="100000"/>
        <a:buFont typeface="Wingdings" pitchFamily="2" charset="2"/>
        <a:buChar char="§"/>
        <a:defRPr sz="20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4pPr>
      <a:lvl5pPr marL="2171700" indent="-342900" algn="l" defTabSz="449263" rtl="0" eaLnBrk="1" fontAlgn="base" hangingPunct="1">
        <a:lnSpc>
          <a:spcPct val="100000"/>
        </a:lnSpc>
        <a:spcBef>
          <a:spcPct val="0"/>
        </a:spcBef>
        <a:spcAft>
          <a:spcPts val="288"/>
        </a:spcAft>
        <a:buClr>
          <a:srgbClr val="820000"/>
        </a:buClr>
        <a:buSzPct val="100000"/>
        <a:buFont typeface="Wingdings" pitchFamily="2" charset="2"/>
        <a:buChar char="§"/>
        <a:defRPr sz="20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5pPr>
      <a:lvl6pPr marL="2514600" indent="-228600" algn="l" defTabSz="449263" rtl="0" eaLnBrk="1" fontAlgn="base" hangingPunct="1">
        <a:lnSpc>
          <a:spcPct val="11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1" fontAlgn="base" hangingPunct="1">
        <a:lnSpc>
          <a:spcPct val="11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1" fontAlgn="base" hangingPunct="1">
        <a:lnSpc>
          <a:spcPct val="11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1" fontAlgn="base" hangingPunct="1">
        <a:lnSpc>
          <a:spcPct val="11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Line 1"/>
          <p:cNvSpPr>
            <a:spLocks noChangeShapeType="1"/>
          </p:cNvSpPr>
          <p:nvPr/>
        </p:nvSpPr>
        <p:spPr bwMode="auto">
          <a:xfrm>
            <a:off x="134447" y="7132637"/>
            <a:ext cx="978266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306485" y="7227691"/>
            <a:ext cx="1762027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15876" rIns="0" bIns="0"/>
          <a:lstStyle>
            <a:lvl1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1pPr>
            <a:lvl2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2pPr>
            <a:lvl3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3pPr>
            <a:lvl4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4pPr>
            <a:lvl5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5pPr>
            <a:lvl6pPr marL="2514600" indent="-228600" defTabSz="449263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6pPr>
            <a:lvl7pPr marL="2971800" indent="-228600" defTabSz="449263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7pPr>
            <a:lvl8pPr marL="3429000" indent="-228600" defTabSz="449263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8pPr>
            <a:lvl9pPr marL="3886200" indent="-228600" defTabSz="449263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9pPr>
          </a:lstStyle>
          <a:p>
            <a:pPr>
              <a:lnSpc>
                <a:spcPct val="93000"/>
              </a:lnSpc>
            </a:pPr>
            <a:r>
              <a:rPr lang="de-DE" sz="1600" i="0" dirty="0">
                <a:latin typeface="Tahoma" pitchFamily="34" charset="0"/>
                <a:ea typeface="Tahoma" pitchFamily="34" charset="0"/>
                <a:cs typeface="Tahoma" pitchFamily="34" charset="0"/>
              </a:rPr>
              <a:t>COMP1050</a:t>
            </a: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9011093" y="7227692"/>
            <a:ext cx="763047" cy="257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15876" rIns="0" bIns="0"/>
          <a:lstStyle/>
          <a:p>
            <a:pPr algn="r">
              <a:lnSpc>
                <a:spcPct val="93000"/>
              </a:lnSpc>
            </a:pPr>
            <a:fld id="{0CBF143C-F1D4-4CC7-8AA6-A94FC5CAAAF3}" type="slidenum">
              <a:rPr lang="de-DE" sz="180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pPr algn="r">
                <a:lnSpc>
                  <a:spcPct val="93000"/>
                </a:lnSpc>
              </a:pPr>
              <a:t>‹#›</a:t>
            </a:fld>
            <a:endParaRPr lang="de-DE" sz="1800" dirty="0">
              <a:solidFill>
                <a:srgbClr val="00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1230312" y="612007"/>
            <a:ext cx="7772401" cy="72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the title text format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3238" y="1436490"/>
            <a:ext cx="9069387" cy="5467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the outline text format</a:t>
            </a:r>
          </a:p>
          <a:p>
            <a:pPr lvl="1"/>
            <a:r>
              <a:rPr lang="en-US" dirty="0"/>
              <a:t>Second Outline Level</a:t>
            </a:r>
          </a:p>
          <a:p>
            <a:pPr lvl="2"/>
            <a:r>
              <a:rPr lang="en-US" dirty="0"/>
              <a:t>Third Outline Level</a:t>
            </a:r>
          </a:p>
          <a:p>
            <a:pPr lvl="3"/>
            <a:r>
              <a:rPr lang="en-US" dirty="0"/>
              <a:t>Fourth Outline Level</a:t>
            </a:r>
          </a:p>
          <a:p>
            <a:pPr lvl="4"/>
            <a:r>
              <a:rPr lang="en-US" dirty="0"/>
              <a:t>Fifth Outline Level</a:t>
            </a:r>
          </a:p>
          <a:p>
            <a:pPr lvl="4"/>
            <a:r>
              <a:rPr lang="en-US" dirty="0"/>
              <a:t>Sixth Outline Level</a:t>
            </a:r>
          </a:p>
          <a:p>
            <a:pPr lvl="4"/>
            <a:r>
              <a:rPr lang="en-US" dirty="0"/>
              <a:t>Seventh Outline Level</a:t>
            </a:r>
          </a:p>
          <a:p>
            <a:pPr lvl="4"/>
            <a:r>
              <a:rPr lang="en-US" dirty="0"/>
              <a:t>Eighth Outline Level</a:t>
            </a:r>
          </a:p>
          <a:p>
            <a:pPr lvl="4"/>
            <a:r>
              <a:rPr lang="en-US" dirty="0"/>
              <a:t>Ninth Outline Level</a:t>
            </a:r>
          </a:p>
        </p:txBody>
      </p:sp>
      <p:sp>
        <p:nvSpPr>
          <p:cNvPr id="12" name="Line 1"/>
          <p:cNvSpPr>
            <a:spLocks noChangeShapeType="1"/>
          </p:cNvSpPr>
          <p:nvPr/>
        </p:nvSpPr>
        <p:spPr bwMode="auto">
          <a:xfrm>
            <a:off x="134447" y="1341437"/>
            <a:ext cx="978266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CBA48C-005A-4F3D-9E31-7F5B1C34DC6C}"/>
              </a:ext>
            </a:extLst>
          </p:cNvPr>
          <p:cNvSpPr/>
          <p:nvPr userDrawn="1"/>
        </p:nvSpPr>
        <p:spPr bwMode="auto">
          <a:xfrm>
            <a:off x="-1" y="1"/>
            <a:ext cx="5040313" cy="516951"/>
          </a:xfrm>
          <a:prstGeom prst="rect">
            <a:avLst/>
          </a:prstGeom>
          <a:solidFill>
            <a:srgbClr val="E3DE00">
              <a:alpha val="50196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US" sz="2200" b="1" i="0" u="none" strike="noStrike" cap="none" normalizeH="0" baseline="0" dirty="0">
              <a:ln>
                <a:noFill/>
              </a:ln>
              <a:effectLst/>
              <a:latin typeface="Georgia" panose="02040502050405020303" pitchFamily="18" charset="0"/>
              <a:cs typeface="Cordia New" pitchFamily="34" charset="-34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75D1D9-A90D-453D-B673-4D5D6A8BF398}"/>
              </a:ext>
            </a:extLst>
          </p:cNvPr>
          <p:cNvSpPr/>
          <p:nvPr userDrawn="1"/>
        </p:nvSpPr>
        <p:spPr bwMode="auto">
          <a:xfrm>
            <a:off x="5025319" y="-4402"/>
            <a:ext cx="5055306" cy="516946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1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  <a:cs typeface="Cordia New" pitchFamily="34" charset="-34"/>
              </a:rPr>
              <a:t>School of Computing &amp; Data Science</a:t>
            </a:r>
          </a:p>
        </p:txBody>
      </p:sp>
      <p:pic>
        <p:nvPicPr>
          <p:cNvPr id="9" name="Picture 2" descr="Branding Guidelines | Wentworth">
            <a:extLst>
              <a:ext uri="{FF2B5EF4-FFF2-40B4-BE49-F238E27FC236}">
                <a16:creationId xmlns:a16="http://schemas.microsoft.com/office/drawing/2014/main" id="{4B19A1CF-F143-4ABF-BCB6-08957CD5570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3" t="21401" r="2808" b="17625"/>
          <a:stretch/>
        </p:blipFill>
        <p:spPr bwMode="auto">
          <a:xfrm>
            <a:off x="696912" y="26696"/>
            <a:ext cx="3848343" cy="494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00F5E07-EF57-4226-AD34-FCA08732837D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8225" y="16114"/>
            <a:ext cx="414188" cy="496430"/>
          </a:xfrm>
          <a:prstGeom prst="rect">
            <a:avLst/>
          </a:prstGeom>
        </p:spPr>
      </p:pic>
      <p:sp>
        <p:nvSpPr>
          <p:cNvPr id="14" name="Text Box 3">
            <a:extLst>
              <a:ext uri="{FF2B5EF4-FFF2-40B4-BE49-F238E27FC236}">
                <a16:creationId xmlns:a16="http://schemas.microsoft.com/office/drawing/2014/main" id="{A7BE0A97-ADA4-48F9-B3CB-C4967068DF4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58789" y="7243128"/>
            <a:ext cx="1762027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15876" rIns="0" bIns="0"/>
          <a:lstStyle>
            <a:lvl1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1pPr>
            <a:lvl2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2pPr>
            <a:lvl3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3pPr>
            <a:lvl4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4pPr>
            <a:lvl5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5pPr>
            <a:lvl6pPr marL="2514600" indent="-228600" defTabSz="449263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6pPr>
            <a:lvl7pPr marL="2971800" indent="-228600" defTabSz="449263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7pPr>
            <a:lvl8pPr marL="3429000" indent="-228600" defTabSz="449263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8pPr>
            <a:lvl9pPr marL="3886200" indent="-228600" defTabSz="449263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9pPr>
          </a:lstStyle>
          <a:p>
            <a:pPr>
              <a:lnSpc>
                <a:spcPct val="93000"/>
              </a:lnSpc>
            </a:pPr>
            <a:r>
              <a:rPr lang="de-DE" sz="1600" i="0" dirty="0">
                <a:latin typeface="Tahoma" pitchFamily="34" charset="0"/>
                <a:ea typeface="Tahoma" pitchFamily="34" charset="0"/>
                <a:cs typeface="Tahoma" pitchFamily="34" charset="0"/>
              </a:rPr>
              <a:t>Professor Folajimi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7" r:id="rId2"/>
    <p:sldLayoutId id="2147483658" r:id="rId3"/>
    <p:sldLayoutId id="2147483659" r:id="rId4"/>
  </p:sldLayoutIdLst>
  <p:hf sldNum="0" hdr="0" ftr="0"/>
  <p:txStyles>
    <p:titleStyle>
      <a:lvl1pPr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820000"/>
          </a:solidFill>
          <a:latin typeface="Tahoma" pitchFamily="34" charset="0"/>
          <a:ea typeface="Tahoma" pitchFamily="34" charset="0"/>
          <a:cs typeface="Tahoma" pitchFamily="34" charset="0"/>
        </a:defRPr>
      </a:lvl1pPr>
      <a:lvl2pPr marL="742950" indent="-28575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2pPr>
      <a:lvl3pPr marL="11430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3pPr>
      <a:lvl4pPr marL="16002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4pPr>
      <a:lvl5pPr marL="20574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5pPr>
      <a:lvl6pPr marL="25146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6pPr>
      <a:lvl7pPr marL="29718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7pPr>
      <a:lvl8pPr marL="34290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8pPr>
      <a:lvl9pPr marL="38862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9pPr>
    </p:titleStyle>
    <p:bodyStyle>
      <a:lvl1pPr marL="457200" indent="-274320" algn="l" defTabSz="449263" rtl="0" eaLnBrk="1" fontAlgn="base" hangingPunct="1">
        <a:lnSpc>
          <a:spcPct val="100000"/>
        </a:lnSpc>
        <a:spcBef>
          <a:spcPct val="0"/>
        </a:spcBef>
        <a:spcAft>
          <a:spcPts val="0"/>
        </a:spcAft>
        <a:buClr>
          <a:srgbClr val="820000"/>
        </a:buClr>
        <a:buSzPct val="100000"/>
        <a:buFont typeface="Wingdings" pitchFamily="2" charset="2"/>
        <a:buChar char="§"/>
        <a:defRPr sz="32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1pPr>
      <a:lvl2pPr marL="914400" indent="-274320" algn="l" defTabSz="449263" rtl="0" eaLnBrk="1" fontAlgn="base" hangingPunct="1">
        <a:lnSpc>
          <a:spcPct val="100000"/>
        </a:lnSpc>
        <a:spcBef>
          <a:spcPct val="0"/>
        </a:spcBef>
        <a:spcAft>
          <a:spcPts val="0"/>
        </a:spcAft>
        <a:buClr>
          <a:srgbClr val="820000"/>
        </a:buClr>
        <a:buSzPct val="100000"/>
        <a:buFont typeface="Verdana" pitchFamily="34" charset="0"/>
        <a:buChar char="»"/>
        <a:defRPr sz="28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2pPr>
      <a:lvl3pPr marL="1257300" indent="-274320" algn="l" defTabSz="449263" rtl="0" eaLnBrk="1" fontAlgn="base" hangingPunct="1">
        <a:lnSpc>
          <a:spcPct val="100000"/>
        </a:lnSpc>
        <a:spcBef>
          <a:spcPct val="0"/>
        </a:spcBef>
        <a:spcAft>
          <a:spcPts val="0"/>
        </a:spcAft>
        <a:buClr>
          <a:srgbClr val="820000"/>
        </a:buClr>
        <a:buSzPct val="100000"/>
        <a:buFont typeface="Wingdings" pitchFamily="2" charset="2"/>
        <a:buChar char="§"/>
        <a:defRPr sz="24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3pPr>
      <a:lvl4pPr marL="1714500" indent="-342900" algn="l" defTabSz="449263" rtl="0" eaLnBrk="1" fontAlgn="base" hangingPunct="1">
        <a:lnSpc>
          <a:spcPct val="100000"/>
        </a:lnSpc>
        <a:spcBef>
          <a:spcPct val="0"/>
        </a:spcBef>
        <a:spcAft>
          <a:spcPts val="0"/>
        </a:spcAft>
        <a:buClr>
          <a:srgbClr val="820000"/>
        </a:buClr>
        <a:buSzPct val="100000"/>
        <a:buFont typeface="Wingdings" pitchFamily="2" charset="2"/>
        <a:buChar char="§"/>
        <a:defRPr sz="20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4pPr>
      <a:lvl5pPr marL="2171700" indent="-342900" algn="l" defTabSz="449263" rtl="0" eaLnBrk="1" fontAlgn="base" hangingPunct="1">
        <a:lnSpc>
          <a:spcPct val="100000"/>
        </a:lnSpc>
        <a:spcBef>
          <a:spcPct val="0"/>
        </a:spcBef>
        <a:spcAft>
          <a:spcPts val="0"/>
        </a:spcAft>
        <a:buClr>
          <a:srgbClr val="820000"/>
        </a:buClr>
        <a:buSzPct val="100000"/>
        <a:buFont typeface="Wingdings" pitchFamily="2" charset="2"/>
        <a:buChar char="§"/>
        <a:defRPr sz="20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5pPr>
      <a:lvl6pPr marL="2514600" indent="-228600" algn="l" defTabSz="449263" rtl="0" eaLnBrk="1" fontAlgn="base" hangingPunct="1">
        <a:lnSpc>
          <a:spcPct val="11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1" fontAlgn="base" hangingPunct="1">
        <a:lnSpc>
          <a:spcPct val="11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1" fontAlgn="base" hangingPunct="1">
        <a:lnSpc>
          <a:spcPct val="11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1" fontAlgn="base" hangingPunct="1">
        <a:lnSpc>
          <a:spcPct val="11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9D7764C4-7BC2-4796-A488-1742950E80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84588" y="6446837"/>
            <a:ext cx="3947160" cy="260969"/>
          </a:xfrm>
        </p:spPr>
        <p:txBody>
          <a:bodyPr/>
          <a:lstStyle/>
          <a:p>
            <a:r>
              <a:rPr lang="en-US" dirty="0"/>
              <a:t>Professor Folajimi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5C00647-C4D0-4B41-A54B-E2C2E9CAAF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7565" y="5408121"/>
            <a:ext cx="5887631" cy="1620837"/>
          </a:xfrm>
        </p:spPr>
        <p:txBody>
          <a:bodyPr/>
          <a:lstStyle/>
          <a:p>
            <a:pPr algn="l"/>
            <a:r>
              <a:rPr lang="en-US" dirty="0"/>
              <a:t>Welcome to COMP1050!</a:t>
            </a:r>
          </a:p>
        </p:txBody>
      </p:sp>
      <p:pic>
        <p:nvPicPr>
          <p:cNvPr id="1026" name="Picture 2" descr="Rob Ashton's AMAZING Homepage">
            <a:extLst>
              <a:ext uri="{FF2B5EF4-FFF2-40B4-BE49-F238E27FC236}">
                <a16:creationId xmlns:a16="http://schemas.microsoft.com/office/drawing/2014/main" id="{1D70C0A3-A220-475B-883C-A0B3B03DB361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712" y="2559306"/>
            <a:ext cx="2847484" cy="2847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6566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E88134C-ACE1-4C81-AC85-A71E9FE5B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624" y="2179637"/>
            <a:ext cx="7935912" cy="1260475"/>
          </a:xfrm>
        </p:spPr>
        <p:txBody>
          <a:bodyPr/>
          <a:lstStyle/>
          <a:p>
            <a:r>
              <a:rPr lang="en-US" sz="4800" dirty="0"/>
              <a:t>Inheritance &amp; Polymorphism</a:t>
            </a:r>
          </a:p>
        </p:txBody>
      </p:sp>
      <p:pic>
        <p:nvPicPr>
          <p:cNvPr id="1026" name="Picture 2" descr="JavaFX - Wikipedia">
            <a:extLst>
              <a:ext uri="{FF2B5EF4-FFF2-40B4-BE49-F238E27FC236}">
                <a16:creationId xmlns:a16="http://schemas.microsoft.com/office/drawing/2014/main" id="{CC0BE8D3-09EB-4A80-A419-47D51B770B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148"/>
          <a:stretch/>
        </p:blipFill>
        <p:spPr bwMode="auto">
          <a:xfrm>
            <a:off x="2373312" y="3170237"/>
            <a:ext cx="4343400" cy="2521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4636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A Seemingly Simple </a:t>
            </a:r>
            <a:r>
              <a:rPr lang="en-US" dirty="0"/>
              <a:t>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Let’s say we are writing a program to help a local vet track all their patients</a:t>
            </a:r>
          </a:p>
          <a:p>
            <a:r>
              <a:rPr lang="en-US" dirty="0"/>
              <a:t>Being good </a:t>
            </a:r>
            <a:r>
              <a:rPr lang="en-US" dirty="0" err="1"/>
              <a:t>OOPers</a:t>
            </a:r>
            <a:r>
              <a:rPr lang="en-US" dirty="0"/>
              <a:t>, we make classes for cats and dogs, their main guests</a:t>
            </a:r>
          </a:p>
        </p:txBody>
      </p:sp>
    </p:spTree>
    <p:extLst>
      <p:ext uri="{BB962C8B-B14F-4D97-AF65-F5344CB8AC3E}">
        <p14:creationId xmlns:p14="http://schemas.microsoft.com/office/powerpoint/2010/main" val="1497772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UML About Cats and Dogs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1197701" y="2166750"/>
            <a:ext cx="3065421" cy="2981159"/>
            <a:chOff x="4356846" y="1783976"/>
            <a:chExt cx="2008095" cy="1998399"/>
          </a:xfrm>
        </p:grpSpPr>
        <p:sp>
          <p:nvSpPr>
            <p:cNvPr id="8" name="Rectangle 7"/>
            <p:cNvSpPr/>
            <p:nvPr/>
          </p:nvSpPr>
          <p:spPr>
            <a:xfrm>
              <a:off x="4356846" y="1783976"/>
              <a:ext cx="2008095" cy="25997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764" b="1" dirty="0">
                  <a:latin typeface="Consolas" charset="0"/>
                  <a:ea typeface="Consolas" charset="0"/>
                  <a:cs typeface="Consolas" charset="0"/>
                </a:rPr>
                <a:t>Cat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356847" y="2043952"/>
              <a:ext cx="2008094" cy="59181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-name: String</a:t>
              </a:r>
            </a:p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-id: String</a:t>
              </a:r>
            </a:p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-</a:t>
              </a:r>
              <a:r>
                <a:rPr lang="en-US" sz="1213" dirty="0" err="1">
                  <a:latin typeface="Consolas" charset="0"/>
                  <a:ea typeface="Consolas" charset="0"/>
                  <a:cs typeface="Consolas" charset="0"/>
                </a:rPr>
                <a:t>hairBalls</a:t>
              </a:r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: </a:t>
              </a:r>
              <a:r>
                <a:rPr lang="en-US" sz="1213" dirty="0" err="1">
                  <a:latin typeface="Consolas" charset="0"/>
                  <a:ea typeface="Consolas" charset="0"/>
                  <a:cs typeface="Consolas" charset="0"/>
                </a:rPr>
                <a:t>boolean</a:t>
              </a:r>
              <a:endParaRPr lang="en-US" sz="1213" dirty="0">
                <a:latin typeface="Consolas" charset="0"/>
                <a:ea typeface="Consolas" charset="0"/>
                <a:cs typeface="Consolas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356847" y="2635771"/>
              <a:ext cx="2008094" cy="114660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+Cat(</a:t>
              </a:r>
              <a:r>
                <a:rPr lang="en-US" sz="1213" dirty="0" err="1">
                  <a:latin typeface="Consolas" charset="0"/>
                  <a:ea typeface="Consolas" charset="0"/>
                  <a:cs typeface="Consolas" charset="0"/>
                </a:rPr>
                <a:t>name:String</a:t>
              </a:r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, </a:t>
              </a:r>
            </a:p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     </a:t>
              </a:r>
              <a:r>
                <a:rPr lang="en-US" sz="1213" dirty="0" err="1">
                  <a:latin typeface="Consolas" charset="0"/>
                  <a:ea typeface="Consolas" charset="0"/>
                  <a:cs typeface="Consolas" charset="0"/>
                </a:rPr>
                <a:t>id:String</a:t>
              </a:r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, </a:t>
              </a:r>
              <a:r>
                <a:rPr lang="en-US" sz="1213" dirty="0" err="1">
                  <a:latin typeface="Consolas" charset="0"/>
                  <a:ea typeface="Consolas" charset="0"/>
                  <a:cs typeface="Consolas" charset="0"/>
                </a:rPr>
                <a:t>hairBalls:boolean</a:t>
              </a:r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)</a:t>
              </a:r>
            </a:p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+</a:t>
              </a:r>
              <a:r>
                <a:rPr lang="en-US" sz="1213" dirty="0" err="1">
                  <a:latin typeface="Consolas" charset="0"/>
                  <a:ea typeface="Consolas" charset="0"/>
                  <a:cs typeface="Consolas" charset="0"/>
                </a:rPr>
                <a:t>getName</a:t>
              </a:r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(): String</a:t>
              </a:r>
            </a:p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+</a:t>
              </a:r>
              <a:r>
                <a:rPr lang="en-US" sz="1213" dirty="0" err="1">
                  <a:latin typeface="Consolas" charset="0"/>
                  <a:ea typeface="Consolas" charset="0"/>
                  <a:cs typeface="Consolas" charset="0"/>
                </a:rPr>
                <a:t>getId</a:t>
              </a:r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(): String</a:t>
              </a:r>
            </a:p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+says(): String</a:t>
              </a:r>
            </a:p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+</a:t>
              </a:r>
              <a:r>
                <a:rPr lang="en-US" sz="1213" dirty="0" err="1">
                  <a:latin typeface="Consolas" charset="0"/>
                  <a:ea typeface="Consolas" charset="0"/>
                  <a:cs typeface="Consolas" charset="0"/>
                </a:rPr>
                <a:t>hasHairBalls</a:t>
              </a:r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(): </a:t>
              </a:r>
              <a:r>
                <a:rPr lang="en-US" sz="1213" dirty="0" err="1">
                  <a:latin typeface="Consolas" charset="0"/>
                  <a:ea typeface="Consolas" charset="0"/>
                  <a:cs typeface="Consolas" charset="0"/>
                </a:rPr>
                <a:t>boolean</a:t>
              </a:r>
              <a:endParaRPr lang="en-US" sz="1213" dirty="0">
                <a:latin typeface="Consolas" charset="0"/>
                <a:ea typeface="Consolas" charset="0"/>
                <a:cs typeface="Consolas" charset="0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817502" y="2166750"/>
            <a:ext cx="3065422" cy="2981159"/>
            <a:chOff x="4356846" y="1783976"/>
            <a:chExt cx="2008095" cy="1998399"/>
          </a:xfrm>
        </p:grpSpPr>
        <p:sp>
          <p:nvSpPr>
            <p:cNvPr id="14" name="Rectangle 13"/>
            <p:cNvSpPr/>
            <p:nvPr/>
          </p:nvSpPr>
          <p:spPr>
            <a:xfrm>
              <a:off x="4356846" y="1783976"/>
              <a:ext cx="2008095" cy="25997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764" b="1" dirty="0">
                  <a:latin typeface="Consolas" charset="0"/>
                  <a:ea typeface="Consolas" charset="0"/>
                  <a:cs typeface="Consolas" charset="0"/>
                </a:rPr>
                <a:t>Dog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356847" y="2043952"/>
              <a:ext cx="2008094" cy="59181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-name: String</a:t>
              </a:r>
            </a:p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-id: String</a:t>
              </a:r>
            </a:p>
            <a:p>
              <a:endParaRPr lang="en-US" sz="1213" dirty="0">
                <a:latin typeface="Consolas" charset="0"/>
                <a:ea typeface="Consolas" charset="0"/>
                <a:cs typeface="Consolas" charset="0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356847" y="2635771"/>
              <a:ext cx="2008094" cy="114660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+Dog(</a:t>
              </a:r>
              <a:r>
                <a:rPr lang="en-US" sz="1213" dirty="0" err="1">
                  <a:latin typeface="Consolas" charset="0"/>
                  <a:ea typeface="Consolas" charset="0"/>
                  <a:cs typeface="Consolas" charset="0"/>
                </a:rPr>
                <a:t>name:String</a:t>
              </a:r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, 	</a:t>
              </a:r>
            </a:p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     </a:t>
              </a:r>
              <a:r>
                <a:rPr lang="en-US" sz="1213" dirty="0" err="1">
                  <a:latin typeface="Consolas" charset="0"/>
                  <a:ea typeface="Consolas" charset="0"/>
                  <a:cs typeface="Consolas" charset="0"/>
                </a:rPr>
                <a:t>id:String</a:t>
              </a:r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)</a:t>
              </a:r>
            </a:p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+</a:t>
              </a:r>
              <a:r>
                <a:rPr lang="en-US" sz="1213" dirty="0" err="1">
                  <a:latin typeface="Consolas" charset="0"/>
                  <a:ea typeface="Consolas" charset="0"/>
                  <a:cs typeface="Consolas" charset="0"/>
                </a:rPr>
                <a:t>getName</a:t>
              </a:r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(): String</a:t>
              </a:r>
            </a:p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+</a:t>
              </a:r>
              <a:r>
                <a:rPr lang="en-US" sz="1213" dirty="0" err="1">
                  <a:latin typeface="Consolas" charset="0"/>
                  <a:ea typeface="Consolas" charset="0"/>
                  <a:cs typeface="Consolas" charset="0"/>
                </a:rPr>
                <a:t>getId</a:t>
              </a:r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(): String</a:t>
              </a:r>
            </a:p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+says(): String</a:t>
              </a:r>
            </a:p>
            <a:p>
              <a:endParaRPr lang="en-US" sz="1213" dirty="0">
                <a:latin typeface="Consolas" charset="0"/>
                <a:ea typeface="Consolas" charset="0"/>
                <a:cs typeface="Consolas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8638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Code (1)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504507" y="1964688"/>
            <a:ext cx="4453559" cy="449809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final private String name;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final private String id;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final private </a:t>
            </a:r>
            <a:r>
              <a:rPr lang="en-US" sz="1100" b="1" dirty="0" err="1">
                <a:latin typeface="Consolas" charset="0"/>
                <a:ea typeface="Consolas" charset="0"/>
                <a:cs typeface="Consolas" charset="0"/>
              </a:rPr>
              <a:t>boolean</a:t>
            </a: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100" b="1" dirty="0" err="1">
                <a:latin typeface="Consolas" charset="0"/>
                <a:ea typeface="Consolas" charset="0"/>
                <a:cs typeface="Consolas" charset="0"/>
              </a:rPr>
              <a:t>hairBalls</a:t>
            </a: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1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public Cat(String name, String id, </a:t>
            </a:r>
            <a:r>
              <a:rPr lang="en-US" sz="1100" b="1" dirty="0" err="1">
                <a:latin typeface="Consolas" charset="0"/>
                <a:ea typeface="Consolas" charset="0"/>
                <a:cs typeface="Consolas" charset="0"/>
              </a:rPr>
              <a:t>boolean</a:t>
            </a: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100" b="1" dirty="0" err="1">
                <a:latin typeface="Consolas" charset="0"/>
                <a:ea typeface="Consolas" charset="0"/>
                <a:cs typeface="Consolas" charset="0"/>
              </a:rPr>
              <a:t>hairBalls</a:t>
            </a: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100" b="1" dirty="0" err="1">
                <a:latin typeface="Consolas" charset="0"/>
                <a:ea typeface="Consolas" charset="0"/>
                <a:cs typeface="Consolas" charset="0"/>
              </a:rPr>
              <a:t>this.name</a:t>
            </a: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 = name;	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100" b="1" dirty="0" err="1">
                <a:latin typeface="Consolas" charset="0"/>
                <a:ea typeface="Consolas" charset="0"/>
                <a:cs typeface="Consolas" charset="0"/>
              </a:rPr>
              <a:t>this.id</a:t>
            </a: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 = id;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100" b="1" dirty="0" err="1">
                <a:latin typeface="Consolas" charset="0"/>
                <a:ea typeface="Consolas" charset="0"/>
                <a:cs typeface="Consolas" charset="0"/>
              </a:rPr>
              <a:t>this.hairBalls</a:t>
            </a: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 = </a:t>
            </a:r>
            <a:r>
              <a:rPr lang="en-US" sz="1100" b="1" dirty="0" err="1">
                <a:latin typeface="Consolas" charset="0"/>
                <a:ea typeface="Consolas" charset="0"/>
                <a:cs typeface="Consolas" charset="0"/>
              </a:rPr>
              <a:t>hairBalls</a:t>
            </a: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1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public String </a:t>
            </a:r>
            <a:r>
              <a:rPr lang="en-US" sz="1100" b="1" dirty="0" err="1">
                <a:latin typeface="Consolas" charset="0"/>
                <a:ea typeface="Consolas" charset="0"/>
                <a:cs typeface="Consolas" charset="0"/>
              </a:rPr>
              <a:t>getName</a:t>
            </a: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	return name;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1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public String </a:t>
            </a:r>
            <a:r>
              <a:rPr lang="en-US" sz="1100" b="1" dirty="0" err="1">
                <a:latin typeface="Consolas" charset="0"/>
                <a:ea typeface="Consolas" charset="0"/>
                <a:cs typeface="Consolas" charset="0"/>
              </a:rPr>
              <a:t>getId</a:t>
            </a: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	return id;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1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public String </a:t>
            </a:r>
            <a:r>
              <a:rPr lang="en-US" sz="1100" b="1" dirty="0" err="1">
                <a:latin typeface="Consolas" charset="0"/>
                <a:ea typeface="Consolas" charset="0"/>
                <a:cs typeface="Consolas" charset="0"/>
              </a:rPr>
              <a:t>toString</a:t>
            </a: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	return </a:t>
            </a:r>
            <a:r>
              <a:rPr lang="en-US" sz="1100" b="1" dirty="0" err="1">
                <a:latin typeface="Consolas" charset="0"/>
                <a:ea typeface="Consolas" charset="0"/>
                <a:cs typeface="Consolas" charset="0"/>
              </a:rPr>
              <a:t>String.format</a:t>
            </a: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("%s (%s)", 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100" b="1" dirty="0" err="1">
                <a:latin typeface="Consolas" charset="0"/>
                <a:ea typeface="Consolas" charset="0"/>
                <a:cs typeface="Consolas" charset="0"/>
              </a:rPr>
              <a:t>getName</a:t>
            </a: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(), </a:t>
            </a:r>
            <a:r>
              <a:rPr lang="en-US" sz="1100" b="1" dirty="0" err="1">
                <a:latin typeface="Consolas" charset="0"/>
                <a:ea typeface="Consolas" charset="0"/>
                <a:cs typeface="Consolas" charset="0"/>
              </a:rPr>
              <a:t>getId</a:t>
            </a: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());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}		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1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public String says()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	return "meow";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1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public </a:t>
            </a:r>
            <a:r>
              <a:rPr lang="en-US" sz="1100" b="1" dirty="0" err="1">
                <a:latin typeface="Consolas" charset="0"/>
                <a:ea typeface="Consolas" charset="0"/>
                <a:cs typeface="Consolas" charset="0"/>
              </a:rPr>
              <a:t>boolean</a:t>
            </a: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100" b="1" dirty="0" err="1">
                <a:latin typeface="Consolas" charset="0"/>
                <a:ea typeface="Consolas" charset="0"/>
                <a:cs typeface="Consolas" charset="0"/>
              </a:rPr>
              <a:t>hasHairBalls</a:t>
            </a: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	return </a:t>
            </a:r>
            <a:r>
              <a:rPr lang="en-US" sz="1100" b="1" dirty="0" err="1">
                <a:latin typeface="Consolas" charset="0"/>
                <a:ea typeface="Consolas" charset="0"/>
                <a:cs typeface="Consolas" charset="0"/>
              </a:rPr>
              <a:t>hairBalls</a:t>
            </a: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4"/>
          </p:nvPr>
        </p:nvSpPr>
        <p:spPr>
          <a:xfrm>
            <a:off x="5120809" y="1964688"/>
            <a:ext cx="4455308" cy="4498094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final private String name;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final private String id;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1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public Dog(String name, String id)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100" b="1" dirty="0" err="1">
                <a:latin typeface="Consolas" charset="0"/>
                <a:ea typeface="Consolas" charset="0"/>
                <a:cs typeface="Consolas" charset="0"/>
              </a:rPr>
              <a:t>this.name</a:t>
            </a: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 = name;	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100" b="1" dirty="0" err="1">
                <a:latin typeface="Consolas" charset="0"/>
                <a:ea typeface="Consolas" charset="0"/>
                <a:cs typeface="Consolas" charset="0"/>
              </a:rPr>
              <a:t>this.id</a:t>
            </a: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 = id;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1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public String </a:t>
            </a:r>
            <a:r>
              <a:rPr lang="en-US" sz="1100" b="1" dirty="0" err="1">
                <a:latin typeface="Consolas" charset="0"/>
                <a:ea typeface="Consolas" charset="0"/>
                <a:cs typeface="Consolas" charset="0"/>
              </a:rPr>
              <a:t>getName</a:t>
            </a: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()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	return name;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1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public String </a:t>
            </a:r>
            <a:r>
              <a:rPr lang="en-US" sz="1100" b="1" dirty="0" err="1">
                <a:latin typeface="Consolas" charset="0"/>
                <a:ea typeface="Consolas" charset="0"/>
                <a:cs typeface="Consolas" charset="0"/>
              </a:rPr>
              <a:t>getId</a:t>
            </a: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()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	return id;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1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public String </a:t>
            </a:r>
            <a:r>
              <a:rPr lang="en-US" sz="1100" b="1" dirty="0" err="1">
                <a:latin typeface="Consolas" charset="0"/>
                <a:ea typeface="Consolas" charset="0"/>
                <a:cs typeface="Consolas" charset="0"/>
              </a:rPr>
              <a:t>toString</a:t>
            </a: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()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	return </a:t>
            </a:r>
            <a:r>
              <a:rPr lang="en-US" sz="1100" b="1" dirty="0" err="1">
                <a:latin typeface="Consolas" charset="0"/>
                <a:ea typeface="Consolas" charset="0"/>
                <a:cs typeface="Consolas" charset="0"/>
              </a:rPr>
              <a:t>String.format</a:t>
            </a: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("%s (%s)", 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100" b="1" dirty="0" err="1">
                <a:latin typeface="Consolas" charset="0"/>
                <a:ea typeface="Consolas" charset="0"/>
                <a:cs typeface="Consolas" charset="0"/>
              </a:rPr>
              <a:t>getName</a:t>
            </a: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(), </a:t>
            </a:r>
            <a:r>
              <a:rPr lang="en-US" sz="1100" b="1" dirty="0" err="1">
                <a:latin typeface="Consolas" charset="0"/>
                <a:ea typeface="Consolas" charset="0"/>
                <a:cs typeface="Consolas" charset="0"/>
              </a:rPr>
              <a:t>getId</a:t>
            </a: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());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}		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1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public String says()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	return "woof";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100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504507" y="1272873"/>
            <a:ext cx="4453559" cy="705219"/>
          </a:xfrm>
        </p:spPr>
        <p:txBody>
          <a:bodyPr/>
          <a:lstStyle/>
          <a:p>
            <a:r>
              <a:rPr lang="en-US" dirty="0" err="1"/>
              <a:t>Cat.java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"/>
          </p:nvPr>
        </p:nvSpPr>
        <p:spPr>
          <a:xfrm>
            <a:off x="5120809" y="1272873"/>
            <a:ext cx="4455308" cy="705219"/>
          </a:xfrm>
        </p:spPr>
        <p:txBody>
          <a:bodyPr/>
          <a:lstStyle/>
          <a:p>
            <a:r>
              <a:rPr lang="en-US" dirty="0" err="1"/>
              <a:t>Dog.java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861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Code (2)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504507" y="2254866"/>
            <a:ext cx="4616302" cy="4498094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Dog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[]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dogs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= {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new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Dog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Spot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", "1234"),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new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Dog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Rover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", "6789")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};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Cat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[]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cats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= {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new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Cat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Mittens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", "5432"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, true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),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new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Cat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Garfield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", "8765"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, false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)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};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for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(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Dog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d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: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dogs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) {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s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says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'%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s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'%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n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d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,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d.says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());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}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for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(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Cat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c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: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cats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) {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("%s says '%s'", c,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c.says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if (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c.hasHairBalls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(" :: CLEARS THROAT ::");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("%n");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}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4"/>
          </p:nvPr>
        </p:nvSpPr>
        <p:spPr>
          <a:xfrm>
            <a:off x="5120809" y="2254866"/>
            <a:ext cx="4959287" cy="449809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33" dirty="0">
                <a:latin typeface="Consolas" charset="0"/>
                <a:ea typeface="Consolas" charset="0"/>
                <a:cs typeface="Consolas" charset="0"/>
              </a:rPr>
              <a:t>Spot (1234) says 'woof'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33" dirty="0">
                <a:latin typeface="Consolas" charset="0"/>
                <a:ea typeface="Consolas" charset="0"/>
                <a:cs typeface="Consolas" charset="0"/>
              </a:rPr>
              <a:t>Rover (6789) </a:t>
            </a:r>
            <a:r>
              <a:rPr lang="en-US" sz="1433">
                <a:latin typeface="Consolas" charset="0"/>
                <a:ea typeface="Consolas" charset="0"/>
                <a:cs typeface="Consolas" charset="0"/>
              </a:rPr>
              <a:t>says 'woof'</a:t>
            </a:r>
            <a:endParaRPr lang="en-US" sz="1433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33" dirty="0">
                <a:latin typeface="Consolas" charset="0"/>
                <a:ea typeface="Consolas" charset="0"/>
                <a:cs typeface="Consolas" charset="0"/>
              </a:rPr>
              <a:t>Mittens (5432) says 'meow' :: CLEARS THROAT ::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33" dirty="0">
                <a:latin typeface="Consolas" charset="0"/>
                <a:ea typeface="Consolas" charset="0"/>
                <a:cs typeface="Consolas" charset="0"/>
              </a:rPr>
              <a:t>Garfield (8765) says 'meow'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Vet.java</a:t>
            </a:r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677098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Alarms!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This code </a:t>
            </a:r>
            <a:r>
              <a:rPr lang="en-US" i="1" dirty="0"/>
              <a:t>works</a:t>
            </a:r>
            <a:r>
              <a:rPr lang="en-US" dirty="0"/>
              <a:t>, but there is a great deal of duplication (which, aside from wasted effort, often leads to mistakes/bugs)</a:t>
            </a:r>
          </a:p>
          <a:p>
            <a:r>
              <a:rPr lang="en-US" b="1" dirty="0"/>
              <a:t>Inheritance</a:t>
            </a:r>
            <a:r>
              <a:rPr lang="en-US" dirty="0"/>
              <a:t> in OOP allows us to create general classes </a:t>
            </a:r>
            <a:r>
              <a:rPr lang="en-US" i="1" dirty="0"/>
              <a:t>(</a:t>
            </a:r>
            <a:r>
              <a:rPr lang="en-US" b="1" dirty="0"/>
              <a:t>superclass</a:t>
            </a:r>
            <a:r>
              <a:rPr lang="en-US" dirty="0"/>
              <a:t>)</a:t>
            </a:r>
            <a:r>
              <a:rPr lang="en-US" i="1" dirty="0"/>
              <a:t>,</a:t>
            </a:r>
            <a:r>
              <a:rPr lang="en-US" dirty="0"/>
              <a:t> share this code amongst other classes (</a:t>
            </a:r>
            <a:r>
              <a:rPr lang="en-US" b="1" dirty="0"/>
              <a:t>subclass</a:t>
            </a:r>
            <a:r>
              <a:rPr lang="en-US" dirty="0"/>
              <a:t>), and then specialize them as needed</a:t>
            </a:r>
          </a:p>
          <a:p>
            <a:r>
              <a:rPr lang="en-US" b="1" dirty="0"/>
              <a:t>Polymorphism</a:t>
            </a:r>
            <a:r>
              <a:rPr lang="en-US" dirty="0"/>
              <a:t> allows us to write code that easily works with different subclasses that share a common superclass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022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507" y="538419"/>
            <a:ext cx="9071610" cy="661650"/>
          </a:xfrm>
        </p:spPr>
        <p:txBody>
          <a:bodyPr>
            <a:normAutofit/>
          </a:bodyPr>
          <a:lstStyle/>
          <a:p>
            <a:r>
              <a:rPr lang="en-US" dirty="0"/>
              <a:t>Inheritance Visually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3933537" y="1493557"/>
            <a:ext cx="2213553" cy="2202865"/>
            <a:chOff x="4356846" y="1783976"/>
            <a:chExt cx="2008095" cy="1998399"/>
          </a:xfrm>
        </p:grpSpPr>
        <p:sp>
          <p:nvSpPr>
            <p:cNvPr id="8" name="Rectangle 7"/>
            <p:cNvSpPr/>
            <p:nvPr/>
          </p:nvSpPr>
          <p:spPr>
            <a:xfrm>
              <a:off x="4356846" y="1783976"/>
              <a:ext cx="2008095" cy="25997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764" b="1" dirty="0">
                  <a:latin typeface="Consolas" charset="0"/>
                  <a:ea typeface="Consolas" charset="0"/>
                  <a:cs typeface="Consolas" charset="0"/>
                </a:rPr>
                <a:t>Pet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356847" y="2043953"/>
              <a:ext cx="2008094" cy="4661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-name: String</a:t>
              </a:r>
            </a:p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-id: String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356847" y="2504333"/>
              <a:ext cx="2008094" cy="127804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+Pet(name: String, </a:t>
              </a:r>
            </a:p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     </a:t>
              </a:r>
              <a:r>
                <a:rPr lang="en-US" sz="1213" dirty="0" err="1">
                  <a:latin typeface="Consolas" charset="0"/>
                  <a:ea typeface="Consolas" charset="0"/>
                  <a:cs typeface="Consolas" charset="0"/>
                </a:rPr>
                <a:t>id:String</a:t>
              </a:r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)</a:t>
              </a:r>
            </a:p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+</a:t>
              </a:r>
              <a:r>
                <a:rPr lang="en-US" sz="1213" dirty="0" err="1">
                  <a:latin typeface="Consolas" charset="0"/>
                  <a:ea typeface="Consolas" charset="0"/>
                  <a:cs typeface="Consolas" charset="0"/>
                </a:rPr>
                <a:t>getName</a:t>
              </a:r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(): String</a:t>
              </a:r>
            </a:p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+</a:t>
              </a:r>
              <a:r>
                <a:rPr lang="en-US" sz="1213" dirty="0" err="1">
                  <a:latin typeface="Consolas" charset="0"/>
                  <a:ea typeface="Consolas" charset="0"/>
                  <a:cs typeface="Consolas" charset="0"/>
                </a:rPr>
                <a:t>getId</a:t>
              </a:r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(): String</a:t>
              </a:r>
            </a:p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+says(): String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6420404" y="4999364"/>
            <a:ext cx="3155713" cy="1523839"/>
            <a:chOff x="4356846" y="1783976"/>
            <a:chExt cx="2008095" cy="1639910"/>
          </a:xfrm>
        </p:grpSpPr>
        <p:sp>
          <p:nvSpPr>
            <p:cNvPr id="16" name="Rectangle 15"/>
            <p:cNvSpPr/>
            <p:nvPr/>
          </p:nvSpPr>
          <p:spPr>
            <a:xfrm>
              <a:off x="4356846" y="1783976"/>
              <a:ext cx="2008095" cy="35893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764" b="1" dirty="0">
                  <a:latin typeface="Consolas" charset="0"/>
                  <a:ea typeface="Consolas" charset="0"/>
                  <a:cs typeface="Consolas" charset="0"/>
                </a:rPr>
                <a:t>Dog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356847" y="2142915"/>
              <a:ext cx="2008094" cy="128097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+Dog(</a:t>
              </a:r>
              <a:r>
                <a:rPr lang="en-US" sz="1213" dirty="0" err="1">
                  <a:latin typeface="Consolas" charset="0"/>
                  <a:ea typeface="Consolas" charset="0"/>
                  <a:cs typeface="Consolas" charset="0"/>
                </a:rPr>
                <a:t>name:String</a:t>
              </a:r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, </a:t>
              </a:r>
            </a:p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     </a:t>
              </a:r>
              <a:r>
                <a:rPr lang="en-US" sz="1213" dirty="0" err="1">
                  <a:latin typeface="Consolas" charset="0"/>
                  <a:ea typeface="Consolas" charset="0"/>
                  <a:cs typeface="Consolas" charset="0"/>
                </a:rPr>
                <a:t>id:String</a:t>
              </a:r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)</a:t>
              </a:r>
            </a:p>
          </p:txBody>
        </p:sp>
      </p:grpSp>
      <p:sp>
        <p:nvSpPr>
          <p:cNvPr id="20" name="Triangle 19"/>
          <p:cNvSpPr/>
          <p:nvPr/>
        </p:nvSpPr>
        <p:spPr>
          <a:xfrm>
            <a:off x="4867609" y="3696422"/>
            <a:ext cx="345403" cy="297761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646"/>
          </a:p>
        </p:txBody>
      </p:sp>
      <p:cxnSp>
        <p:nvCxnSpPr>
          <p:cNvPr id="24" name="Elbow Connector 23"/>
          <p:cNvCxnSpPr>
            <a:stCxn id="16" idx="0"/>
            <a:endCxn id="20" idx="3"/>
          </p:cNvCxnSpPr>
          <p:nvPr/>
        </p:nvCxnSpPr>
        <p:spPr>
          <a:xfrm rot="16200000" flipV="1">
            <a:off x="6016695" y="3017798"/>
            <a:ext cx="1005181" cy="295794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/>
          <p:cNvCxnSpPr>
            <a:stCxn id="12" idx="0"/>
            <a:endCxn id="20" idx="3"/>
          </p:cNvCxnSpPr>
          <p:nvPr/>
        </p:nvCxnSpPr>
        <p:spPr>
          <a:xfrm rot="5400000" flipH="1" flipV="1">
            <a:off x="3058746" y="3017800"/>
            <a:ext cx="1005181" cy="295794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" name="Group 17"/>
          <p:cNvGrpSpPr/>
          <p:nvPr/>
        </p:nvGrpSpPr>
        <p:grpSpPr>
          <a:xfrm>
            <a:off x="504506" y="4999363"/>
            <a:ext cx="3155713" cy="1523838"/>
            <a:chOff x="1552522" y="4535332"/>
            <a:chExt cx="2015430" cy="1382398"/>
          </a:xfrm>
        </p:grpSpPr>
        <p:sp>
          <p:nvSpPr>
            <p:cNvPr id="12" name="Rectangle 11"/>
            <p:cNvSpPr/>
            <p:nvPr/>
          </p:nvSpPr>
          <p:spPr>
            <a:xfrm>
              <a:off x="1552522" y="4535332"/>
              <a:ext cx="2015430" cy="32195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764" b="1" dirty="0">
                  <a:latin typeface="Consolas" charset="0"/>
                  <a:ea typeface="Consolas" charset="0"/>
                  <a:cs typeface="Consolas" charset="0"/>
                </a:rPr>
                <a:t>Cat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552522" y="5213311"/>
              <a:ext cx="2015429" cy="70441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+Cat(</a:t>
              </a:r>
              <a:r>
                <a:rPr lang="en-US" sz="1213" dirty="0" err="1">
                  <a:latin typeface="Consolas" charset="0"/>
                  <a:ea typeface="Consolas" charset="0"/>
                  <a:cs typeface="Consolas" charset="0"/>
                </a:rPr>
                <a:t>name:String</a:t>
              </a:r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, </a:t>
              </a:r>
            </a:p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     </a:t>
              </a:r>
              <a:r>
                <a:rPr lang="en-US" sz="1213" dirty="0" err="1">
                  <a:latin typeface="Consolas" charset="0"/>
                  <a:ea typeface="Consolas" charset="0"/>
                  <a:cs typeface="Consolas" charset="0"/>
                </a:rPr>
                <a:t>id:String</a:t>
              </a:r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, </a:t>
              </a:r>
              <a:r>
                <a:rPr lang="en-US" sz="1213" dirty="0" err="1">
                  <a:latin typeface="Consolas" charset="0"/>
                  <a:ea typeface="Consolas" charset="0"/>
                  <a:cs typeface="Consolas" charset="0"/>
                </a:rPr>
                <a:t>hairBalls:boolean</a:t>
              </a:r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)</a:t>
              </a:r>
            </a:p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+</a:t>
              </a:r>
              <a:r>
                <a:rPr lang="en-US" sz="1213" dirty="0" err="1">
                  <a:latin typeface="Consolas" charset="0"/>
                  <a:ea typeface="Consolas" charset="0"/>
                  <a:cs typeface="Consolas" charset="0"/>
                </a:rPr>
                <a:t>hasHairBalls</a:t>
              </a:r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(): </a:t>
              </a:r>
              <a:r>
                <a:rPr lang="en-US" sz="1213" dirty="0" err="1">
                  <a:latin typeface="Consolas" charset="0"/>
                  <a:ea typeface="Consolas" charset="0"/>
                  <a:cs typeface="Consolas" charset="0"/>
                </a:rPr>
                <a:t>boolean</a:t>
              </a:r>
              <a:endParaRPr lang="en-US" sz="1213" dirty="0">
                <a:latin typeface="Consolas" charset="0"/>
                <a:ea typeface="Consolas" charset="0"/>
                <a:cs typeface="Consolas" charset="0"/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552522" y="4856585"/>
              <a:ext cx="2015430" cy="35672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-</a:t>
              </a:r>
              <a:r>
                <a:rPr lang="en-US" sz="1213" dirty="0" err="1">
                  <a:latin typeface="Consolas" charset="0"/>
                  <a:ea typeface="Consolas" charset="0"/>
                  <a:cs typeface="Consolas" charset="0"/>
                </a:rPr>
                <a:t>hairBalls</a:t>
              </a:r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: </a:t>
              </a:r>
              <a:r>
                <a:rPr lang="en-US" sz="1213" dirty="0" err="1">
                  <a:latin typeface="Consolas" charset="0"/>
                  <a:ea typeface="Consolas" charset="0"/>
                  <a:cs typeface="Consolas" charset="0"/>
                </a:rPr>
                <a:t>boolean</a:t>
              </a:r>
              <a:endParaRPr lang="en-US" sz="1213" dirty="0">
                <a:latin typeface="Consolas" charset="0"/>
                <a:ea typeface="Consolas" charset="0"/>
                <a:cs typeface="Consolas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0778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extends</a:t>
            </a:r>
            <a:r>
              <a:rPr lang="en-US" dirty="0"/>
              <a:t> Keyword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In Java, classes can be </a:t>
            </a:r>
            <a:r>
              <a:rPr lang="en-US" i="1" dirty="0"/>
              <a:t>derived</a:t>
            </a:r>
            <a:r>
              <a:rPr lang="en-US" dirty="0"/>
              <a:t> from other classes, thereby inheriting fields and methods from those classes</a:t>
            </a:r>
          </a:p>
          <a:p>
            <a:r>
              <a:rPr lang="en-US" dirty="0"/>
              <a:t>We begin with a more general </a:t>
            </a:r>
            <a:r>
              <a:rPr lang="en-US" b="1" dirty="0"/>
              <a:t>superclass</a:t>
            </a:r>
            <a:endParaRPr lang="en-US" dirty="0"/>
          </a:p>
          <a:p>
            <a:r>
              <a:rPr lang="en-US" dirty="0"/>
              <a:t>Then, any </a:t>
            </a:r>
            <a:r>
              <a:rPr lang="en-US" b="1" dirty="0"/>
              <a:t>subclass</a:t>
            </a:r>
            <a:r>
              <a:rPr lang="en-US" dirty="0"/>
              <a:t> that </a:t>
            </a:r>
            <a:r>
              <a:rPr lang="en-US" b="1" dirty="0"/>
              <a:t>extends</a:t>
            </a:r>
            <a:r>
              <a:rPr lang="en-US" dirty="0"/>
              <a:t> the superclass inherits any public or </a:t>
            </a:r>
            <a:r>
              <a:rPr lang="en-US" i="1" dirty="0"/>
              <a:t>protected</a:t>
            </a:r>
            <a:r>
              <a:rPr lang="en-US" dirty="0"/>
              <a:t> methods and/or variables of the class</a:t>
            </a:r>
          </a:p>
        </p:txBody>
      </p:sp>
    </p:spTree>
    <p:extLst>
      <p:ext uri="{BB962C8B-B14F-4D97-AF65-F5344CB8AC3E}">
        <p14:creationId xmlns:p14="http://schemas.microsoft.com/office/powerpoint/2010/main" val="2060468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(1)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504031" y="2255837"/>
            <a:ext cx="5069681" cy="4498094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final private String name;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final private String id;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public Pet(String name, String id)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this.name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 = name;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this.id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 = id;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public String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getName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return name;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public String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getId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return id;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}		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public String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toString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return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String.format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("%s (%s)",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getName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(),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getId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());	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public String says()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return "???";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4"/>
          </p:nvPr>
        </p:nvSpPr>
        <p:spPr>
          <a:xfrm>
            <a:off x="5120818" y="2255837"/>
            <a:ext cx="4455776" cy="449809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Dog2 extends Pet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Dog2(String name, String id)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super(name, id);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Pet.java</a:t>
            </a:r>
            <a:endParaRPr lang="en-US" dirty="0"/>
          </a:p>
        </p:txBody>
      </p:sp>
      <p:sp>
        <p:nvSpPr>
          <p:cNvPr id="12" name="Rounded Rectangle 11"/>
          <p:cNvSpPr/>
          <p:nvPr/>
        </p:nvSpPr>
        <p:spPr>
          <a:xfrm>
            <a:off x="5268912" y="3932237"/>
            <a:ext cx="4307205" cy="259223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46" dirty="0">
                <a:solidFill>
                  <a:schemeClr val="tx1"/>
                </a:solidFill>
                <a:latin typeface="Tahoma" charset="0"/>
                <a:ea typeface="Tahoma" charset="0"/>
                <a:cs typeface="Tahoma" charset="0"/>
              </a:rPr>
              <a:t>Because </a:t>
            </a:r>
            <a:r>
              <a:rPr lang="en-US" sz="2646" b="1" dirty="0">
                <a:solidFill>
                  <a:schemeClr val="tx1"/>
                </a:solidFill>
                <a:latin typeface="Tahoma" charset="0"/>
                <a:ea typeface="Tahoma" charset="0"/>
                <a:cs typeface="Tahoma" charset="0"/>
              </a:rPr>
              <a:t>Dog2</a:t>
            </a:r>
            <a:r>
              <a:rPr lang="en-US" sz="2646" dirty="0">
                <a:solidFill>
                  <a:schemeClr val="tx1"/>
                </a:solidFill>
                <a:latin typeface="Tahoma" charset="0"/>
                <a:ea typeface="Tahoma" charset="0"/>
                <a:cs typeface="Tahoma" charset="0"/>
              </a:rPr>
              <a:t> </a:t>
            </a:r>
            <a:r>
              <a:rPr lang="en-US" sz="2646" i="1" dirty="0">
                <a:solidFill>
                  <a:schemeClr val="tx1"/>
                </a:solidFill>
                <a:latin typeface="Tahoma" charset="0"/>
                <a:ea typeface="Tahoma" charset="0"/>
                <a:cs typeface="Tahoma" charset="0"/>
              </a:rPr>
              <a:t>extends</a:t>
            </a:r>
            <a:r>
              <a:rPr lang="en-US" sz="2646" dirty="0">
                <a:solidFill>
                  <a:schemeClr val="tx1"/>
                </a:solidFill>
                <a:latin typeface="Tahoma" charset="0"/>
                <a:ea typeface="Tahoma" charset="0"/>
                <a:cs typeface="Tahoma" charset="0"/>
              </a:rPr>
              <a:t> the </a:t>
            </a:r>
            <a:r>
              <a:rPr lang="en-US" sz="2646" b="1" dirty="0">
                <a:solidFill>
                  <a:schemeClr val="tx1"/>
                </a:solidFill>
                <a:latin typeface="Tahoma" charset="0"/>
                <a:ea typeface="Tahoma" charset="0"/>
                <a:cs typeface="Tahoma" charset="0"/>
              </a:rPr>
              <a:t>Pet</a:t>
            </a:r>
            <a:r>
              <a:rPr lang="en-US" sz="2646" dirty="0">
                <a:solidFill>
                  <a:schemeClr val="tx1"/>
                </a:solidFill>
                <a:latin typeface="Tahoma" charset="0"/>
                <a:ea typeface="Tahoma" charset="0"/>
                <a:cs typeface="Tahoma" charset="0"/>
              </a:rPr>
              <a:t> class, it gains the </a:t>
            </a:r>
            <a:r>
              <a:rPr lang="en-US" sz="2646" b="1" dirty="0" err="1">
                <a:solidFill>
                  <a:schemeClr val="tx1"/>
                </a:solidFill>
                <a:latin typeface="Tahoma" charset="0"/>
                <a:ea typeface="Tahoma" charset="0"/>
                <a:cs typeface="Tahoma" charset="0"/>
              </a:rPr>
              <a:t>getName</a:t>
            </a:r>
            <a:r>
              <a:rPr lang="en-US" sz="2646" b="1" dirty="0">
                <a:solidFill>
                  <a:schemeClr val="tx1"/>
                </a:solidFill>
                <a:latin typeface="Tahoma" charset="0"/>
                <a:ea typeface="Tahoma" charset="0"/>
                <a:cs typeface="Tahoma" charset="0"/>
              </a:rPr>
              <a:t>()</a:t>
            </a:r>
            <a:r>
              <a:rPr lang="en-US" sz="2646" dirty="0">
                <a:solidFill>
                  <a:schemeClr val="tx1"/>
                </a:solidFill>
                <a:latin typeface="Tahoma" charset="0"/>
                <a:ea typeface="Tahoma" charset="0"/>
                <a:cs typeface="Tahoma" charset="0"/>
              </a:rPr>
              <a:t>, </a:t>
            </a:r>
            <a:r>
              <a:rPr lang="en-US" sz="2646" b="1" dirty="0" err="1">
                <a:solidFill>
                  <a:schemeClr val="tx1"/>
                </a:solidFill>
                <a:latin typeface="Tahoma" charset="0"/>
                <a:ea typeface="Tahoma" charset="0"/>
                <a:cs typeface="Tahoma" charset="0"/>
              </a:rPr>
              <a:t>getId</a:t>
            </a:r>
            <a:r>
              <a:rPr lang="en-US" sz="2646" b="1" dirty="0">
                <a:solidFill>
                  <a:schemeClr val="tx1"/>
                </a:solidFill>
                <a:latin typeface="Tahoma" charset="0"/>
                <a:ea typeface="Tahoma" charset="0"/>
                <a:cs typeface="Tahoma" charset="0"/>
              </a:rPr>
              <a:t>()</a:t>
            </a:r>
            <a:r>
              <a:rPr lang="en-US" sz="2646" dirty="0">
                <a:solidFill>
                  <a:schemeClr val="tx1"/>
                </a:solidFill>
                <a:latin typeface="Tahoma" charset="0"/>
                <a:ea typeface="Tahoma" charset="0"/>
                <a:cs typeface="Tahoma" charset="0"/>
              </a:rPr>
              <a:t>, </a:t>
            </a:r>
            <a:r>
              <a:rPr lang="en-US" sz="2646" b="1" dirty="0" err="1">
                <a:solidFill>
                  <a:schemeClr val="tx1"/>
                </a:solidFill>
                <a:latin typeface="Tahoma" charset="0"/>
                <a:ea typeface="Tahoma" charset="0"/>
                <a:cs typeface="Tahoma" charset="0"/>
              </a:rPr>
              <a:t>toString</a:t>
            </a:r>
            <a:r>
              <a:rPr lang="en-US" sz="2646" b="1" dirty="0">
                <a:solidFill>
                  <a:schemeClr val="tx1"/>
                </a:solidFill>
                <a:latin typeface="Tahoma" charset="0"/>
                <a:ea typeface="Tahoma" charset="0"/>
                <a:cs typeface="Tahoma" charset="0"/>
              </a:rPr>
              <a:t>()</a:t>
            </a:r>
            <a:r>
              <a:rPr lang="en-US" sz="2646" dirty="0">
                <a:solidFill>
                  <a:schemeClr val="tx1"/>
                </a:solidFill>
                <a:latin typeface="Tahoma" charset="0"/>
                <a:ea typeface="Tahoma" charset="0"/>
                <a:cs typeface="Tahoma" charset="0"/>
              </a:rPr>
              <a:t>, and </a:t>
            </a:r>
            <a:r>
              <a:rPr lang="en-US" sz="2646" b="1" dirty="0">
                <a:solidFill>
                  <a:schemeClr val="tx1"/>
                </a:solidFill>
                <a:latin typeface="Tahoma" charset="0"/>
                <a:ea typeface="Tahoma" charset="0"/>
                <a:cs typeface="Tahoma" charset="0"/>
              </a:rPr>
              <a:t>says()</a:t>
            </a:r>
            <a:r>
              <a:rPr lang="en-US" sz="2646" dirty="0">
                <a:solidFill>
                  <a:schemeClr val="tx1"/>
                </a:solidFill>
                <a:latin typeface="Tahoma" charset="0"/>
                <a:ea typeface="Tahoma" charset="0"/>
                <a:cs typeface="Tahoma" charset="0"/>
              </a:rPr>
              <a:t> methods!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idx="1"/>
          </p:nvPr>
        </p:nvSpPr>
        <p:spPr>
          <a:xfrm>
            <a:off x="5116512" y="1410327"/>
            <a:ext cx="4454027" cy="705219"/>
          </a:xfrm>
        </p:spPr>
        <p:txBody>
          <a:bodyPr/>
          <a:lstStyle/>
          <a:p>
            <a:r>
              <a:rPr lang="en-US"/>
              <a:t>Dog2.java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1364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(2)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504031" y="2254867"/>
            <a:ext cx="4993481" cy="4498094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final private String name;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final private String id;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public Pet(String name, String id)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this.name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 = name;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this.id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 = id;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public String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getName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return name;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public String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getId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return id;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}		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public String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toString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return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String.format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("%s (%s)",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getName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(),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getId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());	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public String says()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return "???";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public class Cat2 extends Pet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	final private </a:t>
            </a:r>
            <a:r>
              <a:rPr lang="en-US" sz="1323" b="1" dirty="0" err="1">
                <a:latin typeface="Consolas" charset="0"/>
                <a:ea typeface="Consolas" charset="0"/>
                <a:cs typeface="Consolas" charset="0"/>
              </a:rPr>
              <a:t>boolean</a:t>
            </a: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323" b="1" dirty="0" err="1">
                <a:latin typeface="Consolas" charset="0"/>
                <a:ea typeface="Consolas" charset="0"/>
                <a:cs typeface="Consolas" charset="0"/>
              </a:rPr>
              <a:t>hairBalls</a:t>
            </a: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323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	public Cat2(String name, String id, 				  </a:t>
            </a:r>
            <a:r>
              <a:rPr lang="en-US" sz="1323" b="1" dirty="0" err="1">
                <a:latin typeface="Consolas" charset="0"/>
                <a:ea typeface="Consolas" charset="0"/>
                <a:cs typeface="Consolas" charset="0"/>
              </a:rPr>
              <a:t>boolean</a:t>
            </a: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323" b="1" dirty="0" err="1">
                <a:latin typeface="Consolas" charset="0"/>
                <a:ea typeface="Consolas" charset="0"/>
                <a:cs typeface="Consolas" charset="0"/>
              </a:rPr>
              <a:t>hairBalls</a:t>
            </a: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		super(name, id);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323" b="1" dirty="0" err="1">
                <a:latin typeface="Consolas" charset="0"/>
                <a:ea typeface="Consolas" charset="0"/>
                <a:cs typeface="Consolas" charset="0"/>
              </a:rPr>
              <a:t>this.hairBalls</a:t>
            </a: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 = </a:t>
            </a:r>
            <a:r>
              <a:rPr lang="en-US" sz="1323" b="1" dirty="0" err="1">
                <a:latin typeface="Consolas" charset="0"/>
                <a:ea typeface="Consolas" charset="0"/>
                <a:cs typeface="Consolas" charset="0"/>
              </a:rPr>
              <a:t>hairBalls</a:t>
            </a: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323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	public </a:t>
            </a:r>
            <a:r>
              <a:rPr lang="en-US" sz="1323" b="1" dirty="0" err="1">
                <a:latin typeface="Consolas" charset="0"/>
                <a:ea typeface="Consolas" charset="0"/>
                <a:cs typeface="Consolas" charset="0"/>
              </a:rPr>
              <a:t>boolean</a:t>
            </a: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323" b="1" dirty="0" err="1">
                <a:latin typeface="Consolas" charset="0"/>
                <a:ea typeface="Consolas" charset="0"/>
                <a:cs typeface="Consolas" charset="0"/>
              </a:rPr>
              <a:t>hasHairBalls</a:t>
            </a: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()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		return </a:t>
            </a:r>
            <a:r>
              <a:rPr lang="en-US" sz="1323" b="1" dirty="0" err="1">
                <a:latin typeface="Consolas" charset="0"/>
                <a:ea typeface="Consolas" charset="0"/>
                <a:cs typeface="Consolas" charset="0"/>
              </a:rPr>
              <a:t>hairBalls</a:t>
            </a: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Pet.java</a:t>
            </a:r>
            <a:endParaRPr lang="en-US" dirty="0"/>
          </a:p>
        </p:txBody>
      </p:sp>
      <p:sp>
        <p:nvSpPr>
          <p:cNvPr id="12" name="Rounded Rectangle 11"/>
          <p:cNvSpPr/>
          <p:nvPr/>
        </p:nvSpPr>
        <p:spPr>
          <a:xfrm>
            <a:off x="5536665" y="5584624"/>
            <a:ext cx="4304247" cy="93985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46" dirty="0">
                <a:solidFill>
                  <a:schemeClr val="tx1"/>
                </a:solidFill>
                <a:latin typeface="Tahoma" charset="0"/>
                <a:ea typeface="Tahoma" charset="0"/>
                <a:cs typeface="Tahoma" charset="0"/>
              </a:rPr>
              <a:t>Same for </a:t>
            </a:r>
            <a:r>
              <a:rPr lang="en-US" sz="2646" b="1" dirty="0">
                <a:solidFill>
                  <a:schemeClr val="tx1"/>
                </a:solidFill>
                <a:latin typeface="Tahoma" charset="0"/>
                <a:ea typeface="Tahoma" charset="0"/>
                <a:cs typeface="Tahoma" charset="0"/>
              </a:rPr>
              <a:t>Cat2</a:t>
            </a:r>
            <a:r>
              <a:rPr lang="en-US" sz="2646" dirty="0">
                <a:solidFill>
                  <a:schemeClr val="tx1"/>
                </a:solidFill>
                <a:latin typeface="Tahoma" charset="0"/>
                <a:ea typeface="Tahoma" charset="0"/>
                <a:cs typeface="Tahoma" charset="0"/>
              </a:rPr>
              <a:t>!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idx="1"/>
          </p:nvPr>
        </p:nvSpPr>
        <p:spPr>
          <a:xfrm>
            <a:off x="5116512" y="1410327"/>
            <a:ext cx="4454027" cy="705219"/>
          </a:xfrm>
        </p:spPr>
        <p:txBody>
          <a:bodyPr/>
          <a:lstStyle/>
          <a:p>
            <a:r>
              <a:rPr lang="en-US" dirty="0"/>
              <a:t>Cat2.java</a:t>
            </a:r>
          </a:p>
        </p:txBody>
      </p:sp>
    </p:spTree>
    <p:extLst>
      <p:ext uri="{BB962C8B-B14F-4D97-AF65-F5344CB8AC3E}">
        <p14:creationId xmlns:p14="http://schemas.microsoft.com/office/powerpoint/2010/main" val="1242585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(3)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504031" y="2254867"/>
            <a:ext cx="5222081" cy="4498094"/>
          </a:xfrm>
        </p:spPr>
        <p:txBody>
          <a:bodyPr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final private String name;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final private String id;</a:t>
            </a:r>
          </a:p>
          <a:p>
            <a:pPr marL="0" indent="0"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public Pet(String name, String id) {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this.name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 = name;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this.id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 = id;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public String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getName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 {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return name;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public String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getId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 {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return id;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}		</a:t>
            </a:r>
          </a:p>
          <a:p>
            <a:pPr marL="0" indent="0"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public String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toString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 {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return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String.format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("%s (%s)",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getName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(),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getId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());	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public String says() {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return "???”;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Cat2 c = new Cat2("Mittens", "5432", true);</a:t>
            </a:r>
          </a:p>
          <a:p>
            <a:pPr marL="0" indent="0">
              <a:buNone/>
            </a:pPr>
            <a:r>
              <a:rPr lang="en-US" sz="1323" b="1" dirty="0" err="1">
                <a:latin typeface="Consolas" charset="0"/>
                <a:ea typeface="Consolas" charset="0"/>
                <a:cs typeface="Consolas" charset="0"/>
              </a:rPr>
              <a:t>SysteSystem.out.printf</a:t>
            </a: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en-US" sz="1323" b="1" dirty="0" err="1">
                <a:latin typeface="Consolas" charset="0"/>
                <a:ea typeface="Consolas" charset="0"/>
                <a:cs typeface="Consolas" charset="0"/>
              </a:rPr>
              <a:t>s%n</a:t>
            </a: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", c);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323" b="1" dirty="0" err="1">
                <a:latin typeface="Consolas" charset="0"/>
                <a:ea typeface="Consolas" charset="0"/>
                <a:cs typeface="Consolas" charset="0"/>
              </a:rPr>
              <a:t>m.out.printf</a:t>
            </a: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en-US" sz="1323" b="1" dirty="0" err="1">
                <a:latin typeface="Consolas" charset="0"/>
                <a:ea typeface="Consolas" charset="0"/>
                <a:cs typeface="Consolas" charset="0"/>
              </a:rPr>
              <a:t>b%n</a:t>
            </a: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1323" b="1" dirty="0" err="1">
                <a:latin typeface="Consolas" charset="0"/>
                <a:ea typeface="Consolas" charset="0"/>
                <a:cs typeface="Consolas" charset="0"/>
              </a:rPr>
              <a:t>c.hasHairBalls</a:t>
            </a: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());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Pet.java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Test.java</a:t>
            </a:r>
            <a:endParaRPr lang="en-US" dirty="0"/>
          </a:p>
        </p:txBody>
      </p:sp>
      <p:sp>
        <p:nvSpPr>
          <p:cNvPr id="12" name="Rounded Rectangle 11"/>
          <p:cNvSpPr/>
          <p:nvPr/>
        </p:nvSpPr>
        <p:spPr>
          <a:xfrm>
            <a:off x="5512925" y="5608637"/>
            <a:ext cx="4304247" cy="93985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Mittens (5432)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19962208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super</a:t>
            </a:r>
            <a:r>
              <a:rPr lang="en-US" dirty="0"/>
              <a:t> Keyword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Similar to the keyword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this</a:t>
            </a:r>
            <a:r>
              <a:rPr lang="en-US" dirty="0"/>
              <a:t>, which refers to the current instance, the keyword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super</a:t>
            </a:r>
            <a:r>
              <a:rPr lang="en-US" dirty="0"/>
              <a:t> refers to the superclass</a:t>
            </a:r>
          </a:p>
          <a:p>
            <a:r>
              <a:rPr lang="en-US" dirty="0"/>
              <a:t>The keyword can be used in two ways:</a:t>
            </a:r>
          </a:p>
          <a:p>
            <a:pPr lvl="1"/>
            <a:r>
              <a:rPr lang="en-US" dirty="0"/>
              <a:t>To call a superclass constructor</a:t>
            </a:r>
          </a:p>
          <a:p>
            <a:pPr lvl="1"/>
            <a:r>
              <a:rPr lang="en-US" dirty="0"/>
              <a:t>To refer to a superclass method/variable</a:t>
            </a:r>
          </a:p>
        </p:txBody>
      </p:sp>
    </p:spTree>
    <p:extLst>
      <p:ext uri="{BB962C8B-B14F-4D97-AF65-F5344CB8AC3E}">
        <p14:creationId xmlns:p14="http://schemas.microsoft.com/office/powerpoint/2010/main" val="3465399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About Constructors?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Unlike properties and methods, a superclass's constructors are </a:t>
            </a:r>
            <a:r>
              <a:rPr lang="en-US" i="1" dirty="0"/>
              <a:t>not</a:t>
            </a:r>
            <a:r>
              <a:rPr lang="en-US" dirty="0"/>
              <a:t> inherited in the subclass</a:t>
            </a:r>
          </a:p>
          <a:p>
            <a:r>
              <a:rPr lang="en-US" dirty="0"/>
              <a:t>They can only be invoked from the subclasses' constructors, using the keyword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super</a:t>
            </a:r>
            <a:endParaRPr lang="en-US" dirty="0"/>
          </a:p>
          <a:p>
            <a:r>
              <a:rPr lang="en-US" dirty="0"/>
              <a:t>If the keyword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super</a:t>
            </a:r>
            <a:r>
              <a:rPr lang="en-US" dirty="0"/>
              <a:t> is not explicitly used, the superclass's no-</a:t>
            </a:r>
            <a:r>
              <a:rPr lang="en-US" dirty="0" err="1"/>
              <a:t>arg</a:t>
            </a:r>
            <a:r>
              <a:rPr lang="en-US" dirty="0"/>
              <a:t> constructor is automatically invoked</a:t>
            </a:r>
          </a:p>
        </p:txBody>
      </p:sp>
    </p:spTree>
    <p:extLst>
      <p:ext uri="{BB962C8B-B14F-4D97-AF65-F5344CB8AC3E}">
        <p14:creationId xmlns:p14="http://schemas.microsoft.com/office/powerpoint/2010/main" val="3214066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Constructor Chaining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r>
              <a:rPr lang="en-US" dirty="0"/>
              <a:t>A constructor may invoke an overloaded constructor (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this(</a:t>
            </a:r>
            <a:r>
              <a:rPr lang="mr-IN" b="1" dirty="0">
                <a:latin typeface="Consolas" charset="0"/>
                <a:ea typeface="Consolas" charset="0"/>
                <a:cs typeface="Consolas" charset="0"/>
              </a:rPr>
              <a:t>…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)</a:t>
            </a:r>
            <a:r>
              <a:rPr lang="en-US" dirty="0"/>
              <a:t>) or its superclass’s constructor (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super(</a:t>
            </a:r>
            <a:r>
              <a:rPr lang="mr-IN" b="1" dirty="0">
                <a:latin typeface="Consolas" charset="0"/>
                <a:ea typeface="Consolas" charset="0"/>
                <a:cs typeface="Consolas" charset="0"/>
              </a:rPr>
              <a:t>…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)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Either of which must be the </a:t>
            </a:r>
            <a:r>
              <a:rPr lang="en-US" i="1" dirty="0"/>
              <a:t>first</a:t>
            </a:r>
            <a:r>
              <a:rPr lang="en-US" dirty="0"/>
              <a:t> line of the constructor</a:t>
            </a:r>
          </a:p>
          <a:p>
            <a:r>
              <a:rPr lang="en-US" dirty="0"/>
              <a:t>If none of them is invoked explicitly, the compiler puts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super()</a:t>
            </a:r>
            <a:r>
              <a:rPr lang="en-US" dirty="0"/>
              <a:t> as the first statement in the constructor</a:t>
            </a:r>
          </a:p>
          <a:p>
            <a:pPr lvl="1"/>
            <a:r>
              <a:rPr lang="en-US" dirty="0"/>
              <a:t>Meaning, the superclass constructor is always invoked</a:t>
            </a:r>
          </a:p>
          <a:p>
            <a:r>
              <a:rPr lang="en-US" dirty="0"/>
              <a:t>Thus, constructing an instance of a class invokes all the </a:t>
            </a:r>
            <a:r>
              <a:rPr lang="en-US" dirty="0" err="1"/>
              <a:t>superclasses’</a:t>
            </a:r>
            <a:r>
              <a:rPr lang="en-US" dirty="0"/>
              <a:t> constructors along the inheritance </a:t>
            </a:r>
            <a:r>
              <a:rPr lang="en-US" i="1" dirty="0"/>
              <a:t>chain</a:t>
            </a:r>
            <a:r>
              <a:rPr lang="en-US" dirty="0"/>
              <a:t> </a:t>
            </a:r>
            <a:r>
              <a:rPr lang="mr-IN" dirty="0"/>
              <a:t>–</a:t>
            </a:r>
            <a:r>
              <a:rPr lang="en-US" dirty="0"/>
              <a:t> this is known as </a:t>
            </a:r>
            <a:r>
              <a:rPr lang="en-US" b="1" dirty="0"/>
              <a:t>constructor chaining</a:t>
            </a:r>
          </a:p>
          <a:p>
            <a:pPr lvl="1"/>
            <a:r>
              <a:rPr lang="en-US" dirty="0"/>
              <a:t>Intuition: set up the more general class first before initializing the specialization</a:t>
            </a:r>
          </a:p>
        </p:txBody>
      </p:sp>
    </p:spTree>
    <p:extLst>
      <p:ext uri="{BB962C8B-B14F-4D97-AF65-F5344CB8AC3E}">
        <p14:creationId xmlns:p14="http://schemas.microsoft.com/office/powerpoint/2010/main" val="959942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(1)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Super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Super()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("Super()%n");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4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Sub extends Super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Sub()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this("");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("Sub()%n");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Sub(String s)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("Sub(s)%n");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static void main(String[]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new Sub();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Super.java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Sub.java</a:t>
            </a:r>
            <a:endParaRPr lang="en-US" dirty="0"/>
          </a:p>
        </p:txBody>
      </p:sp>
      <p:sp>
        <p:nvSpPr>
          <p:cNvPr id="12" name="Rounded Rectangle 11"/>
          <p:cNvSpPr/>
          <p:nvPr/>
        </p:nvSpPr>
        <p:spPr>
          <a:xfrm>
            <a:off x="504507" y="5391041"/>
            <a:ext cx="4304247" cy="136191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Super()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Sub(s)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Sub()</a:t>
            </a:r>
          </a:p>
        </p:txBody>
      </p:sp>
    </p:spTree>
    <p:extLst>
      <p:ext uri="{BB962C8B-B14F-4D97-AF65-F5344CB8AC3E}">
        <p14:creationId xmlns:p14="http://schemas.microsoft.com/office/powerpoint/2010/main" val="1852071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(1a)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Super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Super()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("Super()%n");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Sub extends Super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Sub()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this("");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("Sub()%n");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Sub(String s)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// super();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("Sub(s)%n");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static void main(String[]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new Sub();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Super.java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Sub.java</a:t>
            </a:r>
            <a:endParaRPr lang="en-US" dirty="0"/>
          </a:p>
        </p:txBody>
      </p:sp>
      <p:sp>
        <p:nvSpPr>
          <p:cNvPr id="12" name="Rounded Rectangle 11"/>
          <p:cNvSpPr/>
          <p:nvPr/>
        </p:nvSpPr>
        <p:spPr>
          <a:xfrm>
            <a:off x="504507" y="5391041"/>
            <a:ext cx="4304247" cy="136191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Super()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Sub(s)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Sub()</a:t>
            </a:r>
          </a:p>
        </p:txBody>
      </p:sp>
    </p:spTree>
    <p:extLst>
      <p:ext uri="{BB962C8B-B14F-4D97-AF65-F5344CB8AC3E}">
        <p14:creationId xmlns:p14="http://schemas.microsoft.com/office/powerpoint/2010/main" val="21363090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(1b)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Super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Super()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("Super()%n");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Sub extends Super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Sub()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this("");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("Sub()%n");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Sub(String s)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super();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("Sub(s)%n");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static void main(String[]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new Sub();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Super.java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Sub.java</a:t>
            </a:r>
            <a:endParaRPr lang="en-US" dirty="0"/>
          </a:p>
        </p:txBody>
      </p:sp>
      <p:sp>
        <p:nvSpPr>
          <p:cNvPr id="12" name="Rounded Rectangle 11"/>
          <p:cNvSpPr/>
          <p:nvPr/>
        </p:nvSpPr>
        <p:spPr>
          <a:xfrm>
            <a:off x="504507" y="5391041"/>
            <a:ext cx="4304247" cy="136191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Super()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Sub(s)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Sub()</a:t>
            </a:r>
          </a:p>
        </p:txBody>
      </p:sp>
    </p:spTree>
    <p:extLst>
      <p:ext uri="{BB962C8B-B14F-4D97-AF65-F5344CB8AC3E}">
        <p14:creationId xmlns:p14="http://schemas.microsoft.com/office/powerpoint/2010/main" val="11678486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(1) </a:t>
            </a:r>
            <a:r>
              <a:rPr lang="mr-IN" dirty="0"/>
              <a:t>–</a:t>
            </a:r>
            <a:r>
              <a:rPr lang="en-US" dirty="0"/>
              <a:t> Trace (1)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Super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Super()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("Super()%n");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Sub extends Super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Sub()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this("");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("Sub()%n");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Sub(String s)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("Sub(s)%n");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static void main(String[]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new Sub();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Super.java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Sub.java</a:t>
            </a:r>
            <a:endParaRPr lang="en-US" dirty="0"/>
          </a:p>
        </p:txBody>
      </p:sp>
      <p:sp>
        <p:nvSpPr>
          <p:cNvPr id="12" name="Rounded Rectangle 11"/>
          <p:cNvSpPr/>
          <p:nvPr/>
        </p:nvSpPr>
        <p:spPr>
          <a:xfrm>
            <a:off x="504507" y="5391041"/>
            <a:ext cx="4304247" cy="136191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46" b="1" dirty="0">
              <a:solidFill>
                <a:schemeClr val="tx1"/>
              </a:solidFill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802312" y="4618037"/>
            <a:ext cx="1415051" cy="220138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46" b="1" dirty="0">
              <a:latin typeface="Consolas" charset="0"/>
              <a:ea typeface="Consolas" charset="0"/>
              <a:cs typeface="Consola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790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10"/>
          <p:cNvSpPr>
            <a:spLocks noGrp="1"/>
          </p:cNvSpPr>
          <p:nvPr>
            <p:ph sz="quarter" idx="4"/>
          </p:nvPr>
        </p:nvSpPr>
        <p:spPr>
          <a:xfrm>
            <a:off x="5120818" y="2254867"/>
            <a:ext cx="4455776" cy="449809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Sub extends Super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Sub()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this("");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("Sub()%n");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Sub(String s)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("Sub(s)%n");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static void main(String[]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new Sub();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(1) </a:t>
            </a:r>
            <a:r>
              <a:rPr lang="mr-IN" dirty="0"/>
              <a:t>–</a:t>
            </a:r>
            <a:r>
              <a:rPr lang="en-US" dirty="0"/>
              <a:t> Trace (2)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Super.java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Sub.java</a:t>
            </a:r>
            <a:endParaRPr lang="en-US" dirty="0"/>
          </a:p>
        </p:txBody>
      </p:sp>
      <p:sp>
        <p:nvSpPr>
          <p:cNvPr id="12" name="Rounded Rectangle 11"/>
          <p:cNvSpPr/>
          <p:nvPr/>
        </p:nvSpPr>
        <p:spPr>
          <a:xfrm>
            <a:off x="504507" y="5391041"/>
            <a:ext cx="4304247" cy="136191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46" b="1" dirty="0">
              <a:solidFill>
                <a:schemeClr val="tx1"/>
              </a:solidFill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802312" y="2670802"/>
            <a:ext cx="1415051" cy="220138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46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16" name="Content Placeholder 8"/>
          <p:cNvSpPr>
            <a:spLocks noGrp="1"/>
          </p:cNvSpPr>
          <p:nvPr>
            <p:ph sz="half" idx="2"/>
          </p:nvPr>
        </p:nvSpPr>
        <p:spPr>
          <a:xfrm>
            <a:off x="504031" y="2254867"/>
            <a:ext cx="4454027" cy="449809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Super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Super()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("Super()%n");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014017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0"/>
          <p:cNvSpPr>
            <a:spLocks noGrp="1"/>
          </p:cNvSpPr>
          <p:nvPr>
            <p:ph sz="quarter" idx="4"/>
          </p:nvPr>
        </p:nvSpPr>
        <p:spPr>
          <a:xfrm>
            <a:off x="5120818" y="2254867"/>
            <a:ext cx="4455776" cy="449809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Sub extends Super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Sub()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this("");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("Sub()%n");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Sub(String s)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("Sub(s)%n");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static void main(String[]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new Sub();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(1) </a:t>
            </a:r>
            <a:r>
              <a:rPr lang="mr-IN" dirty="0"/>
              <a:t>–</a:t>
            </a:r>
            <a:r>
              <a:rPr lang="en-US" dirty="0"/>
              <a:t> Trace (3)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Super.java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Sub.java</a:t>
            </a:r>
            <a:endParaRPr lang="en-US" dirty="0"/>
          </a:p>
        </p:txBody>
      </p:sp>
      <p:sp>
        <p:nvSpPr>
          <p:cNvPr id="12" name="Rounded Rectangle 11"/>
          <p:cNvSpPr/>
          <p:nvPr/>
        </p:nvSpPr>
        <p:spPr>
          <a:xfrm>
            <a:off x="504507" y="5391041"/>
            <a:ext cx="4304247" cy="136191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46" b="1" dirty="0">
              <a:solidFill>
                <a:schemeClr val="tx1"/>
              </a:solidFill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97512" y="3528377"/>
            <a:ext cx="2315783" cy="25146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46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14" name="Content Placeholder 8"/>
          <p:cNvSpPr>
            <a:spLocks noGrp="1"/>
          </p:cNvSpPr>
          <p:nvPr>
            <p:ph sz="half" idx="2"/>
          </p:nvPr>
        </p:nvSpPr>
        <p:spPr>
          <a:xfrm>
            <a:off x="504031" y="2254867"/>
            <a:ext cx="4454027" cy="449809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Super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Super()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("Super()%n");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015896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(1) </a:t>
            </a:r>
            <a:r>
              <a:rPr lang="mr-IN" dirty="0"/>
              <a:t>–</a:t>
            </a:r>
            <a:r>
              <a:rPr lang="en-US" dirty="0"/>
              <a:t> Trace (4)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Super.java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Sub.java</a:t>
            </a:r>
            <a:endParaRPr lang="en-US" dirty="0"/>
          </a:p>
        </p:txBody>
      </p:sp>
      <p:sp>
        <p:nvSpPr>
          <p:cNvPr id="12" name="Rounded Rectangle 11"/>
          <p:cNvSpPr/>
          <p:nvPr/>
        </p:nvSpPr>
        <p:spPr>
          <a:xfrm>
            <a:off x="504507" y="5391041"/>
            <a:ext cx="4304247" cy="136191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Super()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40132" y="2670802"/>
            <a:ext cx="3233817" cy="25466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46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14" name="Content Placeholder 8"/>
          <p:cNvSpPr>
            <a:spLocks noGrp="1"/>
          </p:cNvSpPr>
          <p:nvPr>
            <p:ph sz="half" idx="2"/>
          </p:nvPr>
        </p:nvSpPr>
        <p:spPr>
          <a:xfrm>
            <a:off x="504031" y="2254867"/>
            <a:ext cx="4454027" cy="449809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Super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Super()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("Super()%n");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15" name="Content Placeholder 10"/>
          <p:cNvSpPr>
            <a:spLocks noGrp="1"/>
          </p:cNvSpPr>
          <p:nvPr>
            <p:ph sz="quarter" idx="4"/>
          </p:nvPr>
        </p:nvSpPr>
        <p:spPr>
          <a:xfrm>
            <a:off x="5120818" y="2254867"/>
            <a:ext cx="4455776" cy="449809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Sub extends Super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Sub()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this("");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("Sub()%n");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Sub(String s)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("Sub(s)%n");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static void main(String[]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new Sub();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774028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0"/>
          <p:cNvSpPr>
            <a:spLocks noGrp="1"/>
          </p:cNvSpPr>
          <p:nvPr>
            <p:ph sz="quarter" idx="4"/>
          </p:nvPr>
        </p:nvSpPr>
        <p:spPr>
          <a:xfrm>
            <a:off x="5120818" y="2254867"/>
            <a:ext cx="4455776" cy="449809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Sub extends Super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Sub()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this("");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("Sub()%n");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Sub(String s)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("Sub(s)%n");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static void main(String[]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new Sub();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(1) </a:t>
            </a:r>
            <a:r>
              <a:rPr lang="mr-IN" dirty="0"/>
              <a:t>–</a:t>
            </a:r>
            <a:r>
              <a:rPr lang="en-US" dirty="0"/>
              <a:t> Trace (5)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Super.java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Sub.java</a:t>
            </a:r>
            <a:endParaRPr lang="en-US" dirty="0"/>
          </a:p>
        </p:txBody>
      </p:sp>
      <p:sp>
        <p:nvSpPr>
          <p:cNvPr id="12" name="Rounded Rectangle 11"/>
          <p:cNvSpPr/>
          <p:nvPr/>
        </p:nvSpPr>
        <p:spPr>
          <a:xfrm>
            <a:off x="504507" y="5391041"/>
            <a:ext cx="4304247" cy="136191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Super()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Sub(s)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6183" y="3703637"/>
            <a:ext cx="3056530" cy="30480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46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14" name="Content Placeholder 8"/>
          <p:cNvSpPr>
            <a:spLocks noGrp="1"/>
          </p:cNvSpPr>
          <p:nvPr>
            <p:ph sz="half" idx="2"/>
          </p:nvPr>
        </p:nvSpPr>
        <p:spPr>
          <a:xfrm>
            <a:off x="504031" y="2254867"/>
            <a:ext cx="4454027" cy="449809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Super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Super()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("Super()%n");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777760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0"/>
          <p:cNvSpPr>
            <a:spLocks noGrp="1"/>
          </p:cNvSpPr>
          <p:nvPr>
            <p:ph sz="quarter" idx="4"/>
          </p:nvPr>
        </p:nvSpPr>
        <p:spPr>
          <a:xfrm>
            <a:off x="5120818" y="2254867"/>
            <a:ext cx="4455776" cy="449809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Sub extends Super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Sub()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this("");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("Sub()%n");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Sub(String s)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("Sub(s)%n");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static void main(String[]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new Sub();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(1) </a:t>
            </a:r>
            <a:r>
              <a:rPr lang="mr-IN" dirty="0"/>
              <a:t>–</a:t>
            </a:r>
            <a:r>
              <a:rPr lang="en-US" dirty="0"/>
              <a:t> Trace (5)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Super.java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Sub.java</a:t>
            </a:r>
            <a:endParaRPr lang="en-US" dirty="0"/>
          </a:p>
        </p:txBody>
      </p:sp>
      <p:sp>
        <p:nvSpPr>
          <p:cNvPr id="12" name="Rounded Rectangle 11"/>
          <p:cNvSpPr/>
          <p:nvPr/>
        </p:nvSpPr>
        <p:spPr>
          <a:xfrm>
            <a:off x="504507" y="5391041"/>
            <a:ext cx="4304247" cy="136191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Super()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Sub(s)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Sub()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68007" y="2865437"/>
            <a:ext cx="3134705" cy="22860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46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14" name="Content Placeholder 8"/>
          <p:cNvSpPr>
            <a:spLocks noGrp="1"/>
          </p:cNvSpPr>
          <p:nvPr>
            <p:ph sz="half" idx="2"/>
          </p:nvPr>
        </p:nvSpPr>
        <p:spPr>
          <a:xfrm>
            <a:off x="504031" y="2254867"/>
            <a:ext cx="4454027" cy="449809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Super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Super()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("Super()%n");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507910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(2)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Super.java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Sub.java</a:t>
            </a:r>
            <a:endParaRPr lang="en-US" dirty="0"/>
          </a:p>
        </p:txBody>
      </p:sp>
      <p:sp>
        <p:nvSpPr>
          <p:cNvPr id="12" name="Rounded Rectangle 11"/>
          <p:cNvSpPr/>
          <p:nvPr/>
        </p:nvSpPr>
        <p:spPr>
          <a:xfrm>
            <a:off x="504507" y="5391041"/>
            <a:ext cx="4304247" cy="136192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Super()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Sub(s)</a:t>
            </a:r>
          </a:p>
        </p:txBody>
      </p:sp>
      <p:sp>
        <p:nvSpPr>
          <p:cNvPr id="13" name="Content Placeholder 8"/>
          <p:cNvSpPr>
            <a:spLocks noGrp="1"/>
          </p:cNvSpPr>
          <p:nvPr>
            <p:ph sz="half" idx="2"/>
          </p:nvPr>
        </p:nvSpPr>
        <p:spPr>
          <a:xfrm>
            <a:off x="504031" y="2254867"/>
            <a:ext cx="4454027" cy="449809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Super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Super()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("Super()%n");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14" name="Content Placeholder 10"/>
          <p:cNvSpPr>
            <a:spLocks noGrp="1"/>
          </p:cNvSpPr>
          <p:nvPr>
            <p:ph sz="quarter" idx="4"/>
          </p:nvPr>
        </p:nvSpPr>
        <p:spPr>
          <a:xfrm>
            <a:off x="5120818" y="2254867"/>
            <a:ext cx="4455776" cy="449809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Sub extends Super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Sub()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this("");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("Sub()%n");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Sub(String s)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("Sub(s)%n");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static void main(String[]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new Sub("");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186709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 </a:t>
            </a:r>
            <a:r>
              <a:rPr lang="mr-IN" dirty="0"/>
              <a:t>–</a:t>
            </a:r>
            <a:r>
              <a:rPr lang="en-US" dirty="0"/>
              <a:t> Output?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4294967295"/>
          </p:nvPr>
        </p:nvSpPr>
        <p:spPr>
          <a:xfrm>
            <a:off x="504507" y="1407969"/>
            <a:ext cx="9071610" cy="534366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Faculty extends Employee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Faculty()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("Faculty()%n");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static void main(String[]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new Faculty();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Employee extends Person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Employee() {	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this("Employee(s)");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("Employee()%n");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Employee(String s)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s);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Person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Person()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("Person()%n");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14799" y="4963423"/>
            <a:ext cx="3161319" cy="178821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Person()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Employee(s)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Employee()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Faculty()</a:t>
            </a:r>
          </a:p>
        </p:txBody>
      </p:sp>
    </p:spTree>
    <p:extLst>
      <p:ext uri="{BB962C8B-B14F-4D97-AF65-F5344CB8AC3E}">
        <p14:creationId xmlns:p14="http://schemas.microsoft.com/office/powerpoint/2010/main" val="666298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0"/>
          <p:cNvSpPr txBox="1">
            <a:spLocks/>
          </p:cNvSpPr>
          <p:nvPr/>
        </p:nvSpPr>
        <p:spPr bwMode="auto">
          <a:xfrm>
            <a:off x="504507" y="1407969"/>
            <a:ext cx="9071610" cy="53436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457200" indent="-27432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1413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320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914400" indent="-27432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1138"/>
              </a:spcAft>
              <a:buClr>
                <a:srgbClr val="820000"/>
              </a:buClr>
              <a:buSzPct val="100000"/>
              <a:buFont typeface="Verdana" pitchFamily="34" charset="0"/>
              <a:buChar char="»"/>
              <a:defRPr sz="280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257300" indent="-27432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850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240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714500" indent="-3429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575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200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171700" indent="-3429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200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25146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public class Faculty extends Employee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public Faculty()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	System.out.printf("Faculty()%n");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endParaRPr lang="en-US" sz="1400" b="1" kern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public static void main(String[] args)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	new Faculty();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endParaRPr lang="en-US" sz="1400" b="1" kern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public class Employee extends Person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public Employee() {	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	this("Employee(s)");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	System.out.printf("Employee()%n");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endParaRPr lang="en-US" sz="1400" b="1" kern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public Employee(String s)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	System.out.printf("%s%n", s);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endParaRPr lang="en-US" sz="1400" b="1" kern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public class Person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public Person()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	System.out.printf("Person()%n");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}</a:t>
            </a:r>
            <a:endParaRPr lang="en-US" sz="1400" b="1" kern="0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 </a:t>
            </a:r>
            <a:r>
              <a:rPr lang="mr-IN" dirty="0"/>
              <a:t>–</a:t>
            </a:r>
            <a:r>
              <a:rPr lang="en-US" dirty="0"/>
              <a:t> Trace (1)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82712" y="2668443"/>
            <a:ext cx="1413685" cy="273193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46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14799" y="4963423"/>
            <a:ext cx="3161319" cy="178821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646" b="1" dirty="0">
              <a:solidFill>
                <a:schemeClr val="tx1"/>
              </a:solidFill>
              <a:latin typeface="Consolas" charset="0"/>
              <a:ea typeface="Consolas" charset="0"/>
              <a:cs typeface="Consola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37589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0"/>
          <p:cNvSpPr txBox="1">
            <a:spLocks/>
          </p:cNvSpPr>
          <p:nvPr/>
        </p:nvSpPr>
        <p:spPr bwMode="auto">
          <a:xfrm>
            <a:off x="504507" y="1407969"/>
            <a:ext cx="9071610" cy="53436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457200" indent="-27432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1413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320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914400" indent="-27432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1138"/>
              </a:spcAft>
              <a:buClr>
                <a:srgbClr val="820000"/>
              </a:buClr>
              <a:buSzPct val="100000"/>
              <a:buFont typeface="Verdana" pitchFamily="34" charset="0"/>
              <a:buChar char="»"/>
              <a:defRPr sz="280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257300" indent="-27432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850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240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714500" indent="-3429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575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200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171700" indent="-3429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200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25146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public class Faculty extends Employee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public Faculty()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kern="0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("Faculty()%n");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endParaRPr lang="en-US" sz="1400" b="1" kern="0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public static void main(String[] </a:t>
            </a:r>
            <a:r>
              <a:rPr lang="en-US" sz="1400" b="1" kern="0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	new Faculty();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endParaRPr lang="en-US" sz="1400" b="1" kern="0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public class Employee extends Person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public Employee() {	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	this("Employee(s)");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kern="0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("Employee()%n");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endParaRPr lang="en-US" sz="1400" b="1" kern="0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public Employee(String s)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kern="0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en-US" sz="1400" b="1" kern="0" dirty="0" err="1">
                <a:latin typeface="Consolas" charset="0"/>
                <a:ea typeface="Consolas" charset="0"/>
                <a:cs typeface="Consolas" charset="0"/>
              </a:rPr>
              <a:t>s%n</a:t>
            </a: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", s);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endParaRPr lang="en-US" sz="1400" b="1" kern="0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public class Person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public Person()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kern="0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("Person()%n");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 </a:t>
            </a:r>
            <a:r>
              <a:rPr lang="mr-IN" dirty="0"/>
              <a:t>–</a:t>
            </a:r>
            <a:r>
              <a:rPr lang="en-US" dirty="0"/>
              <a:t> Trace (2)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9312" y="1570037"/>
            <a:ext cx="1981200" cy="30480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46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14799" y="4963423"/>
            <a:ext cx="3161319" cy="178821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646" b="1" dirty="0">
              <a:solidFill>
                <a:schemeClr val="tx1"/>
              </a:solidFill>
              <a:latin typeface="Consolas" charset="0"/>
              <a:ea typeface="Consolas" charset="0"/>
              <a:cs typeface="Consola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35955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0"/>
          <p:cNvSpPr txBox="1">
            <a:spLocks/>
          </p:cNvSpPr>
          <p:nvPr/>
        </p:nvSpPr>
        <p:spPr bwMode="auto">
          <a:xfrm>
            <a:off x="504507" y="1407969"/>
            <a:ext cx="9071610" cy="53436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457200" indent="-27432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1413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320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914400" indent="-27432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1138"/>
              </a:spcAft>
              <a:buClr>
                <a:srgbClr val="820000"/>
              </a:buClr>
              <a:buSzPct val="100000"/>
              <a:buFont typeface="Verdana" pitchFamily="34" charset="0"/>
              <a:buChar char="»"/>
              <a:defRPr sz="280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257300" indent="-27432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850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240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714500" indent="-3429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575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200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171700" indent="-3429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200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25146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public class Faculty extends Employee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public Faculty()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kern="0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("Faculty()%n");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endParaRPr lang="en-US" sz="1400" b="1" kern="0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public static void main(String[] </a:t>
            </a:r>
            <a:r>
              <a:rPr lang="en-US" sz="1400" b="1" kern="0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	new Faculty();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endParaRPr lang="en-US" sz="1400" b="1" kern="0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public class Employee extends Person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public Employee() {	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	this("Employee(s)");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kern="0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("Employee()%n");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endParaRPr lang="en-US" sz="1400" b="1" kern="0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public Employee(String s)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kern="0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en-US" sz="1400" b="1" kern="0" dirty="0" err="1">
                <a:latin typeface="Consolas" charset="0"/>
                <a:ea typeface="Consolas" charset="0"/>
                <a:cs typeface="Consolas" charset="0"/>
              </a:rPr>
              <a:t>s%n</a:t>
            </a: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", s);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endParaRPr lang="en-US" sz="1400" b="1" kern="0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public class Person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public Person()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kern="0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("Person()%n");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 </a:t>
            </a:r>
            <a:r>
              <a:rPr lang="mr-IN" dirty="0"/>
              <a:t>–</a:t>
            </a:r>
            <a:r>
              <a:rPr lang="en-US" dirty="0"/>
              <a:t> Trace (3)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9312" y="3703637"/>
            <a:ext cx="2057400" cy="30480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46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14799" y="4963423"/>
            <a:ext cx="3161319" cy="178821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646" b="1" dirty="0">
              <a:solidFill>
                <a:schemeClr val="tx1"/>
              </a:solidFill>
              <a:latin typeface="Consolas" charset="0"/>
              <a:ea typeface="Consolas" charset="0"/>
              <a:cs typeface="Consola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1499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0"/>
          <p:cNvSpPr txBox="1">
            <a:spLocks/>
          </p:cNvSpPr>
          <p:nvPr/>
        </p:nvSpPr>
        <p:spPr bwMode="auto">
          <a:xfrm>
            <a:off x="504507" y="1407969"/>
            <a:ext cx="9071610" cy="53436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457200" indent="-27432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1413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320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914400" indent="-27432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1138"/>
              </a:spcAft>
              <a:buClr>
                <a:srgbClr val="820000"/>
              </a:buClr>
              <a:buSzPct val="100000"/>
              <a:buFont typeface="Verdana" pitchFamily="34" charset="0"/>
              <a:buChar char="»"/>
              <a:defRPr sz="280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257300" indent="-27432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850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240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714500" indent="-3429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575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200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171700" indent="-3429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200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25146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public class Faculty extends Employee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public Faculty()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kern="0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("Faculty()%n");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endParaRPr lang="en-US" sz="1400" b="1" kern="0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public static void main(String[] </a:t>
            </a:r>
            <a:r>
              <a:rPr lang="en-US" sz="1400" b="1" kern="0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	new Faculty();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endParaRPr lang="en-US" sz="1400" b="1" kern="0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public class Employee extends Person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public Employee() {	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	this("Employee(s)");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kern="0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("Employee()%n");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endParaRPr lang="en-US" sz="1400" b="1" kern="0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public Employee(String s)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kern="0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en-US" sz="1400" b="1" kern="0" dirty="0" err="1">
                <a:latin typeface="Consolas" charset="0"/>
                <a:ea typeface="Consolas" charset="0"/>
                <a:cs typeface="Consolas" charset="0"/>
              </a:rPr>
              <a:t>s%n</a:t>
            </a: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", s);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endParaRPr lang="en-US" sz="1400" b="1" kern="0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public class Person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public Person()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kern="0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("Person()%n");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 </a:t>
            </a:r>
            <a:r>
              <a:rPr lang="mr-IN" dirty="0"/>
              <a:t>–</a:t>
            </a:r>
            <a:r>
              <a:rPr lang="en-US" dirty="0"/>
              <a:t> Trace (4)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82712" y="3952617"/>
            <a:ext cx="1981200" cy="284419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46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14799" y="4963423"/>
            <a:ext cx="3161319" cy="178821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646" b="1" dirty="0">
              <a:solidFill>
                <a:schemeClr val="tx1"/>
              </a:solidFill>
              <a:latin typeface="Consolas" charset="0"/>
              <a:ea typeface="Consolas" charset="0"/>
              <a:cs typeface="Consola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04554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0"/>
          <p:cNvSpPr txBox="1">
            <a:spLocks/>
          </p:cNvSpPr>
          <p:nvPr/>
        </p:nvSpPr>
        <p:spPr bwMode="auto">
          <a:xfrm>
            <a:off x="504507" y="1407969"/>
            <a:ext cx="9071610" cy="53436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457200" indent="-27432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1413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320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914400" indent="-27432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1138"/>
              </a:spcAft>
              <a:buClr>
                <a:srgbClr val="820000"/>
              </a:buClr>
              <a:buSzPct val="100000"/>
              <a:buFont typeface="Verdana" pitchFamily="34" charset="0"/>
              <a:buChar char="»"/>
              <a:defRPr sz="280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257300" indent="-27432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850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240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714500" indent="-3429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575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200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171700" indent="-3429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200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25146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public class Faculty extends Employee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public Faculty()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	System.out.printf("Faculty()%n");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endParaRPr lang="en-US" sz="1400" b="1" kern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public static void main(String[] args)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	new Faculty();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endParaRPr lang="en-US" sz="1400" b="1" kern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public class Employee extends Person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public Employee() {	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	this("Employee(s)");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	System.out.printf("Employee()%n");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endParaRPr lang="en-US" sz="1400" b="1" kern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public Employee(String s)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	System.out.printf("%s%n", s);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endParaRPr lang="en-US" sz="1400" b="1" kern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public class Person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public Person()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	System.out.printf("Person()%n");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}</a:t>
            </a:r>
            <a:endParaRPr lang="en-US" sz="1400" b="1" kern="0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 </a:t>
            </a:r>
            <a:r>
              <a:rPr lang="mr-IN" dirty="0"/>
              <a:t>–</a:t>
            </a:r>
            <a:r>
              <a:rPr lang="en-US" dirty="0"/>
              <a:t> Trace (5)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5512" y="4754868"/>
            <a:ext cx="2819400" cy="320369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46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14799" y="4963423"/>
            <a:ext cx="3161319" cy="178821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646" b="1" dirty="0">
              <a:solidFill>
                <a:schemeClr val="tx1"/>
              </a:solidFill>
              <a:latin typeface="Consolas" charset="0"/>
              <a:ea typeface="Consolas" charset="0"/>
              <a:cs typeface="Consola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6679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0"/>
          <p:cNvSpPr txBox="1">
            <a:spLocks/>
          </p:cNvSpPr>
          <p:nvPr/>
        </p:nvSpPr>
        <p:spPr bwMode="auto">
          <a:xfrm>
            <a:off x="504507" y="1407969"/>
            <a:ext cx="9071610" cy="53436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457200" indent="-27432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1413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320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914400" indent="-27432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1138"/>
              </a:spcAft>
              <a:buClr>
                <a:srgbClr val="820000"/>
              </a:buClr>
              <a:buSzPct val="100000"/>
              <a:buFont typeface="Verdana" pitchFamily="34" charset="0"/>
              <a:buChar char="»"/>
              <a:defRPr sz="280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257300" indent="-27432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850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240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714500" indent="-3429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575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200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171700" indent="-3429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200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25146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public class Faculty extends Employee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public Faculty()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	System.out.printf("Faculty()%n");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endParaRPr lang="en-US" sz="1400" b="1" kern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public static void main(String[] args)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	new Faculty();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endParaRPr lang="en-US" sz="1400" b="1" kern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public class Employee extends Person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public Employee() {	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	this("Employee(s)");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	System.out.printf("Employee()%n");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endParaRPr lang="en-US" sz="1400" b="1" kern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public Employee(String s)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	System.out.printf("%s%n", s);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endParaRPr lang="en-US" sz="1400" b="1" kern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public class Person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public Person()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	System.out.printf("Person()%n");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}</a:t>
            </a:r>
            <a:endParaRPr lang="en-US" sz="1400" b="1" kern="0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 </a:t>
            </a:r>
            <a:r>
              <a:rPr lang="mr-IN" dirty="0"/>
              <a:t>–</a:t>
            </a:r>
            <a:r>
              <a:rPr lang="en-US" dirty="0"/>
              <a:t> Trace (6)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2383" y="6294437"/>
            <a:ext cx="3350729" cy="30480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46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14799" y="4963423"/>
            <a:ext cx="3161319" cy="178821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Person()</a:t>
            </a:r>
          </a:p>
        </p:txBody>
      </p:sp>
    </p:spTree>
    <p:extLst>
      <p:ext uri="{BB962C8B-B14F-4D97-AF65-F5344CB8AC3E}">
        <p14:creationId xmlns:p14="http://schemas.microsoft.com/office/powerpoint/2010/main" val="2699994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0"/>
          <p:cNvSpPr txBox="1">
            <a:spLocks/>
          </p:cNvSpPr>
          <p:nvPr/>
        </p:nvSpPr>
        <p:spPr bwMode="auto">
          <a:xfrm>
            <a:off x="504507" y="1407969"/>
            <a:ext cx="9071610" cy="53436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457200" indent="-27432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1413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320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914400" indent="-27432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1138"/>
              </a:spcAft>
              <a:buClr>
                <a:srgbClr val="820000"/>
              </a:buClr>
              <a:buSzPct val="100000"/>
              <a:buFont typeface="Verdana" pitchFamily="34" charset="0"/>
              <a:buChar char="»"/>
              <a:defRPr sz="280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257300" indent="-27432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850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240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714500" indent="-3429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575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200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171700" indent="-3429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200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25146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public class Faculty extends Employee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public Faculty()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kern="0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("Faculty()%n");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endParaRPr lang="en-US" sz="1400" b="1" kern="0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public static void main(String[] </a:t>
            </a:r>
            <a:r>
              <a:rPr lang="en-US" sz="1400" b="1" kern="0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	new Faculty();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endParaRPr lang="en-US" sz="1400" b="1" kern="0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public class Employee extends Person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public Employee() {	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	this("Employee(s)");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kern="0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("Employee()%n");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endParaRPr lang="en-US" sz="1400" b="1" kern="0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public Employee(String s)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kern="0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en-US" sz="1400" b="1" kern="0" dirty="0" err="1">
                <a:latin typeface="Consolas" charset="0"/>
                <a:ea typeface="Consolas" charset="0"/>
                <a:cs typeface="Consolas" charset="0"/>
              </a:rPr>
              <a:t>s%n</a:t>
            </a: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", s);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endParaRPr lang="en-US" sz="1400" b="1" kern="0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public class Person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public Person()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kern="0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("Person()%n");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 </a:t>
            </a:r>
            <a:r>
              <a:rPr lang="mr-IN" dirty="0"/>
              <a:t>–</a:t>
            </a:r>
            <a:r>
              <a:rPr lang="en-US" dirty="0"/>
              <a:t> Trace (7)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67255" y="5013883"/>
            <a:ext cx="3011057" cy="289954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46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14799" y="4963423"/>
            <a:ext cx="3161319" cy="178821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Person()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Employee(s)</a:t>
            </a:r>
          </a:p>
        </p:txBody>
      </p:sp>
    </p:spTree>
    <p:extLst>
      <p:ext uri="{BB962C8B-B14F-4D97-AF65-F5344CB8AC3E}">
        <p14:creationId xmlns:p14="http://schemas.microsoft.com/office/powerpoint/2010/main" val="2479613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0"/>
          <p:cNvSpPr txBox="1">
            <a:spLocks/>
          </p:cNvSpPr>
          <p:nvPr/>
        </p:nvSpPr>
        <p:spPr bwMode="auto">
          <a:xfrm>
            <a:off x="504507" y="1407969"/>
            <a:ext cx="9071610" cy="53436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457200" indent="-27432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1413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320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914400" indent="-27432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1138"/>
              </a:spcAft>
              <a:buClr>
                <a:srgbClr val="820000"/>
              </a:buClr>
              <a:buSzPct val="100000"/>
              <a:buFont typeface="Verdana" pitchFamily="34" charset="0"/>
              <a:buChar char="»"/>
              <a:defRPr sz="280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257300" indent="-27432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850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240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714500" indent="-3429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575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200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171700" indent="-3429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200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25146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public class Faculty extends Employee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public Faculty()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	System.out.printf("Faculty()%n");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endParaRPr lang="en-US" sz="1400" b="1" kern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public static void main(String[] args)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	new Faculty();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endParaRPr lang="en-US" sz="1400" b="1" kern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public class Employee extends Person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public Employee() {	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	this("Employee(s)");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	System.out.printf("Employee()%n");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endParaRPr lang="en-US" sz="1400" b="1" kern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public Employee(String s)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	System.out.printf("%s%n", s);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endParaRPr lang="en-US" sz="1400" b="1" kern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public class Person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public Person()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	System.out.printf("Person()%n");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}</a:t>
            </a:r>
            <a:endParaRPr lang="en-US" sz="1400" b="1" kern="0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 </a:t>
            </a:r>
            <a:r>
              <a:rPr lang="mr-IN" dirty="0"/>
              <a:t>–</a:t>
            </a:r>
            <a:r>
              <a:rPr lang="en-US" dirty="0"/>
              <a:t> Trace (8)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0312" y="4088385"/>
            <a:ext cx="3581400" cy="377251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46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14799" y="4963423"/>
            <a:ext cx="3161319" cy="178821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Person()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Employee(s)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Employee()</a:t>
            </a:r>
          </a:p>
        </p:txBody>
      </p:sp>
    </p:spTree>
    <p:extLst>
      <p:ext uri="{BB962C8B-B14F-4D97-AF65-F5344CB8AC3E}">
        <p14:creationId xmlns:p14="http://schemas.microsoft.com/office/powerpoint/2010/main" val="13673275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0"/>
          <p:cNvSpPr txBox="1">
            <a:spLocks/>
          </p:cNvSpPr>
          <p:nvPr/>
        </p:nvSpPr>
        <p:spPr bwMode="auto">
          <a:xfrm>
            <a:off x="504507" y="1407969"/>
            <a:ext cx="9071610" cy="53436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457200" indent="-27432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1413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320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914400" indent="-27432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1138"/>
              </a:spcAft>
              <a:buClr>
                <a:srgbClr val="820000"/>
              </a:buClr>
              <a:buSzPct val="100000"/>
              <a:buFont typeface="Verdana" pitchFamily="34" charset="0"/>
              <a:buChar char="»"/>
              <a:defRPr sz="280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257300" indent="-27432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850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240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714500" indent="-3429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575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200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171700" indent="-3429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200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25146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public class Faculty extends Employee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public Faculty()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	System.out.printf("Faculty()%n");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endParaRPr lang="en-US" sz="1400" b="1" kern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public static void main(String[] args)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	new Faculty();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endParaRPr lang="en-US" sz="1400" b="1" kern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public class Employee extends Person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public Employee() {	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	this("Employee(s)");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	System.out.printf("Employee()%n");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endParaRPr lang="en-US" sz="1400" b="1" kern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public Employee(String s)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	System.out.printf("%s%n", s);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endParaRPr lang="en-US" sz="1400" b="1" kern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public class Person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public Person()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	System.out.printf("Person()%n");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>
                <a:latin typeface="Consolas" charset="0"/>
                <a:ea typeface="Consolas" charset="0"/>
                <a:cs typeface="Consolas" charset="0"/>
              </a:rPr>
              <a:t>}</a:t>
            </a:r>
            <a:endParaRPr lang="en-US" sz="1400" b="1" kern="0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 </a:t>
            </a:r>
            <a:r>
              <a:rPr lang="mr-IN" dirty="0"/>
              <a:t>–</a:t>
            </a:r>
            <a:r>
              <a:rPr lang="en-US" dirty="0"/>
              <a:t> Trace (9)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0312" y="1798637"/>
            <a:ext cx="3505200" cy="30480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46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14799" y="4963423"/>
            <a:ext cx="3161319" cy="178821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Person()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Employee(s)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Employee()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Faculty()</a:t>
            </a:r>
          </a:p>
        </p:txBody>
      </p:sp>
    </p:spTree>
    <p:extLst>
      <p:ext uri="{BB962C8B-B14F-4D97-AF65-F5344CB8AC3E}">
        <p14:creationId xmlns:p14="http://schemas.microsoft.com/office/powerpoint/2010/main" val="4513573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 </a:t>
            </a:r>
            <a:r>
              <a:rPr lang="mr-IN" dirty="0"/>
              <a:t>–</a:t>
            </a:r>
            <a:r>
              <a:rPr lang="en-US" dirty="0"/>
              <a:t> What is the Error?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public class Apple extends Fruit {</a:t>
            </a:r>
          </a:p>
          <a:p>
            <a:pPr marL="0" indent="0"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buNone/>
            </a:pPr>
            <a:endParaRPr lang="en-US" sz="3307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public class Fruit {</a:t>
            </a:r>
          </a:p>
          <a:p>
            <a:pPr marL="0" indent="0"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	public Fruit(String s) {</a:t>
            </a:r>
          </a:p>
          <a:p>
            <a:pPr marL="0" indent="0"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3307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("Fruit(s)%n");</a:t>
            </a:r>
          </a:p>
          <a:p>
            <a:pPr marL="0" indent="0"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514293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Apple </a:t>
            </a:r>
            <a:r>
              <a:rPr lang="en-US"/>
              <a:t>has a default </a:t>
            </a:r>
            <a:r>
              <a:rPr lang="en-US" dirty="0"/>
              <a:t>no-</a:t>
            </a:r>
            <a:r>
              <a:rPr lang="en-US" dirty="0" err="1"/>
              <a:t>arg</a:t>
            </a:r>
            <a:r>
              <a:rPr lang="en-US" dirty="0"/>
              <a:t> constructor, which tries to call super()</a:t>
            </a:r>
          </a:p>
          <a:p>
            <a:r>
              <a:rPr lang="en-US" dirty="0"/>
              <a:t>Fruit does not have a no-</a:t>
            </a:r>
            <a:r>
              <a:rPr lang="en-US" dirty="0" err="1"/>
              <a:t>arg</a:t>
            </a:r>
            <a:r>
              <a:rPr lang="en-US" dirty="0"/>
              <a:t> constructor!</a:t>
            </a:r>
          </a:p>
        </p:txBody>
      </p:sp>
    </p:spTree>
    <p:extLst>
      <p:ext uri="{BB962C8B-B14F-4D97-AF65-F5344CB8AC3E}">
        <p14:creationId xmlns:p14="http://schemas.microsoft.com/office/powerpoint/2010/main" val="1941293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 </a:t>
            </a:r>
            <a:r>
              <a:rPr lang="mr-IN" dirty="0"/>
              <a:t>–</a:t>
            </a:r>
            <a:r>
              <a:rPr lang="en-US" dirty="0"/>
              <a:t> Output?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public class COMP1050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	public static void main(String[]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("before");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		new CS();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(".after");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public class CS extends WIT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	public CS()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(".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cs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");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public class WIT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	public WIT()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(".wit");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773522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before.wit.cs.after</a:t>
            </a:r>
            <a:endParaRPr lang="en-US" b="1" dirty="0">
              <a:latin typeface="Consolas" charset="0"/>
              <a:ea typeface="Consolas" charset="0"/>
              <a:cs typeface="Consola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89357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Getting Back to the Pets</a:t>
            </a:r>
            <a:r>
              <a:rPr lang="mr-IN" dirty="0"/>
              <a:t>…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494399" y="2254866"/>
            <a:ext cx="4241113" cy="4498094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final private String name;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final private String id;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public Pet(String name, String id)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this.name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 = name;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this.id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 = id;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public String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getName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return name;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public String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getId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return id;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}		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public String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toString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return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String.format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("%s (%s)",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getName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(),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getId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());	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public String says()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return "???";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4"/>
          </p:nvPr>
        </p:nvSpPr>
        <p:spPr>
          <a:xfrm>
            <a:off x="5120808" y="2254866"/>
            <a:ext cx="4699662" cy="449809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Dog2 extends Pet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Dog2(String name, String id)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super(name, id);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static void main(String[]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  new Dog2("Lassie", "124").says());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Pet.java</a:t>
            </a:r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5511293" y="5913437"/>
            <a:ext cx="4304247" cy="67057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???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idx="1"/>
          </p:nvPr>
        </p:nvSpPr>
        <p:spPr>
          <a:xfrm>
            <a:off x="5116512" y="1410327"/>
            <a:ext cx="4454027" cy="705219"/>
          </a:xfrm>
        </p:spPr>
        <p:txBody>
          <a:bodyPr/>
          <a:lstStyle/>
          <a:p>
            <a:r>
              <a:rPr lang="en-US"/>
              <a:t>Dog2.java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231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Overriding Superclass Methods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Sometimes it is necessary for the subclass to </a:t>
            </a:r>
            <a:r>
              <a:rPr lang="en-US" i="1" dirty="0"/>
              <a:t>modify</a:t>
            </a:r>
            <a:r>
              <a:rPr lang="en-US" dirty="0"/>
              <a:t> the implementation of a method defined in the superclass</a:t>
            </a:r>
          </a:p>
          <a:p>
            <a:pPr lvl="1"/>
            <a:r>
              <a:rPr lang="en-US" dirty="0"/>
              <a:t>This is referred to as </a:t>
            </a:r>
            <a:r>
              <a:rPr lang="en-US" b="1" dirty="0"/>
              <a:t>method overriding</a:t>
            </a:r>
            <a:endParaRPr lang="en-US" dirty="0"/>
          </a:p>
          <a:p>
            <a:r>
              <a:rPr lang="en-US" dirty="0"/>
              <a:t>This is done simply via creating a method in the subclass with the same name, parameters, and return type</a:t>
            </a:r>
          </a:p>
          <a:p>
            <a:r>
              <a:rPr lang="en-US" dirty="0"/>
              <a:t>Basic idea: </a:t>
            </a:r>
          </a:p>
          <a:p>
            <a:pPr lvl="1"/>
            <a:r>
              <a:rPr lang="en-US" dirty="0"/>
              <a:t>Inherit what you can (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getName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()</a:t>
            </a:r>
            <a:r>
              <a:rPr lang="en-US" dirty="0"/>
              <a:t>,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getID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()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Add as needed (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Cat.hasHairBalls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()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Override methods that need changing (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speak()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198374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Java Annotations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Annotations are a form of metadata </a:t>
            </a:r>
            <a:r>
              <a:rPr lang="mr-IN" dirty="0"/>
              <a:t>–</a:t>
            </a:r>
            <a:r>
              <a:rPr lang="en-US" dirty="0"/>
              <a:t> they provide data about a program that is not part of the program itself</a:t>
            </a:r>
          </a:p>
          <a:p>
            <a:r>
              <a:rPr lang="en-US" dirty="0"/>
              <a:t>Annotations have no direct effect on the operation of the code they annotate</a:t>
            </a:r>
          </a:p>
          <a:p>
            <a:pPr lvl="1"/>
            <a:r>
              <a:rPr lang="en-US" dirty="0"/>
              <a:t>Useful for detecting/ignoring errors</a:t>
            </a:r>
          </a:p>
          <a:p>
            <a:r>
              <a:rPr lang="en-US" dirty="0"/>
              <a:t>Examples</a:t>
            </a:r>
            <a:r>
              <a:rPr lang="mr-IN" dirty="0"/>
              <a:t>…</a:t>
            </a:r>
            <a:endParaRPr lang="en-US" dirty="0"/>
          </a:p>
          <a:p>
            <a:pPr lvl="1"/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@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SuppressWarnings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("resource")</a:t>
            </a:r>
          </a:p>
          <a:p>
            <a:pPr lvl="2"/>
            <a:r>
              <a:rPr lang="en-US" dirty="0"/>
              <a:t>Ignores warning on unclosed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Scanner</a:t>
            </a:r>
            <a:r>
              <a:rPr lang="en-US" dirty="0"/>
              <a:t> on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System.in</a:t>
            </a:r>
            <a:endParaRPr lang="en-US" b="1" dirty="0">
              <a:latin typeface="Consolas" charset="0"/>
              <a:ea typeface="Consolas" charset="0"/>
              <a:cs typeface="Consolas" charset="0"/>
            </a:endParaRPr>
          </a:p>
          <a:p>
            <a:pPr lvl="1"/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@Override</a:t>
            </a:r>
          </a:p>
          <a:p>
            <a:pPr lvl="2"/>
            <a:r>
              <a:rPr lang="en-US" dirty="0"/>
              <a:t>Compiler error if not overriding an existing method</a:t>
            </a:r>
          </a:p>
        </p:txBody>
      </p:sp>
    </p:spTree>
    <p:extLst>
      <p:ext uri="{BB962C8B-B14F-4D97-AF65-F5344CB8AC3E}">
        <p14:creationId xmlns:p14="http://schemas.microsoft.com/office/powerpoint/2010/main" val="1643463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Overriding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says()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504031" y="2254866"/>
            <a:ext cx="5069681" cy="4498094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final private String name;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final private String id;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public Pet(String name, String id)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this.name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 = name;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this.id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 = id;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public String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getName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return name;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public String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getId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return id;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}		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public String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toString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return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String.format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("%s (%s)",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getName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(),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getId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());	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public String says()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return "???";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4"/>
          </p:nvPr>
        </p:nvSpPr>
        <p:spPr>
          <a:xfrm>
            <a:off x="5120808" y="2254866"/>
            <a:ext cx="4699662" cy="4498094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public class Dog3 extends Pet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	public Dog3(String name, String id)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		super(name, id);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323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	@Override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	public String says()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		return "woof";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323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	public static void main(String[] </a:t>
            </a:r>
            <a:r>
              <a:rPr lang="en-US" sz="1323" b="1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323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en-US" sz="1323" b="1" dirty="0" err="1">
                <a:latin typeface="Consolas" charset="0"/>
                <a:ea typeface="Consolas" charset="0"/>
                <a:cs typeface="Consolas" charset="0"/>
              </a:rPr>
              <a:t>s%n</a:t>
            </a: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",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		  new Dog3("Lassie", "124").says());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Pet.java</a:t>
            </a:r>
            <a:endParaRPr lang="en-US" dirty="0"/>
          </a:p>
        </p:txBody>
      </p:sp>
      <p:sp>
        <p:nvSpPr>
          <p:cNvPr id="12" name="Rounded Rectangle 11"/>
          <p:cNvSpPr/>
          <p:nvPr/>
        </p:nvSpPr>
        <p:spPr>
          <a:xfrm>
            <a:off x="5544968" y="5913437"/>
            <a:ext cx="4304247" cy="67057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woof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idx="1"/>
          </p:nvPr>
        </p:nvSpPr>
        <p:spPr>
          <a:xfrm>
            <a:off x="5119888" y="1388896"/>
            <a:ext cx="4454027" cy="705219"/>
          </a:xfrm>
        </p:spPr>
        <p:txBody>
          <a:bodyPr/>
          <a:lstStyle/>
          <a:p>
            <a:r>
              <a:rPr lang="en-US" dirty="0"/>
              <a:t>Dog3.java</a:t>
            </a:r>
          </a:p>
        </p:txBody>
      </p:sp>
    </p:spTree>
    <p:extLst>
      <p:ext uri="{BB962C8B-B14F-4D97-AF65-F5344CB8AC3E}">
        <p14:creationId xmlns:p14="http://schemas.microsoft.com/office/powerpoint/2010/main" val="505016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Don</a:t>
            </a:r>
            <a:r>
              <a:rPr lang="mr-IN" dirty="0"/>
              <a:t>’</a:t>
            </a:r>
            <a:r>
              <a:rPr lang="en-US" dirty="0"/>
              <a:t>t Forget Cats!</a:t>
            </a:r>
            <a:endParaRPr lang="en-US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504031" y="2254867"/>
            <a:ext cx="4917281" cy="4498094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final private String name;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final private String id;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public Pet(String name, String id)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this.name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 = name;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this.id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 = id;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public String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getName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return name;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public String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getId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return id;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}		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public String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toString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return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String.format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("%s (%s)",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getName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(),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getId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());	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public String says()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return "???";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4"/>
          </p:nvPr>
        </p:nvSpPr>
        <p:spPr>
          <a:xfrm>
            <a:off x="5380963" y="2254867"/>
            <a:ext cx="4699662" cy="4498094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public class Cat3 extends Pet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	final private </a:t>
            </a:r>
            <a:r>
              <a:rPr lang="en-US" sz="1323" b="1" dirty="0" err="1">
                <a:latin typeface="Consolas" charset="0"/>
                <a:ea typeface="Consolas" charset="0"/>
                <a:cs typeface="Consolas" charset="0"/>
              </a:rPr>
              <a:t>boolean</a:t>
            </a: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323" b="1" dirty="0" err="1">
                <a:latin typeface="Consolas" charset="0"/>
                <a:ea typeface="Consolas" charset="0"/>
                <a:cs typeface="Consolas" charset="0"/>
              </a:rPr>
              <a:t>hairBalls</a:t>
            </a: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323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	public Cat3(String name, String id, 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			 </a:t>
            </a:r>
            <a:r>
              <a:rPr lang="en-US" sz="1323" b="1" dirty="0" err="1">
                <a:latin typeface="Consolas" charset="0"/>
                <a:ea typeface="Consolas" charset="0"/>
                <a:cs typeface="Consolas" charset="0"/>
              </a:rPr>
              <a:t>boolean</a:t>
            </a: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323" b="1" dirty="0" err="1">
                <a:latin typeface="Consolas" charset="0"/>
                <a:ea typeface="Consolas" charset="0"/>
                <a:cs typeface="Consolas" charset="0"/>
              </a:rPr>
              <a:t>hairBalls</a:t>
            </a: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		super(name, id);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323" b="1" dirty="0" err="1">
                <a:latin typeface="Consolas" charset="0"/>
                <a:ea typeface="Consolas" charset="0"/>
                <a:cs typeface="Consolas" charset="0"/>
              </a:rPr>
              <a:t>this.hairBalls</a:t>
            </a: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 = </a:t>
            </a:r>
            <a:r>
              <a:rPr lang="en-US" sz="1323" b="1" dirty="0" err="1">
                <a:latin typeface="Consolas" charset="0"/>
                <a:ea typeface="Consolas" charset="0"/>
                <a:cs typeface="Consolas" charset="0"/>
              </a:rPr>
              <a:t>hairBalls</a:t>
            </a: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323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	@Override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	public String says()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		return "meow";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323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	public </a:t>
            </a:r>
            <a:r>
              <a:rPr lang="en-US" sz="1323" b="1" dirty="0" err="1">
                <a:latin typeface="Consolas" charset="0"/>
                <a:ea typeface="Consolas" charset="0"/>
                <a:cs typeface="Consolas" charset="0"/>
              </a:rPr>
              <a:t>boolean</a:t>
            </a: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323" b="1" dirty="0" err="1">
                <a:latin typeface="Consolas" charset="0"/>
                <a:ea typeface="Consolas" charset="0"/>
                <a:cs typeface="Consolas" charset="0"/>
              </a:rPr>
              <a:t>hasHairBalls</a:t>
            </a: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()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		return </a:t>
            </a:r>
            <a:r>
              <a:rPr lang="en-US" sz="1323" b="1" dirty="0" err="1">
                <a:latin typeface="Consolas" charset="0"/>
                <a:ea typeface="Consolas" charset="0"/>
                <a:cs typeface="Consolas" charset="0"/>
              </a:rPr>
              <a:t>hairBalls</a:t>
            </a: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323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Pet.java</a:t>
            </a:r>
            <a:endParaRPr lang="en-US" dirty="0"/>
          </a:p>
        </p:txBody>
      </p:sp>
      <p:sp>
        <p:nvSpPr>
          <p:cNvPr id="9" name="Text Placeholder 6"/>
          <p:cNvSpPr>
            <a:spLocks noGrp="1"/>
          </p:cNvSpPr>
          <p:nvPr>
            <p:ph type="body" idx="1"/>
          </p:nvPr>
        </p:nvSpPr>
        <p:spPr>
          <a:xfrm>
            <a:off x="5364001" y="1410326"/>
            <a:ext cx="4454027" cy="705219"/>
          </a:xfrm>
        </p:spPr>
        <p:txBody>
          <a:bodyPr/>
          <a:lstStyle/>
          <a:p>
            <a:r>
              <a:rPr lang="en-US"/>
              <a:t>Cat3.java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2955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Another Example: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toString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()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4294967295"/>
          </p:nvPr>
        </p:nvSpPr>
        <p:spPr>
          <a:xfrm>
            <a:off x="504506" y="1409292"/>
            <a:ext cx="9260205" cy="534366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In Java, all classes are subclasses of the class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Object</a:t>
            </a:r>
          </a:p>
          <a:p>
            <a:pPr lvl="1"/>
            <a:r>
              <a:rPr lang="en-US" dirty="0">
                <a:latin typeface="Tahoma" charset="0"/>
                <a:ea typeface="Tahoma" charset="0"/>
                <a:cs typeface="Tahoma" charset="0"/>
              </a:rPr>
              <a:t>Equivalent to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public class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MyClass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 extends Object</a:t>
            </a:r>
            <a:endParaRPr lang="en-US" dirty="0"/>
          </a:p>
          <a:p>
            <a:r>
              <a:rPr lang="en-US" dirty="0"/>
              <a:t>Amongst other methods,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Object</a:t>
            </a:r>
            <a:r>
              <a:rPr lang="en-US" dirty="0"/>
              <a:t> has the method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toString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()</a:t>
            </a:r>
            <a:r>
              <a:rPr lang="en-US" dirty="0"/>
              <a:t> with the following return</a:t>
            </a:r>
            <a:r>
              <a:rPr lang="mr-IN" dirty="0"/>
              <a:t>…</a:t>
            </a:r>
            <a:endParaRPr lang="en-US" b="1" dirty="0">
              <a:latin typeface="Consolas" charset="0"/>
              <a:ea typeface="Consolas" charset="0"/>
              <a:cs typeface="Consolas" charset="0"/>
            </a:endParaRPr>
          </a:p>
          <a:p>
            <a:pPr marL="503972" lvl="1" indent="0">
              <a:buNone/>
            </a:pPr>
            <a:r>
              <a:rPr lang="en-US" sz="2200" b="1" dirty="0" err="1">
                <a:latin typeface="Consolas" charset="0"/>
                <a:ea typeface="Consolas" charset="0"/>
                <a:cs typeface="Consolas" charset="0"/>
              </a:rPr>
              <a:t>getClass</a:t>
            </a:r>
            <a:r>
              <a:rPr lang="en-US" sz="2200" b="1" dirty="0">
                <a:latin typeface="Consolas" charset="0"/>
                <a:ea typeface="Consolas" charset="0"/>
                <a:cs typeface="Consolas" charset="0"/>
              </a:rPr>
              <a:t>().</a:t>
            </a:r>
            <a:r>
              <a:rPr lang="en-US" sz="2200" b="1" dirty="0" err="1">
                <a:latin typeface="Consolas" charset="0"/>
                <a:ea typeface="Consolas" charset="0"/>
                <a:cs typeface="Consolas" charset="0"/>
              </a:rPr>
              <a:t>getName</a:t>
            </a:r>
            <a:r>
              <a:rPr lang="en-US" sz="2200" b="1" dirty="0">
                <a:latin typeface="Consolas" charset="0"/>
                <a:ea typeface="Consolas" charset="0"/>
                <a:cs typeface="Consolas" charset="0"/>
              </a:rPr>
              <a:t>() + "@" + </a:t>
            </a:r>
            <a:r>
              <a:rPr lang="en-US" sz="2200" b="1" dirty="0" err="1">
                <a:latin typeface="Consolas" charset="0"/>
                <a:ea typeface="Consolas" charset="0"/>
                <a:cs typeface="Consolas" charset="0"/>
              </a:rPr>
              <a:t>Integer.toHexString</a:t>
            </a:r>
            <a:r>
              <a:rPr lang="en-US" sz="22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2200" b="1" dirty="0" err="1">
                <a:latin typeface="Consolas" charset="0"/>
                <a:ea typeface="Consolas" charset="0"/>
                <a:cs typeface="Consolas" charset="0"/>
              </a:rPr>
              <a:t>hashCode</a:t>
            </a:r>
            <a:r>
              <a:rPr lang="en-US" sz="2200" b="1" dirty="0">
                <a:latin typeface="Consolas" charset="0"/>
                <a:ea typeface="Consolas" charset="0"/>
                <a:cs typeface="Consolas" charset="0"/>
              </a:rPr>
              <a:t>())</a:t>
            </a:r>
            <a:endParaRPr lang="en-US" sz="2200" dirty="0">
              <a:latin typeface="Consolas" charset="0"/>
              <a:ea typeface="Consolas" charset="0"/>
              <a:cs typeface="Consolas" charset="0"/>
            </a:endParaRPr>
          </a:p>
          <a:p>
            <a:r>
              <a:rPr lang="en-US" dirty="0">
                <a:latin typeface="Arial" charset="0"/>
                <a:ea typeface="Arial" charset="0"/>
                <a:cs typeface="Arial" charset="0"/>
              </a:rPr>
              <a:t>When we write a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toString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()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 method for a class, we are overriding the base implementation to provide a more descriptive output</a:t>
            </a:r>
          </a:p>
        </p:txBody>
      </p:sp>
    </p:spTree>
    <p:extLst>
      <p:ext uri="{BB962C8B-B14F-4D97-AF65-F5344CB8AC3E}">
        <p14:creationId xmlns:p14="http://schemas.microsoft.com/office/powerpoint/2010/main" val="9751518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Overriding Note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An instance method can be overridden only if it is accessible</a:t>
            </a:r>
          </a:p>
          <a:p>
            <a:r>
              <a:rPr lang="en-US" dirty="0"/>
              <a:t>Thus a </a:t>
            </a:r>
            <a:r>
              <a:rPr lang="en-US" i="1" dirty="0"/>
              <a:t>private</a:t>
            </a:r>
            <a:r>
              <a:rPr lang="en-US" dirty="0"/>
              <a:t> method cannot be overridden, because it is not accessible outside its own class</a:t>
            </a:r>
          </a:p>
          <a:p>
            <a:r>
              <a:rPr lang="en-US" dirty="0"/>
              <a:t>If a method defined in a subclass is private in its superclass, the two methods are completely unrelated</a:t>
            </a:r>
          </a:p>
        </p:txBody>
      </p:sp>
    </p:spTree>
    <p:extLst>
      <p:ext uri="{BB962C8B-B14F-4D97-AF65-F5344CB8AC3E}">
        <p14:creationId xmlns:p14="http://schemas.microsoft.com/office/powerpoint/2010/main" val="192862595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Overriding Note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A subclass may override a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protected</a:t>
            </a:r>
            <a:r>
              <a:rPr lang="en-US" dirty="0"/>
              <a:t> method in its superclass and change its visibility to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public</a:t>
            </a:r>
            <a:endParaRPr lang="en-US" dirty="0"/>
          </a:p>
          <a:p>
            <a:r>
              <a:rPr lang="en-US" dirty="0"/>
              <a:t>However, a subclass cannot reduce the accessibility of a method defined in the superclass</a:t>
            </a:r>
          </a:p>
          <a:p>
            <a:r>
              <a:rPr lang="en-US" dirty="0"/>
              <a:t>For example, if a method is defined as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public</a:t>
            </a:r>
            <a:r>
              <a:rPr lang="en-US" dirty="0"/>
              <a:t> in the superclass, it must be defined as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public</a:t>
            </a:r>
            <a:r>
              <a:rPr lang="en-US" dirty="0"/>
              <a:t> in the subclass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914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Visibility Modifiers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2826678"/>
          </a:xfrm>
          <a:prstGeom prst="rect">
            <a:avLst/>
          </a:prstGeom>
        </p:spPr>
        <p:txBody>
          <a:bodyPr>
            <a:normAutofit/>
          </a:bodyPr>
          <a:lstStyle/>
          <a:p>
            <a:pPr indent="-457200"/>
            <a:r>
              <a:rPr lang="en-US" dirty="0"/>
              <a:t>Way of specifying what code can “see” (i.e. directly access) a variable/method</a:t>
            </a:r>
          </a:p>
          <a:p>
            <a:pPr lvl="1"/>
            <a:r>
              <a:rPr lang="en-US" dirty="0"/>
              <a:t>By default, operate under a “need-to-know” basis (i.e. most constraining)</a:t>
            </a:r>
          </a:p>
          <a:p>
            <a:pPr lvl="1"/>
            <a:r>
              <a:rPr lang="en-US" dirty="0"/>
              <a:t>No modifier = </a:t>
            </a:r>
            <a:r>
              <a:rPr lang="en-US" i="1" dirty="0"/>
              <a:t>package-private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4507" y="4445192"/>
          <a:ext cx="9071610" cy="2043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43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43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43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43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43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8782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Class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Package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Subclass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World</a:t>
                      </a: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782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onsolas" charset="0"/>
                          <a:ea typeface="Consolas" charset="0"/>
                          <a:cs typeface="Consolas" charset="0"/>
                        </a:rPr>
                        <a:t>public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✓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✓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✓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✓</a:t>
                      </a: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782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onsolas" charset="0"/>
                          <a:ea typeface="Consolas" charset="0"/>
                          <a:cs typeface="Consolas" charset="0"/>
                        </a:rPr>
                        <a:t>protected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✓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✓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✓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782">
                <a:tc>
                  <a:txBody>
                    <a:bodyPr/>
                    <a:lstStyle/>
                    <a:p>
                      <a:r>
                        <a:rPr lang="en-US" sz="2000" b="0" i="1" dirty="0">
                          <a:latin typeface="Consolas" charset="0"/>
                          <a:ea typeface="Consolas" charset="0"/>
                          <a:cs typeface="Consolas" charset="0"/>
                        </a:rPr>
                        <a:t>no modifier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✓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✓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782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onsolas" charset="0"/>
                          <a:ea typeface="Consolas" charset="0"/>
                          <a:cs typeface="Consolas" charset="0"/>
                        </a:rPr>
                        <a:t>private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✓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86899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Overriding Note 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Like an instance method, a </a:t>
            </a:r>
            <a:r>
              <a:rPr lang="en-US" i="1" dirty="0"/>
              <a:t>static</a:t>
            </a:r>
            <a:r>
              <a:rPr lang="en-US" dirty="0"/>
              <a:t> method can be inherited</a:t>
            </a:r>
          </a:p>
          <a:p>
            <a:r>
              <a:rPr lang="en-US" dirty="0"/>
              <a:t>However, a static method cannot be overridden</a:t>
            </a:r>
          </a:p>
          <a:p>
            <a:r>
              <a:rPr lang="en-US" dirty="0"/>
              <a:t>If a static method defined in the superclass is redefined in a subclass, the method defined in the superclass is </a:t>
            </a:r>
            <a:r>
              <a:rPr lang="en-US" i="1" dirty="0"/>
              <a:t>hidden</a:t>
            </a:r>
          </a:p>
          <a:p>
            <a:pPr lvl="1"/>
            <a:r>
              <a:rPr lang="en-US" dirty="0"/>
              <a:t>Subtly different than overriding, since both sub/super can be accessed based on class</a:t>
            </a:r>
          </a:p>
        </p:txBody>
      </p:sp>
    </p:spTree>
    <p:extLst>
      <p:ext uri="{BB962C8B-B14F-4D97-AF65-F5344CB8AC3E}">
        <p14:creationId xmlns:p14="http://schemas.microsoft.com/office/powerpoint/2010/main" val="130790050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33" b="1" dirty="0">
                <a:latin typeface="Consolas" charset="0"/>
                <a:ea typeface="Consolas" charset="0"/>
                <a:cs typeface="Consolas" charset="0"/>
              </a:rPr>
              <a:t>public static void m1()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33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433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33" b="1" dirty="0">
                <a:latin typeface="Consolas" charset="0"/>
                <a:ea typeface="Consolas" charset="0"/>
                <a:cs typeface="Consolas" charset="0"/>
              </a:rPr>
              <a:t>("Super.m1()%n");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33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33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33" b="1" dirty="0">
                <a:latin typeface="Consolas" charset="0"/>
                <a:ea typeface="Consolas" charset="0"/>
                <a:cs typeface="Consolas" charset="0"/>
              </a:rPr>
              <a:t>public static void m2()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33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433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33" b="1" dirty="0">
                <a:latin typeface="Consolas" charset="0"/>
                <a:ea typeface="Consolas" charset="0"/>
                <a:cs typeface="Consolas" charset="0"/>
              </a:rPr>
              <a:t>("Super.m2()%n");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33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4"/>
          </p:nvPr>
        </p:nvSpPr>
        <p:spPr>
          <a:xfrm>
            <a:off x="5120809" y="2254866"/>
            <a:ext cx="4959816" cy="4498094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public class Sub extends Super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	public static void m2()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6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("Sub.m2()%n");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6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	public static void main(String[] </a:t>
            </a:r>
            <a:r>
              <a:rPr lang="en-US" sz="1600" b="1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		Super.m1();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		Super.m2();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		Sub.m1();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		Sub.m2();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Super.java</a:t>
            </a:r>
            <a:endParaRPr lang="en-US" dirty="0"/>
          </a:p>
        </p:txBody>
      </p:sp>
      <p:sp>
        <p:nvSpPr>
          <p:cNvPr id="12" name="Rounded Rectangle 11"/>
          <p:cNvSpPr/>
          <p:nvPr/>
        </p:nvSpPr>
        <p:spPr>
          <a:xfrm>
            <a:off x="5649912" y="5456237"/>
            <a:ext cx="4304247" cy="160490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Super.m1()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Super.m2()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Super.m1()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Sub.m2()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"/>
          </p:nvPr>
        </p:nvSpPr>
        <p:spPr>
          <a:xfrm>
            <a:off x="5120818" y="1410327"/>
            <a:ext cx="4455776" cy="705219"/>
          </a:xfrm>
        </p:spPr>
        <p:txBody>
          <a:bodyPr/>
          <a:lstStyle/>
          <a:p>
            <a:r>
              <a:rPr lang="en-US" dirty="0" err="1"/>
              <a:t>Sub.java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43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Overriding vs. Overloading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f(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x)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return x;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B extends A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   // overloading     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f(double x)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return 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(2 * x);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static void main(String[]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final B b = new B();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("%d 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b.f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(10),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b.f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(10.0));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A.java</a:t>
            </a:r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5271870" y="5504995"/>
            <a:ext cx="4304247" cy="122390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10 20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idx="1"/>
          </p:nvPr>
        </p:nvSpPr>
        <p:spPr>
          <a:xfrm>
            <a:off x="5125181" y="1410326"/>
            <a:ext cx="4454027" cy="705219"/>
          </a:xfrm>
        </p:spPr>
        <p:txBody>
          <a:bodyPr/>
          <a:lstStyle/>
          <a:p>
            <a:r>
              <a:rPr lang="en-US" dirty="0" err="1"/>
              <a:t>B.java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607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Overriding vs. Overloading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f(double x)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return 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x;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D extends C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// overriding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    public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f(double x)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return 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(2 * x);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static void main(String[]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final D d = new D();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("%d 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		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d.f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(10),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d.f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(10.0));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C.java</a:t>
            </a:r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5271870" y="5504995"/>
            <a:ext cx="4304247" cy="122390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20 20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idx="1"/>
          </p:nvPr>
        </p:nvSpPr>
        <p:spPr>
          <a:xfrm>
            <a:off x="5125181" y="1410326"/>
            <a:ext cx="4454027" cy="705219"/>
          </a:xfrm>
        </p:spPr>
        <p:txBody>
          <a:bodyPr/>
          <a:lstStyle/>
          <a:p>
            <a:r>
              <a:rPr lang="en-US" dirty="0" err="1"/>
              <a:t>D.java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539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What are the effects of keeping all of a class’ constructors private?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33248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No one outside of the class can instantiate the class</a:t>
            </a:r>
          </a:p>
          <a:p>
            <a:r>
              <a:rPr lang="en-US" dirty="0"/>
              <a:t>The class can not be inherited!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59135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final</a:t>
            </a:r>
            <a:r>
              <a:rPr lang="en-US" dirty="0"/>
              <a:t> Keyword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We already know that the value of a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final</a:t>
            </a:r>
            <a:r>
              <a:rPr lang="en-US" dirty="0"/>
              <a:t> variable cannot be changed</a:t>
            </a:r>
          </a:p>
          <a:p>
            <a:pPr marL="503972" lvl="1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final static double PI = 3.14159;</a:t>
            </a:r>
            <a:endParaRPr lang="en-US" dirty="0"/>
          </a:p>
          <a:p>
            <a:r>
              <a:rPr lang="en-US" dirty="0"/>
              <a:t>A final class cannot be </a:t>
            </a:r>
            <a:r>
              <a:rPr lang="en-US" dirty="0" err="1"/>
              <a:t>subclassed</a:t>
            </a:r>
            <a:endParaRPr lang="en-US" dirty="0"/>
          </a:p>
          <a:p>
            <a:pPr marL="503972" lvl="1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final public class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EndOfTheLine</a:t>
            </a:r>
            <a:endParaRPr lang="en-US" dirty="0"/>
          </a:p>
          <a:p>
            <a:r>
              <a:rPr lang="en-US" dirty="0"/>
              <a:t>A final method cannot be </a:t>
            </a:r>
            <a:r>
              <a:rPr lang="en-US" dirty="0" err="1"/>
              <a:t>overriden</a:t>
            </a:r>
            <a:r>
              <a:rPr lang="en-US" dirty="0"/>
              <a:t> by subclasses</a:t>
            </a:r>
          </a:p>
          <a:p>
            <a:pPr marL="503972" lvl="1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final public void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lastWord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()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85445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Return of the Pets</a:t>
            </a:r>
            <a:r>
              <a:rPr lang="mr-IN" dirty="0"/>
              <a:t>…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504030" y="2254867"/>
            <a:ext cx="4993481" cy="4498094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final private String name;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final private String id;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public Pet(String name, String id)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this.name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 = name;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this.id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 = id;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public String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getName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return name;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public String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getId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return id;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}		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public String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toString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return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String.format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("%s (%s)",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getName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(),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getId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());	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public String says()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return "???";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static void main(String[]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Pet p = new Pet("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WhatAmI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?", "-1");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Pet.java</a:t>
            </a:r>
            <a:endParaRPr lang="en-US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Foo.java</a:t>
            </a:r>
            <a:endParaRPr lang="en-US" dirty="0"/>
          </a:p>
        </p:txBody>
      </p:sp>
      <p:sp>
        <p:nvSpPr>
          <p:cNvPr id="19" name="Rounded Rectangle 18"/>
          <p:cNvSpPr/>
          <p:nvPr/>
        </p:nvSpPr>
        <p:spPr>
          <a:xfrm>
            <a:off x="5573712" y="5456237"/>
            <a:ext cx="4304247" cy="122390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Awkward...</a:t>
            </a:r>
          </a:p>
        </p:txBody>
      </p:sp>
    </p:spTree>
    <p:extLst>
      <p:ext uri="{BB962C8B-B14F-4D97-AF65-F5344CB8AC3E}">
        <p14:creationId xmlns:p14="http://schemas.microsoft.com/office/powerpoint/2010/main" val="451762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Getting Abstract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rmAutofit fontScale="92500"/>
          </a:bodyPr>
          <a:lstStyle/>
          <a:p>
            <a:r>
              <a:rPr lang="en-US" dirty="0"/>
              <a:t>An </a:t>
            </a:r>
            <a:r>
              <a:rPr lang="en-US" b="1" dirty="0"/>
              <a:t>abstract</a:t>
            </a:r>
            <a:r>
              <a:rPr lang="en-US" dirty="0"/>
              <a:t> method is a method that is declared without an implementation</a:t>
            </a:r>
          </a:p>
          <a:p>
            <a:pPr marL="503972" lvl="1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abstract public String says();</a:t>
            </a:r>
            <a:endParaRPr lang="en-US" dirty="0"/>
          </a:p>
          <a:p>
            <a:r>
              <a:rPr lang="en-US" dirty="0"/>
              <a:t>If a class has even one abstract method, then the class itself must be declared abstract</a:t>
            </a:r>
          </a:p>
          <a:p>
            <a:pPr marL="503972" lvl="1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abstract public class Pet2</a:t>
            </a:r>
            <a:endParaRPr lang="en-US" dirty="0"/>
          </a:p>
          <a:p>
            <a:r>
              <a:rPr lang="en-US" dirty="0"/>
              <a:t>An abstract class is a class that is declared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abstract</a:t>
            </a:r>
            <a:r>
              <a:rPr lang="en-US" dirty="0"/>
              <a:t> (it may or may not include abstract methods)</a:t>
            </a:r>
          </a:p>
          <a:p>
            <a:pPr lvl="1"/>
            <a:r>
              <a:rPr lang="en-US" dirty="0"/>
              <a:t>Abstract classes </a:t>
            </a:r>
            <a:r>
              <a:rPr lang="en-US" i="1" dirty="0"/>
              <a:t>cannot</a:t>
            </a:r>
            <a:r>
              <a:rPr lang="en-US" dirty="0"/>
              <a:t> be instantiated</a:t>
            </a:r>
          </a:p>
          <a:p>
            <a:pPr lvl="1"/>
            <a:r>
              <a:rPr lang="en-US" dirty="0"/>
              <a:t>Abstract classes </a:t>
            </a:r>
            <a:r>
              <a:rPr lang="en-US" i="1" dirty="0"/>
              <a:t>can</a:t>
            </a:r>
            <a:r>
              <a:rPr lang="en-US" dirty="0"/>
              <a:t> be </a:t>
            </a:r>
            <a:r>
              <a:rPr lang="en-US" dirty="0" err="1"/>
              <a:t>subclassed</a:t>
            </a:r>
            <a:endParaRPr lang="en-US" dirty="0"/>
          </a:p>
          <a:p>
            <a:pPr lvl="1"/>
            <a:r>
              <a:rPr lang="en-US" dirty="0"/>
              <a:t>The opposite of an abstract class is a “concrete” class</a:t>
            </a:r>
          </a:p>
        </p:txBody>
      </p:sp>
    </p:spTree>
    <p:extLst>
      <p:ext uri="{BB962C8B-B14F-4D97-AF65-F5344CB8AC3E}">
        <p14:creationId xmlns:p14="http://schemas.microsoft.com/office/powerpoint/2010/main" val="141954454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Pet2</a:t>
            </a:r>
            <a:r>
              <a:rPr lang="en-US" dirty="0"/>
              <a:t>: Now with More Abstract!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504031" y="2101143"/>
            <a:ext cx="5450681" cy="4498094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abstract public class Pet2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final private String name;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final private String id;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public Pet2(String name, String id)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this.name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 = name;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this.id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 = id;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public String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getName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	return name;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public String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getId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	return id;	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@Override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public String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toString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	return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String.format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("%s (%s)", 	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getName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(),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getId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abstract public String says();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Can’t directly make a new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Pet2</a:t>
            </a:r>
            <a:r>
              <a:rPr lang="en-US" dirty="0"/>
              <a:t> object</a:t>
            </a:r>
          </a:p>
          <a:p>
            <a:r>
              <a:rPr lang="en-US" dirty="0"/>
              <a:t>Any concrete subclass of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Pet2</a:t>
            </a:r>
            <a:r>
              <a:rPr lang="en-US" dirty="0"/>
              <a:t> must implement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says()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Pet2.java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Benefits</a:t>
            </a:r>
          </a:p>
        </p:txBody>
      </p:sp>
    </p:spTree>
    <p:extLst>
      <p:ext uri="{BB962C8B-B14F-4D97-AF65-F5344CB8AC3E}">
        <p14:creationId xmlns:p14="http://schemas.microsoft.com/office/powerpoint/2010/main" val="188935009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Dog4</a:t>
            </a:r>
            <a:r>
              <a:rPr lang="en-US" dirty="0"/>
              <a:t>/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Cat4</a:t>
            </a:r>
            <a:r>
              <a:rPr lang="en-US" dirty="0"/>
              <a:t>: Very Concrete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Dog4 extends Pet2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Dog4(String name, String id)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super(name, id);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@Override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String says()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return "woof";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4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Cat4 extends Pet2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final private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boolean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hairBalls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Cat4(String name, String id, 				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boolean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hairBalls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super(name, id);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this.hairBalls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hairBalls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@Override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String says()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return "meow";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boolean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hasHairBalls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return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hairBalls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Dog4.java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Cat4.java</a:t>
            </a:r>
          </a:p>
        </p:txBody>
      </p:sp>
    </p:spTree>
    <p:extLst>
      <p:ext uri="{BB962C8B-B14F-4D97-AF65-F5344CB8AC3E}">
        <p14:creationId xmlns:p14="http://schemas.microsoft.com/office/powerpoint/2010/main" val="161390935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507" y="538419"/>
            <a:ext cx="9071610" cy="661650"/>
          </a:xfrm>
        </p:spPr>
        <p:txBody>
          <a:bodyPr>
            <a:normAutofit/>
          </a:bodyPr>
          <a:lstStyle/>
          <a:p>
            <a:r>
              <a:rPr lang="en-US" dirty="0"/>
              <a:t>Abstract Visual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3933537" y="1493557"/>
            <a:ext cx="2213553" cy="2202865"/>
            <a:chOff x="4356846" y="1783976"/>
            <a:chExt cx="2008095" cy="1998399"/>
          </a:xfrm>
        </p:grpSpPr>
        <p:sp>
          <p:nvSpPr>
            <p:cNvPr id="8" name="Rectangle 7"/>
            <p:cNvSpPr/>
            <p:nvPr/>
          </p:nvSpPr>
          <p:spPr>
            <a:xfrm>
              <a:off x="4356846" y="1783976"/>
              <a:ext cx="2008095" cy="25997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764" b="1" i="1" dirty="0">
                  <a:latin typeface="Consolas" charset="0"/>
                  <a:ea typeface="Consolas" charset="0"/>
                  <a:cs typeface="Consolas" charset="0"/>
                </a:rPr>
                <a:t>Pet2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356847" y="2043953"/>
              <a:ext cx="2008094" cy="4661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-name: String</a:t>
              </a:r>
            </a:p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-id: String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356847" y="2504333"/>
              <a:ext cx="2008094" cy="127804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+Pet(name: String, </a:t>
              </a:r>
            </a:p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     </a:t>
              </a:r>
              <a:r>
                <a:rPr lang="en-US" sz="1213" dirty="0" err="1">
                  <a:latin typeface="Consolas" charset="0"/>
                  <a:ea typeface="Consolas" charset="0"/>
                  <a:cs typeface="Consolas" charset="0"/>
                </a:rPr>
                <a:t>id:String</a:t>
              </a:r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)</a:t>
              </a:r>
            </a:p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+</a:t>
              </a:r>
              <a:r>
                <a:rPr lang="en-US" sz="1213" dirty="0" err="1">
                  <a:latin typeface="Consolas" charset="0"/>
                  <a:ea typeface="Consolas" charset="0"/>
                  <a:cs typeface="Consolas" charset="0"/>
                </a:rPr>
                <a:t>getName</a:t>
              </a:r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(): String</a:t>
              </a:r>
            </a:p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+</a:t>
              </a:r>
              <a:r>
                <a:rPr lang="en-US" sz="1213" dirty="0" err="1">
                  <a:latin typeface="Consolas" charset="0"/>
                  <a:ea typeface="Consolas" charset="0"/>
                  <a:cs typeface="Consolas" charset="0"/>
                </a:rPr>
                <a:t>getId</a:t>
              </a:r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(): String</a:t>
              </a:r>
            </a:p>
            <a:p>
              <a:r>
                <a:rPr lang="en-US" sz="1213" i="1" dirty="0">
                  <a:latin typeface="Consolas" charset="0"/>
                  <a:ea typeface="Consolas" charset="0"/>
                  <a:cs typeface="Consolas" charset="0"/>
                </a:rPr>
                <a:t>+says(): String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6420404" y="4805521"/>
            <a:ext cx="3155713" cy="1776596"/>
            <a:chOff x="4356846" y="1783976"/>
            <a:chExt cx="2008095" cy="1911920"/>
          </a:xfrm>
        </p:grpSpPr>
        <p:sp>
          <p:nvSpPr>
            <p:cNvPr id="16" name="Rectangle 15"/>
            <p:cNvSpPr/>
            <p:nvPr/>
          </p:nvSpPr>
          <p:spPr>
            <a:xfrm>
              <a:off x="4356846" y="1783976"/>
              <a:ext cx="2008095" cy="35893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764" b="1" dirty="0">
                  <a:latin typeface="Consolas" charset="0"/>
                  <a:ea typeface="Consolas" charset="0"/>
                  <a:cs typeface="Consolas" charset="0"/>
                </a:rPr>
                <a:t>Dog4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356847" y="2142915"/>
              <a:ext cx="2008094" cy="155298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+Dog4(</a:t>
              </a:r>
              <a:r>
                <a:rPr lang="en-US" sz="1213" dirty="0" err="1">
                  <a:latin typeface="Consolas" charset="0"/>
                  <a:ea typeface="Consolas" charset="0"/>
                  <a:cs typeface="Consolas" charset="0"/>
                </a:rPr>
                <a:t>name:String</a:t>
              </a:r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, </a:t>
              </a:r>
            </a:p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      </a:t>
              </a:r>
              <a:r>
                <a:rPr lang="en-US" sz="1213" dirty="0" err="1">
                  <a:latin typeface="Consolas" charset="0"/>
                  <a:ea typeface="Consolas" charset="0"/>
                  <a:cs typeface="Consolas" charset="0"/>
                </a:rPr>
                <a:t>id:String</a:t>
              </a:r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)</a:t>
              </a:r>
            </a:p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+says(): String</a:t>
              </a:r>
            </a:p>
          </p:txBody>
        </p:sp>
      </p:grpSp>
      <p:sp>
        <p:nvSpPr>
          <p:cNvPr id="20" name="Triangle 19"/>
          <p:cNvSpPr/>
          <p:nvPr/>
        </p:nvSpPr>
        <p:spPr>
          <a:xfrm>
            <a:off x="4867609" y="3696422"/>
            <a:ext cx="345403" cy="297761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646"/>
          </a:p>
        </p:txBody>
      </p:sp>
      <p:cxnSp>
        <p:nvCxnSpPr>
          <p:cNvPr id="24" name="Elbow Connector 23"/>
          <p:cNvCxnSpPr>
            <a:stCxn id="16" idx="0"/>
            <a:endCxn id="20" idx="3"/>
          </p:cNvCxnSpPr>
          <p:nvPr/>
        </p:nvCxnSpPr>
        <p:spPr>
          <a:xfrm rot="16200000" flipV="1">
            <a:off x="6113616" y="2920877"/>
            <a:ext cx="811339" cy="295794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/>
          <p:cNvCxnSpPr>
            <a:stCxn id="12" idx="0"/>
            <a:endCxn id="20" idx="3"/>
          </p:cNvCxnSpPr>
          <p:nvPr/>
        </p:nvCxnSpPr>
        <p:spPr>
          <a:xfrm rot="5400000" flipH="1" flipV="1">
            <a:off x="3155667" y="2920879"/>
            <a:ext cx="811339" cy="295794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" name="Group 17"/>
          <p:cNvGrpSpPr/>
          <p:nvPr/>
        </p:nvGrpSpPr>
        <p:grpSpPr>
          <a:xfrm>
            <a:off x="504506" y="4805521"/>
            <a:ext cx="3155713" cy="1754420"/>
            <a:chOff x="1552522" y="4535332"/>
            <a:chExt cx="2015430" cy="1591578"/>
          </a:xfrm>
        </p:grpSpPr>
        <p:sp>
          <p:nvSpPr>
            <p:cNvPr id="12" name="Rectangle 11"/>
            <p:cNvSpPr/>
            <p:nvPr/>
          </p:nvSpPr>
          <p:spPr>
            <a:xfrm>
              <a:off x="1552522" y="4535332"/>
              <a:ext cx="2015430" cy="32195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764" b="1" dirty="0">
                  <a:latin typeface="Consolas" charset="0"/>
                  <a:ea typeface="Consolas" charset="0"/>
                  <a:cs typeface="Consolas" charset="0"/>
                </a:rPr>
                <a:t>Cat4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552522" y="5213311"/>
              <a:ext cx="2015429" cy="91359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+Cat4(</a:t>
              </a:r>
              <a:r>
                <a:rPr lang="en-US" sz="1213" dirty="0" err="1">
                  <a:latin typeface="Consolas" charset="0"/>
                  <a:ea typeface="Consolas" charset="0"/>
                  <a:cs typeface="Consolas" charset="0"/>
                </a:rPr>
                <a:t>name:String</a:t>
              </a:r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, </a:t>
              </a:r>
            </a:p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      </a:t>
              </a:r>
              <a:r>
                <a:rPr lang="en-US" sz="1213" dirty="0" err="1">
                  <a:latin typeface="Consolas" charset="0"/>
                  <a:ea typeface="Consolas" charset="0"/>
                  <a:cs typeface="Consolas" charset="0"/>
                </a:rPr>
                <a:t>id:String</a:t>
              </a:r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, </a:t>
              </a:r>
              <a:r>
                <a:rPr lang="en-US" sz="1213" dirty="0" err="1">
                  <a:latin typeface="Consolas" charset="0"/>
                  <a:ea typeface="Consolas" charset="0"/>
                  <a:cs typeface="Consolas" charset="0"/>
                </a:rPr>
                <a:t>hairBalls:boolean</a:t>
              </a:r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)</a:t>
              </a:r>
            </a:p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+says(): String</a:t>
              </a:r>
            </a:p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+</a:t>
              </a:r>
              <a:r>
                <a:rPr lang="en-US" sz="1213" dirty="0" err="1">
                  <a:latin typeface="Consolas" charset="0"/>
                  <a:ea typeface="Consolas" charset="0"/>
                  <a:cs typeface="Consolas" charset="0"/>
                </a:rPr>
                <a:t>hasHairBalls</a:t>
              </a:r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(): </a:t>
              </a:r>
              <a:r>
                <a:rPr lang="en-US" sz="1213" dirty="0" err="1">
                  <a:latin typeface="Consolas" charset="0"/>
                  <a:ea typeface="Consolas" charset="0"/>
                  <a:cs typeface="Consolas" charset="0"/>
                </a:rPr>
                <a:t>boolean</a:t>
              </a:r>
              <a:endParaRPr lang="en-US" sz="1213" dirty="0">
                <a:latin typeface="Consolas" charset="0"/>
                <a:ea typeface="Consolas" charset="0"/>
                <a:cs typeface="Consolas" charset="0"/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552522" y="4856585"/>
              <a:ext cx="2015430" cy="35672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-</a:t>
              </a:r>
              <a:r>
                <a:rPr lang="en-US" sz="1213" dirty="0" err="1">
                  <a:latin typeface="Consolas" charset="0"/>
                  <a:ea typeface="Consolas" charset="0"/>
                  <a:cs typeface="Consolas" charset="0"/>
                </a:rPr>
                <a:t>hairBalls</a:t>
              </a:r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: </a:t>
              </a:r>
              <a:r>
                <a:rPr lang="en-US" sz="1213" dirty="0" err="1">
                  <a:latin typeface="Consolas" charset="0"/>
                  <a:ea typeface="Consolas" charset="0"/>
                  <a:cs typeface="Consolas" charset="0"/>
                </a:rPr>
                <a:t>boolean</a:t>
              </a:r>
              <a:endParaRPr lang="en-US" sz="1213" dirty="0">
                <a:latin typeface="Consolas" charset="0"/>
                <a:ea typeface="Consolas" charset="0"/>
                <a:cs typeface="Consolas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51700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Revisiting the Vet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504506" y="2254866"/>
            <a:ext cx="5678805" cy="4498094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Dog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[]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dogs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= {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new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Dog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Spot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", "1234"),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new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Dog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Rover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", "6789")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};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Cat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[]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cats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= {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new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Cat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Mittens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", "5432"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, true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),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new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Cat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Garfield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", "8765"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, false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)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};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for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(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Dog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d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: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dogs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) {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s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says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'%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s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'%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n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d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,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d.says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());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}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for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(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Cat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c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: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cats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) {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("%s says '%s'", c,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c.says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if (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c.hasHairBalls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(" :: CLEARS THROAT ::");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("%n");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}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Vet.java</a:t>
            </a:r>
            <a:endParaRPr lang="en-US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TODO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Update for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Cat4</a:t>
            </a:r>
            <a:r>
              <a:rPr lang="en-US" dirty="0"/>
              <a:t>/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Dog4</a:t>
            </a:r>
          </a:p>
          <a:p>
            <a:r>
              <a:rPr lang="en-US" dirty="0"/>
              <a:t>Wouldn’t it be nice if we didn’t have to have as much separate code for cats/dogs?</a:t>
            </a:r>
          </a:p>
        </p:txBody>
      </p:sp>
    </p:spTree>
    <p:extLst>
      <p:ext uri="{BB962C8B-B14F-4D97-AF65-F5344CB8AC3E}">
        <p14:creationId xmlns:p14="http://schemas.microsoft.com/office/powerpoint/2010/main" val="63160269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Polymorphism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rmAutofit/>
          </a:bodyPr>
          <a:lstStyle/>
          <a:p>
            <a:pPr indent="-457200"/>
            <a:r>
              <a:rPr lang="en-US" b="1" dirty="0"/>
              <a:t>Polymorphism</a:t>
            </a:r>
            <a:r>
              <a:rPr lang="en-US" dirty="0"/>
              <a:t>: a variable of a </a:t>
            </a:r>
            <a:r>
              <a:rPr lang="en-US" dirty="0" err="1"/>
              <a:t>supertype</a:t>
            </a:r>
            <a:r>
              <a:rPr lang="en-US" dirty="0"/>
              <a:t> can refer to a subtype object</a:t>
            </a:r>
          </a:p>
          <a:p>
            <a:pPr indent="-457200"/>
            <a:r>
              <a:rPr lang="en-US" dirty="0"/>
              <a:t>A class defines a </a:t>
            </a:r>
            <a:r>
              <a:rPr lang="en-US" i="1" dirty="0"/>
              <a:t>type</a:t>
            </a:r>
          </a:p>
          <a:p>
            <a:pPr indent="-457200"/>
            <a:r>
              <a:rPr lang="en-US" dirty="0"/>
              <a:t>A type defined by a subclass is called a </a:t>
            </a:r>
            <a:r>
              <a:rPr lang="en-US" i="1" dirty="0"/>
              <a:t>subtype</a:t>
            </a:r>
            <a:r>
              <a:rPr lang="en-US" dirty="0"/>
              <a:t>; a type defined by its superclass is called a </a:t>
            </a:r>
            <a:r>
              <a:rPr lang="en-US" i="1" dirty="0" err="1"/>
              <a:t>supertype</a:t>
            </a:r>
            <a:endParaRPr lang="en-US" i="1" dirty="0"/>
          </a:p>
          <a:p>
            <a:pPr lvl="1"/>
            <a:r>
              <a:rPr lang="en-US" dirty="0"/>
              <a:t>Example: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Dog4</a:t>
            </a:r>
            <a:r>
              <a:rPr lang="en-US" dirty="0"/>
              <a:t> is a subtype of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Pet2</a:t>
            </a:r>
            <a:r>
              <a:rPr lang="en-US" dirty="0"/>
              <a:t>;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Pet2</a:t>
            </a:r>
            <a:r>
              <a:rPr lang="en-US" dirty="0"/>
              <a:t> is a </a:t>
            </a:r>
            <a:r>
              <a:rPr lang="en-US" dirty="0" err="1"/>
              <a:t>supertype</a:t>
            </a:r>
            <a:r>
              <a:rPr lang="en-US" dirty="0"/>
              <a:t> of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Cat4</a:t>
            </a:r>
          </a:p>
          <a:p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Object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 is the </a:t>
            </a:r>
            <a:r>
              <a:rPr lang="en-US" dirty="0" err="1">
                <a:latin typeface="Arial" charset="0"/>
                <a:ea typeface="Arial" charset="0"/>
                <a:cs typeface="Arial" charset="0"/>
              </a:rPr>
              <a:t>supertype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 of all classes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6135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Casting Objects (1)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rmAutofit fontScale="92500"/>
          </a:bodyPr>
          <a:lstStyle/>
          <a:p>
            <a:r>
              <a:rPr lang="en-US" dirty="0"/>
              <a:t>Casting can used to convert an object of one class type to another within an inheritance hierarchy</a:t>
            </a:r>
          </a:p>
          <a:p>
            <a:r>
              <a:rPr lang="en-US" dirty="0"/>
              <a:t>Like with primitive variables, there is implicit and explicit casting</a:t>
            </a:r>
          </a:p>
          <a:p>
            <a:pPr marL="503972" lvl="1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double x = 5; // implicit</a:t>
            </a:r>
          </a:p>
          <a:p>
            <a:pPr marL="503972" lvl="1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double y = (double) 5; // explicit</a:t>
            </a:r>
          </a:p>
          <a:p>
            <a:pPr marL="503972" lvl="1" indent="0">
              <a:buNone/>
            </a:pP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 z = (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) 3.14; // explicit</a:t>
            </a:r>
            <a:endParaRPr lang="en-US" dirty="0"/>
          </a:p>
          <a:p>
            <a:r>
              <a:rPr lang="en-US" dirty="0"/>
              <a:t>In general we </a:t>
            </a:r>
            <a:r>
              <a:rPr lang="en-US" u="sng" dirty="0"/>
              <a:t>must</a:t>
            </a:r>
            <a:r>
              <a:rPr lang="en-US" dirty="0"/>
              <a:t> cast explicitly when moving from general to specific</a:t>
            </a:r>
          </a:p>
          <a:p>
            <a:pPr lvl="1"/>
            <a:r>
              <a:rPr lang="en-US" dirty="0"/>
              <a:t>All integers are doubles, not all doubles are integers</a:t>
            </a:r>
          </a:p>
          <a:p>
            <a:pPr lvl="1"/>
            <a:r>
              <a:rPr lang="en-US" dirty="0"/>
              <a:t>In the case of objects, from superclass to subclass</a:t>
            </a:r>
          </a:p>
        </p:txBody>
      </p:sp>
    </p:spTree>
    <p:extLst>
      <p:ext uri="{BB962C8B-B14F-4D97-AF65-F5344CB8AC3E}">
        <p14:creationId xmlns:p14="http://schemas.microsoft.com/office/powerpoint/2010/main" val="160768876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Casting Objects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239603" cy="534366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The following implicit cast will compile</a:t>
            </a:r>
          </a:p>
          <a:p>
            <a:pPr marL="503972" lvl="1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Object o1 = "foo"; // all strings are objects</a:t>
            </a:r>
            <a:endParaRPr lang="en-US" dirty="0"/>
          </a:p>
          <a:p>
            <a:r>
              <a:rPr lang="en-US" dirty="0"/>
              <a:t>The following will fail to compile</a:t>
            </a:r>
          </a:p>
          <a:p>
            <a:pPr marL="503972" lvl="1" indent="0">
              <a:buNone/>
            </a:pPr>
            <a:r>
              <a:rPr lang="en-US" b="1" strike="sngStrike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String s1 = o1;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 // not all objects are strings</a:t>
            </a:r>
            <a:endParaRPr lang="en-US" dirty="0"/>
          </a:p>
          <a:p>
            <a:r>
              <a:rPr lang="en-US" dirty="0"/>
              <a:t>So we must explicitly cast</a:t>
            </a:r>
          </a:p>
          <a:p>
            <a:pPr marL="503972" lvl="1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String s1 = (String) o1;</a:t>
            </a:r>
            <a:endParaRPr lang="en-US" dirty="0"/>
          </a:p>
          <a:p>
            <a:r>
              <a:rPr lang="en-US" dirty="0"/>
              <a:t>The conversion is checked at </a:t>
            </a:r>
            <a:r>
              <a:rPr lang="en-US" i="1" dirty="0"/>
              <a:t>runtime</a:t>
            </a:r>
            <a:r>
              <a:rPr lang="en-US" dirty="0"/>
              <a:t> </a:t>
            </a:r>
            <a:r>
              <a:rPr lang="mr-IN" dirty="0"/>
              <a:t>–</a:t>
            </a:r>
            <a:r>
              <a:rPr lang="en-US" dirty="0"/>
              <a:t> if it was invalid, a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ClassCastException</a:t>
            </a:r>
            <a:r>
              <a:rPr lang="en-US" dirty="0"/>
              <a:t> will be thrown</a:t>
            </a:r>
          </a:p>
          <a:p>
            <a:pPr marL="503972" lvl="1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String s2 = (String) (Object) 5;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84360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Updating Variables in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Vet2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Pet2[] 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pets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 = {</a:t>
            </a:r>
            <a:endParaRPr lang="en-US" sz="3307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new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 Dog4("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Spot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", "1234"),</a:t>
            </a:r>
            <a:endParaRPr lang="en-US" sz="3307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new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 Dog4("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Rover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", "6789"),</a:t>
            </a:r>
            <a:endParaRPr lang="en-US" sz="3307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new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 Cat4("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Mittens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", "5432", 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true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),	</a:t>
            </a:r>
            <a:endParaRPr lang="en-US" sz="3307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new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 Cat4("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Garfield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", "8765", 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false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)</a:t>
            </a:r>
            <a:endParaRPr lang="en-US" sz="3307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};</a:t>
            </a:r>
            <a:endParaRPr lang="en-US" sz="3307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endParaRPr lang="en-US" sz="3307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for (Pet2 p : pets) {</a:t>
            </a:r>
          </a:p>
          <a:p>
            <a:pPr marL="0" indent="0"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4909060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Dynamic Binding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dirty="0"/>
              <a:t>When an object’s method is invoked, the implementation that is used will be determined by the JVM at runtime </a:t>
            </a:r>
            <a:r>
              <a:rPr lang="mr-IN" dirty="0"/>
              <a:t>–</a:t>
            </a:r>
            <a:r>
              <a:rPr lang="en-US" dirty="0"/>
              <a:t> this capability is known as </a:t>
            </a:r>
            <a:r>
              <a:rPr lang="en-US" b="1" dirty="0"/>
              <a:t>dynamic binding</a:t>
            </a:r>
          </a:p>
          <a:p>
            <a:pPr lvl="1"/>
            <a:r>
              <a:rPr lang="en-US" dirty="0">
                <a:latin typeface="Arial" charset="0"/>
                <a:ea typeface="Arial" charset="0"/>
                <a:cs typeface="Arial" charset="0"/>
              </a:rPr>
              <a:t>Whereas overloading can be achieved at compile-time, overriding must occur at run-time</a:t>
            </a:r>
          </a:p>
          <a:p>
            <a:r>
              <a:rPr lang="en-US" dirty="0">
                <a:latin typeface="Arial" charset="0"/>
                <a:ea typeface="Arial" charset="0"/>
                <a:cs typeface="Arial" charset="0"/>
              </a:rPr>
              <a:t>The JVM searches the implementations for the method from the most specific to the most gen2eral</a:t>
            </a:r>
          </a:p>
          <a:p>
            <a:r>
              <a:rPr lang="en-US" dirty="0">
                <a:latin typeface="Arial" charset="0"/>
                <a:ea typeface="Arial" charset="0"/>
                <a:cs typeface="Arial" charset="0"/>
              </a:rPr>
              <a:t>Once an implementation is found, the search stops and the </a:t>
            </a:r>
            <a:r>
              <a:rPr lang="en-US" b="1" dirty="0">
                <a:latin typeface="Arial" charset="0"/>
                <a:ea typeface="Arial" charset="0"/>
                <a:cs typeface="Arial" charset="0"/>
              </a:rPr>
              <a:t>first-found implementation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 is invoked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8828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Example (1)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public class Polly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20" name="Content Placeholder 19"/>
          <p:cNvSpPr>
            <a:spLocks noGrp="1"/>
          </p:cNvSpPr>
          <p:nvPr>
            <p:ph sz="quarter" idx="4"/>
          </p:nvPr>
        </p:nvSpPr>
        <p:spPr>
          <a:xfrm>
            <a:off x="5120817" y="2254867"/>
            <a:ext cx="4959807" cy="449809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public static void p(Object o)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6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en-US" sz="1600" b="1" dirty="0" err="1">
                <a:latin typeface="Consolas" charset="0"/>
                <a:ea typeface="Consolas" charset="0"/>
                <a:cs typeface="Consolas" charset="0"/>
              </a:rPr>
              <a:t>s%n</a:t>
            </a: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1600" b="1" dirty="0" err="1">
                <a:latin typeface="Consolas" charset="0"/>
                <a:ea typeface="Consolas" charset="0"/>
                <a:cs typeface="Consolas" charset="0"/>
              </a:rPr>
              <a:t>o.toString</a:t>
            </a: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());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6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public static void main(String[] </a:t>
            </a:r>
            <a:r>
              <a:rPr lang="en-US" sz="1600" b="1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	p(new Polly());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600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Polly.java</a:t>
            </a:r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5271870" y="5902179"/>
            <a:ext cx="4304247" cy="75278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Polly@70dea4e</a:t>
            </a:r>
          </a:p>
        </p:txBody>
      </p:sp>
    </p:spTree>
    <p:extLst>
      <p:ext uri="{BB962C8B-B14F-4D97-AF65-F5344CB8AC3E}">
        <p14:creationId xmlns:p14="http://schemas.microsoft.com/office/powerpoint/2010/main" val="1326602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(2)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504031" y="2254867"/>
            <a:ext cx="5175262" cy="449809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public class Polly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	@Override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	public String </a:t>
            </a:r>
            <a:r>
              <a:rPr lang="en-US" sz="1600" b="1" dirty="0" err="1">
                <a:latin typeface="Consolas" charset="0"/>
                <a:ea typeface="Consolas" charset="0"/>
                <a:cs typeface="Consolas" charset="0"/>
              </a:rPr>
              <a:t>toString</a:t>
            </a: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		return "wants a cracker";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20" name="Content Placeholder 19"/>
          <p:cNvSpPr>
            <a:spLocks noGrp="1"/>
          </p:cNvSpPr>
          <p:nvPr>
            <p:ph sz="quarter" idx="4"/>
          </p:nvPr>
        </p:nvSpPr>
        <p:spPr>
          <a:xfrm>
            <a:off x="5120818" y="2254867"/>
            <a:ext cx="5177294" cy="449809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public static void p(Object o)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6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en-US" sz="1600" b="1" dirty="0" err="1">
                <a:latin typeface="Consolas" charset="0"/>
                <a:ea typeface="Consolas" charset="0"/>
                <a:cs typeface="Consolas" charset="0"/>
              </a:rPr>
              <a:t>s%n</a:t>
            </a: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1600" b="1" dirty="0" err="1">
                <a:latin typeface="Consolas" charset="0"/>
                <a:ea typeface="Consolas" charset="0"/>
                <a:cs typeface="Consolas" charset="0"/>
              </a:rPr>
              <a:t>o.toString</a:t>
            </a: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());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6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public static void main(String[] </a:t>
            </a:r>
            <a:r>
              <a:rPr lang="en-US" sz="1600" b="1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	p(new Polly());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600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Polly.java</a:t>
            </a:r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5271870" y="5902179"/>
            <a:ext cx="4304247" cy="75278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wants a cracker</a:t>
            </a:r>
          </a:p>
        </p:txBody>
      </p:sp>
    </p:spTree>
    <p:extLst>
      <p:ext uri="{BB962C8B-B14F-4D97-AF65-F5344CB8AC3E}">
        <p14:creationId xmlns:p14="http://schemas.microsoft.com/office/powerpoint/2010/main" val="1031649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 More Complex Example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public class C1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6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public class C2 extends C1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	@Override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	public String </a:t>
            </a:r>
            <a:r>
              <a:rPr lang="en-US" sz="1600" b="1" dirty="0" err="1">
                <a:latin typeface="Consolas" charset="0"/>
                <a:ea typeface="Consolas" charset="0"/>
                <a:cs typeface="Consolas" charset="0"/>
              </a:rPr>
              <a:t>toString</a:t>
            </a: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()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		return "C2.toString()";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6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public class C3 extends C2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27" name="Content Placeholder 26"/>
          <p:cNvSpPr>
            <a:spLocks noGrp="1"/>
          </p:cNvSpPr>
          <p:nvPr>
            <p:ph sz="half" idx="2"/>
          </p:nvPr>
        </p:nvSpPr>
        <p:spPr>
          <a:xfrm>
            <a:off x="5124308" y="1399896"/>
            <a:ext cx="4955787" cy="1349196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public static void main(String[] </a:t>
            </a:r>
            <a:r>
              <a:rPr lang="en-US" sz="1600" b="1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	final Object o1 = new C1();	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	final Object o2 = new C2();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	final Object o3 = new C3();		</a:t>
            </a:r>
            <a:r>
              <a:rPr lang="en-US" sz="16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en-US" sz="1600" b="1" dirty="0" err="1">
                <a:latin typeface="Consolas" charset="0"/>
                <a:ea typeface="Consolas" charset="0"/>
                <a:cs typeface="Consolas" charset="0"/>
              </a:rPr>
              <a:t>s%n%s%n%s%n</a:t>
            </a: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", 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		o1, o2, o3);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271870" y="5504995"/>
            <a:ext cx="4304247" cy="122390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C1@70dea4e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C2.toString()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C2.toString()</a:t>
            </a:r>
          </a:p>
        </p:txBody>
      </p:sp>
    </p:spTree>
    <p:extLst>
      <p:ext uri="{BB962C8B-B14F-4D97-AF65-F5344CB8AC3E}">
        <p14:creationId xmlns:p14="http://schemas.microsoft.com/office/powerpoint/2010/main" val="154987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Dynamic Binding Visually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6512" y="1991702"/>
            <a:ext cx="4451809" cy="375775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2400" dirty="0"/>
              <a:t>An instance of </a:t>
            </a:r>
            <a:r>
              <a:rPr lang="en-US" sz="2400" b="1" dirty="0">
                <a:latin typeface="Consolas" charset="0"/>
                <a:ea typeface="Consolas" charset="0"/>
                <a:cs typeface="Consolas" charset="0"/>
              </a:rPr>
              <a:t>C1</a:t>
            </a:r>
            <a:r>
              <a:rPr lang="en-US" sz="2400" dirty="0"/>
              <a:t> is an instance of </a:t>
            </a:r>
            <a:r>
              <a:rPr lang="en-US" sz="2400" b="1" dirty="0">
                <a:latin typeface="Consolas" charset="0"/>
                <a:ea typeface="Consolas" charset="0"/>
                <a:cs typeface="Consolas" charset="0"/>
              </a:rPr>
              <a:t>C1</a:t>
            </a:r>
            <a:r>
              <a:rPr lang="en-US" sz="2400" dirty="0"/>
              <a:t> and </a:t>
            </a:r>
            <a:r>
              <a:rPr lang="en-US" sz="2400" b="1" dirty="0">
                <a:latin typeface="Consolas" charset="0"/>
                <a:ea typeface="Consolas" charset="0"/>
                <a:cs typeface="Consolas" charset="0"/>
              </a:rPr>
              <a:t>Object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sz="1800" b="1" dirty="0">
                <a:latin typeface="Consolas" charset="0"/>
                <a:ea typeface="Consolas" charset="0"/>
                <a:cs typeface="Consolas" charset="0"/>
              </a:rPr>
              <a:t>C1</a:t>
            </a:r>
            <a:r>
              <a:rPr lang="en-US" sz="1800" dirty="0"/>
              <a:t> is the most specific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sz="1800" b="1" dirty="0">
                <a:latin typeface="Consolas" charset="0"/>
                <a:ea typeface="Consolas" charset="0"/>
                <a:cs typeface="Consolas" charset="0"/>
              </a:rPr>
              <a:t>Object</a:t>
            </a:r>
            <a:r>
              <a:rPr lang="en-US" sz="1800" dirty="0"/>
              <a:t> is the most general</a:t>
            </a:r>
            <a:endParaRPr lang="en-US" sz="24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2400" dirty="0"/>
              <a:t>An instance of </a:t>
            </a:r>
            <a:r>
              <a:rPr lang="en-US" sz="2400" b="1" dirty="0">
                <a:latin typeface="Consolas" charset="0"/>
                <a:ea typeface="Consolas" charset="0"/>
                <a:cs typeface="Consolas" charset="0"/>
              </a:rPr>
              <a:t>C2</a:t>
            </a:r>
            <a:r>
              <a:rPr lang="en-US" sz="2400" dirty="0"/>
              <a:t> is an instance of </a:t>
            </a:r>
            <a:r>
              <a:rPr lang="en-US" sz="2400" b="1" dirty="0">
                <a:latin typeface="Consolas" charset="0"/>
                <a:ea typeface="Consolas" charset="0"/>
                <a:cs typeface="Consolas" charset="0"/>
              </a:rPr>
              <a:t>C2</a:t>
            </a:r>
            <a:r>
              <a:rPr lang="en-US" sz="2400" dirty="0"/>
              <a:t>, </a:t>
            </a:r>
            <a:r>
              <a:rPr lang="en-US" sz="2400" b="1" dirty="0">
                <a:latin typeface="Consolas" charset="0"/>
                <a:ea typeface="Consolas" charset="0"/>
                <a:cs typeface="Consolas" charset="0"/>
              </a:rPr>
              <a:t>C1</a:t>
            </a:r>
            <a:r>
              <a:rPr lang="en-US" sz="2400" dirty="0"/>
              <a:t> and </a:t>
            </a:r>
            <a:r>
              <a:rPr lang="en-US" sz="2400" b="1" dirty="0">
                <a:latin typeface="Consolas" charset="0"/>
                <a:ea typeface="Consolas" charset="0"/>
                <a:cs typeface="Consolas" charset="0"/>
              </a:rPr>
              <a:t>Object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sz="1800" b="1" dirty="0">
                <a:latin typeface="Consolas" charset="0"/>
                <a:ea typeface="Consolas" charset="0"/>
                <a:cs typeface="Consolas" charset="0"/>
              </a:rPr>
              <a:t>C2</a:t>
            </a:r>
            <a:r>
              <a:rPr lang="en-US" sz="1800" dirty="0"/>
              <a:t> is the most specific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sz="1800" b="1" dirty="0">
                <a:latin typeface="Consolas" charset="0"/>
                <a:ea typeface="Consolas" charset="0"/>
                <a:cs typeface="Consolas" charset="0"/>
              </a:rPr>
              <a:t>Object</a:t>
            </a:r>
            <a:r>
              <a:rPr lang="en-US" sz="1800" dirty="0"/>
              <a:t> is the most general</a:t>
            </a:r>
            <a:endParaRPr lang="en-US" sz="24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2400" dirty="0"/>
              <a:t>An instance of </a:t>
            </a:r>
            <a:r>
              <a:rPr lang="en-US" sz="2400" b="1" dirty="0">
                <a:latin typeface="Consolas" charset="0"/>
                <a:ea typeface="Consolas" charset="0"/>
                <a:cs typeface="Consolas" charset="0"/>
              </a:rPr>
              <a:t>C3</a:t>
            </a:r>
            <a:r>
              <a:rPr lang="en-US" sz="2400" dirty="0"/>
              <a:t> is an instance of </a:t>
            </a:r>
            <a:r>
              <a:rPr lang="en-US" sz="2400" b="1" dirty="0">
                <a:latin typeface="Consolas" charset="0"/>
                <a:ea typeface="Consolas" charset="0"/>
                <a:cs typeface="Consolas" charset="0"/>
              </a:rPr>
              <a:t>C3</a:t>
            </a:r>
            <a:r>
              <a:rPr lang="en-US" sz="2400" dirty="0"/>
              <a:t>, </a:t>
            </a:r>
            <a:r>
              <a:rPr lang="en-US" sz="2400" b="1" dirty="0">
                <a:latin typeface="Consolas" charset="0"/>
                <a:ea typeface="Consolas" charset="0"/>
                <a:cs typeface="Consolas" charset="0"/>
              </a:rPr>
              <a:t>C2</a:t>
            </a:r>
            <a:r>
              <a:rPr lang="en-US" sz="2400" dirty="0"/>
              <a:t>, </a:t>
            </a:r>
            <a:r>
              <a:rPr lang="en-US" sz="2400" b="1" dirty="0">
                <a:latin typeface="Consolas" charset="0"/>
                <a:ea typeface="Consolas" charset="0"/>
                <a:cs typeface="Consolas" charset="0"/>
              </a:rPr>
              <a:t>C1</a:t>
            </a:r>
            <a:r>
              <a:rPr lang="en-US" sz="2400" dirty="0"/>
              <a:t>, and </a:t>
            </a:r>
            <a:r>
              <a:rPr lang="en-US" sz="2400" b="1" dirty="0">
                <a:latin typeface="Consolas" charset="0"/>
                <a:ea typeface="Consolas" charset="0"/>
                <a:cs typeface="Consolas" charset="0"/>
              </a:rPr>
              <a:t>Object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sz="1800" b="1" dirty="0">
                <a:latin typeface="Consolas" charset="0"/>
                <a:ea typeface="Consolas" charset="0"/>
                <a:cs typeface="Consolas" charset="0"/>
              </a:rPr>
              <a:t>C3</a:t>
            </a:r>
            <a:r>
              <a:rPr lang="en-US" sz="1800" dirty="0">
                <a:latin typeface="Arial" charset="0"/>
                <a:ea typeface="Arial" charset="0"/>
                <a:cs typeface="Arial" charset="0"/>
              </a:rPr>
              <a:t> is the most specific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sz="1800" b="1" dirty="0">
                <a:latin typeface="Consolas" charset="0"/>
                <a:ea typeface="Consolas" charset="0"/>
                <a:cs typeface="Consolas" charset="0"/>
              </a:rPr>
              <a:t>Object</a:t>
            </a:r>
            <a:r>
              <a:rPr lang="en-US" sz="1800" dirty="0">
                <a:latin typeface="Arial" charset="0"/>
                <a:ea typeface="Arial" charset="0"/>
                <a:cs typeface="Arial" charset="0"/>
              </a:rPr>
              <a:t> the most general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213644" y="1399897"/>
            <a:ext cx="3155713" cy="5353063"/>
            <a:chOff x="1100516" y="1269961"/>
            <a:chExt cx="2862806" cy="4856202"/>
          </a:xfrm>
        </p:grpSpPr>
        <p:grpSp>
          <p:nvGrpSpPr>
            <p:cNvPr id="8" name="Group 7"/>
            <p:cNvGrpSpPr/>
            <p:nvPr/>
          </p:nvGrpSpPr>
          <p:grpSpPr>
            <a:xfrm>
              <a:off x="1100516" y="1269961"/>
              <a:ext cx="2862806" cy="988373"/>
              <a:chOff x="4356846" y="1783976"/>
              <a:chExt cx="2008095" cy="1172485"/>
            </a:xfrm>
          </p:grpSpPr>
          <p:sp>
            <p:nvSpPr>
              <p:cNvPr id="9" name="Rectangle 8"/>
              <p:cNvSpPr/>
              <p:nvPr/>
            </p:nvSpPr>
            <p:spPr>
              <a:xfrm>
                <a:off x="4356846" y="1783976"/>
                <a:ext cx="2008095" cy="35893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764" b="1" dirty="0">
                    <a:latin typeface="Consolas" charset="0"/>
                    <a:ea typeface="Consolas" charset="0"/>
                    <a:cs typeface="Consolas" charset="0"/>
                  </a:rPr>
                  <a:t>Object</a:t>
                </a:r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4356847" y="2142915"/>
                <a:ext cx="2008094" cy="81354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213" dirty="0">
                    <a:latin typeface="Consolas" charset="0"/>
                    <a:ea typeface="Consolas" charset="0"/>
                    <a:cs typeface="Consolas" charset="0"/>
                  </a:rPr>
                  <a:t>+Object()</a:t>
                </a:r>
              </a:p>
              <a:p>
                <a:r>
                  <a:rPr lang="en-US" sz="1213" dirty="0">
                    <a:latin typeface="Consolas" charset="0"/>
                    <a:ea typeface="Consolas" charset="0"/>
                    <a:cs typeface="Consolas" charset="0"/>
                  </a:rPr>
                  <a:t>+</a:t>
                </a:r>
                <a:r>
                  <a:rPr lang="en-US" sz="1213" dirty="0" err="1">
                    <a:latin typeface="Consolas" charset="0"/>
                    <a:ea typeface="Consolas" charset="0"/>
                    <a:cs typeface="Consolas" charset="0"/>
                  </a:rPr>
                  <a:t>toString</a:t>
                </a:r>
                <a:r>
                  <a:rPr lang="en-US" sz="1213" dirty="0">
                    <a:latin typeface="Consolas" charset="0"/>
                    <a:ea typeface="Consolas" charset="0"/>
                    <a:cs typeface="Consolas" charset="0"/>
                  </a:rPr>
                  <a:t>(): String</a:t>
                </a:r>
              </a:p>
              <a:p>
                <a:r>
                  <a:rPr lang="en-US" sz="1213" dirty="0">
                    <a:latin typeface="Consolas" charset="0"/>
                    <a:ea typeface="Consolas" charset="0"/>
                    <a:cs typeface="Consolas" charset="0"/>
                  </a:rPr>
                  <a:t>...</a:t>
                </a:r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>
              <a:off x="1100516" y="2717199"/>
              <a:ext cx="2862806" cy="830411"/>
              <a:chOff x="4356846" y="1783976"/>
              <a:chExt cx="2008095" cy="985098"/>
            </a:xfrm>
          </p:grpSpPr>
          <p:sp>
            <p:nvSpPr>
              <p:cNvPr id="12" name="Rectangle 11"/>
              <p:cNvSpPr/>
              <p:nvPr/>
            </p:nvSpPr>
            <p:spPr>
              <a:xfrm>
                <a:off x="4356846" y="1783976"/>
                <a:ext cx="2008095" cy="35893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764" b="1" dirty="0">
                    <a:latin typeface="Consolas" charset="0"/>
                    <a:ea typeface="Consolas" charset="0"/>
                    <a:cs typeface="Consolas" charset="0"/>
                  </a:rPr>
                  <a:t>C1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4356847" y="2142915"/>
                <a:ext cx="2008094" cy="62615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213" dirty="0">
                    <a:latin typeface="Consolas" charset="0"/>
                    <a:ea typeface="Consolas" charset="0"/>
                    <a:cs typeface="Consolas" charset="0"/>
                  </a:rPr>
                  <a:t>+C1()</a:t>
                </a:r>
              </a:p>
            </p:txBody>
          </p:sp>
        </p:grpSp>
        <p:grpSp>
          <p:nvGrpSpPr>
            <p:cNvPr id="14" name="Group 13"/>
            <p:cNvGrpSpPr/>
            <p:nvPr/>
          </p:nvGrpSpPr>
          <p:grpSpPr>
            <a:xfrm>
              <a:off x="1100516" y="4006475"/>
              <a:ext cx="2862806" cy="830411"/>
              <a:chOff x="4356846" y="1783976"/>
              <a:chExt cx="2008095" cy="985098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4356846" y="1783976"/>
                <a:ext cx="2008095" cy="35893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764" b="1" dirty="0">
                    <a:latin typeface="Consolas" charset="0"/>
                    <a:ea typeface="Consolas" charset="0"/>
                    <a:cs typeface="Consolas" charset="0"/>
                  </a:rPr>
                  <a:t>C2</a:t>
                </a:r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4356847" y="2142915"/>
                <a:ext cx="2008094" cy="62615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213" dirty="0">
                    <a:latin typeface="Consolas" charset="0"/>
                    <a:ea typeface="Consolas" charset="0"/>
                    <a:cs typeface="Consolas" charset="0"/>
                  </a:rPr>
                  <a:t>+C2()</a:t>
                </a:r>
              </a:p>
              <a:p>
                <a:r>
                  <a:rPr lang="en-US" sz="1213" dirty="0">
                    <a:latin typeface="Consolas" charset="0"/>
                    <a:ea typeface="Consolas" charset="0"/>
                    <a:cs typeface="Consolas" charset="0"/>
                  </a:rPr>
                  <a:t>+</a:t>
                </a:r>
                <a:r>
                  <a:rPr lang="en-US" sz="1213" dirty="0" err="1">
                    <a:latin typeface="Consolas" charset="0"/>
                    <a:ea typeface="Consolas" charset="0"/>
                    <a:cs typeface="Consolas" charset="0"/>
                  </a:rPr>
                  <a:t>toString</a:t>
                </a:r>
                <a:r>
                  <a:rPr lang="en-US" sz="1213" dirty="0">
                    <a:latin typeface="Consolas" charset="0"/>
                    <a:ea typeface="Consolas" charset="0"/>
                    <a:cs typeface="Consolas" charset="0"/>
                  </a:rPr>
                  <a:t>(): String</a:t>
                </a:r>
              </a:p>
            </p:txBody>
          </p:sp>
        </p:grpSp>
        <p:grpSp>
          <p:nvGrpSpPr>
            <p:cNvPr id="17" name="Group 16"/>
            <p:cNvGrpSpPr/>
            <p:nvPr/>
          </p:nvGrpSpPr>
          <p:grpSpPr>
            <a:xfrm>
              <a:off x="1100516" y="5295752"/>
              <a:ext cx="2862806" cy="830411"/>
              <a:chOff x="4356846" y="1783976"/>
              <a:chExt cx="2008095" cy="985098"/>
            </a:xfrm>
          </p:grpSpPr>
          <p:sp>
            <p:nvSpPr>
              <p:cNvPr id="18" name="Rectangle 17"/>
              <p:cNvSpPr/>
              <p:nvPr/>
            </p:nvSpPr>
            <p:spPr>
              <a:xfrm>
                <a:off x="4356846" y="1783976"/>
                <a:ext cx="2008095" cy="35893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764" b="1" dirty="0">
                    <a:latin typeface="Consolas" charset="0"/>
                    <a:ea typeface="Consolas" charset="0"/>
                    <a:cs typeface="Consolas" charset="0"/>
                  </a:rPr>
                  <a:t>C3</a:t>
                </a:r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4356847" y="2142915"/>
                <a:ext cx="2008094" cy="62615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213" dirty="0">
                    <a:latin typeface="Consolas" charset="0"/>
                    <a:ea typeface="Consolas" charset="0"/>
                    <a:cs typeface="Consolas" charset="0"/>
                  </a:rPr>
                  <a:t>+C3()</a:t>
                </a:r>
              </a:p>
            </p:txBody>
          </p:sp>
        </p:grpSp>
        <p:sp>
          <p:nvSpPr>
            <p:cNvPr id="20" name="Triangle 19"/>
            <p:cNvSpPr/>
            <p:nvPr/>
          </p:nvSpPr>
          <p:spPr>
            <a:xfrm>
              <a:off x="2419234" y="2274487"/>
              <a:ext cx="225369" cy="194283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646"/>
            </a:p>
          </p:txBody>
        </p:sp>
        <p:sp>
          <p:nvSpPr>
            <p:cNvPr id="21" name="Triangle 20"/>
            <p:cNvSpPr/>
            <p:nvPr/>
          </p:nvSpPr>
          <p:spPr>
            <a:xfrm>
              <a:off x="2419233" y="3569123"/>
              <a:ext cx="225369" cy="194283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646"/>
            </a:p>
          </p:txBody>
        </p:sp>
        <p:sp>
          <p:nvSpPr>
            <p:cNvPr id="22" name="Triangle 21"/>
            <p:cNvSpPr/>
            <p:nvPr/>
          </p:nvSpPr>
          <p:spPr>
            <a:xfrm>
              <a:off x="2419233" y="4858693"/>
              <a:ext cx="225369" cy="194283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646"/>
            </a:p>
          </p:txBody>
        </p:sp>
        <p:cxnSp>
          <p:nvCxnSpPr>
            <p:cNvPr id="24" name="Straight Connector 23"/>
            <p:cNvCxnSpPr>
              <a:stCxn id="18" idx="0"/>
              <a:endCxn id="22" idx="3"/>
            </p:cNvCxnSpPr>
            <p:nvPr/>
          </p:nvCxnSpPr>
          <p:spPr>
            <a:xfrm flipH="1" flipV="1">
              <a:off x="2531918" y="5052976"/>
              <a:ext cx="1" cy="242776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>
              <a:stCxn id="15" idx="0"/>
              <a:endCxn id="21" idx="3"/>
            </p:cNvCxnSpPr>
            <p:nvPr/>
          </p:nvCxnSpPr>
          <p:spPr>
            <a:xfrm flipH="1" flipV="1">
              <a:off x="2531918" y="3763406"/>
              <a:ext cx="1" cy="243069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>
              <a:stCxn id="12" idx="0"/>
              <a:endCxn id="20" idx="3"/>
            </p:cNvCxnSpPr>
            <p:nvPr/>
          </p:nvCxnSpPr>
          <p:spPr>
            <a:xfrm flipV="1">
              <a:off x="2531919" y="2468770"/>
              <a:ext cx="0" cy="248429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2345500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Updating Method Calls in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Vet2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4176468"/>
          </a:xfrm>
          <a:prstGeom prst="rect">
            <a:avLst/>
          </a:prstGeo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Pet2[] 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pets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 = {</a:t>
            </a:r>
            <a:endParaRPr lang="en-US" sz="3307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new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 Dog4("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Spot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", "1234"),</a:t>
            </a:r>
            <a:endParaRPr lang="en-US" sz="3307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new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 Dog4("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Rover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", "6789"),</a:t>
            </a:r>
            <a:endParaRPr lang="en-US" sz="3307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new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 Cat4("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Mittens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", "5432", 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true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),	</a:t>
            </a:r>
            <a:endParaRPr lang="en-US" sz="3307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new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 Cat4("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Garfield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", "8765", 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false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)</a:t>
            </a:r>
            <a:endParaRPr lang="en-US" sz="3307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};</a:t>
            </a:r>
            <a:endParaRPr lang="en-US" sz="3307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3307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for (Pet2 p : pets)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3307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("%s says '%</a:t>
            </a:r>
            <a:r>
              <a:rPr lang="en-US" sz="3307" b="1" dirty="0" err="1">
                <a:latin typeface="Consolas" charset="0"/>
                <a:ea typeface="Consolas" charset="0"/>
                <a:cs typeface="Consolas" charset="0"/>
              </a:rPr>
              <a:t>s'%n</a:t>
            </a: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", p, </a:t>
            </a:r>
            <a:r>
              <a:rPr lang="en-US" sz="3307" b="1" dirty="0" err="1">
                <a:latin typeface="Consolas" charset="0"/>
                <a:ea typeface="Consolas" charset="0"/>
                <a:cs typeface="Consolas" charset="0"/>
              </a:rPr>
              <a:t>p.says</a:t>
            </a: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());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21112" y="5151778"/>
            <a:ext cx="5755005" cy="157712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Spot (1234) says 'woof'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Rover (6789) says 'woof'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Mittens (5432) says 'meow'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Garfield (8765) says 'meow'</a:t>
            </a:r>
          </a:p>
        </p:txBody>
      </p:sp>
    </p:spTree>
    <p:extLst>
      <p:ext uri="{BB962C8B-B14F-4D97-AF65-F5344CB8AC3E}">
        <p14:creationId xmlns:p14="http://schemas.microsoft.com/office/powerpoint/2010/main" val="2025006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 </a:t>
            </a:r>
            <a:r>
              <a:rPr lang="mr-IN" dirty="0"/>
              <a:t>–</a:t>
            </a:r>
            <a:r>
              <a:rPr lang="en-US" dirty="0"/>
              <a:t> Output?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504030" y="1399897"/>
            <a:ext cx="4917281" cy="5353063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A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protected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7;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A()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(20);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("A():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=%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void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A.setI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(%d)%n",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this.i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2 *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B extends A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B()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("B():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=%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void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B.setI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(%d)%n",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this.i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3 *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static void main(String[]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new A();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new B();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49912" y="4770437"/>
            <a:ext cx="4043447" cy="223284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A.setI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(20)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A(): </a:t>
            </a:r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=40</a:t>
            </a:r>
          </a:p>
          <a:p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B.setI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(20)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A(): </a:t>
            </a:r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=60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B(): </a:t>
            </a:r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=60</a:t>
            </a:r>
          </a:p>
        </p:txBody>
      </p:sp>
    </p:spTree>
    <p:extLst>
      <p:ext uri="{BB962C8B-B14F-4D97-AF65-F5344CB8AC3E}">
        <p14:creationId xmlns:p14="http://schemas.microsoft.com/office/powerpoint/2010/main" val="961424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 </a:t>
            </a:r>
            <a:r>
              <a:rPr lang="mr-IN" dirty="0"/>
              <a:t>–</a:t>
            </a:r>
            <a:r>
              <a:rPr lang="en-US" dirty="0"/>
              <a:t> Trace (1)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504031" y="1399897"/>
            <a:ext cx="5126962" cy="5353063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A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protected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7;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A()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(20);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("A():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=%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void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A.setI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(%d)%n",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this.i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2 *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B extends A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B()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("B():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=%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void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B.setI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(%d)%n",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this.i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3 *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5124318" y="1399897"/>
            <a:ext cx="5126962" cy="53530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static void main(String[]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new A();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new B();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97512" y="1583857"/>
            <a:ext cx="914400" cy="29098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46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649912" y="4770437"/>
            <a:ext cx="4043447" cy="223284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2646" b="1" dirty="0">
              <a:solidFill>
                <a:schemeClr val="tx1"/>
              </a:solidFill>
              <a:latin typeface="Consolas" charset="0"/>
              <a:ea typeface="Consolas" charset="0"/>
              <a:cs typeface="Consola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59469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 </a:t>
            </a:r>
            <a:r>
              <a:rPr lang="mr-IN" dirty="0"/>
              <a:t>–</a:t>
            </a:r>
            <a:r>
              <a:rPr lang="en-US" dirty="0"/>
              <a:t> Trace (2)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504030" y="1399897"/>
            <a:ext cx="5069681" cy="5353063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A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protected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7;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A()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(20);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("A():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=%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void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A.setI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(%d)%n",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this.i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2 *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B extends A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B()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("B():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=%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void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B.setI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(%d)%n",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this.i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3 *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5124317" y="1399897"/>
            <a:ext cx="5069681" cy="53530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static void main(String[]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new A();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new B();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06513" y="2255837"/>
            <a:ext cx="1053114" cy="22860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46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649912" y="4770437"/>
            <a:ext cx="4043447" cy="223284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2646" b="1" dirty="0">
              <a:solidFill>
                <a:schemeClr val="tx1"/>
              </a:solidFill>
              <a:latin typeface="Consolas" charset="0"/>
              <a:ea typeface="Consolas" charset="0"/>
              <a:cs typeface="Consola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212633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 </a:t>
            </a:r>
            <a:r>
              <a:rPr lang="mr-IN" dirty="0"/>
              <a:t>–</a:t>
            </a:r>
            <a:r>
              <a:rPr lang="en-US" dirty="0"/>
              <a:t> Trace (3)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504030" y="1399897"/>
            <a:ext cx="4917281" cy="5353063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A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protected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7;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A()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(20);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("A():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=%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void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A.setI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(%d)%n",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this.i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2 *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B extends A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B()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("B():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=%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void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B.setI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(%d)%n",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this.i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3 *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5124317" y="1399897"/>
            <a:ext cx="4917281" cy="5353063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static void main(String[]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new A();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new B();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68091" y="3322637"/>
            <a:ext cx="3756226" cy="22860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46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649912" y="4770437"/>
            <a:ext cx="4043447" cy="223284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A.setI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(20)</a:t>
            </a:r>
          </a:p>
        </p:txBody>
      </p:sp>
    </p:spTree>
    <p:extLst>
      <p:ext uri="{BB962C8B-B14F-4D97-AF65-F5344CB8AC3E}">
        <p14:creationId xmlns:p14="http://schemas.microsoft.com/office/powerpoint/2010/main" val="53714308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 </a:t>
            </a:r>
            <a:r>
              <a:rPr lang="mr-IN" dirty="0"/>
              <a:t>–</a:t>
            </a:r>
            <a:r>
              <a:rPr lang="en-US" dirty="0"/>
              <a:t> Trace (4)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504030" y="1399897"/>
            <a:ext cx="5069681" cy="5353063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A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protected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7;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A()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(20);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("A():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=%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void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A.setI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(%d)%n",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this.i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2 *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B extends A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B()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("B():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=%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void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B.setI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(%d)%n",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this.i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3 *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static void main(String[]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new A();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new B();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06512" y="3551237"/>
            <a:ext cx="1600200" cy="22860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46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649912" y="4770437"/>
            <a:ext cx="4043447" cy="223284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A.setI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(20)</a:t>
            </a:r>
          </a:p>
        </p:txBody>
      </p:sp>
    </p:spTree>
    <p:extLst>
      <p:ext uri="{BB962C8B-B14F-4D97-AF65-F5344CB8AC3E}">
        <p14:creationId xmlns:p14="http://schemas.microsoft.com/office/powerpoint/2010/main" val="189011167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 </a:t>
            </a:r>
            <a:r>
              <a:rPr lang="mr-IN" dirty="0"/>
              <a:t>–</a:t>
            </a:r>
            <a:r>
              <a:rPr lang="en-US" dirty="0"/>
              <a:t> Trace (5)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504030" y="1399897"/>
            <a:ext cx="5222081" cy="5353063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A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protected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7;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A()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(20);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("A():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=%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void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A.setI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(%d)%n",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this.i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2 *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B extends A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B()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("B():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=%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void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B.setI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(%d)%n",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this.i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3 *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static void main(String[]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new A();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new B();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73835" y="2437687"/>
            <a:ext cx="3733718" cy="351549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46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649912" y="4770437"/>
            <a:ext cx="4043447" cy="223284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A.setI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(20)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A(): </a:t>
            </a:r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=40</a:t>
            </a:r>
          </a:p>
        </p:txBody>
      </p:sp>
    </p:spTree>
    <p:extLst>
      <p:ext uri="{BB962C8B-B14F-4D97-AF65-F5344CB8AC3E}">
        <p14:creationId xmlns:p14="http://schemas.microsoft.com/office/powerpoint/2010/main" val="152881530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 </a:t>
            </a:r>
            <a:r>
              <a:rPr lang="mr-IN" dirty="0"/>
              <a:t>–</a:t>
            </a:r>
            <a:r>
              <a:rPr lang="en-US" dirty="0"/>
              <a:t> Trace (6)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504030" y="1399897"/>
            <a:ext cx="4993481" cy="5353063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A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protected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7;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A()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(20);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("A():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=%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void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A.setI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(%d)%n",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this.i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2 *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B extends A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B()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("B():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=%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void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B.setI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(%d)%n",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this.i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3 *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static void main(String[]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new A();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new B();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16644" y="1798637"/>
            <a:ext cx="895268" cy="30480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46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649912" y="4770437"/>
            <a:ext cx="4043447" cy="223284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A.setI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(20)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A(): </a:t>
            </a:r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=40</a:t>
            </a:r>
          </a:p>
        </p:txBody>
      </p:sp>
    </p:spTree>
    <p:extLst>
      <p:ext uri="{BB962C8B-B14F-4D97-AF65-F5344CB8AC3E}">
        <p14:creationId xmlns:p14="http://schemas.microsoft.com/office/powerpoint/2010/main" val="15692755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 </a:t>
            </a:r>
            <a:r>
              <a:rPr lang="mr-IN" dirty="0"/>
              <a:t>–</a:t>
            </a:r>
            <a:r>
              <a:rPr lang="en-US" dirty="0"/>
              <a:t> Trace (7)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504030" y="1399897"/>
            <a:ext cx="5069681" cy="5353063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A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protected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7;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A()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(20);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("A():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=%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void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A.setI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(%d)%n",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this.i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2 *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B extends A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B()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("B():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=%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void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B.setI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(%d)%n",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this.i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3 *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static void main(String[]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new A();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new B();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9312" y="4553947"/>
            <a:ext cx="1416050" cy="29269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46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649912" y="4770437"/>
            <a:ext cx="4043447" cy="223284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A.setI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(20)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A(): </a:t>
            </a:r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=40</a:t>
            </a:r>
          </a:p>
        </p:txBody>
      </p:sp>
    </p:spTree>
    <p:extLst>
      <p:ext uri="{BB962C8B-B14F-4D97-AF65-F5344CB8AC3E}">
        <p14:creationId xmlns:p14="http://schemas.microsoft.com/office/powerpoint/2010/main" val="37144794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 </a:t>
            </a:r>
            <a:r>
              <a:rPr lang="mr-IN" dirty="0"/>
              <a:t>–</a:t>
            </a:r>
            <a:r>
              <a:rPr lang="en-US" dirty="0"/>
              <a:t> Trace (8)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504030" y="1399897"/>
            <a:ext cx="4917281" cy="5353063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A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protected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7;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A()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(20);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("A():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=%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void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A.setI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(%d)%n",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this.i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2 *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B extends A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B()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("B():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=%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void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B.setI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(%d)%n",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this.i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3 *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static void main(String[]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new A();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new B();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06512" y="2255837"/>
            <a:ext cx="1066800" cy="22860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46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649912" y="4770437"/>
            <a:ext cx="4043447" cy="223284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A.setI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(20)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A(): </a:t>
            </a:r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=40</a:t>
            </a:r>
          </a:p>
        </p:txBody>
      </p:sp>
    </p:spTree>
    <p:extLst>
      <p:ext uri="{BB962C8B-B14F-4D97-AF65-F5344CB8AC3E}">
        <p14:creationId xmlns:p14="http://schemas.microsoft.com/office/powerpoint/2010/main" val="19070020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 </a:t>
            </a:r>
            <a:r>
              <a:rPr lang="mr-IN" dirty="0"/>
              <a:t>–</a:t>
            </a:r>
            <a:r>
              <a:rPr lang="en-US" dirty="0"/>
              <a:t> Trace (9)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504030" y="1399897"/>
            <a:ext cx="5145882" cy="5353063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A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protected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7;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A()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(20);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("A():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=%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void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A.setI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(%d)%n",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this.i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2 *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B extends A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B()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("B():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=%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void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B.setI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(%d)%n",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this.i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3 *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static void main(String[]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new A();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new B();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7412" y="5660428"/>
            <a:ext cx="3886905" cy="253009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46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649912" y="4770437"/>
            <a:ext cx="4043447" cy="223284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A.setI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(20)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A(): </a:t>
            </a:r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=40</a:t>
            </a:r>
          </a:p>
          <a:p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B.setI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(20)</a:t>
            </a:r>
          </a:p>
        </p:txBody>
      </p:sp>
    </p:spTree>
    <p:extLst>
      <p:ext uri="{BB962C8B-B14F-4D97-AF65-F5344CB8AC3E}">
        <p14:creationId xmlns:p14="http://schemas.microsoft.com/office/powerpoint/2010/main" val="105277772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 </a:t>
            </a:r>
            <a:r>
              <a:rPr lang="mr-IN" dirty="0"/>
              <a:t>–</a:t>
            </a:r>
            <a:r>
              <a:rPr lang="en-US" dirty="0"/>
              <a:t> Trace (10)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504030" y="1399897"/>
            <a:ext cx="5222081" cy="5353063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A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protected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7;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A()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(20);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("A():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=%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void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A.setI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(%d)%n",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this.i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2 *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B extends A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B()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("B():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=%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void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B.setI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(%d)%n",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this.i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3 *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static void main(String[]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new A();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new B();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936" y="5884772"/>
            <a:ext cx="1701976" cy="257265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46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649912" y="4770437"/>
            <a:ext cx="4043447" cy="223284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A.setI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(20)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A(): </a:t>
            </a:r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=40</a:t>
            </a:r>
          </a:p>
          <a:p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B.setI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(20)</a:t>
            </a:r>
          </a:p>
        </p:txBody>
      </p:sp>
    </p:spTree>
    <p:extLst>
      <p:ext uri="{BB962C8B-B14F-4D97-AF65-F5344CB8AC3E}">
        <p14:creationId xmlns:p14="http://schemas.microsoft.com/office/powerpoint/2010/main" val="91745644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 </a:t>
            </a:r>
            <a:r>
              <a:rPr lang="mr-IN" dirty="0"/>
              <a:t>–</a:t>
            </a:r>
            <a:r>
              <a:rPr lang="en-US" dirty="0"/>
              <a:t> Trace (11)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504030" y="1399897"/>
            <a:ext cx="5298281" cy="5353063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A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protected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7;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A()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(20);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("A():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=%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void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A.setI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(%d)%n",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this.i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2 *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B extends A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B()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("B():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=%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void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B.setI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(%d)%n",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this.i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3 *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static void main(String[]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new A();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new B();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41094" y="2433939"/>
            <a:ext cx="3666459" cy="355298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46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649912" y="4770437"/>
            <a:ext cx="4043447" cy="223284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A.setI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(20)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A(): </a:t>
            </a:r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=40</a:t>
            </a:r>
          </a:p>
          <a:p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B.setI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(20)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A(): </a:t>
            </a:r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=60</a:t>
            </a:r>
          </a:p>
        </p:txBody>
      </p:sp>
    </p:spTree>
    <p:extLst>
      <p:ext uri="{BB962C8B-B14F-4D97-AF65-F5344CB8AC3E}">
        <p14:creationId xmlns:p14="http://schemas.microsoft.com/office/powerpoint/2010/main" val="75783523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 </a:t>
            </a:r>
            <a:r>
              <a:rPr lang="mr-IN" dirty="0"/>
              <a:t>–</a:t>
            </a:r>
            <a:r>
              <a:rPr lang="en-US" dirty="0"/>
              <a:t> Trace (12)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504030" y="1399897"/>
            <a:ext cx="5298281" cy="5353063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A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protected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7;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A()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(20);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("A():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=%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void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A.setI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(%d)%n",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this.i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2 *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B extends A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B()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("B():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=%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void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B.setI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(%d)%n",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this.i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3 *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static void main(String[]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new A();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new B();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50035" y="4780379"/>
            <a:ext cx="3657518" cy="294858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46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649912" y="4770437"/>
            <a:ext cx="4043447" cy="223284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A.setI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(20)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A(): </a:t>
            </a:r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=40</a:t>
            </a:r>
          </a:p>
          <a:p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B.setI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(20)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A(): </a:t>
            </a:r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=60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B(): </a:t>
            </a:r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=60</a:t>
            </a:r>
          </a:p>
        </p:txBody>
      </p:sp>
    </p:spTree>
    <p:extLst>
      <p:ext uri="{BB962C8B-B14F-4D97-AF65-F5344CB8AC3E}">
        <p14:creationId xmlns:p14="http://schemas.microsoft.com/office/powerpoint/2010/main" val="21126748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instanceof</a:t>
            </a:r>
            <a:r>
              <a:rPr lang="en-US" dirty="0"/>
              <a:t> Operator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4294967295"/>
          </p:nvPr>
        </p:nvSpPr>
        <p:spPr>
          <a:xfrm>
            <a:off x="468312" y="1417637"/>
            <a:ext cx="9071610" cy="5343668"/>
          </a:xfrm>
          <a:prstGeom prst="rect">
            <a:avLst/>
          </a:prstGeom>
        </p:spPr>
        <p:txBody>
          <a:bodyPr/>
          <a:lstStyle/>
          <a:p>
            <a:pPr indent="-457200"/>
            <a:r>
              <a:rPr lang="en-US" dirty="0"/>
              <a:t>Use the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instanceof</a:t>
            </a:r>
            <a:r>
              <a:rPr lang="en-US" dirty="0"/>
              <a:t> operator to test whether an object is an instance of a class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866" b="1" dirty="0">
                <a:latin typeface="Consolas" charset="0"/>
                <a:ea typeface="Consolas" charset="0"/>
                <a:cs typeface="Consolas" charset="0"/>
              </a:rPr>
              <a:t>Object o1 = "howdy";</a:t>
            </a:r>
          </a:p>
          <a:p>
            <a:pPr marL="0" indent="0">
              <a:buNone/>
            </a:pPr>
            <a:r>
              <a:rPr lang="en-US" sz="2866" b="1" dirty="0" err="1">
                <a:latin typeface="Consolas" charset="0"/>
                <a:ea typeface="Consolas" charset="0"/>
                <a:cs typeface="Consolas" charset="0"/>
              </a:rPr>
              <a:t>boolean</a:t>
            </a:r>
            <a:r>
              <a:rPr lang="en-US" sz="2866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2866" b="1" dirty="0" err="1">
                <a:latin typeface="Consolas" charset="0"/>
                <a:ea typeface="Consolas" charset="0"/>
                <a:cs typeface="Consolas" charset="0"/>
              </a:rPr>
              <a:t>isS</a:t>
            </a:r>
            <a:r>
              <a:rPr lang="en-US" sz="2866" b="1" dirty="0">
                <a:latin typeface="Consolas" charset="0"/>
                <a:ea typeface="Consolas" charset="0"/>
                <a:cs typeface="Consolas" charset="0"/>
              </a:rPr>
              <a:t> = o1 </a:t>
            </a:r>
            <a:r>
              <a:rPr lang="en-US" sz="2866" b="1" dirty="0" err="1">
                <a:latin typeface="Consolas" charset="0"/>
                <a:ea typeface="Consolas" charset="0"/>
                <a:cs typeface="Consolas" charset="0"/>
              </a:rPr>
              <a:t>instanceof</a:t>
            </a:r>
            <a:r>
              <a:rPr lang="en-US" sz="2866" b="1" dirty="0">
                <a:latin typeface="Consolas" charset="0"/>
                <a:ea typeface="Consolas" charset="0"/>
                <a:cs typeface="Consolas" charset="0"/>
              </a:rPr>
              <a:t> String; // true</a:t>
            </a:r>
          </a:p>
          <a:p>
            <a:pPr marL="0" indent="0">
              <a:buNone/>
            </a:pPr>
            <a:r>
              <a:rPr lang="en-US" sz="2866" b="1" dirty="0" err="1">
                <a:latin typeface="Consolas" charset="0"/>
                <a:ea typeface="Consolas" charset="0"/>
                <a:cs typeface="Consolas" charset="0"/>
              </a:rPr>
              <a:t>boolean</a:t>
            </a:r>
            <a:r>
              <a:rPr lang="en-US" sz="2866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2866" b="1" dirty="0" err="1">
                <a:latin typeface="Consolas" charset="0"/>
                <a:ea typeface="Consolas" charset="0"/>
                <a:cs typeface="Consolas" charset="0"/>
              </a:rPr>
              <a:t>isD</a:t>
            </a:r>
            <a:r>
              <a:rPr lang="en-US" sz="2866" b="1" dirty="0">
                <a:latin typeface="Consolas" charset="0"/>
                <a:ea typeface="Consolas" charset="0"/>
                <a:cs typeface="Consolas" charset="0"/>
              </a:rPr>
              <a:t> = o1 </a:t>
            </a:r>
            <a:r>
              <a:rPr lang="en-US" sz="2866" b="1" dirty="0" err="1">
                <a:latin typeface="Consolas" charset="0"/>
                <a:ea typeface="Consolas" charset="0"/>
                <a:cs typeface="Consolas" charset="0"/>
              </a:rPr>
              <a:t>instanceof</a:t>
            </a:r>
            <a:r>
              <a:rPr lang="en-US" sz="2866" b="1" dirty="0">
                <a:latin typeface="Consolas" charset="0"/>
                <a:ea typeface="Consolas" charset="0"/>
                <a:cs typeface="Consolas" charset="0"/>
              </a:rPr>
              <a:t> Double; // false</a:t>
            </a:r>
          </a:p>
        </p:txBody>
      </p:sp>
    </p:spTree>
    <p:extLst>
      <p:ext uri="{BB962C8B-B14F-4D97-AF65-F5344CB8AC3E}">
        <p14:creationId xmlns:p14="http://schemas.microsoft.com/office/powerpoint/2010/main" val="98208467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 More Complex Example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C1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C2 extends C1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@Override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String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toString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return "C2.toString()";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C3 extends C2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27" name="Content Placeholder 26"/>
          <p:cNvSpPr>
            <a:spLocks noGrp="1"/>
          </p:cNvSpPr>
          <p:nvPr>
            <p:ph sz="half" idx="2"/>
          </p:nvPr>
        </p:nvSpPr>
        <p:spPr>
          <a:xfrm>
            <a:off x="5124308" y="1341437"/>
            <a:ext cx="4955787" cy="370988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public static void main(String[]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final Object o1 = new C1();	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final Object o2 = new C2();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final Object o3 = new C3();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("%b %b %b %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b%n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", 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	o1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instanceof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 Object,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	o1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instanceof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 C1, 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	o1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instanceof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 C2, 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	o1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instanceof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 C3);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("%b %b %b %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b%n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", 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	o2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instanceof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 Object,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	o2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instanceof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 C1, 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	o2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instanceof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 C2, 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	o2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instanceof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 C3);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("%b %b %b %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b%n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", 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	o3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instanceof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 Object,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	o3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instanceof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 C1, 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	o3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instanceof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 C2, 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	o3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instanceof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 C3);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84265" y="5608637"/>
            <a:ext cx="4304247" cy="139136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true true false false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true true true false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true true true true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065" y="4389437"/>
            <a:ext cx="1580647" cy="2686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38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Cat-Specific Method Calls in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Vet2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4176468"/>
          </a:xfrm>
          <a:prstGeom prst="rect">
            <a:avLst/>
          </a:prstGeom>
        </p:spPr>
        <p:txBody>
          <a:bodyPr>
            <a:normAutofit fontScale="47500" lnSpcReduction="20000"/>
          </a:bodyPr>
          <a:lstStyle/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Pet2[] 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pets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 = {</a:t>
            </a:r>
            <a:endParaRPr lang="en-US" sz="3307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new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 Dog4("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Spot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", "1234"),</a:t>
            </a:r>
            <a:endParaRPr lang="en-US" sz="3307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new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 Dog4("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Rover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", "6789"),</a:t>
            </a:r>
            <a:endParaRPr lang="en-US" sz="3307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new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 Cat4("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Mittens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", "5432", 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true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),	</a:t>
            </a:r>
            <a:endParaRPr lang="en-US" sz="3307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new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 Cat4("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Garfield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", "8765", 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false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)</a:t>
            </a:r>
            <a:endParaRPr lang="en-US" sz="3307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};</a:t>
            </a:r>
            <a:endParaRPr lang="en-US" sz="3307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3307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for (Pet2 p : pets)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3307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("%s says '%s'", p, </a:t>
            </a:r>
            <a:r>
              <a:rPr lang="en-US" sz="3307" b="1" dirty="0" err="1">
                <a:latin typeface="Consolas" charset="0"/>
                <a:ea typeface="Consolas" charset="0"/>
                <a:cs typeface="Consolas" charset="0"/>
              </a:rPr>
              <a:t>p.says</a:t>
            </a: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());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	if (p </a:t>
            </a:r>
            <a:r>
              <a:rPr lang="en-US" sz="3307" b="1" dirty="0" err="1">
                <a:latin typeface="Consolas" charset="0"/>
                <a:ea typeface="Consolas" charset="0"/>
                <a:cs typeface="Consolas" charset="0"/>
              </a:rPr>
              <a:t>instanceof</a:t>
            </a: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 Cat4)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		final Cat4 c = (Cat4) p;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		if (</a:t>
            </a:r>
            <a:r>
              <a:rPr lang="en-US" sz="3307" b="1" dirty="0" err="1">
                <a:latin typeface="Consolas" charset="0"/>
                <a:ea typeface="Consolas" charset="0"/>
                <a:cs typeface="Consolas" charset="0"/>
              </a:rPr>
              <a:t>c.hasHairBalls</a:t>
            </a: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()) {	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			</a:t>
            </a:r>
            <a:r>
              <a:rPr lang="en-US" sz="3307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(" :: CLEARS THROAT ::");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		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3307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("%n");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6912" y="5380037"/>
            <a:ext cx="9008599" cy="171310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Spot (1234) says 'woof'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Rover (6789) says 'woof'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Mittens (5432) says 'meow' :: CLEARS THROAT ::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Garfield (8765) says 'meow'</a:t>
            </a:r>
          </a:p>
        </p:txBody>
      </p:sp>
    </p:spTree>
    <p:extLst>
      <p:ext uri="{BB962C8B-B14F-4D97-AF65-F5344CB8AC3E}">
        <p14:creationId xmlns:p14="http://schemas.microsoft.com/office/powerpoint/2010/main" val="108100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Compare to</a:t>
            </a:r>
            <a:r>
              <a:rPr lang="mr-IN" dirty="0"/>
              <a:t>…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504506" y="2101143"/>
            <a:ext cx="6593206" cy="4498094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Dog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[]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dogs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= {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new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Dog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Spot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", "1234"),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new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Dog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Rover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", "6789")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};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Cat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[]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cats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= {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new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Cat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Mittens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", "5432"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, true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),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new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Cat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Garfield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", "8765"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, false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)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};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for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(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Dog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d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: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dogs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) {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s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says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'%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s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'%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n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d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,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d.says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());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}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for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(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Cat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c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: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cats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) {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("%s says '%s'", c,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c.says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if (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c.hasHairBalls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(" :: CLEARS THROAT ::");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("%n");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}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Vet.java</a:t>
            </a:r>
            <a:endParaRPr lang="en-US" dirty="0"/>
          </a:p>
        </p:txBody>
      </p:sp>
      <p:sp>
        <p:nvSpPr>
          <p:cNvPr id="16" name="Rounded Rectangle 15"/>
          <p:cNvSpPr/>
          <p:nvPr/>
        </p:nvSpPr>
        <p:spPr>
          <a:xfrm>
            <a:off x="3177111" y="1850193"/>
            <a:ext cx="6866500" cy="130779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Spot (1234) says 'woof'</a:t>
            </a:r>
          </a:p>
          <a:p>
            <a:r>
              <a:rPr lang="en-US" sz="200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Rover (6789) says 'woof'</a:t>
            </a:r>
          </a:p>
          <a:p>
            <a:r>
              <a:rPr lang="en-US" sz="200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Mittens (5432) says 'meow' :: CLEARS THROAT ::</a:t>
            </a:r>
          </a:p>
          <a:p>
            <a:r>
              <a:rPr lang="en-US" sz="200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Garfield (8765) says 'meow'</a:t>
            </a:r>
          </a:p>
        </p:txBody>
      </p:sp>
    </p:spTree>
    <p:extLst>
      <p:ext uri="{BB962C8B-B14F-4D97-AF65-F5344CB8AC3E}">
        <p14:creationId xmlns:p14="http://schemas.microsoft.com/office/powerpoint/2010/main" val="68257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equals</a:t>
            </a:r>
            <a:r>
              <a:rPr lang="en-US" dirty="0"/>
              <a:t> Method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equals</a:t>
            </a:r>
            <a:r>
              <a:rPr lang="en-US" dirty="0"/>
              <a:t> method compares the contents of two objects</a:t>
            </a:r>
          </a:p>
          <a:p>
            <a:r>
              <a:rPr lang="en-US" dirty="0"/>
              <a:t>The default implementation of the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equals</a:t>
            </a:r>
            <a:r>
              <a:rPr lang="en-US" dirty="0"/>
              <a:t> method in the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Object</a:t>
            </a:r>
            <a:r>
              <a:rPr lang="en-US" dirty="0"/>
              <a:t> class</a:t>
            </a:r>
            <a:r>
              <a:rPr lang="mr-IN" dirty="0"/>
              <a:t>…</a:t>
            </a:r>
            <a:endParaRPr lang="en-US" dirty="0"/>
          </a:p>
          <a:p>
            <a:pPr marL="0" indent="0">
              <a:buNone/>
            </a:pPr>
            <a:r>
              <a:rPr lang="en-US" sz="2800" b="1" dirty="0">
                <a:latin typeface="Consolas" charset="0"/>
                <a:ea typeface="Consolas" charset="0"/>
                <a:cs typeface="Consolas" charset="0"/>
              </a:rPr>
              <a:t>public </a:t>
            </a:r>
            <a:r>
              <a:rPr lang="en-US" sz="2800" b="1" dirty="0" err="1">
                <a:latin typeface="Consolas" charset="0"/>
                <a:ea typeface="Consolas" charset="0"/>
                <a:cs typeface="Consolas" charset="0"/>
              </a:rPr>
              <a:t>boolean</a:t>
            </a:r>
            <a:r>
              <a:rPr lang="en-US" sz="2800" b="1" dirty="0">
                <a:latin typeface="Consolas" charset="0"/>
                <a:ea typeface="Consolas" charset="0"/>
                <a:cs typeface="Consolas" charset="0"/>
              </a:rPr>
              <a:t> equals(Object </a:t>
            </a:r>
            <a:r>
              <a:rPr lang="en-US" sz="2800" b="1" dirty="0" err="1">
                <a:latin typeface="Consolas" charset="0"/>
                <a:ea typeface="Consolas" charset="0"/>
                <a:cs typeface="Consolas" charset="0"/>
              </a:rPr>
              <a:t>obj</a:t>
            </a:r>
            <a:r>
              <a:rPr lang="en-US" sz="28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buNone/>
            </a:pPr>
            <a:r>
              <a:rPr lang="en-US" sz="2800" b="1" dirty="0">
                <a:latin typeface="Consolas" charset="0"/>
                <a:ea typeface="Consolas" charset="0"/>
                <a:cs typeface="Consolas" charset="0"/>
              </a:rPr>
              <a:t>  	return this == </a:t>
            </a:r>
            <a:r>
              <a:rPr lang="en-US" sz="2800" b="1" dirty="0" err="1">
                <a:latin typeface="Consolas" charset="0"/>
                <a:ea typeface="Consolas" charset="0"/>
                <a:cs typeface="Consolas" charset="0"/>
              </a:rPr>
              <a:t>obj</a:t>
            </a:r>
            <a:r>
              <a:rPr lang="en-US" sz="28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buNone/>
            </a:pPr>
            <a:r>
              <a:rPr lang="en-US" sz="28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38370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equals</a:t>
            </a:r>
            <a:r>
              <a:rPr lang="en-US" dirty="0"/>
              <a:t> for the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Pet2</a:t>
            </a:r>
            <a:r>
              <a:rPr lang="en-US" dirty="0"/>
              <a:t> Class (1)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504031" y="2254867"/>
            <a:ext cx="5437114" cy="449809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// no equals method defined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4"/>
          </p:nvPr>
        </p:nvSpPr>
        <p:spPr>
          <a:xfrm>
            <a:off x="4887912" y="2254866"/>
            <a:ext cx="5558303" cy="449809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final Dog4 d1 = new Dog4("d1", "1");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final Dog4 d2 = new Dog4("d2", "2");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final Dog4 lost = new Dog4("?", "1");				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53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en-US" sz="1653" b="1" dirty="0" err="1">
                <a:latin typeface="Consolas" charset="0"/>
                <a:ea typeface="Consolas" charset="0"/>
                <a:cs typeface="Consolas" charset="0"/>
              </a:rPr>
              <a:t>b%n</a:t>
            </a: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", 	d1.equals(d2));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53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en-US" sz="1653" b="1" dirty="0" err="1">
                <a:latin typeface="Consolas" charset="0"/>
                <a:ea typeface="Consolas" charset="0"/>
                <a:cs typeface="Consolas" charset="0"/>
              </a:rPr>
              <a:t>b%n</a:t>
            </a: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", 	d1.equals(lost));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53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en-US" sz="1653" b="1" dirty="0" err="1">
                <a:latin typeface="Consolas" charset="0"/>
                <a:ea typeface="Consolas" charset="0"/>
                <a:cs typeface="Consolas" charset="0"/>
              </a:rPr>
              <a:t>b%n</a:t>
            </a: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", 	d2.equals(lost));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Pet2.java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71870" y="5445766"/>
            <a:ext cx="4304247" cy="128313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false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false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false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507" y="5342962"/>
            <a:ext cx="1921922" cy="1385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436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equals</a:t>
            </a:r>
            <a:r>
              <a:rPr lang="en-US" dirty="0"/>
              <a:t> for the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Pet2</a:t>
            </a:r>
            <a:r>
              <a:rPr lang="en-US" dirty="0"/>
              <a:t> Class (2)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392112" y="2332037"/>
            <a:ext cx="4454027" cy="449809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@Override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public </a:t>
            </a:r>
            <a:r>
              <a:rPr lang="en-US" sz="1653" b="1" dirty="0" err="1">
                <a:latin typeface="Consolas" charset="0"/>
                <a:ea typeface="Consolas" charset="0"/>
                <a:cs typeface="Consolas" charset="0"/>
              </a:rPr>
              <a:t>boolean</a:t>
            </a: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 equals(Object obj)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	if (obj </a:t>
            </a:r>
            <a:r>
              <a:rPr lang="en-US" sz="1653" b="1" dirty="0" err="1">
                <a:latin typeface="Consolas" charset="0"/>
                <a:ea typeface="Consolas" charset="0"/>
                <a:cs typeface="Consolas" charset="0"/>
              </a:rPr>
              <a:t>instanceof</a:t>
            </a: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 Pet2)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		final Pet2 p = (Pet2) obj;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		return </a:t>
            </a:r>
            <a:r>
              <a:rPr lang="en-US" sz="1653" b="1" dirty="0" err="1">
                <a:latin typeface="Consolas" charset="0"/>
                <a:ea typeface="Consolas" charset="0"/>
                <a:cs typeface="Consolas" charset="0"/>
              </a:rPr>
              <a:t>this.id.equals</a:t>
            </a: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(p.id);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	} else {	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		return false;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4"/>
          </p:nvPr>
        </p:nvSpPr>
        <p:spPr>
          <a:xfrm>
            <a:off x="4932689" y="2254866"/>
            <a:ext cx="5253503" cy="449809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final Dog4 d1 = new Dog4("d1", "1");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final Dog4 d2 = new Dog4("d2", "2");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final Dog4 lost = new Dog4("?", "1");				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53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en-US" sz="1653" b="1" dirty="0" err="1">
                <a:latin typeface="Consolas" charset="0"/>
                <a:ea typeface="Consolas" charset="0"/>
                <a:cs typeface="Consolas" charset="0"/>
              </a:rPr>
              <a:t>b%n</a:t>
            </a: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", 	d1.equals(d2));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53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en-US" sz="1653" b="1" dirty="0" err="1">
                <a:latin typeface="Consolas" charset="0"/>
                <a:ea typeface="Consolas" charset="0"/>
                <a:cs typeface="Consolas" charset="0"/>
              </a:rPr>
              <a:t>b%n</a:t>
            </a: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", 	d1.equals(lost));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53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en-US" sz="1653" b="1" dirty="0" err="1">
                <a:latin typeface="Consolas" charset="0"/>
                <a:ea typeface="Consolas" charset="0"/>
                <a:cs typeface="Consolas" charset="0"/>
              </a:rPr>
              <a:t>b%n</a:t>
            </a: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", 	d2.equals(lost));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Pet2.java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71870" y="5445766"/>
            <a:ext cx="4304247" cy="128313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false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true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false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506" y="5342962"/>
            <a:ext cx="1847921" cy="1385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414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Take Home Points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4294967295"/>
          </p:nvPr>
        </p:nvSpPr>
        <p:spPr>
          <a:xfrm>
            <a:off x="504507" y="1321477"/>
            <a:ext cx="9071610" cy="5506360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2400" b="1" dirty="0"/>
              <a:t>Inheritance</a:t>
            </a:r>
            <a:r>
              <a:rPr lang="en-US" sz="2400" dirty="0"/>
              <a:t> in OOP allows us to create general classes </a:t>
            </a:r>
            <a:r>
              <a:rPr lang="en-US" sz="2400" i="1" dirty="0"/>
              <a:t>(</a:t>
            </a:r>
            <a:r>
              <a:rPr lang="en-US" sz="2400" b="1" dirty="0"/>
              <a:t>superclass</a:t>
            </a:r>
            <a:r>
              <a:rPr lang="en-US" sz="2400" dirty="0"/>
              <a:t>)</a:t>
            </a:r>
            <a:r>
              <a:rPr lang="en-US" sz="2400" i="1" dirty="0"/>
              <a:t>,</a:t>
            </a:r>
            <a:r>
              <a:rPr lang="en-US" sz="2400" dirty="0"/>
              <a:t> share this code amongst other classes (</a:t>
            </a:r>
            <a:r>
              <a:rPr lang="en-US" sz="2400" b="1" dirty="0"/>
              <a:t>subclass</a:t>
            </a:r>
            <a:r>
              <a:rPr lang="en-US" sz="2400" dirty="0"/>
              <a:t>), and then specialize them as needed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sz="2000" dirty="0"/>
              <a:t>Constructor chaining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sz="2000" dirty="0"/>
              <a:t>Method overriding (</a:t>
            </a: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@Override</a:t>
            </a:r>
            <a:r>
              <a:rPr lang="en-US" sz="2000" dirty="0"/>
              <a:t>) vs. overloading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sz="2000" dirty="0"/>
              <a:t>Methods that are </a:t>
            </a: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final</a:t>
            </a:r>
            <a:r>
              <a:rPr lang="en-US" sz="2000" dirty="0"/>
              <a:t> cannot be overridden, </a:t>
            </a: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final</a:t>
            </a:r>
            <a:r>
              <a:rPr lang="en-US" sz="2000" dirty="0"/>
              <a:t> classes cannot be </a:t>
            </a:r>
            <a:r>
              <a:rPr lang="en-US" sz="2000" dirty="0" err="1"/>
              <a:t>subclassed</a:t>
            </a:r>
            <a:endParaRPr lang="en-US" sz="2000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sz="2000" dirty="0"/>
              <a:t>Classes that are </a:t>
            </a: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abstract</a:t>
            </a:r>
            <a:r>
              <a:rPr lang="en-US" sz="2000" dirty="0"/>
              <a:t> cannot be instantiated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2400" b="1" dirty="0"/>
              <a:t>Polymorphism</a:t>
            </a:r>
            <a:r>
              <a:rPr lang="en-US" sz="2400" dirty="0"/>
              <a:t> allows us to write code that easily works with different subclasses that share a common superclass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sz="2000" dirty="0"/>
              <a:t>Explicit casts are need from superclass to subclass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sz="2000" b="1" dirty="0"/>
              <a:t>Dynamic binding</a:t>
            </a:r>
            <a:r>
              <a:rPr lang="en-US" sz="2000" dirty="0"/>
              <a:t> results in calling the most specific version of a method implementation for an object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sz="2000" dirty="0"/>
              <a:t>The </a:t>
            </a:r>
            <a:r>
              <a:rPr lang="en-US" sz="2000" b="1" dirty="0" err="1">
                <a:latin typeface="Consolas" charset="0"/>
                <a:ea typeface="Consolas" charset="0"/>
                <a:cs typeface="Consolas" charset="0"/>
              </a:rPr>
              <a:t>instanceof</a:t>
            </a:r>
            <a:r>
              <a:rPr lang="en-US" sz="2000" dirty="0"/>
              <a:t> operator allows you to determine at runtime if an object is of a particular class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sz="2000" dirty="0"/>
              <a:t>The </a:t>
            </a: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equals</a:t>
            </a:r>
            <a:r>
              <a:rPr lang="en-US" sz="2000" dirty="0"/>
              <a:t> and </a:t>
            </a:r>
            <a:r>
              <a:rPr lang="en-US" sz="2000" b="1" dirty="0" err="1">
                <a:latin typeface="Consolas" charset="0"/>
                <a:ea typeface="Consolas" charset="0"/>
                <a:cs typeface="Consolas" charset="0"/>
              </a:rPr>
              <a:t>toString</a:t>
            </a:r>
            <a:r>
              <a:rPr lang="en-US" sz="2000" dirty="0"/>
              <a:t> methods have default implementations in the </a:t>
            </a: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Object</a:t>
            </a:r>
            <a:r>
              <a:rPr lang="en-US" sz="2000" dirty="0"/>
              <a:t> class (superclass to all classes) and should be </a:t>
            </a:r>
            <a:r>
              <a:rPr lang="en-US" sz="2000" dirty="0" err="1"/>
              <a:t>overriden</a:t>
            </a:r>
            <a:r>
              <a:rPr lang="en-US" sz="2000" dirty="0"/>
              <a:t> for your classes</a:t>
            </a:r>
          </a:p>
        </p:txBody>
      </p:sp>
    </p:spTree>
    <p:extLst>
      <p:ext uri="{BB962C8B-B14F-4D97-AF65-F5344CB8AC3E}">
        <p14:creationId xmlns:p14="http://schemas.microsoft.com/office/powerpoint/2010/main" val="1444285732"/>
      </p:ext>
    </p:extLst>
  </p:cSld>
  <p:clrMapOvr>
    <a:masterClrMapping/>
  </p:clrMapOvr>
</p:sld>
</file>

<file path=ppt/theme/theme1.xml><?xml version="1.0" encoding="utf-8"?>
<a:theme xmlns:a="http://schemas.openxmlformats.org/drawingml/2006/main" name="comp1000 titl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omic Sans MS"/>
        <a:ea typeface="msmincho"/>
        <a:cs typeface="msmincho"/>
      </a:majorFont>
      <a:minorFont>
        <a:latin typeface="Comic Sans MS"/>
        <a:ea typeface="msmincho"/>
        <a:cs typeface="msminch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8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effectLst/>
            <a:latin typeface="Bitstream Vera Serif" pitchFamily="1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8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effectLst/>
            <a:latin typeface="Bitstream Vera Serif" pitchFamily="16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omp1050" id="{11D25B1B-902C-4B4C-8A1B-85A2907C13B6}" vid="{F4BC01AD-2D5C-4646-84B3-8A39092DAA06}"/>
    </a:ext>
  </a:extLst>
</a:theme>
</file>

<file path=ppt/theme/theme2.xml><?xml version="1.0" encoding="utf-8"?>
<a:theme xmlns:a="http://schemas.openxmlformats.org/drawingml/2006/main" name="comp1000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omic Sans MS"/>
        <a:ea typeface="msmincho"/>
        <a:cs typeface="msmincho"/>
      </a:majorFont>
      <a:minorFont>
        <a:latin typeface="Comic Sans MS"/>
        <a:ea typeface="msmincho"/>
        <a:cs typeface="msminch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8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effectLst/>
            <a:latin typeface="Bitstream Vera Serif" pitchFamily="1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8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effectLst/>
            <a:latin typeface="Bitstream Vera Serif" pitchFamily="16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omp1050" id="{11D25B1B-902C-4B4C-8A1B-85A2907C13B6}" vid="{58E7F4CB-296A-CC41-895D-204CB6F6FDE3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comp1050</Template>
  <TotalTime>9830</TotalTime>
  <Words>10832</Words>
  <Application>Microsoft Office PowerPoint</Application>
  <PresentationFormat>Custom</PresentationFormat>
  <Paragraphs>1889</Paragraphs>
  <Slides>92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92</vt:i4>
      </vt:variant>
    </vt:vector>
  </HeadingPairs>
  <TitlesOfParts>
    <vt:vector size="103" baseType="lpstr">
      <vt:lpstr>Arial</vt:lpstr>
      <vt:lpstr>Bitstream Vera Serif</vt:lpstr>
      <vt:lpstr>Comic Sans MS</vt:lpstr>
      <vt:lpstr>Consolas</vt:lpstr>
      <vt:lpstr>Georgia</vt:lpstr>
      <vt:lpstr>Tahoma</vt:lpstr>
      <vt:lpstr>Times New Roman</vt:lpstr>
      <vt:lpstr>Verdana</vt:lpstr>
      <vt:lpstr>Wingdings</vt:lpstr>
      <vt:lpstr>comp1000 title</vt:lpstr>
      <vt:lpstr>comp1000</vt:lpstr>
      <vt:lpstr>Welcome to COMP1050!</vt:lpstr>
      <vt:lpstr>Inheritance &amp; Polymorphism</vt:lpstr>
      <vt:lpstr>A Seemingly Simple Program</vt:lpstr>
      <vt:lpstr>The UML About Cats and Dogs</vt:lpstr>
      <vt:lpstr>Code (1)</vt:lpstr>
      <vt:lpstr>Code (2)</vt:lpstr>
      <vt:lpstr>Alarms!</vt:lpstr>
      <vt:lpstr>Inheritance Visually</vt:lpstr>
      <vt:lpstr>The extends Keyword</vt:lpstr>
      <vt:lpstr>Example (1)</vt:lpstr>
      <vt:lpstr>Example (2)</vt:lpstr>
      <vt:lpstr>Example (3)</vt:lpstr>
      <vt:lpstr>The super Keyword</vt:lpstr>
      <vt:lpstr>What About Constructors?</vt:lpstr>
      <vt:lpstr>Constructor Chaining</vt:lpstr>
      <vt:lpstr>Example (1)</vt:lpstr>
      <vt:lpstr>Example (1a)</vt:lpstr>
      <vt:lpstr>Example (1b)</vt:lpstr>
      <vt:lpstr>Example (1) – Trace (1)</vt:lpstr>
      <vt:lpstr>Example (1) – Trace (2)</vt:lpstr>
      <vt:lpstr>Example (1) – Trace (3)</vt:lpstr>
      <vt:lpstr>Example (1) – Trace (4)</vt:lpstr>
      <vt:lpstr>Example (1) – Trace (5)</vt:lpstr>
      <vt:lpstr>Example (1) – Trace (5)</vt:lpstr>
      <vt:lpstr>Example (2)</vt:lpstr>
      <vt:lpstr>Exercise – Output?</vt:lpstr>
      <vt:lpstr>Exercise – Trace (1)</vt:lpstr>
      <vt:lpstr>Exercise – Trace (2)</vt:lpstr>
      <vt:lpstr>Exercise – Trace (3)</vt:lpstr>
      <vt:lpstr>Exercise – Trace (4)</vt:lpstr>
      <vt:lpstr>Exercise – Trace (5)</vt:lpstr>
      <vt:lpstr>Exercise – Trace (6)</vt:lpstr>
      <vt:lpstr>Exercise – Trace (7)</vt:lpstr>
      <vt:lpstr>Exercise – Trace (8)</vt:lpstr>
      <vt:lpstr>Exercise – Trace (9)</vt:lpstr>
      <vt:lpstr>Exercise – What is the Error?</vt:lpstr>
      <vt:lpstr>Answer</vt:lpstr>
      <vt:lpstr>Exercise – Output?</vt:lpstr>
      <vt:lpstr>Answer</vt:lpstr>
      <vt:lpstr>Getting Back to the Pets…</vt:lpstr>
      <vt:lpstr>Overriding Superclass Methods</vt:lpstr>
      <vt:lpstr>Java Annotations</vt:lpstr>
      <vt:lpstr>Overriding says()</vt:lpstr>
      <vt:lpstr>Don’t Forget Cats!</vt:lpstr>
      <vt:lpstr>Another Example: toString()</vt:lpstr>
      <vt:lpstr>Overriding Note (1)</vt:lpstr>
      <vt:lpstr>Overriding Note (2)</vt:lpstr>
      <vt:lpstr>Visibility Modifiers</vt:lpstr>
      <vt:lpstr>Overriding Note (3)</vt:lpstr>
      <vt:lpstr>Example</vt:lpstr>
      <vt:lpstr>Overriding vs. Overloading (1)</vt:lpstr>
      <vt:lpstr>Overriding vs. Overloading (2)</vt:lpstr>
      <vt:lpstr>Exercise</vt:lpstr>
      <vt:lpstr>Answer</vt:lpstr>
      <vt:lpstr>The final Keyword</vt:lpstr>
      <vt:lpstr>Return of the Pets…</vt:lpstr>
      <vt:lpstr>Getting Abstract</vt:lpstr>
      <vt:lpstr>Pet2: Now with More Abstract!</vt:lpstr>
      <vt:lpstr>Dog4/Cat4: Very Concrete</vt:lpstr>
      <vt:lpstr>Abstract Visual</vt:lpstr>
      <vt:lpstr>Revisiting the Vet</vt:lpstr>
      <vt:lpstr>Polymorphism</vt:lpstr>
      <vt:lpstr>Casting Objects (1)</vt:lpstr>
      <vt:lpstr>Casting Objects (2)</vt:lpstr>
      <vt:lpstr>Updating Variables in Vet2</vt:lpstr>
      <vt:lpstr>Dynamic Binding</vt:lpstr>
      <vt:lpstr>Example (1)</vt:lpstr>
      <vt:lpstr>Example (2)</vt:lpstr>
      <vt:lpstr>A More Complex Example</vt:lpstr>
      <vt:lpstr>Dynamic Binding Visually</vt:lpstr>
      <vt:lpstr>Updating Method Calls in Vet2</vt:lpstr>
      <vt:lpstr>Exercise – Output?</vt:lpstr>
      <vt:lpstr>Exercise – Trace (1)</vt:lpstr>
      <vt:lpstr>Exercise – Trace (2)</vt:lpstr>
      <vt:lpstr>Exercise – Trace (3)</vt:lpstr>
      <vt:lpstr>Exercise – Trace (4)</vt:lpstr>
      <vt:lpstr>Exercise – Trace (5)</vt:lpstr>
      <vt:lpstr>Exercise – Trace (6)</vt:lpstr>
      <vt:lpstr>Exercise – Trace (7)</vt:lpstr>
      <vt:lpstr>Exercise – Trace (8)</vt:lpstr>
      <vt:lpstr>Exercise – Trace (9)</vt:lpstr>
      <vt:lpstr>Exercise – Trace (10)</vt:lpstr>
      <vt:lpstr>Exercise – Trace (11)</vt:lpstr>
      <vt:lpstr>Exercise – Trace (12)</vt:lpstr>
      <vt:lpstr>The instanceof Operator</vt:lpstr>
      <vt:lpstr>A More Complex Example</vt:lpstr>
      <vt:lpstr>Cat-Specific Method Calls in Vet2</vt:lpstr>
      <vt:lpstr>Compare to…</vt:lpstr>
      <vt:lpstr>The equals Method</vt:lpstr>
      <vt:lpstr>equals for the Pet2 Class (1)</vt:lpstr>
      <vt:lpstr>equals for the Pet2 Class (2)</vt:lpstr>
      <vt:lpstr>Take Home Points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WIT COMP1050</dc:title>
  <dc:creator>Wiseman, Charles</dc:creator>
  <cp:lastModifiedBy>Folajimi, Yetunde</cp:lastModifiedBy>
  <cp:revision>20</cp:revision>
  <cp:lastPrinted>1601-01-01T00:00:00Z</cp:lastPrinted>
  <dcterms:created xsi:type="dcterms:W3CDTF">2017-09-08T01:15:12Z</dcterms:created>
  <dcterms:modified xsi:type="dcterms:W3CDTF">2025-11-10T13:44:41Z</dcterms:modified>
</cp:coreProperties>
</file>